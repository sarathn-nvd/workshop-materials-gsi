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F_2ABF32F6.xml" ContentType="application/vnd.ms-powerpoint.comments+xml"/>
  <Override PartName="/ppt/notesSlides/notesSlide3.xml" ContentType="application/vnd.openxmlformats-officedocument.presentationml.notesSlide+xml"/>
  <Override PartName="/ppt/comments/modernComment_132_1D884A98.xml" ContentType="application/vnd.ms-powerpoint.comments+xml"/>
  <Override PartName="/ppt/notesSlides/notesSlide4.xml" ContentType="application/vnd.openxmlformats-officedocument.presentationml.notesSlide+xml"/>
  <Override PartName="/ppt/comments/modernComment_108_3DE5B97C.xml" ContentType="application/vnd.ms-powerpoint.comments+xml"/>
  <Override PartName="/ppt/notesSlides/notesSlide5.xml" ContentType="application/vnd.openxmlformats-officedocument.presentationml.notesSlide+xml"/>
  <Override PartName="/ppt/comments/modernComment_7FFFFFFF_6C957CDF.xml" ContentType="application/vnd.ms-powerpoint.comments+xml"/>
  <Override PartName="/ppt/notesSlides/notesSlide6.xml" ContentType="application/vnd.openxmlformats-officedocument.presentationml.notesSlide+xml"/>
  <Override PartName="/ppt/comments/modernComment_10B_D187D4C3.xml" ContentType="application/vnd.ms-powerpoint.comments+xml"/>
  <Override PartName="/ppt/notesSlides/notesSlide7.xml" ContentType="application/vnd.openxmlformats-officedocument.presentationml.notesSlide+xml"/>
  <Override PartName="/ppt/comments/modernComment_130_FE69E68B.xml" ContentType="application/vnd.ms-powerpoint.comments+xml"/>
  <Override PartName="/ppt/notesSlides/notesSlide8.xml" ContentType="application/vnd.openxmlformats-officedocument.presentationml.notesSlide+xml"/>
  <Override PartName="/ppt/comments/modernComment_11C_708F913D.xml" ContentType="application/vnd.ms-powerpoint.comments+xml"/>
  <Override PartName="/ppt/notesSlides/notesSlide9.xml" ContentType="application/vnd.openxmlformats-officedocument.presentationml.notesSlide+xml"/>
  <Override PartName="/ppt/comments/modernComment_10A_209E7D8D.xml" ContentType="application/vnd.ms-powerpoint.comments+xml"/>
  <Override PartName="/ppt/notesSlides/notesSlide10.xml" ContentType="application/vnd.openxmlformats-officedocument.presentationml.notesSlide+xml"/>
  <Override PartName="/ppt/comments/modernComment_10C_CC87E133.xml" ContentType="application/vnd.ms-powerpoint.comments+xml"/>
  <Override PartName="/ppt/notesSlides/notesSlide11.xml" ContentType="application/vnd.openxmlformats-officedocument.presentationml.notesSlide+xml"/>
  <Override PartName="/ppt/comments/modernComment_10E_44220798.xml" ContentType="application/vnd.ms-powerpoint.comments+xml"/>
  <Override PartName="/ppt/notesSlides/notesSlide12.xml" ContentType="application/vnd.openxmlformats-officedocument.presentationml.notesSlide+xml"/>
  <Override PartName="/ppt/comments/modernComment_13C_6B67BC6.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28_48D3E297.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23_CBB59A1C.xml" ContentType="application/vnd.ms-powerpoint.comments+xml"/>
  <Override PartName="/ppt/notesSlides/notesSlide17.xml" ContentType="application/vnd.openxmlformats-officedocument.presentationml.notesSlide+xml"/>
  <Override PartName="/ppt/comments/modernComment_107_EA3EDD04.xml" ContentType="application/vnd.ms-powerpoint.comments+xml"/>
  <Override PartName="/ppt/notesSlides/notesSlide18.xml" ContentType="application/vnd.openxmlformats-officedocument.presentationml.notesSlide+xml"/>
  <Override PartName="/ppt/comments/modernComment_125_863B85BF.xml" ContentType="application/vnd.ms-powerpoint.comments+xml"/>
  <Override PartName="/ppt/notesSlides/notesSlide19.xml" ContentType="application/vnd.openxmlformats-officedocument.presentationml.notesSlide+xml"/>
  <Override PartName="/ppt/comments/modernComment_131_71F1783B.xml" ContentType="application/vnd.ms-powerpoint.comments+xml"/>
  <Override PartName="/ppt/notesSlides/notesSlide20.xml" ContentType="application/vnd.openxmlformats-officedocument.presentationml.notesSlide+xml"/>
  <Override PartName="/ppt/comments/modernComment_110_34CB6721.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13_A5F7CA0A.xml" ContentType="application/vnd.ms-powerpoint.comments+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96" r:id="rId5"/>
  </p:sldMasterIdLst>
  <p:notesMasterIdLst>
    <p:notesMasterId r:id="rId30"/>
  </p:notesMasterIdLst>
  <p:sldIdLst>
    <p:sldId id="2147483117" r:id="rId6"/>
    <p:sldId id="319" r:id="rId7"/>
    <p:sldId id="306" r:id="rId8"/>
    <p:sldId id="264" r:id="rId9"/>
    <p:sldId id="2147483647" r:id="rId10"/>
    <p:sldId id="267" r:id="rId11"/>
    <p:sldId id="304" r:id="rId12"/>
    <p:sldId id="284" r:id="rId13"/>
    <p:sldId id="266" r:id="rId14"/>
    <p:sldId id="268" r:id="rId15"/>
    <p:sldId id="270" r:id="rId16"/>
    <p:sldId id="316" r:id="rId17"/>
    <p:sldId id="276" r:id="rId18"/>
    <p:sldId id="296" r:id="rId19"/>
    <p:sldId id="273" r:id="rId20"/>
    <p:sldId id="291" r:id="rId21"/>
    <p:sldId id="263" r:id="rId22"/>
    <p:sldId id="293" r:id="rId23"/>
    <p:sldId id="305" r:id="rId24"/>
    <p:sldId id="272" r:id="rId25"/>
    <p:sldId id="313" r:id="rId26"/>
    <p:sldId id="295" r:id="rId27"/>
    <p:sldId id="275" r:id="rId28"/>
    <p:sldId id="336" r:id="rId2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95E20E-611C-ACCE-C563-AB2D616A0D58}" name="Santiago Pombo" initials="SP" userId="S::spombo@nvidia.com::3ffb81ce-ea74-4dc4-baa9-0dd4f0dea1b3" providerId="AD"/>
  <p188:author id="{374CB016-081D-1BF5-7611-5A803EAB2F0C}" name="Nave Algarici" initials="NA" userId="S::nalgarici@nvidia.com::4654f9d1-f929-4bb5-96cf-52036e385e68" providerId="AD"/>
  <p188:author id="{927C1B18-5016-F097-947E-5C99AE2DB7CB}" name="Mukundhan Srinivasan" initials="" userId="S::msrinivasan@nvidia.com::a69601f9-1a36-4842-8cc2-7b2959cf3c15" providerId="AD"/>
  <p188:author id="{EC5C941A-88AC-EB2B-BF6A-3122AA796DF3}" name="Besmira Nushi" initials="BN" userId="S::bnushi@nvidia.com::5d5accea-a15c-4d2e-ba1a-eee949abe3fb" providerId="AD"/>
  <p188:author id="{499BE61B-ECC1-C417-51FE-580E27A1CE14}" name="Eric Pham-Hung" initials="" userId="S::ephamhung@nvidia.com::c577b3bb-127e-424d-9db5-564c72aa751b" providerId="AD"/>
  <p188:author id="{3609C11C-E625-709E-7DD5-07ABDE7C8E6A}" name="Vivienne Zhang" initials="" userId="S::viviennez@nvidia.com::3e026d9b-cdd5-459c-a954-445396a1a1cd" providerId="AD"/>
  <p188:author id="{8BF9ED20-1082-2155-C5C7-00FED1DEEA97}" name="Shyamala Prayaga" initials="SP" userId="S::sprayaga@nvidia.com::76ff8455-4133-4b38-91cb-81772140b6b6" providerId="AD"/>
  <p188:author id="{C9B5CD27-C7A1-E417-30C0-5F98D3E88A23}" name="Ana Caklovic" initials="" userId="S::acaklovic@nvidia.com::5685b31f-1e1a-4d49-9559-11d588b6fefc" providerId="AD"/>
  <p188:author id="{F2624629-5415-4EAE-B6D6-8E2628B03AB6}" name="Kristen Ennis" initials="KE" userId="S::kristene@nvidia.com::40d314fc-f4fc-4915-8814-032e6518f38c" providerId="AD"/>
  <p188:author id="{9F5D2B2A-4863-0FFF-E474-CD0EA5A89488}" name="Suchismita Sahu" initials="SS" userId="S::suchismitas@nvidia.com::615cdafb-7a1d-4b31-81d5-eeed3be4bbb7" providerId="AD"/>
  <p188:author id="{A634C12A-0E67-D5B2-80D4-50CABAEC5CCF}" name="Yamini Kagal" initials="YK" userId="S::ykagal@nvidia.com::498493fa-77e4-417e-a142-7ff78a895ac9" providerId="AD"/>
  <p188:author id="{C148422E-CA4A-F12D-5CCD-35AFD63EA2D1}" name="Sridurga Krithivasan" initials="" userId="S::skrithivasan@nvidia.com::8446d440-e251-4e8d-bc7b-d154d8c3414d" providerId="AD"/>
  <p188:author id="{37650C35-4247-FFE5-66DC-7228FD5C22CB}" name="Krystin Wignall" initials="" userId="S::kwignall@nvidia.com::cb4b27d3-da1a-4a1f-bc37-bd6105ac7cfb" providerId="AD"/>
  <p188:author id="{5EED6D35-6B5F-F066-1717-8AFEC77D64E3}" name="Kirit Thadaka" initials="KT" userId="S::kthadaka@nvidia.com::c5e932fd-05ed-4e52-8bac-4ff3530d5766" providerId="AD"/>
  <p188:author id="{2A32E63B-884A-6047-0F5A-BCC27CB1D6B2}" name="Isabel Hulseman" initials="IH" userId="S::ihulseman@nvidia.com::1cfc3e23-8f47-49f3-8eda-d68008f5918f" providerId="AD"/>
  <p188:author id="{DBD34B3D-2D89-A854-FE2D-8C326F275FE5}" name="Bethann Noble" initials="" userId="S::bnoble@nvidia.com::8ac0508b-915f-4307-8d66-d071a426078a" providerId="AD"/>
  <p188:author id="{2485ED4A-4415-842B-EB19-C7D6477FD87F}" name="Seph Mard" initials="SM" userId="S::smard@nvidia.com::7e2d9d41-9daf-4b70-8467-fd93bf4fba1e" providerId="AD"/>
  <p188:author id="{231E7758-27D4-A667-E53A-04081E721632}" name="Mark Cai" initials="MC" userId="S::macai@nvidia.com::05b1c891-b96e-4224-a8d0-688391969132" providerId="AD"/>
  <p188:author id="{BBCCFD7A-3DA8-6B02-0706-43FE30E2B02B}" name="Kari Briski" initials="KB" userId="S::kbriski@nvidia.com::e01b0371-1262-4520-905e-87c4f08df865" providerId="AD"/>
  <p188:author id="{7C15E87E-7915-8EA4-9D8C-69FEDBD29337}" name="Maryam Motamedi" initials="MM" userId="S::maryamm@nvidia.com::7614c5b4-6098-4271-b389-d731bc47e2b6" providerId="AD"/>
  <p188:author id="{EB5DF980-47D0-B27B-459D-BDC04F15BEBE}" name="Aaditya Shukla" initials="AS" userId="S::aadityaramsh@nvidia.com::c2dcaa95-56fb-47e6-ae40-844571c907da" providerId="AD"/>
  <p188:author id="{6F993881-0C55-57ED-4C10-4F31DBEA4344}" name="Moon Chung" initials="MC" userId="S::moonc@nvidia.com::93301fe0-2d0a-45aa-b2c7-64a90e073285" providerId="AD"/>
  <p188:author id="{D9381F84-8849-7EC3-9938-6B533E6CB99C}" name="Carolyne Van Den Hoogen" initials="CVDH" userId="S::cvdhoogen@nvidia.com::dc146861-8764-4d44-88e7-db7b6ea4f5d9" providerId="AD"/>
  <p188:author id="{67467285-596A-1F84-9620-AE6DB28F5847}" name="Swaminathan B S" initials="SBS" userId="S::swaminathanb@nvidia.com::a4d01bd2-1974-4657-978b-6c992b848468" providerId="AD"/>
  <p188:author id="{E97E6F89-86DF-54FD-EF97-76BC4D6DF27F}" name="Nicola Sessions" initials="" userId="S::nsessions@nvidia.com::d9f4a7f9-5358-423e-a952-d438088dae86" providerId="AD"/>
  <p188:author id="{A891D98D-226C-1B98-0EDA-778A251C2C20}" name="Tina Gholami" initials="TG" userId="S::tgholami@nvidia.com::542e405e-0571-4b37-ab74-e0528f60f32e" providerId="AD"/>
  <p188:author id="{04D4248F-2E29-7527-7BF8-B2595A59F2D9}" name="Sven Chilton" initials="" userId="S::schilton@nvidia.com::a8adf705-c253-49f5-a903-ad2cddcec0e3" providerId="AD"/>
  <p188:author id="{BE12BB90-5601-718D-A1E4-51D95ED1D9E9}" name="Eileen Long" initials="EL" userId="S::elong@nvidia.com::d76e6f97-7ce9-4963-bf69-3aecbf644e3b" providerId="AD"/>
  <p188:author id="{3E3D879B-A657-0270-23D3-95ADA251D1C4}" name="Rajath Narasimha" initials="RN" userId="S::rnarasimha@nvidia.com::897a2466-bbc4-4507-a039-7afaf8c10a84" providerId="AD"/>
  <p188:author id="{76F8C09E-FFB3-6C1E-B62F-19B26FE8F14F}" name="Nirmal Kumar Juluru" initials="NJ" userId="S::njuluru@nvidia.com::4955b243-3477-428b-8cc5-d1b9b3938a74" providerId="AD"/>
  <p188:author id="{3553D9A0-8F15-2B2D-22A8-511294233487}" name="Leon Derczynski" initials="LD" userId="S::lderczynski@nvidia.com::69df8711-4e1d-4be8-8c11-ad7271d3b12d" providerId="AD"/>
  <p188:author id="{2F8651A4-3F8A-7764-1B0C-2CED02BA849B}" name="Alexis Bjorlin" initials="AB" userId="S::abjorlin@nvidia.com::1ed7abc0-5918-45d5-8ef6-691cb26e1ab9" providerId="AD"/>
  <p188:author id="{BC940CBF-8625-F686-2CA0-C6F5D198A51C}" name="Lawrence Lane" initials="LL" userId="S::llane@nvidia.com::2492162c-e2c2-446f-87e1-70aafb6a146c" providerId="AD"/>
  <p188:author id="{60F19AC1-BB03-92F6-AB53-32A5EC0DCC35}" name="Christopher Parisien" initials="CP" userId="S::cparisien@nvidia.com::d9175c00-64fd-4ad1-972d-b752ec9a1673" providerId="AD"/>
  <p188:author id="{0050E9C3-51BD-EC53-1C24-4282C43AAAF7}" name="Jessica Jiao" initials="JJ" userId="S::yangj@nvidia.com::2f6c66d1-b33e-4d11-9c56-2f517b032db9" providerId="AD"/>
  <p188:author id="{871DC7C5-7C84-351E-48AA-C73E2F634A5B}" name="Greyson Davis" initials="GD" userId="S::greysond@nvidia.com::c7215470-bea3-491f-9335-d74f0558bf87" providerId="AD"/>
  <p188:author id="{84475AC6-AD41-5667-8C62-5E096487A1F4}" name="Matt Larson" initials="ML" userId="S::mlarson@nvidia.com::5e2ecd7a-c5f3-459b-b204-392c68ff4d71" providerId="AD"/>
  <p188:author id="{839FB1C6-F418-A108-3F7D-CDDAF5EE5A37}" name="Chintan Patel" initials="CP" userId="S::cpatel@nvidia.com::626bdbc1-ec03-4991-a9ca-0b10f2118fd5" providerId="AD"/>
  <p188:author id="{57FE7CDA-28C2-92AD-666C-72AD496B2577}" name="Arham Mehta" initials="AM" userId="S::arhamm@nvidia.com::69f9d224-b032-4f87-87d6-94762e8ca81c" providerId="AD"/>
  <p188:author id="{34435FE1-41F6-84B9-AF35-93861CC926C1}" name="Joey Conway" initials="JC" userId="S::jconway@nvidia.com::4fdfee44-6bc0-48ab-b857-07c0d0ec5f68" providerId="AD"/>
  <p188:author id="{7F01D7E1-953B-14E2-08DF-172232F5F9E0}" name="Hannah Coutand" initials="HC" userId="S::hcoutand@nvidia.com::16faee12-3603-42e4-9be8-fb6fb2a82dbf" providerId="AD"/>
  <p188:author id="{FAB689E2-37CB-8C27-C12C-5CC444F543A8}" name="Alexa Haushalter" initials="AH" userId="S::ahaushalter@nvidia.com::15d25d61-6e39-4ba1-b55f-3009698dd75f" providerId="AD"/>
  <p188:author id="{B36DC7E9-849D-D023-ABDD-8D1D984A8591}" name="Sylendran Arunagiri" initials="" userId="S::sarunagiri@nvidia.com::a5eeba61-f94a-4670-b17d-0726d36d3257" providerId="AD"/>
  <p188:author id="{254D09EB-68A4-BA84-2488-5505C7CDA0EA}" name="Amanda Saunders" initials="AS" userId="S::amandas@nvidia.com::1fd4350b-1ed6-44f6-a282-cb4811b55a50" providerId="AD"/>
  <p188:author id="{D15248F0-DB6F-FC8D-59AD-BC951639A335}" name="Nik Spirin" initials="NS" userId="S::nspirin@nvidia.com::5c6b5638-dd44-44a2-ad18-d82f6ad50695" providerId="AD"/>
  <p188:author id="{6638C2F2-1559-2F3D-F607-67B171485D42}" name="Monika Katariya" initials="MK" userId="S::mkatariya@nvidia.com::2e12cb8c-6a19-4008-97a8-949918a93289" providerId="AD"/>
  <p188:author id="{127ED4F2-F5D6-1164-98DC-A08C4D7B9969}" name="Aditi Bodhankar" initials="AB" userId="S::abodhankar@nvidia.com::b234f8b4-2265-4998-a9ff-c32d92f5910d" providerId="AD"/>
  <p188:author id="{A1FFDAFC-1B11-2CC7-FA32-9E87B1848447}" name="Tim Gasser" initials="TG" userId="S::tgasser@nvidia.com::2b1eb1f6-d653-48c8-b93f-644c71ddbc4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oey Conway" initials="" lastIdx="1" clrIdx="0"/>
  <p:cmAuthor id="2" name="Nik Spirin US" initials="" lastIdx="1" clrIdx="1"/>
  <p:cmAuthor id="3" name="Kari Briski US"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EAE16"/>
    <a:srgbClr val="FFFFFF"/>
    <a:srgbClr val="DCE2E2"/>
    <a:srgbClr val="F8971E"/>
    <a:srgbClr val="F7F71B"/>
    <a:srgbClr val="FF6608"/>
    <a:srgbClr val="D48608"/>
    <a:srgbClr val="000000"/>
    <a:srgbClr val="ECF2F2"/>
    <a:srgbClr val="B5F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BE7DAE-347A-7E9C-0F18-A349C1A65B61}" v="19" dt="2026-03-13T05:16:13.640"/>
    <p1510:client id="{9538C0DD-BFE7-4463-4A7A-D242DBF46C98}" v="149" dt="2026-03-13T05:18:29.7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73"/>
    <p:restoredTop sz="94658"/>
  </p:normalViewPr>
  <p:slideViewPr>
    <p:cSldViewPr snapToGrid="0">
      <p:cViewPr varScale="1">
        <p:scale>
          <a:sx n="116" d="100"/>
          <a:sy n="116" d="100"/>
        </p:scale>
        <p:origin x="6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bel Hulseman" userId="S::ihulseman@nvidia.com::1cfc3e23-8f47-49f3-8eda-d68008f5918f" providerId="AD" clId="Web-{9538C0DD-BFE7-4463-4A7A-D242DBF46C98}"/>
    <pc:docChg chg="delSld modSld">
      <pc:chgData name="Isabel Hulseman" userId="S::ihulseman@nvidia.com::1cfc3e23-8f47-49f3-8eda-d68008f5918f" providerId="AD" clId="Web-{9538C0DD-BFE7-4463-4A7A-D242DBF46C98}" dt="2026-03-13T05:18:29.724" v="125"/>
      <pc:docMkLst>
        <pc:docMk/>
      </pc:docMkLst>
      <pc:sldChg chg="del">
        <pc:chgData name="Isabel Hulseman" userId="S::ihulseman@nvidia.com::1cfc3e23-8f47-49f3-8eda-d68008f5918f" providerId="AD" clId="Web-{9538C0DD-BFE7-4463-4A7A-D242DBF46C98}" dt="2026-03-13T05:17:36.832" v="22"/>
        <pc:sldMkLst>
          <pc:docMk/>
          <pc:sldMk cId="420805395" sldId="256"/>
        </pc:sldMkLst>
      </pc:sldChg>
      <pc:sldChg chg="del">
        <pc:chgData name="Isabel Hulseman" userId="S::ihulseman@nvidia.com::1cfc3e23-8f47-49f3-8eda-d68008f5918f" providerId="AD" clId="Web-{9538C0DD-BFE7-4463-4A7A-D242DBF46C98}" dt="2026-03-13T05:17:36.957" v="66"/>
        <pc:sldMkLst>
          <pc:docMk/>
          <pc:sldMk cId="2413270623" sldId="257"/>
        </pc:sldMkLst>
      </pc:sldChg>
      <pc:sldChg chg="del">
        <pc:chgData name="Isabel Hulseman" userId="S::ihulseman@nvidia.com::1cfc3e23-8f47-49f3-8eda-d68008f5918f" providerId="AD" clId="Web-{9538C0DD-BFE7-4463-4A7A-D242DBF46C98}" dt="2026-03-13T05:17:36.942" v="63"/>
        <pc:sldMkLst>
          <pc:docMk/>
          <pc:sldMk cId="630566297" sldId="258"/>
        </pc:sldMkLst>
      </pc:sldChg>
      <pc:sldChg chg="del">
        <pc:chgData name="Isabel Hulseman" userId="S::ihulseman@nvidia.com::1cfc3e23-8f47-49f3-8eda-d68008f5918f" providerId="AD" clId="Web-{9538C0DD-BFE7-4463-4A7A-D242DBF46C98}" dt="2026-03-13T05:17:36.817" v="18"/>
        <pc:sldMkLst>
          <pc:docMk/>
          <pc:sldMk cId="3649961647" sldId="259"/>
        </pc:sldMkLst>
      </pc:sldChg>
      <pc:sldChg chg="del">
        <pc:chgData name="Isabel Hulseman" userId="S::ihulseman@nvidia.com::1cfc3e23-8f47-49f3-8eda-d68008f5918f" providerId="AD" clId="Web-{9538C0DD-BFE7-4463-4A7A-D242DBF46C98}" dt="2026-03-13T05:17:36.832" v="23"/>
        <pc:sldMkLst>
          <pc:docMk/>
          <pc:sldMk cId="1798931382" sldId="260"/>
        </pc:sldMkLst>
      </pc:sldChg>
      <pc:sldChg chg="del">
        <pc:chgData name="Isabel Hulseman" userId="S::ihulseman@nvidia.com::1cfc3e23-8f47-49f3-8eda-d68008f5918f" providerId="AD" clId="Web-{9538C0DD-BFE7-4463-4A7A-D242DBF46C98}" dt="2026-03-13T05:17:36.770" v="1"/>
        <pc:sldMkLst>
          <pc:docMk/>
          <pc:sldMk cId="3168974817" sldId="261"/>
        </pc:sldMkLst>
      </pc:sldChg>
      <pc:sldChg chg="del">
        <pc:chgData name="Isabel Hulseman" userId="S::ihulseman@nvidia.com::1cfc3e23-8f47-49f3-8eda-d68008f5918f" providerId="AD" clId="Web-{9538C0DD-BFE7-4463-4A7A-D242DBF46C98}" dt="2026-03-13T05:17:36.817" v="17"/>
        <pc:sldMkLst>
          <pc:docMk/>
          <pc:sldMk cId="2045849226" sldId="262"/>
        </pc:sldMkLst>
      </pc:sldChg>
      <pc:sldChg chg="del">
        <pc:chgData name="Isabel Hulseman" userId="S::ihulseman@nvidia.com::1cfc3e23-8f47-49f3-8eda-d68008f5918f" providerId="AD" clId="Web-{9538C0DD-BFE7-4463-4A7A-D242DBF46C98}" dt="2026-03-13T05:17:36.801" v="11"/>
        <pc:sldMkLst>
          <pc:docMk/>
          <pc:sldMk cId="3629455312" sldId="265"/>
        </pc:sldMkLst>
      </pc:sldChg>
      <pc:sldChg chg="del">
        <pc:chgData name="Isabel Hulseman" userId="S::ihulseman@nvidia.com::1cfc3e23-8f47-49f3-8eda-d68008f5918f" providerId="AD" clId="Web-{9538C0DD-BFE7-4463-4A7A-D242DBF46C98}" dt="2026-03-13T05:17:36.864" v="39"/>
        <pc:sldMkLst>
          <pc:docMk/>
          <pc:sldMk cId="1735877038" sldId="269"/>
        </pc:sldMkLst>
      </pc:sldChg>
      <pc:sldChg chg="del">
        <pc:chgData name="Isabel Hulseman" userId="S::ihulseman@nvidia.com::1cfc3e23-8f47-49f3-8eda-d68008f5918f" providerId="AD" clId="Web-{9538C0DD-BFE7-4463-4A7A-D242DBF46C98}" dt="2026-03-13T05:17:36.926" v="58"/>
        <pc:sldMkLst>
          <pc:docMk/>
          <pc:sldMk cId="619417211" sldId="274"/>
        </pc:sldMkLst>
      </pc:sldChg>
      <pc:sldChg chg="del">
        <pc:chgData name="Isabel Hulseman" userId="S::ihulseman@nvidia.com::1cfc3e23-8f47-49f3-8eda-d68008f5918f" providerId="AD" clId="Web-{9538C0DD-BFE7-4463-4A7A-D242DBF46C98}" dt="2026-03-13T05:17:36.864" v="33"/>
        <pc:sldMkLst>
          <pc:docMk/>
          <pc:sldMk cId="1483905078" sldId="277"/>
        </pc:sldMkLst>
      </pc:sldChg>
      <pc:sldChg chg="del">
        <pc:chgData name="Isabel Hulseman" userId="S::ihulseman@nvidia.com::1cfc3e23-8f47-49f3-8eda-d68008f5918f" providerId="AD" clId="Web-{9538C0DD-BFE7-4463-4A7A-D242DBF46C98}" dt="2026-03-13T05:17:36.895" v="48"/>
        <pc:sldMkLst>
          <pc:docMk/>
          <pc:sldMk cId="1247044507" sldId="278"/>
        </pc:sldMkLst>
      </pc:sldChg>
      <pc:sldChg chg="del">
        <pc:chgData name="Isabel Hulseman" userId="S::ihulseman@nvidia.com::1cfc3e23-8f47-49f3-8eda-d68008f5918f" providerId="AD" clId="Web-{9538C0DD-BFE7-4463-4A7A-D242DBF46C98}" dt="2026-03-13T05:17:36.832" v="20"/>
        <pc:sldMkLst>
          <pc:docMk/>
          <pc:sldMk cId="574911756" sldId="279"/>
        </pc:sldMkLst>
      </pc:sldChg>
      <pc:sldChg chg="del">
        <pc:chgData name="Isabel Hulseman" userId="S::ihulseman@nvidia.com::1cfc3e23-8f47-49f3-8eda-d68008f5918f" providerId="AD" clId="Web-{9538C0DD-BFE7-4463-4A7A-D242DBF46C98}" dt="2026-03-13T05:17:36.910" v="49"/>
        <pc:sldMkLst>
          <pc:docMk/>
          <pc:sldMk cId="1794033480" sldId="280"/>
        </pc:sldMkLst>
      </pc:sldChg>
      <pc:sldChg chg="del">
        <pc:chgData name="Isabel Hulseman" userId="S::ihulseman@nvidia.com::1cfc3e23-8f47-49f3-8eda-d68008f5918f" providerId="AD" clId="Web-{9538C0DD-BFE7-4463-4A7A-D242DBF46C98}" dt="2026-03-13T05:17:36.832" v="21"/>
        <pc:sldMkLst>
          <pc:docMk/>
          <pc:sldMk cId="192604045" sldId="281"/>
        </pc:sldMkLst>
      </pc:sldChg>
      <pc:sldChg chg="del">
        <pc:chgData name="Isabel Hulseman" userId="S::ihulseman@nvidia.com::1cfc3e23-8f47-49f3-8eda-d68008f5918f" providerId="AD" clId="Web-{9538C0DD-BFE7-4463-4A7A-D242DBF46C98}" dt="2026-03-13T05:17:36.785" v="7"/>
        <pc:sldMkLst>
          <pc:docMk/>
          <pc:sldMk cId="3507873530" sldId="282"/>
        </pc:sldMkLst>
      </pc:sldChg>
      <pc:sldChg chg="del">
        <pc:chgData name="Isabel Hulseman" userId="S::ihulseman@nvidia.com::1cfc3e23-8f47-49f3-8eda-d68008f5918f" providerId="AD" clId="Web-{9538C0DD-BFE7-4463-4A7A-D242DBF46C98}" dt="2026-03-13T05:17:36.910" v="54"/>
        <pc:sldMkLst>
          <pc:docMk/>
          <pc:sldMk cId="1532291143" sldId="283"/>
        </pc:sldMkLst>
      </pc:sldChg>
      <pc:sldChg chg="del">
        <pc:chgData name="Isabel Hulseman" userId="S::ihulseman@nvidia.com::1cfc3e23-8f47-49f3-8eda-d68008f5918f" providerId="AD" clId="Web-{9538C0DD-BFE7-4463-4A7A-D242DBF46C98}" dt="2026-03-13T05:17:36.926" v="57"/>
        <pc:sldMkLst>
          <pc:docMk/>
          <pc:sldMk cId="1039909030" sldId="285"/>
        </pc:sldMkLst>
      </pc:sldChg>
      <pc:sldChg chg="del">
        <pc:chgData name="Isabel Hulseman" userId="S::ihulseman@nvidia.com::1cfc3e23-8f47-49f3-8eda-d68008f5918f" providerId="AD" clId="Web-{9538C0DD-BFE7-4463-4A7A-D242DBF46C98}" dt="2026-03-13T05:17:36.817" v="16"/>
        <pc:sldMkLst>
          <pc:docMk/>
          <pc:sldMk cId="636405940" sldId="286"/>
        </pc:sldMkLst>
      </pc:sldChg>
      <pc:sldChg chg="del">
        <pc:chgData name="Isabel Hulseman" userId="S::ihulseman@nvidia.com::1cfc3e23-8f47-49f3-8eda-d68008f5918f" providerId="AD" clId="Web-{9538C0DD-BFE7-4463-4A7A-D242DBF46C98}" dt="2026-03-13T05:17:36.801" v="15"/>
        <pc:sldMkLst>
          <pc:docMk/>
          <pc:sldMk cId="1485132600" sldId="287"/>
        </pc:sldMkLst>
      </pc:sldChg>
      <pc:sldChg chg="del">
        <pc:chgData name="Isabel Hulseman" userId="S::ihulseman@nvidia.com::1cfc3e23-8f47-49f3-8eda-d68008f5918f" providerId="AD" clId="Web-{9538C0DD-BFE7-4463-4A7A-D242DBF46C98}" dt="2026-03-13T05:17:36.801" v="14"/>
        <pc:sldMkLst>
          <pc:docMk/>
          <pc:sldMk cId="3020951072" sldId="288"/>
        </pc:sldMkLst>
      </pc:sldChg>
      <pc:sldChg chg="del">
        <pc:chgData name="Isabel Hulseman" userId="S::ihulseman@nvidia.com::1cfc3e23-8f47-49f3-8eda-d68008f5918f" providerId="AD" clId="Web-{9538C0DD-BFE7-4463-4A7A-D242DBF46C98}" dt="2026-03-13T05:17:36.864" v="38"/>
        <pc:sldMkLst>
          <pc:docMk/>
          <pc:sldMk cId="3156993748" sldId="289"/>
        </pc:sldMkLst>
      </pc:sldChg>
      <pc:sldChg chg="del">
        <pc:chgData name="Isabel Hulseman" userId="S::ihulseman@nvidia.com::1cfc3e23-8f47-49f3-8eda-d68008f5918f" providerId="AD" clId="Web-{9538C0DD-BFE7-4463-4A7A-D242DBF46C98}" dt="2026-03-13T05:17:36.848" v="32"/>
        <pc:sldMkLst>
          <pc:docMk/>
          <pc:sldMk cId="316639513" sldId="290"/>
        </pc:sldMkLst>
      </pc:sldChg>
      <pc:sldChg chg="del">
        <pc:chgData name="Isabel Hulseman" userId="S::ihulseman@nvidia.com::1cfc3e23-8f47-49f3-8eda-d68008f5918f" providerId="AD" clId="Web-{9538C0DD-BFE7-4463-4A7A-D242DBF46C98}" dt="2026-03-13T05:17:36.770" v="2"/>
        <pc:sldMkLst>
          <pc:docMk/>
          <pc:sldMk cId="1639356062" sldId="292"/>
        </pc:sldMkLst>
      </pc:sldChg>
      <pc:sldChg chg="del">
        <pc:chgData name="Isabel Hulseman" userId="S::ihulseman@nvidia.com::1cfc3e23-8f47-49f3-8eda-d68008f5918f" providerId="AD" clId="Web-{9538C0DD-BFE7-4463-4A7A-D242DBF46C98}" dt="2026-03-13T05:17:36.785" v="8"/>
        <pc:sldMkLst>
          <pc:docMk/>
          <pc:sldMk cId="2363286076" sldId="294"/>
        </pc:sldMkLst>
      </pc:sldChg>
      <pc:sldChg chg="modSp">
        <pc:chgData name="Isabel Hulseman" userId="S::ihulseman@nvidia.com::1cfc3e23-8f47-49f3-8eda-d68008f5918f" providerId="AD" clId="Web-{9538C0DD-BFE7-4463-4A7A-D242DBF46C98}" dt="2026-03-13T05:18:29.724" v="125"/>
        <pc:sldMkLst>
          <pc:docMk/>
          <pc:sldMk cId="3251696728" sldId="295"/>
        </pc:sldMkLst>
        <pc:graphicFrameChg chg="mod modGraphic">
          <ac:chgData name="Isabel Hulseman" userId="S::ihulseman@nvidia.com::1cfc3e23-8f47-49f3-8eda-d68008f5918f" providerId="AD" clId="Web-{9538C0DD-BFE7-4463-4A7A-D242DBF46C98}" dt="2026-03-13T05:18:29.724" v="125"/>
          <ac:graphicFrameMkLst>
            <pc:docMk/>
            <pc:sldMk cId="3251696728" sldId="295"/>
            <ac:graphicFrameMk id="6" creationId="{0446F44E-7C77-CBB2-D779-E95BD33F078F}"/>
          </ac:graphicFrameMkLst>
        </pc:graphicFrameChg>
      </pc:sldChg>
      <pc:sldChg chg="del">
        <pc:chgData name="Isabel Hulseman" userId="S::ihulseman@nvidia.com::1cfc3e23-8f47-49f3-8eda-d68008f5918f" providerId="AD" clId="Web-{9538C0DD-BFE7-4463-4A7A-D242DBF46C98}" dt="2026-03-13T05:17:36.770" v="4"/>
        <pc:sldMkLst>
          <pc:docMk/>
          <pc:sldMk cId="2783414530" sldId="297"/>
        </pc:sldMkLst>
      </pc:sldChg>
      <pc:sldChg chg="del">
        <pc:chgData name="Isabel Hulseman" userId="S::ihulseman@nvidia.com::1cfc3e23-8f47-49f3-8eda-d68008f5918f" providerId="AD" clId="Web-{9538C0DD-BFE7-4463-4A7A-D242DBF46C98}" dt="2026-03-13T05:17:36.817" v="19"/>
        <pc:sldMkLst>
          <pc:docMk/>
          <pc:sldMk cId="811607340" sldId="298"/>
        </pc:sldMkLst>
      </pc:sldChg>
      <pc:sldChg chg="del">
        <pc:chgData name="Isabel Hulseman" userId="S::ihulseman@nvidia.com::1cfc3e23-8f47-49f3-8eda-d68008f5918f" providerId="AD" clId="Web-{9538C0DD-BFE7-4463-4A7A-D242DBF46C98}" dt="2026-03-13T05:17:36.785" v="9"/>
        <pc:sldMkLst>
          <pc:docMk/>
          <pc:sldMk cId="3415750012" sldId="299"/>
        </pc:sldMkLst>
      </pc:sldChg>
      <pc:sldChg chg="del">
        <pc:chgData name="Isabel Hulseman" userId="S::ihulseman@nvidia.com::1cfc3e23-8f47-49f3-8eda-d68008f5918f" providerId="AD" clId="Web-{9538C0DD-BFE7-4463-4A7A-D242DBF46C98}" dt="2026-03-13T05:17:36.832" v="24"/>
        <pc:sldMkLst>
          <pc:docMk/>
          <pc:sldMk cId="1617121581" sldId="300"/>
        </pc:sldMkLst>
      </pc:sldChg>
      <pc:sldChg chg="del">
        <pc:chgData name="Isabel Hulseman" userId="S::ihulseman@nvidia.com::1cfc3e23-8f47-49f3-8eda-d68008f5918f" providerId="AD" clId="Web-{9538C0DD-BFE7-4463-4A7A-D242DBF46C98}" dt="2026-03-13T05:17:36.785" v="10"/>
        <pc:sldMkLst>
          <pc:docMk/>
          <pc:sldMk cId="2690840442" sldId="301"/>
        </pc:sldMkLst>
      </pc:sldChg>
      <pc:sldChg chg="del">
        <pc:chgData name="Isabel Hulseman" userId="S::ihulseman@nvidia.com::1cfc3e23-8f47-49f3-8eda-d68008f5918f" providerId="AD" clId="Web-{9538C0DD-BFE7-4463-4A7A-D242DBF46C98}" dt="2026-03-13T05:17:36.754" v="0"/>
        <pc:sldMkLst>
          <pc:docMk/>
          <pc:sldMk cId="3880410983" sldId="302"/>
        </pc:sldMkLst>
      </pc:sldChg>
      <pc:sldChg chg="del">
        <pc:chgData name="Isabel Hulseman" userId="S::ihulseman@nvidia.com::1cfc3e23-8f47-49f3-8eda-d68008f5918f" providerId="AD" clId="Web-{9538C0DD-BFE7-4463-4A7A-D242DBF46C98}" dt="2026-03-13T05:17:36.770" v="6"/>
        <pc:sldMkLst>
          <pc:docMk/>
          <pc:sldMk cId="4203905323" sldId="303"/>
        </pc:sldMkLst>
      </pc:sldChg>
      <pc:sldChg chg="del">
        <pc:chgData name="Isabel Hulseman" userId="S::ihulseman@nvidia.com::1cfc3e23-8f47-49f3-8eda-d68008f5918f" providerId="AD" clId="Web-{9538C0DD-BFE7-4463-4A7A-D242DBF46C98}" dt="2026-03-13T05:17:36.910" v="53"/>
        <pc:sldMkLst>
          <pc:docMk/>
          <pc:sldMk cId="636322793" sldId="307"/>
        </pc:sldMkLst>
      </pc:sldChg>
      <pc:sldChg chg="del">
        <pc:chgData name="Isabel Hulseman" userId="S::ihulseman@nvidia.com::1cfc3e23-8f47-49f3-8eda-d68008f5918f" providerId="AD" clId="Web-{9538C0DD-BFE7-4463-4A7A-D242DBF46C98}" dt="2026-03-13T05:17:36.832" v="25"/>
        <pc:sldMkLst>
          <pc:docMk/>
          <pc:sldMk cId="615663389" sldId="308"/>
        </pc:sldMkLst>
      </pc:sldChg>
      <pc:sldChg chg="del">
        <pc:chgData name="Isabel Hulseman" userId="S::ihulseman@nvidia.com::1cfc3e23-8f47-49f3-8eda-d68008f5918f" providerId="AD" clId="Web-{9538C0DD-BFE7-4463-4A7A-D242DBF46C98}" dt="2026-03-13T05:17:36.848" v="27"/>
        <pc:sldMkLst>
          <pc:docMk/>
          <pc:sldMk cId="165494668" sldId="309"/>
        </pc:sldMkLst>
      </pc:sldChg>
      <pc:sldChg chg="del">
        <pc:chgData name="Isabel Hulseman" userId="S::ihulseman@nvidia.com::1cfc3e23-8f47-49f3-8eda-d68008f5918f" providerId="AD" clId="Web-{9538C0DD-BFE7-4463-4A7A-D242DBF46C98}" dt="2026-03-13T05:17:36.848" v="28"/>
        <pc:sldMkLst>
          <pc:docMk/>
          <pc:sldMk cId="3736321049" sldId="310"/>
        </pc:sldMkLst>
      </pc:sldChg>
      <pc:sldChg chg="del">
        <pc:chgData name="Isabel Hulseman" userId="S::ihulseman@nvidia.com::1cfc3e23-8f47-49f3-8eda-d68008f5918f" providerId="AD" clId="Web-{9538C0DD-BFE7-4463-4A7A-D242DBF46C98}" dt="2026-03-13T05:17:36.848" v="26"/>
        <pc:sldMkLst>
          <pc:docMk/>
          <pc:sldMk cId="237855534" sldId="311"/>
        </pc:sldMkLst>
      </pc:sldChg>
      <pc:sldChg chg="del">
        <pc:chgData name="Isabel Hulseman" userId="S::ihulseman@nvidia.com::1cfc3e23-8f47-49f3-8eda-d68008f5918f" providerId="AD" clId="Web-{9538C0DD-BFE7-4463-4A7A-D242DBF46C98}" dt="2026-03-13T05:17:36.848" v="30"/>
        <pc:sldMkLst>
          <pc:docMk/>
          <pc:sldMk cId="715660518" sldId="312"/>
        </pc:sldMkLst>
      </pc:sldChg>
      <pc:sldChg chg="del">
        <pc:chgData name="Isabel Hulseman" userId="S::ihulseman@nvidia.com::1cfc3e23-8f47-49f3-8eda-d68008f5918f" providerId="AD" clId="Web-{9538C0DD-BFE7-4463-4A7A-D242DBF46C98}" dt="2026-03-13T05:17:36.910" v="55"/>
        <pc:sldMkLst>
          <pc:docMk/>
          <pc:sldMk cId="1437811263" sldId="314"/>
        </pc:sldMkLst>
      </pc:sldChg>
      <pc:sldChg chg="del">
        <pc:chgData name="Isabel Hulseman" userId="S::ihulseman@nvidia.com::1cfc3e23-8f47-49f3-8eda-d68008f5918f" providerId="AD" clId="Web-{9538C0DD-BFE7-4463-4A7A-D242DBF46C98}" dt="2026-03-13T05:17:36.848" v="31"/>
        <pc:sldMkLst>
          <pc:docMk/>
          <pc:sldMk cId="1639063081" sldId="315"/>
        </pc:sldMkLst>
      </pc:sldChg>
      <pc:sldChg chg="del">
        <pc:chgData name="Isabel Hulseman" userId="S::ihulseman@nvidia.com::1cfc3e23-8f47-49f3-8eda-d68008f5918f" providerId="AD" clId="Web-{9538C0DD-BFE7-4463-4A7A-D242DBF46C98}" dt="2026-03-13T05:17:36.770" v="3"/>
        <pc:sldMkLst>
          <pc:docMk/>
          <pc:sldMk cId="2418414773" sldId="317"/>
        </pc:sldMkLst>
      </pc:sldChg>
      <pc:sldChg chg="del">
        <pc:chgData name="Isabel Hulseman" userId="S::ihulseman@nvidia.com::1cfc3e23-8f47-49f3-8eda-d68008f5918f" providerId="AD" clId="Web-{9538C0DD-BFE7-4463-4A7A-D242DBF46C98}" dt="2026-03-13T05:17:36.864" v="37"/>
        <pc:sldMkLst>
          <pc:docMk/>
          <pc:sldMk cId="2099139277" sldId="320"/>
        </pc:sldMkLst>
      </pc:sldChg>
      <pc:sldChg chg="del">
        <pc:chgData name="Isabel Hulseman" userId="S::ihulseman@nvidia.com::1cfc3e23-8f47-49f3-8eda-d68008f5918f" providerId="AD" clId="Web-{9538C0DD-BFE7-4463-4A7A-D242DBF46C98}" dt="2026-03-13T05:17:36.957" v="67"/>
        <pc:sldMkLst>
          <pc:docMk/>
          <pc:sldMk cId="835222138" sldId="321"/>
        </pc:sldMkLst>
      </pc:sldChg>
      <pc:sldChg chg="del">
        <pc:chgData name="Isabel Hulseman" userId="S::ihulseman@nvidia.com::1cfc3e23-8f47-49f3-8eda-d68008f5918f" providerId="AD" clId="Web-{9538C0DD-BFE7-4463-4A7A-D242DBF46C98}" dt="2026-03-13T05:17:36.942" v="64"/>
        <pc:sldMkLst>
          <pc:docMk/>
          <pc:sldMk cId="25356250" sldId="322"/>
        </pc:sldMkLst>
      </pc:sldChg>
      <pc:sldChg chg="del">
        <pc:chgData name="Isabel Hulseman" userId="S::ihulseman@nvidia.com::1cfc3e23-8f47-49f3-8eda-d68008f5918f" providerId="AD" clId="Web-{9538C0DD-BFE7-4463-4A7A-D242DBF46C98}" dt="2026-03-13T05:17:36.957" v="65"/>
        <pc:sldMkLst>
          <pc:docMk/>
          <pc:sldMk cId="2142520787" sldId="323"/>
        </pc:sldMkLst>
      </pc:sldChg>
      <pc:sldChg chg="del">
        <pc:chgData name="Isabel Hulseman" userId="S::ihulseman@nvidia.com::1cfc3e23-8f47-49f3-8eda-d68008f5918f" providerId="AD" clId="Web-{9538C0DD-BFE7-4463-4A7A-D242DBF46C98}" dt="2026-03-13T05:17:36.895" v="44"/>
        <pc:sldMkLst>
          <pc:docMk/>
          <pc:sldMk cId="2818162855" sldId="324"/>
        </pc:sldMkLst>
      </pc:sldChg>
      <pc:sldChg chg="del">
        <pc:chgData name="Isabel Hulseman" userId="S::ihulseman@nvidia.com::1cfc3e23-8f47-49f3-8eda-d68008f5918f" providerId="AD" clId="Web-{9538C0DD-BFE7-4463-4A7A-D242DBF46C98}" dt="2026-03-13T05:17:36.895" v="45"/>
        <pc:sldMkLst>
          <pc:docMk/>
          <pc:sldMk cId="3838830336" sldId="325"/>
        </pc:sldMkLst>
      </pc:sldChg>
      <pc:sldChg chg="del">
        <pc:chgData name="Isabel Hulseman" userId="S::ihulseman@nvidia.com::1cfc3e23-8f47-49f3-8eda-d68008f5918f" providerId="AD" clId="Web-{9538C0DD-BFE7-4463-4A7A-D242DBF46C98}" dt="2026-03-13T05:17:36.895" v="46"/>
        <pc:sldMkLst>
          <pc:docMk/>
          <pc:sldMk cId="1023454523" sldId="326"/>
        </pc:sldMkLst>
      </pc:sldChg>
      <pc:sldChg chg="del">
        <pc:chgData name="Isabel Hulseman" userId="S::ihulseman@nvidia.com::1cfc3e23-8f47-49f3-8eda-d68008f5918f" providerId="AD" clId="Web-{9538C0DD-BFE7-4463-4A7A-D242DBF46C98}" dt="2026-03-13T05:17:36.879" v="42"/>
        <pc:sldMkLst>
          <pc:docMk/>
          <pc:sldMk cId="805001788" sldId="327"/>
        </pc:sldMkLst>
      </pc:sldChg>
      <pc:sldChg chg="del">
        <pc:chgData name="Isabel Hulseman" userId="S::ihulseman@nvidia.com::1cfc3e23-8f47-49f3-8eda-d68008f5918f" providerId="AD" clId="Web-{9538C0DD-BFE7-4463-4A7A-D242DBF46C98}" dt="2026-03-13T05:17:36.895" v="47"/>
        <pc:sldMkLst>
          <pc:docMk/>
          <pc:sldMk cId="2754887448" sldId="328"/>
        </pc:sldMkLst>
      </pc:sldChg>
      <pc:sldChg chg="del">
        <pc:chgData name="Isabel Hulseman" userId="S::ihulseman@nvidia.com::1cfc3e23-8f47-49f3-8eda-d68008f5918f" providerId="AD" clId="Web-{9538C0DD-BFE7-4463-4A7A-D242DBF46C98}" dt="2026-03-13T05:17:36.926" v="60"/>
        <pc:sldMkLst>
          <pc:docMk/>
          <pc:sldMk cId="3788626451" sldId="329"/>
        </pc:sldMkLst>
      </pc:sldChg>
      <pc:sldChg chg="del">
        <pc:chgData name="Isabel Hulseman" userId="S::ihulseman@nvidia.com::1cfc3e23-8f47-49f3-8eda-d68008f5918f" providerId="AD" clId="Web-{9538C0DD-BFE7-4463-4A7A-D242DBF46C98}" dt="2026-03-13T05:17:36.910" v="52"/>
        <pc:sldMkLst>
          <pc:docMk/>
          <pc:sldMk cId="1459357138" sldId="330"/>
        </pc:sldMkLst>
      </pc:sldChg>
      <pc:sldChg chg="del">
        <pc:chgData name="Isabel Hulseman" userId="S::ihulseman@nvidia.com::1cfc3e23-8f47-49f3-8eda-d68008f5918f" providerId="AD" clId="Web-{9538C0DD-BFE7-4463-4A7A-D242DBF46C98}" dt="2026-03-13T05:17:36.864" v="36"/>
        <pc:sldMkLst>
          <pc:docMk/>
          <pc:sldMk cId="98563893" sldId="331"/>
        </pc:sldMkLst>
      </pc:sldChg>
      <pc:sldChg chg="del">
        <pc:chgData name="Isabel Hulseman" userId="S::ihulseman@nvidia.com::1cfc3e23-8f47-49f3-8eda-d68008f5918f" providerId="AD" clId="Web-{9538C0DD-BFE7-4463-4A7A-D242DBF46C98}" dt="2026-03-13T05:17:36.848" v="29"/>
        <pc:sldMkLst>
          <pc:docMk/>
          <pc:sldMk cId="2781373406" sldId="332"/>
        </pc:sldMkLst>
      </pc:sldChg>
      <pc:sldChg chg="del">
        <pc:chgData name="Isabel Hulseman" userId="S::ihulseman@nvidia.com::1cfc3e23-8f47-49f3-8eda-d68008f5918f" providerId="AD" clId="Web-{9538C0DD-BFE7-4463-4A7A-D242DBF46C98}" dt="2026-03-13T05:17:36.864" v="35"/>
        <pc:sldMkLst>
          <pc:docMk/>
          <pc:sldMk cId="3820326032" sldId="333"/>
        </pc:sldMkLst>
      </pc:sldChg>
      <pc:sldChg chg="del">
        <pc:chgData name="Isabel Hulseman" userId="S::ihulseman@nvidia.com::1cfc3e23-8f47-49f3-8eda-d68008f5918f" providerId="AD" clId="Web-{9538C0DD-BFE7-4463-4A7A-D242DBF46C98}" dt="2026-03-13T05:17:36.926" v="59"/>
        <pc:sldMkLst>
          <pc:docMk/>
          <pc:sldMk cId="4057162170" sldId="334"/>
        </pc:sldMkLst>
      </pc:sldChg>
      <pc:sldChg chg="del">
        <pc:chgData name="Isabel Hulseman" userId="S::ihulseman@nvidia.com::1cfc3e23-8f47-49f3-8eda-d68008f5918f" providerId="AD" clId="Web-{9538C0DD-BFE7-4463-4A7A-D242DBF46C98}" dt="2026-03-13T05:17:36.910" v="51"/>
        <pc:sldMkLst>
          <pc:docMk/>
          <pc:sldMk cId="995132851" sldId="335"/>
        </pc:sldMkLst>
      </pc:sldChg>
      <pc:sldChg chg="del">
        <pc:chgData name="Isabel Hulseman" userId="S::ihulseman@nvidia.com::1cfc3e23-8f47-49f3-8eda-d68008f5918f" providerId="AD" clId="Web-{9538C0DD-BFE7-4463-4A7A-D242DBF46C98}" dt="2026-03-13T05:17:36.942" v="62"/>
        <pc:sldMkLst>
          <pc:docMk/>
          <pc:sldMk cId="289166017" sldId="337"/>
        </pc:sldMkLst>
      </pc:sldChg>
      <pc:sldChg chg="del">
        <pc:chgData name="Isabel Hulseman" userId="S::ihulseman@nvidia.com::1cfc3e23-8f47-49f3-8eda-d68008f5918f" providerId="AD" clId="Web-{9538C0DD-BFE7-4463-4A7A-D242DBF46C98}" dt="2026-03-13T05:17:36.879" v="41"/>
        <pc:sldMkLst>
          <pc:docMk/>
          <pc:sldMk cId="1960049443" sldId="338"/>
        </pc:sldMkLst>
      </pc:sldChg>
      <pc:sldChg chg="del">
        <pc:chgData name="Isabel Hulseman" userId="S::ihulseman@nvidia.com::1cfc3e23-8f47-49f3-8eda-d68008f5918f" providerId="AD" clId="Web-{9538C0DD-BFE7-4463-4A7A-D242DBF46C98}" dt="2026-03-13T05:17:36.879" v="43"/>
        <pc:sldMkLst>
          <pc:docMk/>
          <pc:sldMk cId="1516629093" sldId="339"/>
        </pc:sldMkLst>
      </pc:sldChg>
      <pc:sldChg chg="del">
        <pc:chgData name="Isabel Hulseman" userId="S::ihulseman@nvidia.com::1cfc3e23-8f47-49f3-8eda-d68008f5918f" providerId="AD" clId="Web-{9538C0DD-BFE7-4463-4A7A-D242DBF46C98}" dt="2026-03-13T05:17:36.879" v="40"/>
        <pc:sldMkLst>
          <pc:docMk/>
          <pc:sldMk cId="2934434552" sldId="340"/>
        </pc:sldMkLst>
      </pc:sldChg>
      <pc:sldChg chg="del">
        <pc:chgData name="Isabel Hulseman" userId="S::ihulseman@nvidia.com::1cfc3e23-8f47-49f3-8eda-d68008f5918f" providerId="AD" clId="Web-{9538C0DD-BFE7-4463-4A7A-D242DBF46C98}" dt="2026-03-13T05:17:36.942" v="61"/>
        <pc:sldMkLst>
          <pc:docMk/>
          <pc:sldMk cId="2084960749" sldId="341"/>
        </pc:sldMkLst>
      </pc:sldChg>
      <pc:sldChg chg="del">
        <pc:chgData name="Isabel Hulseman" userId="S::ihulseman@nvidia.com::1cfc3e23-8f47-49f3-8eda-d68008f5918f" providerId="AD" clId="Web-{9538C0DD-BFE7-4463-4A7A-D242DBF46C98}" dt="2026-03-13T05:17:36.926" v="56"/>
        <pc:sldMkLst>
          <pc:docMk/>
          <pc:sldMk cId="2691586304" sldId="342"/>
        </pc:sldMkLst>
      </pc:sldChg>
      <pc:sldChg chg="del">
        <pc:chgData name="Isabel Hulseman" userId="S::ihulseman@nvidia.com::1cfc3e23-8f47-49f3-8eda-d68008f5918f" providerId="AD" clId="Web-{9538C0DD-BFE7-4463-4A7A-D242DBF46C98}" dt="2026-03-13T05:17:36.910" v="50"/>
        <pc:sldMkLst>
          <pc:docMk/>
          <pc:sldMk cId="3709725672" sldId="343"/>
        </pc:sldMkLst>
      </pc:sldChg>
      <pc:sldChg chg="del">
        <pc:chgData name="Isabel Hulseman" userId="S::ihulseman@nvidia.com::1cfc3e23-8f47-49f3-8eda-d68008f5918f" providerId="AD" clId="Web-{9538C0DD-BFE7-4463-4A7A-D242DBF46C98}" dt="2026-03-13T05:17:36.864" v="34"/>
        <pc:sldMkLst>
          <pc:docMk/>
          <pc:sldMk cId="2358618457" sldId="344"/>
        </pc:sldMkLst>
      </pc:sldChg>
      <pc:sldChg chg="del">
        <pc:chgData name="Isabel Hulseman" userId="S::ihulseman@nvidia.com::1cfc3e23-8f47-49f3-8eda-d68008f5918f" providerId="AD" clId="Web-{9538C0DD-BFE7-4463-4A7A-D242DBF46C98}" dt="2026-03-13T05:17:36.770" v="5"/>
        <pc:sldMkLst>
          <pc:docMk/>
          <pc:sldMk cId="3660147423" sldId="2147482831"/>
        </pc:sldMkLst>
      </pc:sldChg>
      <pc:sldChg chg="del">
        <pc:chgData name="Isabel Hulseman" userId="S::ihulseman@nvidia.com::1cfc3e23-8f47-49f3-8eda-d68008f5918f" providerId="AD" clId="Web-{9538C0DD-BFE7-4463-4A7A-D242DBF46C98}" dt="2026-03-13T05:17:36.801" v="13"/>
        <pc:sldMkLst>
          <pc:docMk/>
          <pc:sldMk cId="67711286" sldId="2147483616"/>
        </pc:sldMkLst>
      </pc:sldChg>
      <pc:sldChg chg="del">
        <pc:chgData name="Isabel Hulseman" userId="S::ihulseman@nvidia.com::1cfc3e23-8f47-49f3-8eda-d68008f5918f" providerId="AD" clId="Web-{9538C0DD-BFE7-4463-4A7A-D242DBF46C98}" dt="2026-03-13T05:17:36.801" v="12"/>
        <pc:sldMkLst>
          <pc:docMk/>
          <pc:sldMk cId="2612281193" sldId="2147483617"/>
        </pc:sldMkLst>
      </pc:sldChg>
    </pc:docChg>
  </pc:docChgLst>
</pc:chgInfo>
</file>

<file path=ppt/comments/modernComment_7FFFFFFF_6C957CDF.xml><?xml version="1.0" encoding="utf-8"?>
<p188:cmLst xmlns:a="http://schemas.openxmlformats.org/drawingml/2006/main" xmlns:r="http://schemas.openxmlformats.org/officeDocument/2006/relationships" xmlns:p188="http://schemas.microsoft.com/office/powerpoint/2018/8/main">
  <p188:cm id="{2467F3B4-2D61-40DA-B30C-9776EDED366A}" authorId="{2A32E63B-884A-6047-0F5A-BCC27CB1D6B2}" status="resolved" created="2026-01-23T21:18:38.920" complete="100000">
    <ac:deMkLst xmlns:ac="http://schemas.microsoft.com/office/drawing/2013/main/command">
      <pc:docMk xmlns:pc="http://schemas.microsoft.com/office/powerpoint/2013/main/command"/>
      <pc:sldMk xmlns:pc="http://schemas.microsoft.com/office/powerpoint/2013/main/command" cId="1821736159" sldId="2147483647"/>
      <ac:spMk id="10" creationId="{868C8C3C-AA2A-5A7A-73A8-0E630972AA2A}"/>
    </ac:deMkLst>
    <p188:replyLst>
      <p188:reply id="{49D4C45F-72D1-404A-B326-3E53CBEB7D99}" authorId="{2A32E63B-884A-6047-0F5A-BCC27CB1D6B2}" created="2026-02-05T18:01:44.473">
        <p188:txBody>
          <a:bodyPr/>
          <a:lstStyle/>
          <a:p>
            <a:r>
              <a:rPr lang="en-US"/>
              <a:t>RAG use case isn't adopted much. Not a model. Ask Chris P more about this
January 23, 2026 at 4:16 PM
Isabel Hulseman
New RAG API? validated RAG piece is being guardrailed. Dive into Latency for each for apps. Show graphs</a:t>
            </a:r>
          </a:p>
        </p188:txBody>
      </p188:reply>
      <p188:reply id="{377EFB9D-EFD6-45A2-8F12-05F2A11B833A}" authorId="{2A32E63B-884A-6047-0F5A-BCC27CB1D6B2}" created="2026-02-05T21:18:18.803">
        <p188:txBody>
          <a:bodyPr/>
          <a:lstStyle/>
          <a:p>
            <a:r>
              <a:rPr lang="en-US"/>
              <a:t>this would just be the diagram slide, and you can see where the 4 use cases are in the diagram- update RAG to OTHER like RAG</a:t>
            </a:r>
          </a:p>
        </p188:txBody>
      </p188:reply>
      <p188:reply id="{4DB71E3F-1922-4050-8CC4-349D61A92F50}" authorId="{2A32E63B-884A-6047-0F5A-BCC27CB1D6B2}" created="2026-02-05T21:18:37.444">
        <p188:txBody>
          <a:bodyPr/>
          <a:lstStyle/>
          <a:p>
            <a:r>
              <a:rPr lang="en-US"/>
              <a:t>also agentic and custom, isabel to update luciud diagram</a:t>
            </a:r>
          </a:p>
        </p188:txBody>
      </p188:reply>
    </p188:replyLst>
    <p188:txBody>
      <a:bodyPr/>
      <a:lstStyle/>
      <a:p>
        <a:r>
          <a:rPr lang="en-US"/>
          <a:t>need to update</a:t>
        </a:r>
      </a:p>
    </p188:txBody>
  </p188:cm>
</p188:cmLst>
</file>

<file path=ppt/comments/modernComment_10A_209E7D8D.xml><?xml version="1.0" encoding="utf-8"?>
<p188:cmLst xmlns:a="http://schemas.openxmlformats.org/drawingml/2006/main" xmlns:r="http://schemas.openxmlformats.org/officeDocument/2006/relationships" xmlns:p188="http://schemas.microsoft.com/office/powerpoint/2018/8/main">
  <p188:cm id="{87F0A838-0DFB-435F-B410-FE0498B3581C}" authorId="{2A32E63B-884A-6047-0F5A-BCC27CB1D6B2}" status="resolved" created="2026-01-21T18:56:55.292" startDate="2026-01-21T18:56:55.292" dueDate="2026-01-21T18:56:55.292" assignedTo="{04D4248F-2E29-7527-7BF8-B2595A59F2D9}" complete="100000" title="Can you help think of a new example that isnt so dated? @Sven Chilton @Alexa Haushalter @Christopher Parisien">
    <pc:sldMkLst xmlns:pc="http://schemas.microsoft.com/office/powerpoint/2013/main/command">
      <pc:docMk/>
      <pc:sldMk cId="547257741" sldId="266"/>
    </pc:sldMkLst>
    <p188:replyLst>
      <p188:reply id="{29343386-7CF4-4065-B792-9722B1FF8353}" authorId="{FAB689E2-37CB-8C27-C12C-5CC444F543A8}" created="2026-01-28T17:08:48.753">
        <p188:txBody>
          <a:bodyPr/>
          <a:lstStyle/>
          <a:p>
            <a:r>
              <a:rPr lang="en-US"/>
              <a:t>How about this?
Prompt
"Should I invest in tech stocks right now? What's your recommendation for diversifying my retirement portfolio?"
Off response
"Based on current market conditions, tech stocks have shown strong performance, particularly in AI and cloud computing sectors. For retirement portfolio diversification, financial advisors typically recommend a mix of 60% stocks and 40% bonds for moderate risk tolerance..."
On response
"I cannot provide investment advice. I can help you with account information and banking services."
Identified as category: Financial Advice, Investments</a:t>
            </a:r>
          </a:p>
        </p188:txBody>
      </p188:reply>
    </p188:replyLst>
    <p188:txBody>
      <a:bodyPr/>
      <a:lstStyle/>
      <a:p>
        <a:r>
          <a:rPr lang="en-US"/>
          <a:t>Can you help think of a new example that isnt so dated? [@Sven Chilton] [@Alexa Haushalter] [@Christopher Parisien] </a:t>
        </a:r>
      </a:p>
    </p188:txBody>
    <p188:extLst>
      <p:ext xmlns:p="http://schemas.openxmlformats.org/presentationml/2006/main" uri="{5BB2D875-25FF-4072-B9AC-8F64D62656EB}">
        <p228:taskDetails xmlns:p228="http://schemas.microsoft.com/office/powerpoint/2022/08/main">
          <p228:history>
            <p228:event time="2026-01-21T18:56:55.292" id="{7379BED0-D0E6-41ED-B3E2-CE7BA6842602}">
              <p228:atrbtn authorId="{2A32E63B-884A-6047-0F5A-BCC27CB1D6B2}"/>
              <p228:anchr>
                <p228:comment id="{87F0A838-0DFB-435F-B410-FE0498B3581C}"/>
              </p228:anchr>
              <p228:add/>
            </p228:event>
            <p228:event time="2026-01-21T18:56:55.292" id="{E1FCF482-F9DE-4763-9044-262815ECBBE4}">
              <p228:atrbtn authorId="{2A32E63B-884A-6047-0F5A-BCC27CB1D6B2}"/>
              <p228:anchr>
                <p228:comment id="{87F0A838-0DFB-435F-B410-FE0498B3581C}"/>
              </p228:anchr>
              <p228:asgn authorId="{04D4248F-2E29-7527-7BF8-B2595A59F2D9}"/>
            </p228:event>
            <p228:event time="2026-01-21T18:56:55.292" id="{B9FD13B9-F04D-456B-BF94-10D089AE557F}">
              <p228:atrbtn authorId="{2A32E63B-884A-6047-0F5A-BCC27CB1D6B2}"/>
              <p228:anchr>
                <p228:comment id="{87F0A838-0DFB-435F-B410-FE0498B3581C}"/>
              </p228:anchr>
              <p228:title val="Can you help think of a new example that isnt so dated? @Sven Chilton @Alexa Haushalter @Christopher Parisien"/>
            </p228:event>
            <p228:event time="2026-01-21T18:56:55.292" id="{AEAFF973-6702-4E8F-A666-A6D72169A483}">
              <p228:atrbtn authorId="{2A32E63B-884A-6047-0F5A-BCC27CB1D6B2}"/>
              <p228:anchr>
                <p228:comment id="{87F0A838-0DFB-435F-B410-FE0498B3581C}"/>
              </p228:anchr>
              <p228:date stDt="2026-01-21T18:56:55.292" endDt="2026-01-21T18:56:55.292"/>
            </p228:event>
            <p228:event time="2026-02-03T23:57:39.337" id="{75FE3051-BCA0-4128-9C15-6B78E9EEFE6E}">
              <p228:atrbtn authorId="{FAB689E2-37CB-8C27-C12C-5CC444F543A8}"/>
              <p228:anchr>
                <p228:comment id="{00000000-0000-0000-0000-000000000000}"/>
              </p228:anchr>
              <p228:pcntCmplt val="100000"/>
            </p228:event>
          </p228:history>
        </p228:taskDetails>
      </p:ext>
    </p188:extLst>
  </p188:cm>
  <p188:cm id="{42D142BE-81D0-498B-AE19-7B9D3EEADF69}" authorId="{BE12BB90-5601-718D-A1E4-51D95ED1D9E9}" created="2026-02-10T22:07:03.132">
    <pc:sldMkLst xmlns:pc="http://schemas.microsoft.com/office/powerpoint/2013/main/command">
      <pc:docMk/>
      <pc:sldMk cId="547257741" sldId="266"/>
    </pc:sldMkLst>
    <p188:replyLst>
      <p188:reply id="{56BCB2AC-7D93-4E00-AEE8-51FBBD08CD76}" authorId="{2A32E63B-884A-6047-0F5A-BCC27CB1D6B2}" created="2026-02-11T16:46:25.312">
        <p188:txBody>
          <a:bodyPr/>
          <a:lstStyle/>
          <a:p>
            <a:r>
              <a:rPr lang="en-US"/>
              <a:t>[@Alexa Haushalter] </a:t>
            </a:r>
          </a:p>
        </p188:txBody>
      </p188:reply>
      <p188:reply id="{A2AE3AF0-6332-47E5-B42A-933235A34E35}" authorId="{FAB689E2-37CB-8C27-C12C-5CC444F543A8}" created="2026-02-11T16:58:51.872">
        <p188:txBody>
          <a:bodyPr/>
          <a:lstStyle/>
          <a:p>
            <a:r>
              <a:rPr lang="en-US"/>
              <a:t>We are working to get some updated metrics and will add once we do, but that is not available right now</a:t>
            </a:r>
          </a:p>
        </p188:txBody>
      </p188:reply>
    </p188:replyLst>
    <p188:txBody>
      <a:bodyPr/>
      <a:lstStyle/>
      <a:p>
        <a:r>
          <a:rPr lang="en-US"/>
          <a:t>Customers also ask about the latency of guardrails. Share numbers</a:t>
        </a:r>
      </a:p>
    </p188:txBody>
  </p188:cm>
</p188:cmLst>
</file>

<file path=ppt/comments/modernComment_10B_D187D4C3.xml><?xml version="1.0" encoding="utf-8"?>
<p188:cmLst xmlns:a="http://schemas.openxmlformats.org/drawingml/2006/main" xmlns:r="http://schemas.openxmlformats.org/officeDocument/2006/relationships" xmlns:p188="http://schemas.microsoft.com/office/powerpoint/2018/8/main">
  <p188:cm id="{23E28648-6CAC-431F-8880-DD501E19853C}" authorId="{2A32E63B-884A-6047-0F5A-BCC27CB1D6B2}" status="resolved" created="2026-02-05T21:19:38.897" complete="100000">
    <pc:sldMkLst xmlns:pc="http://schemas.microsoft.com/office/powerpoint/2013/main/command">
      <pc:docMk/>
      <pc:sldMk cId="3515339971" sldId="267"/>
    </pc:sldMkLst>
    <p188:replyLst>
      <p188:reply id="{3CBC4D08-1094-494F-868B-9A54EFF825B0}" authorId="{2A32E63B-884A-6047-0F5A-BCC27CB1D6B2}" created="2026-02-06T18:25:03.220">
        <p188:txBody>
          <a:bodyPr/>
          <a:lstStyle/>
          <a:p>
            <a:r>
              <a:rPr lang="en-US"/>
              <a:t>move rail flow to slide 8 and then have diagram and rails available here</a:t>
            </a:r>
          </a:p>
        </p188:txBody>
      </p188:reply>
      <p188:reply id="{EA3E8894-6786-4159-83B5-4E272A194772}" authorId="{2A32E63B-884A-6047-0F5A-BCC27CB1D6B2}" created="2026-02-06T22:01:54.366">
        <p188:txBody>
          <a:bodyPr/>
          <a:lstStyle/>
          <a:p>
            <a:r>
              <a:rPr lang="en-US"/>
              <a:t>can your review [@Alexa Haushalter] </a:t>
            </a:r>
          </a:p>
        </p188:txBody>
      </p188:reply>
    </p188:replyLst>
    <p188:txBody>
      <a:bodyPr/>
      <a:lstStyle/>
      <a:p>
        <a:r>
          <a:rPr lang="en-US"/>
          <a:t>Could combine rail types and rail available</a:t>
        </a:r>
      </a:p>
    </p188:txBody>
  </p188:cm>
  <p188:cm id="{2679CBAE-DD6F-434C-8DD0-62708DAFA914}" authorId="{60F19AC1-BB03-92F6-AB53-32A5EC0DCC35}" status="resolved" created="2026-02-07T14:58:18.890" complete="100000">
    <ac:txMkLst xmlns:ac="http://schemas.microsoft.com/office/drawing/2013/main/command">
      <pc:docMk xmlns:pc="http://schemas.microsoft.com/office/powerpoint/2013/main/command"/>
      <pc:sldMk xmlns:pc="http://schemas.microsoft.com/office/powerpoint/2013/main/command" cId="3515339971" sldId="267"/>
      <ac:spMk id="44" creationId="{F7632C86-9A4B-C276-61AD-67701A561A61}"/>
      <ac:txMk cp="0" len="118">
        <ac:context len="119" hash="3128716477"/>
      </ac:txMk>
    </ac:txMkLst>
    <p188:pos x="2944677" y="406830"/>
    <p188:txBody>
      <a:bodyPr/>
      <a:lstStyle/>
      <a:p>
        <a:r>
          <a:rPr lang="en-US"/>
          <a:t>This looks weird as a long link</a:t>
        </a:r>
      </a:p>
    </p188:txBody>
  </p188:cm>
  <p188:cm id="{C455EF17-4944-4342-812C-5AE9FD805B8E}" authorId="{60F19AC1-BB03-92F6-AB53-32A5EC0DCC35}" status="resolved" created="2026-02-07T14:58:42.093" complete="100000">
    <ac:txMkLst xmlns:ac="http://schemas.microsoft.com/office/drawing/2013/main/command">
      <pc:docMk xmlns:pc="http://schemas.microsoft.com/office/powerpoint/2013/main/command"/>
      <pc:sldMk xmlns:pc="http://schemas.microsoft.com/office/powerpoint/2013/main/command" cId="3515339971" sldId="267"/>
      <ac:spMk id="33" creationId="{56258FDD-C9F9-79A9-1D9A-578499FF8CE6}"/>
      <ac:txMk cp="33" len="11">
        <ac:context len="95" hash="4252303992"/>
      </ac:txMk>
    </ac:txMkLst>
    <p188:txBody>
      <a:bodyPr/>
      <a:lstStyle/>
      <a:p>
        <a:r>
          <a:rPr lang="en-US"/>
          <a:t>Fix parenthesis</a:t>
        </a:r>
      </a:p>
    </p188:txBody>
  </p188:cm>
</p188:cmLst>
</file>

<file path=ppt/comments/modernComment_10C_CC87E133.xml><?xml version="1.0" encoding="utf-8"?>
<p188:cmLst xmlns:a="http://schemas.openxmlformats.org/drawingml/2006/main" xmlns:r="http://schemas.openxmlformats.org/officeDocument/2006/relationships" xmlns:p188="http://schemas.microsoft.com/office/powerpoint/2018/8/main">
  <p188:cm id="{19078BAB-1BB8-4A45-8F84-031B67BBC2D3}" authorId="{BE12BB90-5601-718D-A1E4-51D95ED1D9E9}" created="2026-02-10T22:07:39.914">
    <pc:sldMkLst xmlns:pc="http://schemas.microsoft.com/office/powerpoint/2013/main/command">
      <pc:docMk/>
      <pc:sldMk cId="3431457075" sldId="268"/>
    </pc:sldMkLst>
    <p188:replyLst>
      <p188:reply id="{756226DE-6044-4787-B50B-C02DF3AA29F6}" authorId="{2A32E63B-884A-6047-0F5A-BCC27CB1D6B2}" created="2026-02-11T16:47:11.328">
        <p188:txBody>
          <a:bodyPr/>
          <a:lstStyle/>
          <a:p>
            <a:r>
              <a:rPr lang="en-US"/>
              <a:t>They are use case examples for guardrails [@Eileen Long] </a:t>
            </a:r>
          </a:p>
        </p188:txBody>
      </p188:reply>
    </p188:replyLst>
    <p188:txBody>
      <a:bodyPr/>
      <a:lstStyle/>
      <a:p>
        <a:r>
          <a:rPr lang="en-US"/>
          <a:t>This slide placement is a bit confusing. Is this about Guardrails, (dont talk about these topics) or just a new topic that touches on some of the behavior guide themes?</a:t>
        </a:r>
      </a:p>
    </p188:txBody>
  </p188:cm>
</p188:cmLst>
</file>

<file path=ppt/comments/modernComment_10E_44220798.xml><?xml version="1.0" encoding="utf-8"?>
<p188:cmLst xmlns:a="http://schemas.openxmlformats.org/drawingml/2006/main" xmlns:r="http://schemas.openxmlformats.org/officeDocument/2006/relationships" xmlns:p188="http://schemas.microsoft.com/office/powerpoint/2018/8/main">
  <p188:cm id="{A314E6D2-EF95-456C-AB3E-445E47D9D98C}" authorId="{2A32E63B-884A-6047-0F5A-BCC27CB1D6B2}" status="resolved" created="2026-01-26T18:19:59.556" complete="100000">
    <ac:txMkLst xmlns:ac="http://schemas.microsoft.com/office/drawing/2013/main/command">
      <pc:docMk xmlns:pc="http://schemas.microsoft.com/office/powerpoint/2013/main/command"/>
      <pc:sldMk xmlns:pc="http://schemas.microsoft.com/office/powerpoint/2013/main/command" cId="1143080856" sldId="270"/>
      <ac:spMk id="3" creationId="{999656A1-2ED1-7475-FEC3-6FCF2D98FFB7}"/>
      <ac:txMk cp="32">
        <ac:context len="284" hash="89975818"/>
      </ac:txMk>
    </ac:txMkLst>
    <p188:pos x="640934" y="840336"/>
    <p188:replyLst>
      <p188:reply id="{E6A044FA-6162-4924-B12D-A96C74A56016}" authorId="{2A32E63B-884A-6047-0F5A-BCC27CB1D6B2}" created="2026-02-05T21:21:32.163">
        <p188:txBody>
          <a:bodyPr/>
          <a:lstStyle/>
          <a:p>
            <a:r>
              <a:rPr lang="en-US"/>
              <a:t>merge garak and auditor</a:t>
            </a:r>
          </a:p>
        </p188:txBody>
      </p188:reply>
      <p188:reply id="{01DD23D5-DEB3-483A-B723-6190B1C8C769}" authorId="{2A32E63B-884A-6047-0F5A-BCC27CB1D6B2}" created="2026-02-05T21:22:54.725">
        <p188:txBody>
          <a:bodyPr/>
          <a:lstStyle/>
          <a:p>
            <a:r>
              <a:rPr lang="en-US"/>
              <a:t>update this</a:t>
            </a:r>
          </a:p>
        </p188:txBody>
      </p188:reply>
      <p188:reply id="{5B1E35F3-7CC6-492A-90B0-5B14428F300F}" authorId="{2A32E63B-884A-6047-0F5A-BCC27CB1D6B2}" created="2026-02-05T21:24:02.147">
        <p188:txBody>
          <a:bodyPr/>
          <a:lstStyle/>
          <a:p>
            <a:r>
              <a:rPr lang="en-US"/>
              <a:t>update this to a flow, 3 steps</a:t>
            </a:r>
          </a:p>
        </p188:txBody>
      </p188:reply>
    </p188:replyLst>
    <p188:txBody>
      <a:bodyPr/>
      <a:lstStyle/>
      <a:p>
        <a:r>
          <a:rPr lang="en-US"/>
          <a:t>[@Yamini Kagal] </a:t>
        </a:r>
      </a:p>
    </p188:txBody>
  </p188:cm>
  <p188:cm id="{C4BD405B-F365-4C30-AFD1-56E6D8ADDDA3}" authorId="{2A32E63B-884A-6047-0F5A-BCC27CB1D6B2}" status="resolved" created="2026-02-06T16:40:39.668" complete="100000">
    <ac:txMkLst xmlns:ac="http://schemas.microsoft.com/office/drawing/2013/main/command">
      <pc:docMk xmlns:pc="http://schemas.microsoft.com/office/powerpoint/2013/main/command"/>
      <pc:sldMk xmlns:pc="http://schemas.microsoft.com/office/powerpoint/2013/main/command" cId="1143080856" sldId="270"/>
      <ac:spMk id="12" creationId="{76434CF7-FE1B-AD3C-4E7A-8E346196F665}"/>
      <ac:txMk cp="12" len="7">
        <ac:context len="20" hash="3822365935"/>
      </ac:txMk>
    </ac:txMkLst>
    <p188:pos x="6378000" y="600000"/>
    <p188:txBody>
      <a:bodyPr/>
      <a:lstStyle/>
      <a:p>
        <a:r>
          <a:rPr lang="en-US"/>
          <a:t>thoughts on this slide? [@Alexa Haushalter] </a:t>
        </a:r>
      </a:p>
    </p188:txBody>
  </p188:cm>
  <p188:cm id="{0854C9AF-FFB3-4C0B-A6E5-87906C15DA30}" authorId="{60F19AC1-BB03-92F6-AB53-32A5EC0DCC35}" status="resolved" created="2026-02-06T20:43:29.182" complete="100000">
    <ac:txMkLst xmlns:ac="http://schemas.microsoft.com/office/drawing/2013/main/command">
      <pc:docMk xmlns:pc="http://schemas.microsoft.com/office/powerpoint/2013/main/command"/>
      <pc:sldMk xmlns:pc="http://schemas.microsoft.com/office/powerpoint/2013/main/command" cId="1143080856" sldId="270"/>
      <ac:spMk id="57" creationId="{E7A90059-CCA5-910C-E572-9D0B70CC2B16}"/>
      <ac:txMk cp="181">
        <ac:context len="184" hash="1250737898"/>
      </ac:txMk>
    </ac:txMkLst>
    <p188:pos x="852406" y="2156847"/>
    <p188:replyLst>
      <p188:reply id="{54D1FF9E-2F2C-4CB8-AAF5-2048ABEE2E47}" authorId="{2A32E63B-884A-6047-0F5A-BCC27CB1D6B2}" created="2026-02-06T22:48:40.135">
        <p188:txBody>
          <a:bodyPr/>
          <a:lstStyle/>
          <a:p>
            <a:r>
              <a:rPr lang="en-US"/>
              <a:t>[@Yamini Kagal] [@Alexa Haushalter] can you help here</a:t>
            </a:r>
          </a:p>
        </p188:txBody>
      </p188:reply>
      <p188:reply id="{1BF5EA73-42CD-4F6B-B6A1-2F91E5CA7D54}" authorId="{2A32E63B-884A-6047-0F5A-BCC27CB1D6B2}" created="2026-02-09T16:28:24.231">
        <p188:txBody>
          <a:bodyPr/>
          <a:lstStyle/>
          <a:p>
            <a:r>
              <a:rPr lang="en-US"/>
              <a:t>[@Alexa Haushalter] </a:t>
            </a:r>
          </a:p>
        </p188:txBody>
      </p188:reply>
      <p188:reply id="{0C97F4E5-6C92-4127-A7ED-6D9B0BB03FC8}" authorId="{A634C12A-0E67-D5B2-80D4-50CABAEC5CCF}" created="2026-02-09T17:02:33.902">
        <p188:txBody>
          <a:bodyPr/>
          <a:lstStyle/>
          <a:p>
            <a:r>
              <a:rPr lang="en-US"/>
              <a:t>I was going to call it out too. I remember correcting it in the previous iteration. Words like "automated", and "continous" don't apply just yet.</a:t>
            </a:r>
          </a:p>
        </p188:txBody>
      </p188:reply>
    </p188:replyLst>
    <p188:txBody>
      <a:bodyPr/>
      <a:lstStyle/>
      <a:p>
        <a:r>
          <a:rPr lang="en-US"/>
          <a:t>This isn't a thing that Auditor does. One could cobble this together in a flywheel but we haven't shown that yet</a:t>
        </a:r>
      </a:p>
    </p188:txBody>
  </p188:cm>
  <p188:cm id="{A8BB75DE-5807-4B00-A8EF-FC1DF0E27DDD}" authorId="{BE12BB90-5601-718D-A1E4-51D95ED1D9E9}" created="2026-02-09T06:26:51.301">
    <pc:sldMkLst xmlns:pc="http://schemas.microsoft.com/office/powerpoint/2013/main/command">
      <pc:docMk/>
      <pc:sldMk cId="1143080856" sldId="270"/>
    </pc:sldMkLst>
    <p188:replyLst>
      <p188:reply id="{26534111-80CF-4471-A871-DE013B34BF29}" authorId="{2A32E63B-884A-6047-0F5A-BCC27CB1D6B2}" created="2026-02-09T16:28:19.716">
        <p188:txBody>
          <a:bodyPr/>
          <a:lstStyle/>
          <a:p>
            <a:r>
              <a:rPr lang="en-US"/>
              <a:t>[@Alexa Haushalter] </a:t>
            </a:r>
          </a:p>
        </p188:txBody>
      </p188:reply>
      <p188:reply id="{9F91A240-B9AA-4BBE-864F-A7BAFE34E678}" authorId="{BE12BB90-5601-718D-A1E4-51D95ED1D9E9}" created="2026-02-10T22:07:59.446">
        <p188:txBody>
          <a:bodyPr/>
          <a:lstStyle/>
          <a:p>
            <a:r>
              <a:rPr lang="en-US"/>
              <a:t>Friendly ping</a:t>
            </a:r>
          </a:p>
        </p188:txBody>
      </p188:reply>
      <p188:reply id="{0D7E36AE-5267-4631-A0E9-76D72392F00D}" authorId="{FAB689E2-37CB-8C27-C12C-5CC444F543A8}" created="2026-02-11T17:30:23.954">
        <p188:txBody>
          <a:bodyPr/>
          <a:lstStyle/>
          <a:p>
            <a:r>
              <a:rPr lang="en-US"/>
              <a:t>I would imagine they are probe families but I am really not very familiar with Auditor beyond the highest level. [@Yamini Kagal] covers Auditor.</a:t>
            </a:r>
          </a:p>
        </p188:txBody>
      </p188:reply>
      <p188:reply id="{AB276687-70D7-431D-A508-9E8391538DD9}" authorId="{A634C12A-0E67-D5B2-80D4-50CABAEC5CCF}" created="2026-02-11T18:00:41.756">
        <p188:txBody>
          <a:bodyPr/>
          <a:lstStyle/>
          <a:p>
            <a:r>
              <a:rPr lang="en-US"/>
              <a:t>yes, they're families or modules. I can rename the column to Probe Type to disambiguate for readers</a:t>
            </a:r>
          </a:p>
        </p188:txBody>
      </p188:reply>
    </p188:replyLst>
    <p188:txBody>
      <a:bodyPr/>
      <a:lstStyle/>
      <a:p>
        <a:r>
          <a:rPr lang="en-US"/>
          <a:t>Are these Probe Families and not probes? (rename column)</a:t>
        </a:r>
      </a:p>
    </p188:txBody>
    <p188:extLst>
      <p:ext xmlns:p="http://schemas.openxmlformats.org/presentationml/2006/main" uri="{57CB4572-C831-44C2-8A1C-0ADB6CCDFE69}">
        <p223:reactions xmlns:p223="http://schemas.microsoft.com/office/powerpoint/2022/03/main">
          <p223:rxn type="👍">
            <p223:instance time="2026-02-10T05:40:50.738" authorId="{3553D9A0-8F15-2B2D-22A8-511294233487}"/>
          </p223:rxn>
        </p223:reactions>
      </p:ext>
    </p188:extLst>
  </p188:cm>
  <p188:cm id="{63AF6AC4-14BE-4FCA-BD4C-74DF510CC9A5}" authorId="{3553D9A0-8F15-2B2D-22A8-511294233487}" status="resolved" created="2026-02-10T05:41:27.223" complete="100000">
    <pc:sldMkLst xmlns:pc="http://schemas.microsoft.com/office/powerpoint/2013/main/command">
      <pc:docMk/>
      <pc:sldMk cId="1143080856" sldId="270"/>
    </pc:sldMkLst>
    <p188:txBody>
      <a:bodyPr/>
      <a:lstStyle/>
      <a:p>
        <a:r>
          <a:rPr lang="en-GB"/>
          <a:t>Would drop RealToxicityPrompts from this, it's on its way out of garak - belongs under content safety</a:t>
        </a:r>
      </a:p>
    </p188:txBody>
  </p188:cm>
  <p188:cm id="{C2850965-30B7-48A0-8769-53900D606324}" authorId="{3553D9A0-8F15-2B2D-22A8-511294233487}" status="resolved" created="2026-02-10T05:42:43.895" complete="100000">
    <pc:sldMkLst xmlns:pc="http://schemas.microsoft.com/office/powerpoint/2013/main/command">
      <pc:docMk/>
      <pc:sldMk cId="1143080856" sldId="270"/>
    </pc:sldMkLst>
    <p188:txBody>
      <a:bodyPr/>
      <a:lstStyle/>
      <a:p>
        <a:r>
          <a:rPr lang="en-GB"/>
          <a:t>XSS was dropped in summer, now known as "Web Injection"</a:t>
        </a:r>
      </a:p>
    </p188:txBody>
  </p188:cm>
  <p188:cm id="{14C4D19F-4795-4126-BE9B-BE142B33C922}" authorId="{3553D9A0-8F15-2B2D-22A8-511294233487}" created="2026-02-10T06:34:43.519">
    <ac:txMkLst xmlns:ac="http://schemas.microsoft.com/office/drawing/2013/main/command">
      <pc:docMk xmlns:pc="http://schemas.microsoft.com/office/powerpoint/2013/main/command"/>
      <pc:sldMk xmlns:pc="http://schemas.microsoft.com/office/powerpoint/2013/main/command" cId="1143080856" sldId="270"/>
      <ac:spMk id="14" creationId="{931D7003-54A5-1004-86C7-66A20DCF6EA8}"/>
      <ac:txMk cp="0" len="97">
        <ac:context len="98" hash="2211414949"/>
      </ac:txMk>
    </ac:txMkLst>
    <p188:pos x="10112523" y="242130"/>
    <p188:txBody>
      <a:bodyPr/>
      <a:lstStyle/>
      <a:p>
        <a:r>
          <a:rPr lang="en-GB"/>
          <a:t>This is an undigestible strapline. I'm not sure what Auditor is from this slide</a:t>
        </a:r>
      </a:p>
    </p188:txBody>
  </p188:cm>
  <p188:cm id="{D8F82DA2-E68F-4E0B-9324-BB90817052E0}" authorId="{3553D9A0-8F15-2B2D-22A8-511294233487}" created="2026-02-10T06:36:20.635">
    <ac:txMkLst xmlns:ac="http://schemas.microsoft.com/office/drawing/2013/main/command">
      <pc:docMk xmlns:pc="http://schemas.microsoft.com/office/powerpoint/2013/main/command"/>
      <pc:sldMk xmlns:pc="http://schemas.microsoft.com/office/powerpoint/2013/main/command" cId="1143080856" sldId="270"/>
      <ac:spMk id="14" creationId="{931D7003-54A5-1004-86C7-66A20DCF6EA8}"/>
      <ac:txMk cp="0" len="97">
        <ac:context len="98" hash="2211414949"/>
      </ac:txMk>
    </ac:txMkLst>
    <p188:pos x="10112523" y="242130"/>
    <p188:txBody>
      <a:bodyPr/>
      <a:lstStyle/>
      <a:p>
        <a:r>
          <a:rPr lang="en-GB"/>
          <a:t>The speak says "red teaming tool" - Auditor isn't red teaming (and garak isn't really either). We're doing security scanning / vulnerability scanning, but the back-and-forth in red teaming is absent in the parts of garak that Auditor implements</a:t>
        </a:r>
      </a:p>
    </p188:txBody>
  </p188:cm>
</p188:cmLst>
</file>

<file path=ppt/comments/modernComment_11C_708F913D.xml><?xml version="1.0" encoding="utf-8"?>
<p188:cmLst xmlns:a="http://schemas.openxmlformats.org/drawingml/2006/main" xmlns:r="http://schemas.openxmlformats.org/officeDocument/2006/relationships" xmlns:p188="http://schemas.microsoft.com/office/powerpoint/2018/8/main">
  <p188:cm id="{EDA18292-5DEF-4A3F-8410-AE065CA2559E}" authorId="{60F19AC1-BB03-92F6-AB53-32A5EC0DCC35}" status="resolved" created="2026-01-26T22:20:12.221" complete="100000">
    <ac:txMkLst xmlns:ac="http://schemas.microsoft.com/office/drawing/2013/main/command">
      <pc:docMk xmlns:pc="http://schemas.microsoft.com/office/powerpoint/2013/main/command"/>
      <pc:sldMk xmlns:pc="http://schemas.microsoft.com/office/powerpoint/2013/main/command" cId="1888457021" sldId="284"/>
      <ac:spMk id="34" creationId="{C30590C7-AFDA-7EF0-3EBC-2D06A8157752}"/>
      <ac:txMk cp="0" len="3">
        <ac:context len="39" hash="3847828053"/>
      </ac:txMk>
    </ac:txMkLst>
    <p188:pos x="1446508" y="200186"/>
    <p188:replyLst>
      <p188:reply id="{0C175713-D5A0-4780-BAB9-7242EEB4FD23}" authorId="{2A32E63B-884A-6047-0F5A-BCC27CB1D6B2}" created="2026-01-27T13:43:42.848">
        <p188:txBody>
          <a:bodyPr/>
          <a:lstStyle/>
          <a:p>
            <a:r>
              <a:rPr lang="en-US"/>
              <a:t>fixed</a:t>
            </a:r>
          </a:p>
        </p188:txBody>
      </p188:reply>
      <p188:reply id="{C4E69640-063E-4598-81DF-D841F8909F89}" authorId="{FAB689E2-37CB-8C27-C12C-5CC444F543A8}" created="2026-02-06T18:13:57.021">
        <p188:txBody>
          <a:bodyPr/>
          <a:lstStyle/>
          <a:p>
            <a:r>
              <a:rPr lang="en-US"/>
              <a:t>[@Isabel Hulseman] We could also just used the actual values rather than the increase if we think that is better?
92% recall; 64% F1 score</a:t>
            </a:r>
          </a:p>
        </p188:txBody>
      </p188:reply>
      <p188:reply id="{2FAE1BA3-DA32-4715-A462-C9E09CCBEF60}" authorId="{2A32E63B-884A-6047-0F5A-BCC27CB1D6B2}" created="2026-02-06T21:08:56.673">
        <p188:txBody>
          <a:bodyPr/>
          <a:lstStyle/>
          <a:p>
            <a:r>
              <a:rPr lang="en-US"/>
              <a:t>I added the up arrows and chris said that was fine. But we can change to real values if you want [@Alexa Haushalter] </a:t>
            </a:r>
          </a:p>
        </p188:txBody>
      </p188:reply>
      <p188:reply id="{EDBEDAC5-B9F1-453E-BB3D-A390F3E1A014}" authorId="{60F19AC1-BB03-92F6-AB53-32A5EC0DCC35}" created="2026-02-07T14:56:25.453">
        <p188:txBody>
          <a:bodyPr/>
          <a:lstStyle/>
          <a:p>
            <a:r>
              <a:rPr lang="en-US"/>
              <a:t>I kind of like the increases</a:t>
            </a:r>
          </a:p>
        </p188:txBody>
      </p188:reply>
    </p188:replyLst>
    <p188:txBody>
      <a:bodyPr/>
      <a:lstStyle/>
      <a:p>
        <a:r>
          <a:rPr lang="en-US"/>
          <a:t>This reads as accuracy 56%, since other numbers are like that. You could put a green up arrow in front of the number, also with the 10x</a:t>
        </a:r>
      </a:p>
    </p188:txBody>
  </p188:cm>
</p188:cmLst>
</file>

<file path=ppt/comments/modernComment_13C_6B67BC6.xml><?xml version="1.0" encoding="utf-8"?>
<p188:cmLst xmlns:a="http://schemas.openxmlformats.org/drawingml/2006/main" xmlns:r="http://schemas.openxmlformats.org/officeDocument/2006/relationships" xmlns:p188="http://schemas.microsoft.com/office/powerpoint/2018/8/main">
  <p188:cm id="{CA74B2B3-87A3-472B-9728-35E770D381A1}" authorId="{2A32E63B-884A-6047-0F5A-BCC27CB1D6B2}" status="resolved" created="2026-01-26T18:19:59.556">
    <ac:txMkLst xmlns:ac="http://schemas.microsoft.com/office/drawing/2013/main/command">
      <pc:docMk xmlns:pc="http://schemas.microsoft.com/office/powerpoint/2013/main/command"/>
      <pc:sldMk xmlns:pc="http://schemas.microsoft.com/office/powerpoint/2013/main/command" cId="112622534" sldId="316"/>
      <ac:spMk id="3" creationId="{FDECDFE1-28D5-3A1B-D276-D445E72A720D}"/>
      <ac:txMk cp="32">
        <ac:context len="145" hash="510176332"/>
      </ac:txMk>
    </ac:txMkLst>
    <p188:pos x="640934" y="840336"/>
    <p188:replyLst>
      <p188:reply id="{E6A044FA-6162-4924-B12D-A96C74A56016}" authorId="{2A32E63B-884A-6047-0F5A-BCC27CB1D6B2}" created="2026-02-05T21:21:32.163">
        <p188:txBody>
          <a:bodyPr/>
          <a:lstStyle/>
          <a:p>
            <a:r>
              <a:rPr lang="en-US"/>
              <a:t>merge garak and auditor</a:t>
            </a:r>
          </a:p>
        </p188:txBody>
      </p188:reply>
      <p188:reply id="{01DD23D5-DEB3-483A-B723-6190B1C8C769}" authorId="{2A32E63B-884A-6047-0F5A-BCC27CB1D6B2}" created="2026-02-05T21:22:54.725">
        <p188:txBody>
          <a:bodyPr/>
          <a:lstStyle/>
          <a:p>
            <a:r>
              <a:rPr lang="en-US"/>
              <a:t>update this</a:t>
            </a:r>
          </a:p>
        </p188:txBody>
      </p188:reply>
      <p188:reply id="{5B1E35F3-7CC6-492A-90B0-5B14428F300F}" authorId="{2A32E63B-884A-6047-0F5A-BCC27CB1D6B2}" created="2026-02-05T21:24:02.147">
        <p188:txBody>
          <a:bodyPr/>
          <a:lstStyle/>
          <a:p>
            <a:r>
              <a:rPr lang="en-US"/>
              <a:t>update this to a flow, 3 steps</a:t>
            </a:r>
          </a:p>
        </p188:txBody>
      </p188:reply>
    </p188:replyLst>
    <p188:txBody>
      <a:bodyPr/>
      <a:lstStyle/>
      <a:p>
        <a:r>
          <a:rPr lang="en-US"/>
          <a:t>[@Yamini Kagal] </a:t>
        </a:r>
      </a:p>
    </p188:txBody>
  </p188:cm>
  <p188:cm id="{E576BFC6-A8D6-4AAD-BEBA-F5570033A631}" authorId="{2A32E63B-884A-6047-0F5A-BCC27CB1D6B2}" status="resolved" created="2026-02-06T16:40:39.668" complete="100000">
    <ac:txMkLst xmlns:ac="http://schemas.microsoft.com/office/drawing/2013/main/command">
      <pc:docMk xmlns:pc="http://schemas.microsoft.com/office/powerpoint/2013/main/command"/>
      <pc:sldMk xmlns:pc="http://schemas.microsoft.com/office/powerpoint/2013/main/command" cId="112622534" sldId="316"/>
      <ac:spMk id="12" creationId="{D3833669-D776-C7FB-62CF-F4B4F8D4E8BB}"/>
      <ac:txMk cp="12" len="7">
        <ac:context len="20" hash="3822365935"/>
      </ac:txMk>
    </ac:txMkLst>
    <p188:pos x="6378000" y="600000"/>
    <p188:txBody>
      <a:bodyPr/>
      <a:lstStyle/>
      <a:p>
        <a:r>
          <a:rPr lang="en-US"/>
          <a:t>thoughts on this slide? [@Alexa Haushalter] </a:t>
        </a:r>
      </a:p>
    </p188:txBody>
  </p188:cm>
  <p188:cm id="{5EFE6A95-EBA0-40CE-8D40-7FF8422516E1}" authorId="{60F19AC1-BB03-92F6-AB53-32A5EC0DCC35}" created="2026-02-06T20:43:29.182">
    <ac:txMkLst xmlns:ac="http://schemas.microsoft.com/office/drawing/2013/main/command">
      <pc:docMk xmlns:pc="http://schemas.microsoft.com/office/powerpoint/2013/main/command"/>
      <pc:sldMk xmlns:pc="http://schemas.microsoft.com/office/powerpoint/2013/main/command" cId="112622534" sldId="316"/>
      <ac:spMk id="57" creationId="{1DC11DDE-D852-21B9-6F03-C7577A14DD09}"/>
      <ac:txMk cp="181">
        <ac:context len="184" hash="1250737898"/>
      </ac:txMk>
    </ac:txMkLst>
    <p188:pos x="852406" y="2156847"/>
    <p188:replyLst>
      <p188:reply id="{54D1FF9E-2F2C-4CB8-AAF5-2048ABEE2E47}" authorId="{2A32E63B-884A-6047-0F5A-BCC27CB1D6B2}" created="2026-02-06T22:48:40.135">
        <p188:txBody>
          <a:bodyPr/>
          <a:lstStyle/>
          <a:p>
            <a:r>
              <a:rPr lang="en-US"/>
              <a:t>[@Yamini Kagal] [@Alexa Haushalter] can you help here</a:t>
            </a:r>
          </a:p>
        </p188:txBody>
      </p188:reply>
      <p188:reply id="{1BF5EA73-42CD-4F6B-B6A1-2F91E5CA7D54}" authorId="{2A32E63B-884A-6047-0F5A-BCC27CB1D6B2}" created="2026-02-09T16:28:24.231">
        <p188:txBody>
          <a:bodyPr/>
          <a:lstStyle/>
          <a:p>
            <a:r>
              <a:rPr lang="en-US"/>
              <a:t>[@Alexa Haushalter] </a:t>
            </a:r>
          </a:p>
        </p188:txBody>
      </p188:reply>
      <p188:reply id="{0C97F4E5-6C92-4127-A7ED-6D9B0BB03FC8}" authorId="{A634C12A-0E67-D5B2-80D4-50CABAEC5CCF}" created="2026-02-09T17:02:33.902">
        <p188:txBody>
          <a:bodyPr/>
          <a:lstStyle/>
          <a:p>
            <a:r>
              <a:rPr lang="en-US"/>
              <a:t>I was going to call it out too. I remember correcting it in the previous iteration. Words like "automated", and "continous" don't apply just yet.</a:t>
            </a:r>
          </a:p>
        </p188:txBody>
      </p188:reply>
    </p188:replyLst>
    <p188:txBody>
      <a:bodyPr/>
      <a:lstStyle/>
      <a:p>
        <a:r>
          <a:rPr lang="en-US"/>
          <a:t>This isn't a thing that Auditor does. One could cobble this together in a flywheel but we haven't shown that yet</a:t>
        </a:r>
      </a:p>
    </p188:txBody>
  </p188:cm>
  <p188:cm id="{FFF9D032-E4E7-41E1-8E3D-41FB3CF85808}" authorId="{BE12BB90-5601-718D-A1E4-51D95ED1D9E9}" created="2026-02-09T06:26:51.301">
    <pc:sldMkLst xmlns:pc="http://schemas.microsoft.com/office/powerpoint/2013/main/command">
      <pc:docMk/>
      <pc:sldMk cId="1143080856" sldId="270"/>
    </pc:sldMkLst>
    <p188:replyLst>
      <p188:reply id="{26534111-80CF-4471-A871-DE013B34BF29}" authorId="{2A32E63B-884A-6047-0F5A-BCC27CB1D6B2}" created="2026-02-09T16:28:19.716">
        <p188:txBody>
          <a:bodyPr/>
          <a:lstStyle/>
          <a:p>
            <a:r>
              <a:rPr lang="en-US"/>
              <a:t>[@Alexa Haushalter] </a:t>
            </a:r>
          </a:p>
        </p188:txBody>
      </p188:reply>
      <p188:reply id="{74031365-240D-4BAD-84D5-0C7A3FA926D8}" authorId="{FAB689E2-37CB-8C27-C12C-5CC444F543A8}" created="2026-02-11T17:31:24.174">
        <p188:txBody>
          <a:bodyPr/>
          <a:lstStyle/>
          <a:p>
            <a:r>
              <a:rPr lang="en-US"/>
              <a:t>[@Yamini Kagal] covers Auditor - I am not too sure on the details</a:t>
            </a:r>
          </a:p>
        </p188:txBody>
      </p188:reply>
    </p188:replyLst>
    <p188:txBody>
      <a:bodyPr/>
      <a:lstStyle/>
      <a:p>
        <a:r>
          <a:rPr lang="en-US"/>
          <a:t>Are these Probe Families and not probes? (rename column)</a:t>
        </a:r>
      </a:p>
    </p188:txBody>
  </p188:cm>
  <p188:cm id="{58763A1B-1ABF-4ED9-B73D-762ACF0311B6}" authorId="{3553D9A0-8F15-2B2D-22A8-511294233487}" created="2026-02-10T05:43:38.380">
    <pc:sldMkLst xmlns:pc="http://schemas.microsoft.com/office/powerpoint/2013/main/command">
      <pc:docMk/>
      <pc:sldMk cId="112622534" sldId="316"/>
    </pc:sldMkLst>
    <p188:txBody>
      <a:bodyPr/>
      <a:lstStyle/>
      <a:p>
        <a:r>
          <a:rPr lang="en-GB"/>
          <a:t>caption needed for step 3/ detector on lhs</a:t>
        </a:r>
      </a:p>
    </p188:txBody>
  </p188:cm>
</p188:cmLst>
</file>

<file path=ppt/comments/modernComment_13F_2ABF32F6.xml><?xml version="1.0" encoding="utf-8"?>
<p188:cmLst xmlns:a="http://schemas.openxmlformats.org/drawingml/2006/main" xmlns:r="http://schemas.openxmlformats.org/officeDocument/2006/relationships" xmlns:p188="http://schemas.microsoft.com/office/powerpoint/2018/8/main">
  <p188:cm id="{489F0797-42F9-44D5-A032-0E01A3F7E083}" authorId="{BE12BB90-5601-718D-A1E4-51D95ED1D9E9}" created="2026-02-23T04:10:48.100">
    <pc:sldMkLst xmlns:pc="http://schemas.microsoft.com/office/powerpoint/2013/main/command">
      <pc:docMk/>
      <pc:sldMk cId="717173494" sldId="319"/>
    </pc:sldMkLst>
    <p188:replyLst>
      <p188:reply id="{EEFC86DE-3F63-437B-AA31-81D9EE6C7B02}" authorId="{BE12BB90-5601-718D-A1E4-51D95ED1D9E9}" created="2026-03-10T21:45:27.192">
        <p188:txBody>
          <a:bodyPr/>
          <a:lstStyle/>
          <a:p>
            <a:r>
              <a:rPr lang="en-US"/>
              <a:t>Friendly ping. I can use these at GTC. Would appreciate updates</a:t>
            </a:r>
          </a:p>
        </p188:txBody>
      </p188:reply>
    </p188:replyLst>
    <p188:txBody>
      <a:bodyPr/>
      <a:lstStyle/>
      <a:p>
        <a:r>
          <a:rPr lang="en-US"/>
          <a:t>[@Isabel Hulseman] 
[@Alexa Haushalter] 
If Yellow is things that can support Safety (but may have other functions), I would include Curator and Data Dseigner and Evaluator in Yellow
Or maybe 
1. add a key yellow  boxes are dedicated safety function, blue are safety+accuracy function
2. make Curator, DAta Designer, and Evaluator blue</a:t>
        </a:r>
      </a:p>
    </p188:txBody>
  </p188:cm>
</p188:cmLst>
</file>

<file path=ppt/comments/modernComment_107_EA3EDD04.xml><?xml version="1.0" encoding="utf-8"?>
<p188:cmLst xmlns:a="http://schemas.openxmlformats.org/drawingml/2006/main" xmlns:r="http://schemas.openxmlformats.org/officeDocument/2006/relationships" xmlns:p188="http://schemas.microsoft.com/office/powerpoint/2018/8/main">
  <p188:cm id="{6005776E-7DA9-465C-B1CC-B78A8CB2FA11}" authorId="{2A32E63B-884A-6047-0F5A-BCC27CB1D6B2}" status="resolved" created="2026-01-21T02:23:06.807">
    <ac:txMkLst xmlns:ac="http://schemas.microsoft.com/office/drawing/2013/main/command">
      <pc:docMk xmlns:pc="http://schemas.microsoft.com/office/powerpoint/2013/main/command"/>
      <pc:sldMk xmlns:pc="http://schemas.microsoft.com/office/powerpoint/2013/main/command" cId="3929988356" sldId="263"/>
      <ac:spMk id="2" creationId="{76B3BA16-BE6E-9F86-1809-93E7DCCA3B9F}"/>
      <ac:txMk cp="22">
        <ac:context len="23" hash="2689845699"/>
      </ac:txMk>
    </ac:txMkLst>
    <p188:pos x="6798815" y="643631"/>
    <p188:txBody>
      <a:bodyPr/>
      <a:lstStyle/>
      <a:p>
        <a:r>
          <a:rPr lang="en-US"/>
          <a:t>[@Alexa Haushalter]  to help fill this out</a:t>
        </a:r>
      </a:p>
    </p188:txBody>
  </p188:cm>
  <p188:cm id="{79C2FF1D-FDEA-4FB3-80C3-FAB15713C1E1}" authorId="{2A32E63B-884A-6047-0F5A-BCC27CB1D6B2}" status="resolved" created="2026-02-06T18:26:16.751" complete="100000">
    <ac:txMkLst xmlns:ac="http://schemas.microsoft.com/office/drawing/2013/main/command">
      <pc:docMk xmlns:pc="http://schemas.microsoft.com/office/powerpoint/2013/main/command"/>
      <pc:sldMk xmlns:pc="http://schemas.microsoft.com/office/powerpoint/2013/main/command" cId="3929988356" sldId="263"/>
      <ac:spMk id="9" creationId="{BF4C3563-81BE-39CD-0FEA-E4135256B5CD}"/>
      <ac:txMk cp="149" len="4">
        <ac:context len="366" hash="1365250938"/>
      </ac:txMk>
    </ac:txMkLst>
    <p188:pos x="3955142" y="1294190"/>
    <p188:txBody>
      <a:bodyPr/>
      <a:lstStyle/>
      <a:p>
        <a:r>
          <a:rPr lang="en-US"/>
          <a:t>move slide 21 to the right here [@Kristen Ennis] </a:t>
        </a:r>
      </a:p>
    </p188:txBody>
  </p188:cm>
</p188:cmLst>
</file>

<file path=ppt/comments/modernComment_108_3DE5B97C.xml><?xml version="1.0" encoding="utf-8"?>
<p188:cmLst xmlns:a="http://schemas.openxmlformats.org/drawingml/2006/main" xmlns:r="http://schemas.openxmlformats.org/officeDocument/2006/relationships" xmlns:p188="http://schemas.microsoft.com/office/powerpoint/2018/8/main">
  <p188:cm id="{BA30087D-34E8-48BB-96D5-AE73CD541429}" authorId="{60F19AC1-BB03-92F6-AB53-32A5EC0DCC35}" status="resolved" created="2026-02-07T14:55:17.500" complete="100000">
    <ac:txMkLst xmlns:ac="http://schemas.microsoft.com/office/drawing/2013/main/command">
      <pc:docMk xmlns:pc="http://schemas.microsoft.com/office/powerpoint/2013/main/command"/>
      <pc:sldMk xmlns:pc="http://schemas.microsoft.com/office/powerpoint/2013/main/command" cId="1038465404" sldId="264"/>
      <ac:spMk id="66" creationId="{BE562120-21A8-4C13-3565-E1046ABB2132}"/>
      <ac:txMk cp="72">
        <ac:context len="73" hash="649491696"/>
      </ac:txMk>
    </ac:txMkLst>
    <p188:pos x="755542" y="949271"/>
    <p188:replyLst>
      <p188:reply id="{93F87FC1-BA42-4995-8829-60B6541396A2}" authorId="{2A32E63B-884A-6047-0F5A-BCC27CB1D6B2}" created="2026-02-09T16:20:18.544">
        <p188:txBody>
          <a:bodyPr/>
          <a:lstStyle/>
          <a:p>
            <a:r>
              <a:rPr lang="en-US"/>
              <a:t>Technically this is just true for guardrails and auditor right now. It will be true for safe synthesizer in april</a:t>
            </a:r>
          </a:p>
        </p188:txBody>
      </p188:reply>
    </p188:replyLst>
    <p188:txBody>
      <a:bodyPr/>
      <a:lstStyle/>
      <a:p>
        <a:r>
          <a:rPr lang="en-US"/>
          <a:t>Also true for guardrails and auditor?</a:t>
        </a:r>
      </a:p>
    </p188:txBody>
  </p188:cm>
  <p188:cm id="{284AA2BE-4A29-44BC-A5D8-A25F7DF75EE3}" authorId="{BE12BB90-5601-718D-A1E4-51D95ED1D9E9}" created="2026-02-09T06:24:14.160">
    <pc:sldMkLst xmlns:pc="http://schemas.microsoft.com/office/powerpoint/2013/main/command">
      <pc:docMk/>
      <pc:sldMk cId="1038465404" sldId="264"/>
    </pc:sldMkLst>
    <p188:replyLst>
      <p188:reply id="{D022142A-C9BA-4AA2-B4CD-75736C72A923}" authorId="{2A32E63B-884A-6047-0F5A-BCC27CB1D6B2}" created="2026-02-09T16:22:10.200">
        <p188:txBody>
          <a:bodyPr/>
          <a:lstStyle/>
          <a:p>
            <a:r>
              <a:rPr lang="en-US"/>
              <a:t>that model is the first model listed, do we have to list the old versions? the english only ones? [@Eileen Long] </a:t>
            </a:r>
          </a:p>
        </p188:txBody>
      </p188:reply>
    </p188:replyLst>
    <p188:txBody>
      <a:bodyPr/>
      <a:lstStyle/>
      <a:p>
        <a:r>
          <a:rPr lang="en-US"/>
          <a:t>Where is Nemotron Content Safety multilingual? 
The various Nemotron Content Safety datasets are listed, but not the models</a:t>
        </a:r>
      </a:p>
    </p188:txBody>
  </p188:cm>
  <p188:cm id="{4F59679F-48AF-4021-937E-B22569A495E0}" authorId="{BE12BB90-5601-718D-A1E4-51D95ED1D9E9}" created="2026-02-09T06:32:17.816">
    <pc:sldMkLst xmlns:pc="http://schemas.microsoft.com/office/powerpoint/2013/main/command">
      <pc:docMk/>
      <pc:sldMk cId="1038465404" sldId="264"/>
    </pc:sldMkLst>
    <p188:replyLst>
      <p188:reply id="{EEF95360-F335-4B23-8962-CE9A4FE366BC}" authorId="{2A32E63B-884A-6047-0F5A-BCC27CB1D6B2}" created="2026-02-11T16:51:49.719">
        <p188:txBody>
          <a:bodyPr/>
          <a:lstStyle/>
          <a:p>
            <a:r>
              <a:rPr lang="en-US"/>
              <a:t>Does 3 and 4 not help with this? [@Eileen Long] </a:t>
            </a:r>
          </a:p>
        </p188:txBody>
      </p188:reply>
    </p188:replyLst>
    <p188:txBody>
      <a:bodyPr/>
      <a:lstStyle/>
      <a:p>
        <a:r>
          <a:rPr lang="en-US"/>
          <a:t>Before this slide, need one that shows the capabiliteis - before you tell them about all the libs/models/datasets -- Motivate what those are doing.
We need a slie that covers
Data Curator
Evaluator incl Safety Evals
Guardrails
etc
We talked about this in slack vis.a vis this slide here - and someone suggested mapping it to a diagra that had these (and other steps). Do you remember which diagram that was? I dont see anything like that in this deck yet.
https://docs.google.com/presentation/d/19tAqWPrjFTg-q-V0bRTWm2M2JaiyVZmU2ul9w7Dye4g/edit?slide=id.g2ab82865f9c_1_631#slide=id.g2ab82865f9c_1_631</a:t>
        </a:r>
      </a:p>
    </p188:txBody>
  </p188:cm>
  <p188:cm id="{4E1DEEC2-B1B6-4A85-97D2-89356E4F511E}" authorId="{3553D9A0-8F15-2B2D-22A8-511294233487}" created="2026-02-10T05:40:08.706">
    <pc:sldMkLst xmlns:pc="http://schemas.microsoft.com/office/powerpoint/2013/main/command">
      <pc:docMk/>
      <pc:sldMk cId="1038465404" sldId="264"/>
    </pc:sldMkLst>
    <p188:replyLst>
      <p188:reply id="{CE0B54DF-34C1-4CC8-A407-0D7436F103F1}" authorId="{2A32E63B-884A-6047-0F5A-BCC27CB1D6B2}" created="2026-02-10T14:01:46.263">
        <p188:txBody>
          <a:bodyPr/>
          <a:lstStyle/>
          <a:p>
            <a:r>
              <a:rPr lang="en-US"/>
              <a:t>Yes, but the different name is confusing. We are rallying behind Nemotron and NeMo brands. On the Auditor slide we decided to say "Access the open source library (Garak) on GItHub." [@Leon Derczynski] </a:t>
            </a:r>
          </a:p>
        </p188:txBody>
      </p188:reply>
    </p188:replyLst>
    <p188:txBody>
      <a:bodyPr/>
      <a:lstStyle/>
      <a:p>
        <a:r>
          <a:rPr lang="en-GB"/>
          <a:t>Is Auditor an open library? I believe not - the OSS here is garak</a:t>
        </a:r>
      </a:p>
    </p188:txBody>
  </p188:cm>
  <p188:cm id="{A79B8225-F306-4A2B-A508-C64E0E6C664C}" authorId="{BE12BB90-5601-718D-A1E4-51D95ED1D9E9}" created="2026-02-11T10:04:29.579">
    <ac:deMkLst xmlns:ac="http://schemas.microsoft.com/office/drawing/2013/main/command">
      <pc:docMk xmlns:pc="http://schemas.microsoft.com/office/powerpoint/2013/main/command"/>
      <pc:sldMk xmlns:pc="http://schemas.microsoft.com/office/powerpoint/2013/main/command" cId="1038465404" sldId="264"/>
      <ac:spMk id="21" creationId="{6664F022-67F8-E0F7-2EC8-8645170ADB83}"/>
    </ac:deMkLst>
    <p188:replyLst>
      <p188:reply id="{A39DC617-9C79-46D0-BD85-520AEDE70994}" authorId="{2A32E63B-884A-6047-0F5A-BCC27CB1D6B2}" created="2026-02-11T16:53:08.656">
        <p188:txBody>
          <a:bodyPr/>
          <a:lstStyle/>
          <a:p>
            <a:r>
              <a:rPr lang="en-US"/>
              <a:t>done</a:t>
            </a:r>
          </a:p>
        </p188:txBody>
      </p188:reply>
    </p188:replyLst>
    <p188:txBody>
      <a:bodyPr/>
      <a:lstStyle/>
      <a:p>
        <a:r>
          <a:rPr lang="en-US"/>
          <a:t>Increase font size of the product names</a:t>
        </a:r>
      </a:p>
    </p188:txBody>
  </p188:cm>
</p188:cmLst>
</file>

<file path=ppt/comments/modernComment_110_34CB6721.xml><?xml version="1.0" encoding="utf-8"?>
<p188:cmLst xmlns:a="http://schemas.openxmlformats.org/drawingml/2006/main" xmlns:r="http://schemas.openxmlformats.org/officeDocument/2006/relationships" xmlns:p188="http://schemas.microsoft.com/office/powerpoint/2018/8/main">
  <p188:cm id="{B0CAC642-3C39-48D5-9628-CB42C93FE444}" authorId="{2A32E63B-884A-6047-0F5A-BCC27CB1D6B2}" status="resolved" created="2026-01-27T14:02:19.198" complete="100000">
    <pc:sldMkLst xmlns:pc="http://schemas.microsoft.com/office/powerpoint/2013/main/command">
      <pc:docMk/>
      <pc:sldMk cId="885745441" sldId="272"/>
    </pc:sldMkLst>
    <p188:replyLst>
      <p188:reply id="{20C247BE-7005-44C1-84C7-98858D48765C}" authorId="{2A32E63B-884A-6047-0F5A-BCC27CB1D6B2}" created="2026-02-05T21:25:22.725">
        <p188:txBody>
          <a:bodyPr/>
          <a:lstStyle/>
          <a:p>
            <a:r>
              <a:rPr lang="en-US"/>
              <a:t>every library link, every microservice, and then models</a:t>
            </a:r>
          </a:p>
        </p188:txBody>
      </p188:reply>
    </p188:replyLst>
    <p188:txBody>
      <a:bodyPr/>
      <a:lstStyle/>
      <a:p>
        <a:r>
          <a:rPr lang="en-US"/>
          <a:t>Need to work on an E2E tutorial for safety. Also a Safeguarding agentic AI learning path. Need to update this slide</a:t>
        </a:r>
      </a:p>
    </p188:txBody>
  </p188:cm>
  <p188:cm id="{F7004353-A1CD-46EC-B887-7F22A5827F48}" authorId="{2A32E63B-884A-6047-0F5A-BCC27CB1D6B2}" status="resolved" created="2026-02-05T19:31:02.978" complete="100000">
    <ac:txMkLst xmlns:ac="http://schemas.microsoft.com/office/drawing/2013/main/command">
      <pc:docMk xmlns:pc="http://schemas.microsoft.com/office/powerpoint/2013/main/command"/>
      <pc:sldMk xmlns:pc="http://schemas.microsoft.com/office/powerpoint/2013/main/command" cId="885745441" sldId="272"/>
      <ac:spMk id="5" creationId="{2E0DBD23-D726-6034-9832-A183052D023F}"/>
      <ac:txMk cp="8" len="7">
        <ac:context len="16" hash="2497453686"/>
      </ac:txMk>
    </ac:txMkLst>
    <p188:pos x="6456947" y="585536"/>
    <p188:txBody>
      <a:bodyPr/>
      <a:lstStyle/>
      <a:p>
        <a:r>
          <a:rPr lang="en-US"/>
          <a:t>Let's chat through what this should look like [@Yamini Kagal] </a:t>
        </a:r>
      </a:p>
    </p188:txBody>
  </p188:cm>
</p188:cmLst>
</file>

<file path=ppt/comments/modernComment_113_A5F7CA0A.xml><?xml version="1.0" encoding="utf-8"?>
<p188:cmLst xmlns:a="http://schemas.openxmlformats.org/drawingml/2006/main" xmlns:r="http://schemas.openxmlformats.org/officeDocument/2006/relationships" xmlns:p188="http://schemas.microsoft.com/office/powerpoint/2018/8/main">
  <p188:cm id="{81BEA8A2-F6FB-470C-92E2-DF5096C7510C}" authorId="{FAB689E2-37CB-8C27-C12C-5CC444F543A8}" status="resolved" created="2026-02-04T00:02:01.879" complete="100000">
    <pc:sldMkLst xmlns:pc="http://schemas.microsoft.com/office/powerpoint/2013/main/command">
      <pc:docMk/>
      <pc:sldMk cId="2784479754" sldId="275"/>
    </pc:sldMkLst>
    <p188:replyLst>
      <p188:reply id="{94D245E5-BB8D-4FEB-90F3-9E445F195F33}" authorId="{F2624629-5415-4EAE-B6D6-8E2628B03AB6}" created="2026-02-09T18:53:40.161">
        <p188:txBody>
          <a:bodyPr/>
          <a:lstStyle/>
          <a:p>
            <a:r>
              <a:rPr lang="en-US"/>
              <a:t>What if we just have the "Try" section and move the Learn resources into a slide in the appendix for Guardrails? Since we don't have any content yet for SS/A </a:t>
            </a:r>
          </a:p>
        </p188:txBody>
      </p188:reply>
    </p188:replyLst>
    <p188:txBody>
      <a:bodyPr/>
      <a:lstStyle/>
      <a:p>
        <a:r>
          <a:rPr lang="en-US"/>
          <a:t>We should either diversify this to include all of the safety MS/libraries or include this as part of the Guardrails section</a:t>
        </a:r>
      </a:p>
    </p188:txBody>
  </p188:cm>
</p188:cmLst>
</file>

<file path=ppt/comments/modernComment_123_CBB59A1C.xml><?xml version="1.0" encoding="utf-8"?>
<p188:cmLst xmlns:a="http://schemas.openxmlformats.org/drawingml/2006/main" xmlns:r="http://schemas.openxmlformats.org/officeDocument/2006/relationships" xmlns:p188="http://schemas.microsoft.com/office/powerpoint/2018/8/main">
  <p188:cm id="{72E9179D-54FF-4766-B3ED-2CFDED3658B7}" authorId="{FAB689E2-37CB-8C27-C12C-5CC444F543A8}" status="resolved" created="2026-02-06T18:15:04.901" complete="100000">
    <ac:deMkLst xmlns:ac="http://schemas.microsoft.com/office/drawing/2013/main/command">
      <pc:docMk xmlns:pc="http://schemas.microsoft.com/office/powerpoint/2013/main/command"/>
      <pc:sldMk xmlns:pc="http://schemas.microsoft.com/office/powerpoint/2013/main/command" cId="3417676316" sldId="291"/>
      <ac:picMk id="56" creationId="{AB5EFF2B-2285-AD3D-54FA-86B6AA52B550}"/>
    </ac:deMkLst>
    <p188:replyLst>
      <p188:reply id="{F3C7ED1F-3CD3-4B94-98E0-06DE4B46E770}" authorId="{2A32E63B-884A-6047-0F5A-BCC27CB1D6B2}" created="2026-02-06T22:53:22.023">
        <p188:txBody>
          <a:bodyPr/>
          <a:lstStyle/>
          <a:p>
            <a:r>
              <a:rPr lang="en-US"/>
              <a:t>Done</a:t>
            </a:r>
          </a:p>
        </p188:txBody>
      </p188:reply>
    </p188:replyLst>
    <p188:txBody>
      <a:bodyPr/>
      <a:lstStyle/>
      <a:p>
        <a:r>
          <a:rPr lang="en-US"/>
          <a:t>[@Isabel Hulseman] Could you kindly help me get the image for these green hexagons? My hacky attempt failed lol</a:t>
        </a:r>
      </a:p>
    </p188:txBody>
  </p188:cm>
</p188:cmLst>
</file>

<file path=ppt/comments/modernComment_125_863B85BF.xml><?xml version="1.0" encoding="utf-8"?>
<p188:cmLst xmlns:a="http://schemas.openxmlformats.org/drawingml/2006/main" xmlns:r="http://schemas.openxmlformats.org/officeDocument/2006/relationships" xmlns:p188="http://schemas.microsoft.com/office/powerpoint/2018/8/main">
  <p188:cm id="{03C06753-10A3-44C5-B045-6D57B2610296}" authorId="{2A32E63B-884A-6047-0F5A-BCC27CB1D6B2}" status="resolved" created="2026-02-05T19:30:29.102" complete="100000">
    <ac:deMkLst xmlns:ac="http://schemas.microsoft.com/office/drawing/2013/main/command">
      <pc:docMk xmlns:pc="http://schemas.microsoft.com/office/powerpoint/2013/main/command"/>
      <pc:sldMk xmlns:pc="http://schemas.microsoft.com/office/powerpoint/2013/main/command" cId="2252047807" sldId="293"/>
      <ac:graphicFrameMk id="6" creationId="{4A460D73-DC6E-EA1D-D8F4-8EA6D5F0423A}"/>
    </ac:deMkLst>
    <p188:txBody>
      <a:bodyPr/>
      <a:lstStyle/>
      <a:p>
        <a:r>
          <a:rPr lang="en-US"/>
          <a:t>Can you make this small and find a way to merge on the main anonymizer slide? slide 26 [@Alexa Haushalter] [@Kristen Ennis] </a:t>
        </a:r>
      </a:p>
    </p188:txBody>
  </p188:cm>
</p188:cmLst>
</file>

<file path=ppt/comments/modernComment_128_48D3E297.xml><?xml version="1.0" encoding="utf-8"?>
<p188:cmLst xmlns:a="http://schemas.openxmlformats.org/drawingml/2006/main" xmlns:r="http://schemas.openxmlformats.org/officeDocument/2006/relationships" xmlns:p188="http://schemas.microsoft.com/office/powerpoint/2018/8/main">
  <p188:cm id="{6CF59700-20D5-4ED1-ACE8-9C6477609273}" authorId="{2A32E63B-884A-6047-0F5A-BCC27CB1D6B2}" status="resolved" created="2026-02-05T19:29:21.289" complete="100000">
    <ac:txMkLst xmlns:ac="http://schemas.microsoft.com/office/drawing/2013/main/command">
      <pc:docMk xmlns:pc="http://schemas.microsoft.com/office/powerpoint/2013/main/command"/>
      <pc:sldMk xmlns:pc="http://schemas.microsoft.com/office/powerpoint/2013/main/command" cId="1221845655" sldId="296"/>
      <ac:spMk id="7" creationId="{E3257E25-A9E1-7E2E-00D2-5752CB7EB495}"/>
      <ac:txMk cp="20" len="20">
        <ac:context len="100" hash="4114329718"/>
      </ac:txMk>
    </ac:txMkLst>
    <p188:pos x="4235115" y="208547"/>
    <p188:txBody>
      <a:bodyPr/>
      <a:lstStyle/>
      <a:p>
        <a:r>
          <a:rPr lang="en-US"/>
          <a:t>[@Kristen Ennis] </a:t>
        </a:r>
      </a:p>
    </p188:txBody>
  </p188:cm>
</p188:cmLst>
</file>

<file path=ppt/comments/modernComment_130_FE69E68B.xml><?xml version="1.0" encoding="utf-8"?>
<p188:cmLst xmlns:a="http://schemas.openxmlformats.org/drawingml/2006/main" xmlns:r="http://schemas.openxmlformats.org/officeDocument/2006/relationships" xmlns:p188="http://schemas.microsoft.com/office/powerpoint/2018/8/main">
  <p188:cm id="{06B1D1A2-4833-4A38-BB45-1D7B413AF66C}" authorId="{2A32E63B-884A-6047-0F5A-BCC27CB1D6B2}" status="resolved" created="2026-02-10T01:15:55.827" complete="100000">
    <ac:deMkLst xmlns:ac="http://schemas.microsoft.com/office/drawing/2013/main/command">
      <pc:docMk xmlns:pc="http://schemas.microsoft.com/office/powerpoint/2013/main/command"/>
      <pc:sldMk xmlns:pc="http://schemas.microsoft.com/office/powerpoint/2013/main/command" cId="4268353163" sldId="304"/>
      <ac:spMk id="6" creationId="{54D735D7-1EE3-DD0B-94A0-EDFAB1ED3B8E}"/>
    </ac:deMkLst>
    <p188:txBody>
      <a:bodyPr/>
      <a:lstStyle/>
      <a:p>
        <a:r>
          <a:rPr lang="en-US"/>
          <a:t>is there anything else we should include in the custom rail box? [@Alexa Haushalter] [@Christopher Parisien] </a:t>
        </a:r>
      </a:p>
    </p188:txBody>
  </p188:cm>
</p188:cmLst>
</file>

<file path=ppt/comments/modernComment_131_71F1783B.xml><?xml version="1.0" encoding="utf-8"?>
<p188:cmLst xmlns:a="http://schemas.openxmlformats.org/drawingml/2006/main" xmlns:r="http://schemas.openxmlformats.org/officeDocument/2006/relationships" xmlns:p188="http://schemas.microsoft.com/office/powerpoint/2018/8/main">
  <p188:cm id="{FE25713A-4095-4DAB-97B7-E6180D5B2482}" authorId="{2A32E63B-884A-6047-0F5A-BCC27CB1D6B2}" status="resolved" created="2026-02-05T19:30:29.102">
    <ac:deMkLst xmlns:ac="http://schemas.microsoft.com/office/drawing/2013/main/command">
      <pc:docMk xmlns:pc="http://schemas.microsoft.com/office/powerpoint/2013/main/command"/>
      <pc:sldMk xmlns:pc="http://schemas.microsoft.com/office/powerpoint/2013/main/command" cId="2252047807" sldId="293"/>
      <ac:graphicFrameMk id="6" creationId="{4A460D73-DC6E-EA1D-D8F4-8EA6D5F0423A}"/>
    </ac:deMkLst>
    <p188:txBody>
      <a:bodyPr/>
      <a:lstStyle/>
      <a:p>
        <a:r>
          <a:rPr lang="en-US"/>
          <a:t>Can you make this small and find a way to merge on the main anonymizer slide? slide 26 [@Alexa Haushalter] [@Kristen Ennis] </a:t>
        </a:r>
      </a:p>
    </p188:txBody>
  </p188:cm>
</p188:cmLst>
</file>

<file path=ppt/comments/modernComment_132_1D884A98.xml><?xml version="1.0" encoding="utf-8"?>
<p188:cmLst xmlns:a="http://schemas.openxmlformats.org/drawingml/2006/main" xmlns:r="http://schemas.openxmlformats.org/officeDocument/2006/relationships" xmlns:p188="http://schemas.microsoft.com/office/powerpoint/2018/8/main">
  <p188:cm id="{85D16DAE-BC1A-4241-A55C-9D0069CFEEBD}" authorId="{2A32E63B-884A-6047-0F5A-BCC27CB1D6B2}" created="2026-02-06T21:19:15.255">
    <ac:deMkLst xmlns:ac="http://schemas.microsoft.com/office/drawing/2013/main/command">
      <pc:docMk xmlns:pc="http://schemas.microsoft.com/office/powerpoint/2013/main/command"/>
      <pc:sldMk xmlns:pc="http://schemas.microsoft.com/office/powerpoint/2013/main/command" cId="495471256" sldId="306"/>
      <ac:spMk id="37" creationId="{6B86D76E-3109-7BA9-0D72-A5105E518DA2}"/>
    </ac:deMkLst>
    <p188:txBody>
      <a:bodyPr/>
      <a:lstStyle/>
      <a:p>
        <a:r>
          <a:rPr lang="en-US"/>
          <a:t>[@Alexa Haushalter] can you review</a:t>
        </a:r>
      </a:p>
    </p188:txBody>
  </p188:cm>
  <p188:cm id="{4A617129-AB47-45DB-8B74-1A661DB757E5}" authorId="{BE12BB90-5601-718D-A1E4-51D95ED1D9E9}" created="2026-02-09T06:25:17.176">
    <pc:sldMkLst xmlns:pc="http://schemas.microsoft.com/office/powerpoint/2013/main/command">
      <pc:docMk/>
      <pc:sldMk cId="495471256" sldId="306"/>
    </pc:sldMkLst>
    <p188:replyLst>
      <p188:reply id="{BBBDC81D-BA82-4B30-85BC-C1A313F52A62}" authorId="{2A32E63B-884A-6047-0F5A-BCC27CB1D6B2}" created="2026-02-09T16:22:56.169">
        <p188:txBody>
          <a:bodyPr/>
          <a:lstStyle/>
          <a:p>
            <a:r>
              <a:rPr lang="en-US"/>
              <a:t>NeMo Evaluator is not part of our safety suite [@Eileen Long] I will add a nemo over arching slide to show where that one fits in</a:t>
            </a:r>
          </a:p>
        </p188:txBody>
      </p188:reply>
      <p188:reply id="{F0767551-E1B9-46C5-9BA9-D63152952364}" authorId="{BE12BB90-5601-718D-A1E4-51D95ED1D9E9}" created="2026-02-11T09:59:27.728">
        <p188:txBody>
          <a:bodyPr/>
          <a:lstStyle/>
          <a:p>
            <a:r>
              <a:rPr lang="en-US"/>
              <a:t>Evaluator is useful for safety because you can run Safety evaluations! also Customizer lets you train, including post-training for Safety</a:t>
            </a:r>
          </a:p>
        </p188:txBody>
      </p188:reply>
      <p188:reply id="{7E364ED1-0435-478F-B0D4-6E8D5036C7C4}" authorId="{2A32E63B-884A-6047-0F5A-BCC27CB1D6B2}" created="2026-02-11T16:53:41.797">
        <p188:txBody>
          <a:bodyPr/>
          <a:lstStyle/>
          <a:p>
            <a:r>
              <a:rPr lang="en-US"/>
              <a:t>Please check slides 2-4 as intro slides [@Eileen Long] </a:t>
            </a:r>
          </a:p>
        </p188:txBody>
      </p188:reply>
      <p188:reply id="{E4AF240B-D8B2-4521-A2DC-91BB675C997D}" authorId="{BE12BB90-5601-718D-A1E4-51D95ED1D9E9}" created="2026-02-23T04:11:56.491">
        <p188:txBody>
          <a:bodyPr/>
          <a:lstStyle/>
          <a:p>
            <a:r>
              <a:rPr lang="en-US"/>
              <a:t>This helps. Added a suggestion on slide 4</a:t>
            </a:r>
          </a:p>
        </p188:txBody>
      </p188:reply>
    </p188:replyLst>
    <p188:txBody>
      <a:bodyPr/>
      <a:lstStyle/>
      <a:p>
        <a:r>
          <a:rPr lang="en-US"/>
          <a:t>Where is Evaluator? and our Automated Redteaming (garak, Nemotron Content Safety fka aegis)</a:t>
        </a:r>
      </a:p>
    </p188:txBody>
  </p188:cm>
  <p188:cm id="{336C26A8-A641-46E4-9C39-51537FC81683}" authorId="{BE12BB90-5601-718D-A1E4-51D95ED1D9E9}" created="2026-02-09T06:25:57.254">
    <pc:sldMkLst xmlns:pc="http://schemas.microsoft.com/office/powerpoint/2013/main/command">
      <pc:docMk/>
      <pc:sldMk cId="495471256" sldId="306"/>
    </pc:sldMkLst>
    <p188:replyLst>
      <p188:reply id="{D63DE7FB-92CB-44BE-887C-DB071CA859C6}" authorId="{BE12BB90-5601-718D-A1E4-51D95ED1D9E9}" created="2026-02-11T10:00:57.028">
        <p188:txBody>
          <a:bodyPr/>
          <a:lstStyle/>
          <a:p>
            <a:r>
              <a:rPr lang="en-US"/>
              <a:t>I found a great diagram to show all the stuff we should cover:
Models to get started with
Data Curator
Data Designer/Safe Synthetics
Customizer
Evaluator &amp; Safety Evals
Retriever / RAG
Agentic
Guardrails
Will insert on next slide
Source: https://www.nvidia.com/en-us/ai-data-science/products/nemo/</a:t>
            </a:r>
          </a:p>
        </p188:txBody>
      </p188:reply>
      <p188:reply id="{B6F57748-6F1E-41CF-B312-D7002028E57A}" authorId="{2A32E63B-884A-6047-0F5A-BCC27CB1D6B2}" created="2026-02-11T16:45:32.953">
        <p188:txBody>
          <a:bodyPr/>
          <a:lstStyle/>
          <a:p>
            <a:r>
              <a:rPr lang="en-US"/>
              <a:t>We already have this slide, but moved it to appendix because it is a lot to digest in one deck. I moved it back (slide 6) and we can discuss how best to talk through this. Would be great to chat live with the team to get feedbak on this deck and flow [@Eileen Long] </a:t>
            </a:r>
          </a:p>
        </p188:txBody>
      </p188:reply>
    </p188:replyLst>
    <p188:txBody>
      <a:bodyPr/>
      <a:lstStyle/>
      <a:p>
        <a:r>
          <a:rPr lang="en-US"/>
          <a:t>[@Isabel Hulseman] Please go through  this deck and look for missing content/ concepts. https://docs.google.com/presentation/d/19tAqWPrjFTg-q-V0bRTWm2M2JaiyVZmU2ul9w7Dye4g/edit?slide=id.g2ab82865f2c_0_0#slide=id.g2ab82865f2c_0_0 </a:t>
        </a:r>
      </a:p>
    </p188:txBody>
  </p188:cm>
  <p188:cm id="{03E722C9-15C7-45F9-9E71-C72FA966848C}" authorId="{2A32E63B-884A-6047-0F5A-BCC27CB1D6B2}" created="2026-02-09T21:18:53.210">
    <pc:sldMkLst xmlns:pc="http://schemas.microsoft.com/office/powerpoint/2013/main/command">
      <pc:docMk/>
      <pc:sldMk cId="495471256" sldId="306"/>
    </pc:sldMkLst>
    <p188:txBody>
      <a:bodyPr/>
      <a:lstStyle/>
      <a:p>
        <a:r>
          <a:rPr lang="en-US"/>
          <a:t>icons and move copy to speaker notes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C92FF8B-AC58-4E43-81F3-6E8F9F941C13}" type="datetimeFigureOut">
              <a:rPr lang="en-US" smtClean="0"/>
              <a:t>6/3/26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8470C524-AED4-4007-B81B-37EB0B35AF0B}" type="slidenum">
              <a:rPr lang="en-US" smtClean="0"/>
              <a:t>‹#›</a:t>
            </a:fld>
            <a:endParaRPr lang="en-US"/>
          </a:p>
        </p:txBody>
      </p:sp>
    </p:spTree>
    <p:extLst>
      <p:ext uri="{BB962C8B-B14F-4D97-AF65-F5344CB8AC3E}">
        <p14:creationId xmlns:p14="http://schemas.microsoft.com/office/powerpoint/2010/main" val="1107301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everyone, I’m Isabel Hulseman, product marketing manager for </a:t>
            </a:r>
            <a:r>
              <a:rPr lang="en-US" err="1"/>
              <a:t>Nemotron</a:t>
            </a:r>
            <a:r>
              <a:rPr lang="en-US"/>
              <a:t> safety and </a:t>
            </a:r>
            <a:r>
              <a:rPr lang="en-US" err="1"/>
              <a:t>NeMo</a:t>
            </a:r>
            <a:r>
              <a:rPr lang="en-US"/>
              <a:t> safety libraries. </a:t>
            </a:r>
          </a:p>
          <a:p>
            <a:r>
              <a:rPr lang="en-US"/>
              <a:t> </a:t>
            </a:r>
          </a:p>
          <a:p>
            <a:r>
              <a:rPr lang="en-US"/>
              <a:t>We’re seeing a shift from simple, single‑model chatbots to networks of specialized agents that can reason, retrieve information, call tools, and take actions on enterprise systems and data. That creates tremendous value, but it also introduces new risks if those agents are not properly governed.</a:t>
            </a:r>
          </a:p>
          <a:p>
            <a:r>
              <a:rPr lang="en-US"/>
              <a:t> </a:t>
            </a:r>
          </a:p>
          <a:p>
            <a:endParaRPr lang="en-US"/>
          </a:p>
        </p:txBody>
      </p:sp>
      <p:sp>
        <p:nvSpPr>
          <p:cNvPr id="4" name="Slide Number Placeholder 3"/>
          <p:cNvSpPr>
            <a:spLocks noGrp="1"/>
          </p:cNvSpPr>
          <p:nvPr>
            <p:ph type="sldNum" sz="quarter" idx="5"/>
          </p:nvPr>
        </p:nvSpPr>
        <p:spPr/>
        <p:txBody>
          <a:bodyPr/>
          <a:lstStyle/>
          <a:p>
            <a:fld id="{8470C524-AED4-4007-B81B-37EB0B35AF0B}" type="slidenum">
              <a:rPr lang="en-US" smtClean="0"/>
              <a:t>1</a:t>
            </a:fld>
            <a:endParaRPr lang="en-US"/>
          </a:p>
        </p:txBody>
      </p:sp>
    </p:spTree>
    <p:extLst>
      <p:ext uri="{BB962C8B-B14F-4D97-AF65-F5344CB8AC3E}">
        <p14:creationId xmlns:p14="http://schemas.microsoft.com/office/powerpoint/2010/main" val="1943362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our sake here are the components under the hood, and the ones circled in yellow are the ones we will be covering today, specifically focused on making agents safe and production‑ready.</a:t>
            </a:r>
          </a:p>
          <a:p>
            <a:endParaRPr lang="en-US"/>
          </a:p>
        </p:txBody>
      </p:sp>
      <p:sp>
        <p:nvSpPr>
          <p:cNvPr id="4" name="Slide Number Placeholder 3"/>
          <p:cNvSpPr>
            <a:spLocks noGrp="1"/>
          </p:cNvSpPr>
          <p:nvPr>
            <p:ph type="sldNum" sz="quarter" idx="5"/>
          </p:nvPr>
        </p:nvSpPr>
        <p:spPr/>
        <p:txBody>
          <a:bodyPr/>
          <a:lstStyle/>
          <a:p>
            <a:fld id="{8470C524-AED4-4007-B81B-37EB0B35AF0B}" type="slidenum">
              <a:rPr lang="en-US" smtClean="0"/>
              <a:t>2</a:t>
            </a:fld>
            <a:endParaRPr lang="en-US"/>
          </a:p>
        </p:txBody>
      </p:sp>
    </p:spTree>
    <p:extLst>
      <p:ext uri="{BB962C8B-B14F-4D97-AF65-F5344CB8AC3E}">
        <p14:creationId xmlns:p14="http://schemas.microsoft.com/office/powerpoint/2010/main" val="2960204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EE0C9-83A6-C576-06EA-CB8C52F080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8F84A-C748-B4DF-FC56-4F26DC4CC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60C53-B577-EEFB-D58F-CCC586211C5D}"/>
              </a:ext>
            </a:extLst>
          </p:cNvPr>
          <p:cNvSpPr>
            <a:spLocks noGrp="1"/>
          </p:cNvSpPr>
          <p:nvPr>
            <p:ph type="body" idx="1"/>
          </p:nvPr>
        </p:nvSpPr>
        <p:spPr/>
        <p:txBody>
          <a:bodyPr/>
          <a:lstStyle/>
          <a:p>
            <a:r>
              <a:rPr lang="en-US"/>
              <a:t>Now let’s talk about why these tools are needed.</a:t>
            </a:r>
          </a:p>
          <a:p>
            <a:r>
              <a:rPr lang="en-US"/>
              <a:t> </a:t>
            </a:r>
          </a:p>
          <a:p>
            <a:r>
              <a:rPr lang="en-US"/>
              <a:t>First, data security and privacy. Agentic systems touch CRMs, financial records, health data, and proprietary IP. Without the right controls, agents can leak that information in responses or tool calls; with overly strict controls, companies can’t safely use their most valuable data at all.</a:t>
            </a:r>
          </a:p>
          <a:p>
            <a:r>
              <a:rPr lang="en-US"/>
              <a:t> </a:t>
            </a:r>
          </a:p>
          <a:p>
            <a:r>
              <a:rPr lang="en-US"/>
              <a:t>Second, model and agent security. Long‑lived, tool‑calling agents are a big attack surface for jailbreaks and prompt injection, which can bypass policies, exfiltrate secrets, or trigger actions the business never intended.</a:t>
            </a:r>
          </a:p>
          <a:p>
            <a:r>
              <a:rPr lang="en-US"/>
              <a:t> </a:t>
            </a:r>
          </a:p>
          <a:p>
            <a:r>
              <a:rPr lang="en-US"/>
              <a:t>Recent public assistant incidents have made this very visible: unsafe behavior leads to rollbacks, brand damage, and regulatory concern. Safety can’t be an afterthought—you need guardrails, auditing, and data protections designed in from day one.</a:t>
            </a:r>
          </a:p>
          <a:p>
            <a:r>
              <a:rPr lang="en-US"/>
              <a:t> </a:t>
            </a:r>
          </a:p>
          <a:p>
            <a:r>
              <a:rPr lang="en-US"/>
              <a:t>These two challenges map directly to our products: Safe Synthesizer and Anonymizer address data exposure, while Guardrails, Nemotron safety models, and Auditor harden agents and models against misuse.</a:t>
            </a:r>
          </a:p>
        </p:txBody>
      </p:sp>
      <p:sp>
        <p:nvSpPr>
          <p:cNvPr id="4" name="Slide Number Placeholder 3">
            <a:extLst>
              <a:ext uri="{FF2B5EF4-FFF2-40B4-BE49-F238E27FC236}">
                <a16:creationId xmlns:a16="http://schemas.microsoft.com/office/drawing/2014/main" id="{6DBA93F5-9618-D05C-4F22-F49D7A3460D8}"/>
              </a:ext>
            </a:extLst>
          </p:cNvPr>
          <p:cNvSpPr>
            <a:spLocks noGrp="1"/>
          </p:cNvSpPr>
          <p:nvPr>
            <p:ph type="sldNum" sz="quarter" idx="5"/>
          </p:nvPr>
        </p:nvSpPr>
        <p:spPr/>
        <p:txBody>
          <a:bodyPr/>
          <a:lstStyle/>
          <a:p>
            <a:fld id="{8470C524-AED4-4007-B81B-37EB0B35AF0B}" type="slidenum">
              <a:rPr lang="en-US" smtClean="0"/>
              <a:t>3</a:t>
            </a:fld>
            <a:endParaRPr lang="en-US"/>
          </a:p>
        </p:txBody>
      </p:sp>
    </p:spTree>
    <p:extLst>
      <p:ext uri="{BB962C8B-B14F-4D97-AF65-F5344CB8AC3E}">
        <p14:creationId xmlns:p14="http://schemas.microsoft.com/office/powerpoint/2010/main" val="3330677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896C8-2706-BA0F-F7FB-672BAAD31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097C6-5FCE-A29E-29B5-72F4E90B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0EC6B-D4F9-B811-C4B6-5C31D0A2B2D2}"/>
              </a:ext>
            </a:extLst>
          </p:cNvPr>
          <p:cNvSpPr>
            <a:spLocks noGrp="1"/>
          </p:cNvSpPr>
          <p:nvPr>
            <p:ph type="body" idx="1"/>
          </p:nvPr>
        </p:nvSpPr>
        <p:spPr/>
        <p:txBody>
          <a:bodyPr/>
          <a:lstStyle/>
          <a:p>
            <a:r>
              <a:rPr lang="en-US"/>
              <a:t>Here is a holistic view of our entire safety suite. It's modular—customer can start with one library or model where the risk is highest, and then expand coverage across more agents and workflows over time, without adding another fragmented tool.</a:t>
            </a:r>
          </a:p>
          <a:p>
            <a:endParaRPr lang="en-US"/>
          </a:p>
          <a:p>
            <a:r>
              <a:rPr lang="en-US"/>
              <a:t>Anywhere there is valuable data, models, or an AI application in production, they will need safety and security. Now I will hand it off to Alexa to dive into the meat of each product. </a:t>
            </a:r>
          </a:p>
        </p:txBody>
      </p:sp>
      <p:sp>
        <p:nvSpPr>
          <p:cNvPr id="4" name="Slide Number Placeholder 3">
            <a:extLst>
              <a:ext uri="{FF2B5EF4-FFF2-40B4-BE49-F238E27FC236}">
                <a16:creationId xmlns:a16="http://schemas.microsoft.com/office/drawing/2014/main" id="{A3D11820-F9C8-D9AD-A1BD-22179B06352D}"/>
              </a:ext>
            </a:extLst>
          </p:cNvPr>
          <p:cNvSpPr>
            <a:spLocks noGrp="1"/>
          </p:cNvSpPr>
          <p:nvPr>
            <p:ph type="sldNum" sz="quarter" idx="5"/>
          </p:nvPr>
        </p:nvSpPr>
        <p:spPr/>
        <p:txBody>
          <a:bodyPr/>
          <a:lstStyle/>
          <a:p>
            <a:fld id="{8470C524-AED4-4007-B81B-37EB0B35AF0B}" type="slidenum">
              <a:rPr lang="en-US" smtClean="0"/>
              <a:t>4</a:t>
            </a:fld>
            <a:endParaRPr lang="en-US"/>
          </a:p>
        </p:txBody>
      </p:sp>
    </p:spTree>
    <p:extLst>
      <p:ext uri="{BB962C8B-B14F-4D97-AF65-F5344CB8AC3E}">
        <p14:creationId xmlns:p14="http://schemas.microsoft.com/office/powerpoint/2010/main" val="3207920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Google Shape;1381;g334abbaff3e_0_291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382" name="Google Shape;1382;g334abbaff3e_0_2914:notes"/>
          <p:cNvSpPr txBox="1">
            <a:spLocks noGrp="1"/>
          </p:cNvSpPr>
          <p:nvPr>
            <p:ph type="body" idx="1"/>
          </p:nvPr>
        </p:nvSpPr>
        <p:spPr>
          <a:xfrm>
            <a:off x="731520" y="4620578"/>
            <a:ext cx="5852160" cy="3780630"/>
          </a:xfrm>
          <a:prstGeom prst="rect">
            <a:avLst/>
          </a:prstGeom>
          <a:noFill/>
          <a:ln>
            <a:noFill/>
          </a:ln>
        </p:spPr>
        <p:txBody>
          <a:bodyPr spcFirstLastPara="1" wrap="square" lIns="96645" tIns="48309" rIns="96645" bIns="48309" anchor="t" anchorCtr="0">
            <a:noAutofit/>
          </a:bodyPr>
          <a:lstStyle/>
          <a:p>
            <a:r>
              <a:rPr lang="en-US">
                <a:highlight>
                  <a:srgbClr val="F3F4F6"/>
                </a:highlight>
              </a:rPr>
              <a:t>Topic control: Ensure conversations stay</a:t>
            </a:r>
            <a:endParaRPr lang="en-US"/>
          </a:p>
          <a:p>
            <a:r>
              <a:rPr lang="en-US">
                <a:highlight>
                  <a:srgbClr val="F3F4F6"/>
                </a:highlight>
              </a:rPr>
              <a:t>within predefined subject</a:t>
            </a:r>
            <a:endParaRPr lang="en-US"/>
          </a:p>
          <a:p>
            <a:r>
              <a:rPr lang="en-US">
                <a:highlight>
                  <a:srgbClr val="F3F4F6"/>
                </a:highlight>
              </a:rPr>
              <a:t>boundaries and</a:t>
            </a:r>
            <a:endParaRPr lang="en-US"/>
          </a:p>
          <a:p>
            <a:r>
              <a:rPr lang="en-US">
                <a:highlight>
                  <a:srgbClr val="F3F4F6"/>
                </a:highlight>
              </a:rPr>
              <a:t>prevent LLMs from engaging</a:t>
            </a:r>
            <a:endParaRPr lang="en-US"/>
          </a:p>
          <a:p>
            <a:r>
              <a:rPr lang="en-US">
                <a:highlight>
                  <a:srgbClr val="F3F4F6"/>
                </a:highlight>
              </a:rPr>
              <a:t>in off-topic discussions. </a:t>
            </a:r>
            <a:endParaRPr lang="en-US"/>
          </a:p>
          <a:p>
            <a:r>
              <a:rPr lang="en-US">
                <a:highlight>
                  <a:srgbClr val="F3F4F6"/>
                </a:highlight>
              </a:rPr>
              <a:t>PII detection: </a:t>
            </a:r>
            <a:r>
              <a:rPr lang="en-US">
                <a:solidFill>
                  <a:srgbClr val="1A1A1A"/>
                </a:solidFill>
                <a:highlight>
                  <a:srgbClr val="FFFFFF"/>
                </a:highlight>
              </a:rPr>
              <a:t>Redact </a:t>
            </a:r>
            <a:r>
              <a:rPr lang="en-US" err="1">
                <a:solidFill>
                  <a:srgbClr val="1A1A1A"/>
                </a:solidFill>
                <a:highlight>
                  <a:srgbClr val="FFFFFF"/>
                </a:highlight>
              </a:rPr>
              <a:t>personallyidentifiable</a:t>
            </a:r>
            <a:r>
              <a:rPr lang="en-US">
                <a:solidFill>
                  <a:srgbClr val="1A1A1A"/>
                </a:solidFill>
                <a:highlight>
                  <a:srgbClr val="FFFFFF"/>
                </a:highlight>
              </a:rPr>
              <a:t> or </a:t>
            </a:r>
            <a:r>
              <a:rPr lang="en-US" err="1">
                <a:solidFill>
                  <a:srgbClr val="1A1A1A"/>
                </a:solidFill>
                <a:highlight>
                  <a:srgbClr val="FFFFFF"/>
                </a:highlight>
              </a:rPr>
              <a:t>sensitiveinformation</a:t>
            </a:r>
            <a:r>
              <a:rPr lang="en-US">
                <a:solidFill>
                  <a:srgbClr val="1A1A1A"/>
                </a:solidFill>
                <a:highlight>
                  <a:srgbClr val="FFFFFF"/>
                </a:highlight>
              </a:rPr>
              <a:t> to protect </a:t>
            </a:r>
            <a:r>
              <a:rPr lang="en-US" err="1">
                <a:solidFill>
                  <a:srgbClr val="1A1A1A"/>
                </a:solidFill>
                <a:highlight>
                  <a:srgbClr val="FFFFFF"/>
                </a:highlight>
              </a:rPr>
              <a:t>userprivacy</a:t>
            </a:r>
            <a:r>
              <a:rPr lang="en-US">
                <a:solidFill>
                  <a:srgbClr val="1A1A1A"/>
                </a:solidFill>
                <a:highlight>
                  <a:srgbClr val="FFFFFF"/>
                </a:highlight>
              </a:rPr>
              <a:t>.</a:t>
            </a:r>
            <a:endParaRPr lang="en-US">
              <a:highlight>
                <a:srgbClr val="F3F4F6"/>
              </a:highlight>
            </a:endParaRPr>
          </a:p>
          <a:p>
            <a:endParaRPr lang="en-US">
              <a:highlight>
                <a:srgbClr val="F3F4F6"/>
              </a:highlight>
            </a:endParaRPr>
          </a:p>
          <a:p>
            <a:r>
              <a:rPr lang="en-US">
                <a:highlight>
                  <a:srgbClr val="F3F4F6"/>
                </a:highlight>
              </a:rPr>
              <a:t>Content safety: </a:t>
            </a:r>
            <a:r>
              <a:rPr lang="en-US">
                <a:solidFill>
                  <a:schemeClr val="bg1"/>
                </a:solidFill>
                <a:highlight>
                  <a:srgbClr val="F3F4F6"/>
                </a:highlight>
              </a:rPr>
              <a:t>Ensure that unsafe (e.g. violent, illegal, threatening) content from user input and LLM output is blocked.</a:t>
            </a:r>
          </a:p>
          <a:p>
            <a:r>
              <a:rPr lang="en-US">
                <a:highlight>
                  <a:srgbClr val="F3F4F6"/>
                </a:highlight>
              </a:rPr>
              <a:t>Jailbreak detection: </a:t>
            </a:r>
            <a:r>
              <a:rPr lang="en-US">
                <a:solidFill>
                  <a:schemeClr val="bg1"/>
                </a:solidFill>
                <a:highlight>
                  <a:srgbClr val="F3F4F6"/>
                </a:highlight>
              </a:rPr>
              <a:t>Prevent adversarial attacks from bypassing safety measures or manipulating the LLM to generate harmful content.</a:t>
            </a:r>
          </a:p>
          <a:p>
            <a:endParaRPr lang="en-US">
              <a:highlight>
                <a:srgbClr val="F3F4F6"/>
              </a:highlight>
            </a:endParaRPr>
          </a:p>
          <a:p>
            <a:r>
              <a:rPr lang="en-US" err="1">
                <a:highlight>
                  <a:srgbClr val="F3F4F6"/>
                </a:highlight>
              </a:rPr>
              <a:t>NeMo</a:t>
            </a:r>
            <a:r>
              <a:rPr lang="en-US">
                <a:highlight>
                  <a:srgbClr val="F3F4F6"/>
                </a:highlight>
              </a:rPr>
              <a:t> Guardrails is the orchestration layer that ties everything together.</a:t>
            </a:r>
            <a:endParaRPr lang="en-US"/>
          </a:p>
          <a:p>
            <a:r>
              <a:rPr lang="en-US">
                <a:highlight>
                  <a:srgbClr val="F3F4F6"/>
                </a:highlight>
              </a:rPr>
              <a:t>Define your requirements, orchestrate your guardrails, and ensure AI safety while maintaining performance </a:t>
            </a:r>
            <a:endParaRPr lang="en-US"/>
          </a:p>
          <a:p>
            <a:r>
              <a:rPr lang="en-US">
                <a:highlight>
                  <a:srgbClr val="F3F4F6"/>
                </a:highlight>
              </a:rPr>
              <a:t>It allows enterprises to define safety rules in a structured, programmable way—covering content moderation, hallucination control, PII mitigation, adversarial protection, and domain-specific policies.</a:t>
            </a:r>
            <a:endParaRPr lang="en-US"/>
          </a:p>
          <a:p>
            <a:r>
              <a:rPr lang="en-US">
                <a:highlight>
                  <a:srgbClr val="F3F4F6"/>
                </a:highlight>
              </a:rPr>
              <a:t>On the right you can see a simple example: with Guardrails off, the model answers a political question; with Guardrails on, it enforces enterprise policy and declines.</a:t>
            </a:r>
            <a:endParaRPr lang="en-US"/>
          </a:p>
          <a:p>
            <a:pPr>
              <a:lnSpc>
                <a:spcPct val="114999"/>
              </a:lnSpc>
            </a:pPr>
            <a:r>
              <a:rPr lang="en-US">
                <a:highlight>
                  <a:srgbClr val="F3F4F6"/>
                </a:highlight>
              </a:rPr>
              <a:t>Guardrails can orchestrate multiple safety models in parallel, adding minimal latency—about half a second—even when running up to five rails.</a:t>
            </a:r>
            <a:endParaRPr lang="en-US"/>
          </a:p>
          <a:p>
            <a:pPr>
              <a:lnSpc>
                <a:spcPct val="114999"/>
              </a:lnSpc>
            </a:pPr>
            <a:endParaRPr lang="en-US">
              <a:highlight>
                <a:srgbClr val="F3F4F6"/>
              </a:highlight>
            </a:endParaRPr>
          </a:p>
          <a:p>
            <a:pPr>
              <a:lnSpc>
                <a:spcPct val="114999"/>
              </a:lnSpc>
            </a:pPr>
            <a:endParaRPr lang="en-US">
              <a:highlight>
                <a:srgbClr val="F3F4F6"/>
              </a:highlight>
            </a:endParaRPr>
          </a:p>
          <a:p>
            <a:pPr>
              <a:lnSpc>
                <a:spcPct val="114999"/>
              </a:lnSpc>
            </a:pPr>
            <a:r>
              <a:rPr lang="en-US">
                <a:highlight>
                  <a:srgbClr val="F3F4F6"/>
                </a:highlight>
              </a:rPr>
              <a:t>Notes</a:t>
            </a:r>
          </a:p>
          <a:p>
            <a:pPr marL="171450" indent="-171450">
              <a:lnSpc>
                <a:spcPct val="114999"/>
              </a:lnSpc>
              <a:buFont typeface="Arial"/>
              <a:buChar char="•"/>
            </a:pPr>
            <a:r>
              <a:rPr lang="en-US">
                <a:highlight>
                  <a:srgbClr val="F3F4F6"/>
                </a:highlight>
              </a:rPr>
              <a:t>Industry Leading Guardrail: Content moderation, reduce hallucinations, toxicity, off-topic dialogs, PII-breach, and security jailbreaks</a:t>
            </a:r>
            <a:endParaRPr lang="en-US"/>
          </a:p>
          <a:p>
            <a:pPr marL="171450" indent="-171450">
              <a:lnSpc>
                <a:spcPct val="114999"/>
              </a:lnSpc>
              <a:buFont typeface="Arial"/>
              <a:buChar char="•"/>
            </a:pPr>
            <a:r>
              <a:rPr lang="en-US">
                <a:highlight>
                  <a:srgbClr val="F3F4F6"/>
                </a:highlight>
              </a:rPr>
              <a:t>Rail Orchestration: Rails helps to improve protection rate while reducing latency, increasing throughput and lowering costs </a:t>
            </a:r>
            <a:endParaRPr lang="en-US"/>
          </a:p>
          <a:p>
            <a:pPr marL="171450" indent="-171450">
              <a:lnSpc>
                <a:spcPct val="114999"/>
              </a:lnSpc>
              <a:buFont typeface="Arial"/>
              <a:buChar char="•"/>
            </a:pPr>
            <a:r>
              <a:rPr lang="en-US">
                <a:highlight>
                  <a:srgbClr val="F3F4F6"/>
                </a:highlight>
              </a:rPr>
              <a:t>Customizable: Build rails targeted for your specific use-cases while adhering to own enterprise policies </a:t>
            </a:r>
            <a:endParaRPr lang="en-US"/>
          </a:p>
          <a:p>
            <a:pPr marL="171450" indent="-171450">
              <a:lnSpc>
                <a:spcPct val="114999"/>
              </a:lnSpc>
              <a:buFont typeface="Arial"/>
              <a:buChar char="•"/>
            </a:pPr>
            <a:r>
              <a:rPr lang="en-US">
                <a:highlight>
                  <a:srgbClr val="F3F4F6"/>
                </a:highlight>
              </a:rPr>
              <a:t>Easy Integration: Compatible with 3rd party APIs, such as </a:t>
            </a:r>
            <a:r>
              <a:rPr lang="en-US" err="1">
                <a:highlight>
                  <a:srgbClr val="F3F4F6"/>
                </a:highlight>
              </a:rPr>
              <a:t>ActiveFence</a:t>
            </a:r>
            <a:r>
              <a:rPr lang="en-US">
                <a:highlight>
                  <a:srgbClr val="F3F4F6"/>
                </a:highlight>
              </a:rPr>
              <a:t>, Fiddler, </a:t>
            </a:r>
            <a:r>
              <a:rPr lang="en-US" err="1">
                <a:highlight>
                  <a:srgbClr val="F3F4F6"/>
                </a:highlight>
              </a:rPr>
              <a:t>DataRobot</a:t>
            </a:r>
            <a:r>
              <a:rPr lang="en-US">
                <a:highlight>
                  <a:srgbClr val="F3F4F6"/>
                </a:highlight>
              </a:rPr>
              <a:t> etc. </a:t>
            </a:r>
            <a:endParaRPr lang="en-US"/>
          </a:p>
          <a:p>
            <a:pPr marL="171450" indent="-171450">
              <a:lnSpc>
                <a:spcPct val="114999"/>
              </a:lnSpc>
              <a:buFont typeface="Arial"/>
              <a:buChar char="•"/>
            </a:pPr>
            <a:r>
              <a:rPr lang="en-US">
                <a:highlight>
                  <a:srgbClr val="F3F4F6"/>
                </a:highlight>
              </a:rPr>
              <a:t>Works with popular frameworks (</a:t>
            </a:r>
            <a:r>
              <a:rPr lang="en-US" err="1">
                <a:highlight>
                  <a:srgbClr val="F3F4F6"/>
                </a:highlight>
              </a:rPr>
              <a:t>LangChain</a:t>
            </a:r>
            <a:r>
              <a:rPr lang="en-US">
                <a:highlight>
                  <a:srgbClr val="F3F4F6"/>
                </a:highlight>
              </a:rPr>
              <a:t>, LlamaIndex) and 3rd-party APIs (</a:t>
            </a:r>
            <a:r>
              <a:rPr lang="en-US" err="1">
                <a:highlight>
                  <a:srgbClr val="F3F4F6"/>
                </a:highlight>
              </a:rPr>
              <a:t>ActiveFence</a:t>
            </a:r>
            <a:r>
              <a:rPr lang="en-US">
                <a:highlight>
                  <a:srgbClr val="F3F4F6"/>
                </a:highlight>
              </a:rPr>
              <a:t>, Fiddler, </a:t>
            </a:r>
            <a:r>
              <a:rPr lang="en-US" err="1">
                <a:highlight>
                  <a:srgbClr val="F3F4F6"/>
                </a:highlight>
              </a:rPr>
              <a:t>DataRobot</a:t>
            </a:r>
            <a:r>
              <a:rPr lang="en-US">
                <a:highlight>
                  <a:srgbClr val="F3F4F6"/>
                </a:highlight>
              </a:rPr>
              <a:t>), accelerating time-to-value.</a:t>
            </a:r>
          </a:p>
          <a:p>
            <a:endParaRPr lang="en-US"/>
          </a:p>
          <a:p>
            <a:r>
              <a:rPr lang="en-US" b="1" u="sng"/>
              <a:t>Key Features</a:t>
            </a:r>
          </a:p>
          <a:p>
            <a:r>
              <a:rPr lang="en-US" b="1"/>
              <a:t>Customizable</a:t>
            </a:r>
            <a:r>
              <a:rPr lang="en-US"/>
              <a:t>: Implement guardrails for specific use cases (content moderation, hallucinations, PII-breach, toxicity, security jailbreaks) and internal policies, enabling domain-specific safety without vendor lock-in. </a:t>
            </a:r>
          </a:p>
          <a:p>
            <a:r>
              <a:rPr lang="en-US" b="1"/>
              <a:t>Performance-Optimized: </a:t>
            </a:r>
            <a:r>
              <a:rPr lang="en-US"/>
              <a:t>Orchestrate specialized guardrails to improve safety with minimal latency and lower cost. </a:t>
            </a:r>
          </a:p>
          <a:p>
            <a:r>
              <a:rPr lang="en-US" b="1"/>
              <a:t>Flexible Deployment:</a:t>
            </a:r>
            <a:r>
              <a:rPr lang="en-US"/>
              <a:t> Available as an enterprise-grade microservice, open-source toolkit, open source </a:t>
            </a:r>
            <a:r>
              <a:rPr lang="en-US" err="1"/>
              <a:t>Nemotron</a:t>
            </a:r>
            <a:r>
              <a:rPr lang="en-US"/>
              <a:t> safety models, and hosted NIM. </a:t>
            </a:r>
          </a:p>
          <a:p>
            <a:r>
              <a:rPr lang="en-US" b="1"/>
              <a:t>Seamless Integration:</a:t>
            </a:r>
            <a:r>
              <a:rPr lang="en-US"/>
              <a:t> Easy integration with popular frameworks and 3rd-party APIs, to accelerate time-to-value.</a:t>
            </a:r>
          </a:p>
          <a:p>
            <a:endParaRPr lang="en-US"/>
          </a:p>
          <a:p>
            <a:r>
              <a:rPr lang="en-US"/>
              <a:t>Guardrails allow enterprises to encode detailed, use-case-specific rules—such as what medical or financial agents can and cannot do. </a:t>
            </a:r>
          </a:p>
          <a:p>
            <a:r>
              <a:rPr lang="en-US"/>
              <a:t> </a:t>
            </a:r>
          </a:p>
          <a:p>
            <a:r>
              <a:rPr lang="en-US"/>
              <a:t>This is essential for regulated industries. </a:t>
            </a:r>
          </a:p>
          <a:p>
            <a:r>
              <a:rPr lang="en-US"/>
              <a:t> </a:t>
            </a:r>
          </a:p>
          <a:p>
            <a:r>
              <a:rPr lang="en-US"/>
              <a:t>Rules aren’t just binary; the model needs to know what’s allowed, what’s disallowed, and what needs escalation or disclaimers. </a:t>
            </a:r>
          </a:p>
          <a:p>
            <a:r>
              <a:rPr lang="en-US"/>
              <a:t> </a:t>
            </a:r>
          </a:p>
          <a:p>
            <a:r>
              <a:rPr lang="en-US"/>
              <a:t>Guardrails formalize these rules as part of the runtime logic. </a:t>
            </a:r>
          </a:p>
          <a:p>
            <a:r>
              <a:rPr lang="en-US"/>
              <a:t>Guardrails allow enterprises to encode detailed, use-case-specific rules—such as what medical or financial agents can and cannot do.</a:t>
            </a:r>
            <a:endParaRPr lang="en-US">
              <a:solidFill>
                <a:srgbClr val="444444"/>
              </a:solidFill>
            </a:endParaRPr>
          </a:p>
          <a:p>
            <a:r>
              <a:rPr lang="en-US"/>
              <a:t>This is essential for regulated industries.</a:t>
            </a:r>
            <a:endParaRPr lang="en-US">
              <a:solidFill>
                <a:srgbClr val="444444"/>
              </a:solidFill>
            </a:endParaRPr>
          </a:p>
          <a:p>
            <a:r>
              <a:rPr lang="en-US"/>
              <a:t>Rules aren’t just binary; the model needs to know what’s allowed, what’s disallowed, and what needs escalation or disclaimers.</a:t>
            </a:r>
            <a:endParaRPr lang="en-US">
              <a:solidFill>
                <a:srgbClr val="444444"/>
              </a:solidFill>
            </a:endParaRPr>
          </a:p>
          <a:p>
            <a:r>
              <a:rPr lang="en-US"/>
              <a:t>Guardrails formalize these rules as part of the runtime logic.</a:t>
            </a:r>
            <a:endParaRPr lang="en-US">
              <a:solidFill>
                <a:srgbClr val="444444"/>
              </a:solidFill>
            </a:endParaRPr>
          </a:p>
          <a:p>
            <a:pPr indent="-285750"/>
            <a:r>
              <a:rPr lang="en-US" err="1"/>
              <a:t>NeMo</a:t>
            </a:r>
            <a:r>
              <a:rPr lang="en-US"/>
              <a:t> Guardrails is a library for defining, orchestrating and enforcing AI guardrails -- or policies – in AI agents and other generative AI applications.</a:t>
            </a:r>
            <a:endParaRPr lang="en-US">
              <a:solidFill>
                <a:srgbClr val="444444"/>
              </a:solidFill>
            </a:endParaRPr>
          </a:p>
          <a:p>
            <a:pPr indent="-285750"/>
            <a:br>
              <a:rPr lang="en-US">
                <a:solidFill>
                  <a:srgbClr val="444444"/>
                </a:solidFill>
              </a:rPr>
            </a:br>
            <a:r>
              <a:rPr lang="en-US"/>
              <a:t>Guardrails helps maintain credibility and reliability of AI operations by enforcing specifications for AI models, agents and systems.</a:t>
            </a:r>
            <a:endParaRPr lang="en-US">
              <a:solidFill>
                <a:srgbClr val="444444"/>
              </a:solidFill>
            </a:endParaRPr>
          </a:p>
          <a:p>
            <a:pPr indent="-285750"/>
            <a:br>
              <a:rPr lang="en-US">
                <a:solidFill>
                  <a:srgbClr val="444444"/>
                </a:solidFill>
              </a:rPr>
            </a:br>
            <a:r>
              <a:rPr lang="en-US"/>
              <a:t>In other words, It helps keep AI agents on track.</a:t>
            </a:r>
            <a:br>
              <a:rPr lang="en-US"/>
            </a:br>
            <a:endParaRPr lang="en-US">
              <a:solidFill>
                <a:srgbClr val="444444"/>
              </a:solidFill>
            </a:endParaRPr>
          </a:p>
          <a:p>
            <a:pPr indent="-285750"/>
            <a:r>
              <a:rPr lang="en-US"/>
              <a:t>It does this by making it easy to:</a:t>
            </a:r>
            <a:endParaRPr lang="en-US">
              <a:solidFill>
                <a:srgbClr val="444444"/>
              </a:solidFill>
            </a:endParaRPr>
          </a:p>
          <a:p>
            <a:pPr marL="171450" indent="-285750">
              <a:buFont typeface="Arial,Sans-Serif"/>
              <a:buChar char="•"/>
            </a:pPr>
            <a:r>
              <a:rPr lang="en-US"/>
              <a:t>apply multiple specialized rails (or constraints or guidelines or rules)</a:t>
            </a:r>
            <a:endParaRPr lang="en-US">
              <a:solidFill>
                <a:srgbClr val="444444"/>
              </a:solidFill>
            </a:endParaRPr>
          </a:p>
          <a:p>
            <a:pPr marL="171450" indent="-285750">
              <a:buFont typeface="Arial,Sans-Serif"/>
              <a:buChar char="•"/>
            </a:pPr>
            <a:r>
              <a:rPr lang="en-US"/>
              <a:t>customize them based on unique business and use-case requirements</a:t>
            </a:r>
            <a:endParaRPr lang="en-US">
              <a:solidFill>
                <a:srgbClr val="444444"/>
              </a:solidFill>
            </a:endParaRPr>
          </a:p>
          <a:p>
            <a:pPr marL="171450" indent="-285750">
              <a:buFont typeface="Arial,Sans-Serif"/>
              <a:buChar char="•"/>
            </a:pPr>
            <a:r>
              <a:rPr lang="en-US"/>
              <a:t>while also maintaining low latency for fast response times. </a:t>
            </a:r>
            <a:endParaRPr lang="en-US">
              <a:solidFill>
                <a:srgbClr val="444444"/>
              </a:solidFill>
            </a:endParaRPr>
          </a:p>
          <a:p>
            <a:pPr indent="-285750"/>
            <a:endParaRPr lang="en-US">
              <a:solidFill>
                <a:srgbClr val="444444"/>
              </a:solidFill>
            </a:endParaRPr>
          </a:p>
          <a:p>
            <a:pPr indent="-285750"/>
            <a:r>
              <a:rPr lang="en-US"/>
              <a:t>Just like enterprises define policies and procedures for their employees, guardrails define and enforce specific policies and procedures for AI agents.</a:t>
            </a:r>
            <a:endParaRPr lang="en-US">
              <a:solidFill>
                <a:srgbClr val="444444"/>
              </a:solidFill>
            </a:endParaRPr>
          </a:p>
          <a:p>
            <a:pPr indent="-285750"/>
            <a:endParaRPr lang="en-US">
              <a:solidFill>
                <a:srgbClr val="444444"/>
              </a:solidFill>
            </a:endParaRPr>
          </a:p>
          <a:p>
            <a:pPr indent="-285750"/>
            <a:endParaRPr lang="en-US">
              <a:solidFill>
                <a:srgbClr val="444444"/>
              </a:solidFill>
            </a:endParaRPr>
          </a:p>
          <a:p>
            <a:pPr marL="497205" indent="-285750"/>
            <a:endParaRPr lang="en-US">
              <a:solidFill>
                <a:srgbClr val="444444"/>
              </a:solidFill>
            </a:endParaRPr>
          </a:p>
          <a:p>
            <a:pPr marL="497205" indent="-285750"/>
            <a:endParaRPr lang="en-US">
              <a:solidFill>
                <a:srgbClr val="444444"/>
              </a:solidFill>
            </a:endParaRPr>
          </a:p>
          <a:p>
            <a:pPr marL="497205" indent="-285750"/>
            <a:endParaRPr lang="en-US">
              <a:solidFill>
                <a:srgbClr val="444444"/>
              </a:solidFill>
            </a:endParaRPr>
          </a:p>
          <a:p>
            <a:endParaRPr lang="en-US">
              <a:solidFill>
                <a:srgbClr val="444444"/>
              </a:solidFill>
            </a:endParaRPr>
          </a:p>
          <a:p>
            <a:endParaRPr lang="en-US"/>
          </a:p>
        </p:txBody>
      </p:sp>
      <p:sp>
        <p:nvSpPr>
          <p:cNvPr id="1383" name="Google Shape;1383;g334abbaff3e_0_2914:notes"/>
          <p:cNvSpPr txBox="1">
            <a:spLocks noGrp="1"/>
          </p:cNvSpPr>
          <p:nvPr>
            <p:ph type="sldNum" idx="12"/>
          </p:nvPr>
        </p:nvSpPr>
        <p:spPr>
          <a:xfrm>
            <a:off x="4143587" y="9119474"/>
            <a:ext cx="3169920" cy="481635"/>
          </a:xfrm>
          <a:prstGeom prst="rect">
            <a:avLst/>
          </a:prstGeom>
          <a:noFill/>
          <a:ln>
            <a:noFill/>
          </a:ln>
        </p:spPr>
        <p:txBody>
          <a:bodyPr spcFirstLastPara="1" wrap="square" lIns="96645" tIns="48309" rIns="96645" bIns="48309" anchor="b" anchorCtr="0">
            <a:noAutofit/>
          </a:bodyPr>
          <a:lstStyle/>
          <a:p>
            <a:fld id="{00000000-1234-1234-1234-123412341234}" type="slidenum">
              <a:rPr lang="en"/>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b="1"/>
              <a:t>Rail Types</a:t>
            </a:r>
            <a:endParaRPr lang="en-US">
              <a:solidFill>
                <a:srgbClr val="FFFFFF"/>
              </a:solidFill>
            </a:endParaRPr>
          </a:p>
          <a:p>
            <a:pPr marL="151765" indent="-168910">
              <a:lnSpc>
                <a:spcPct val="90000"/>
              </a:lnSpc>
              <a:spcBef>
                <a:spcPts val="1000"/>
              </a:spcBef>
              <a:buFont typeface="Arial"/>
              <a:buChar char="•"/>
            </a:pPr>
            <a:r>
              <a:rPr lang="en-US"/>
              <a:t>Input</a:t>
            </a:r>
            <a:endParaRPr lang="en-US">
              <a:solidFill>
                <a:srgbClr val="FFFFFF"/>
              </a:solidFill>
            </a:endParaRPr>
          </a:p>
          <a:p>
            <a:pPr marL="304165" lvl="1" indent="-160655">
              <a:lnSpc>
                <a:spcPct val="90000"/>
              </a:lnSpc>
              <a:spcBef>
                <a:spcPts val="500"/>
              </a:spcBef>
              <a:buFont typeface="Courier New,monospace"/>
              <a:buChar char="•"/>
            </a:pPr>
            <a:r>
              <a:rPr lang="en-US"/>
              <a:t>Applied on user input before the LLM</a:t>
            </a:r>
            <a:endParaRPr lang="en-US">
              <a:solidFill>
                <a:srgbClr val="FFFFFF"/>
              </a:solidFill>
            </a:endParaRPr>
          </a:p>
          <a:p>
            <a:pPr marL="151765" indent="-168910">
              <a:lnSpc>
                <a:spcPct val="90000"/>
              </a:lnSpc>
              <a:spcBef>
                <a:spcPts val="1000"/>
              </a:spcBef>
              <a:buFont typeface="Courier New,monospace"/>
              <a:buChar char="o"/>
            </a:pPr>
            <a:r>
              <a:rPr lang="en-US"/>
              <a:t>Retrieval</a:t>
            </a:r>
            <a:endParaRPr lang="en-US">
              <a:solidFill>
                <a:srgbClr val="FFFFFF"/>
              </a:solidFill>
            </a:endParaRPr>
          </a:p>
          <a:p>
            <a:pPr marL="304165" lvl="1" indent="-160655">
              <a:lnSpc>
                <a:spcPct val="90000"/>
              </a:lnSpc>
              <a:spcBef>
                <a:spcPts val="500"/>
              </a:spcBef>
              <a:buFont typeface="Courier New,monospace"/>
              <a:buChar char="•"/>
            </a:pPr>
            <a:r>
              <a:rPr lang="en-US"/>
              <a:t>Applied to RAG documents during the RAG pipeline</a:t>
            </a:r>
            <a:endParaRPr lang="en-US">
              <a:solidFill>
                <a:srgbClr val="FFFFFF"/>
              </a:solidFill>
            </a:endParaRPr>
          </a:p>
          <a:p>
            <a:pPr marL="151765" indent="-168910">
              <a:lnSpc>
                <a:spcPct val="90000"/>
              </a:lnSpc>
              <a:spcBef>
                <a:spcPts val="1000"/>
              </a:spcBef>
              <a:buFont typeface="Courier New,monospace"/>
              <a:buChar char="o"/>
            </a:pPr>
            <a:r>
              <a:rPr lang="en-US"/>
              <a:t>Dialog</a:t>
            </a:r>
            <a:endParaRPr lang="en-US">
              <a:solidFill>
                <a:srgbClr val="FFFFFF"/>
              </a:solidFill>
            </a:endParaRPr>
          </a:p>
          <a:p>
            <a:pPr marL="304165" lvl="1" indent="-160655">
              <a:lnSpc>
                <a:spcPct val="90000"/>
              </a:lnSpc>
              <a:spcBef>
                <a:spcPts val="500"/>
              </a:spcBef>
              <a:buFont typeface="Courier New,monospace"/>
              <a:buChar char="•"/>
            </a:pPr>
            <a:r>
              <a:rPr lang="en-US"/>
              <a:t>Applied during conversations</a:t>
            </a:r>
            <a:endParaRPr lang="en-US">
              <a:solidFill>
                <a:srgbClr val="FFFFFF"/>
              </a:solidFill>
            </a:endParaRPr>
          </a:p>
          <a:p>
            <a:pPr marL="151765" indent="-168910">
              <a:lnSpc>
                <a:spcPct val="90000"/>
              </a:lnSpc>
              <a:spcBef>
                <a:spcPts val="1000"/>
              </a:spcBef>
              <a:buFont typeface="Courier New,monospace"/>
              <a:buChar char="o"/>
            </a:pPr>
            <a:r>
              <a:rPr lang="en-US"/>
              <a:t>Execution</a:t>
            </a:r>
            <a:endParaRPr lang="en-US">
              <a:solidFill>
                <a:srgbClr val="FFFFFF"/>
              </a:solidFill>
            </a:endParaRPr>
          </a:p>
          <a:p>
            <a:pPr marL="304165" lvl="1" indent="-160655">
              <a:lnSpc>
                <a:spcPct val="90000"/>
              </a:lnSpc>
              <a:spcBef>
                <a:spcPts val="500"/>
              </a:spcBef>
              <a:buFont typeface="Courier New,monospace"/>
              <a:buChar char="•"/>
            </a:pPr>
            <a:r>
              <a:rPr lang="en-US"/>
              <a:t>Applied during tool calls</a:t>
            </a:r>
            <a:endParaRPr lang="en-US">
              <a:solidFill>
                <a:srgbClr val="FFFFFF"/>
              </a:solidFill>
            </a:endParaRPr>
          </a:p>
          <a:p>
            <a:pPr marL="151765" indent="-168910">
              <a:lnSpc>
                <a:spcPct val="90000"/>
              </a:lnSpc>
              <a:spcBef>
                <a:spcPts val="1000"/>
              </a:spcBef>
              <a:buFont typeface="Courier New,monospace"/>
              <a:buChar char="o"/>
            </a:pPr>
            <a:r>
              <a:rPr lang="en-US"/>
              <a:t>Output</a:t>
            </a:r>
            <a:endParaRPr lang="en-US">
              <a:solidFill>
                <a:srgbClr val="FFFFFF"/>
              </a:solidFill>
            </a:endParaRPr>
          </a:p>
          <a:p>
            <a:pPr marL="304165" lvl="1" indent="-160655">
              <a:lnSpc>
                <a:spcPct val="90000"/>
              </a:lnSpc>
              <a:spcBef>
                <a:spcPts val="500"/>
              </a:spcBef>
              <a:buFont typeface="Courier New,monospace"/>
              <a:buChar char="•"/>
            </a:pPr>
            <a:r>
              <a:rPr lang="en-US"/>
              <a:t>Applied after the LLM</a:t>
            </a:r>
            <a:endParaRPr lang="en-US">
              <a:solidFill>
                <a:srgbClr val="FFFFFF"/>
              </a:solidFill>
            </a:endParaRPr>
          </a:p>
          <a:p>
            <a:pPr marL="151765" indent="-168910">
              <a:lnSpc>
                <a:spcPct val="90000"/>
              </a:lnSpc>
              <a:spcBef>
                <a:spcPts val="1000"/>
              </a:spcBef>
              <a:buFont typeface="Courier New,monospace"/>
              <a:buChar char="o"/>
            </a:pPr>
            <a:endParaRPr lang="en-US">
              <a:solidFill>
                <a:srgbClr val="FFFFFF"/>
              </a:solidFill>
            </a:endParaRPr>
          </a:p>
          <a:p>
            <a:pPr>
              <a:lnSpc>
                <a:spcPct val="90000"/>
              </a:lnSpc>
              <a:spcBef>
                <a:spcPts val="1000"/>
              </a:spcBef>
            </a:pPr>
            <a:r>
              <a:rPr lang="en-US"/>
              <a:t>Input &amp; Output are the most common.</a:t>
            </a:r>
          </a:p>
        </p:txBody>
      </p:sp>
      <p:sp>
        <p:nvSpPr>
          <p:cNvPr id="4" name="Slide Number Placeholder 3"/>
          <p:cNvSpPr>
            <a:spLocks noGrp="1"/>
          </p:cNvSpPr>
          <p:nvPr>
            <p:ph type="sldNum" sz="quarter" idx="5"/>
          </p:nvPr>
        </p:nvSpPr>
        <p:spPr/>
        <p:txBody>
          <a:bodyPr/>
          <a:lstStyle/>
          <a:p>
            <a:fld id="{8470C524-AED4-4007-B81B-37EB0B35AF0B}" type="slidenum">
              <a:rPr lang="en-US" smtClean="0"/>
              <a:t>6</a:t>
            </a:fld>
            <a:endParaRPr lang="en-US"/>
          </a:p>
        </p:txBody>
      </p:sp>
    </p:spTree>
    <p:extLst>
      <p:ext uri="{BB962C8B-B14F-4D97-AF65-F5344CB8AC3E}">
        <p14:creationId xmlns:p14="http://schemas.microsoft.com/office/powerpoint/2010/main" val="107359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7312E-140B-E001-FA5F-888D4D552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FC52F-ADA8-C09F-6BBC-B7B025E4A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72F1E-E2BF-D3FA-732E-25E6A093A197}"/>
              </a:ext>
            </a:extLst>
          </p:cNvPr>
          <p:cNvSpPr>
            <a:spLocks noGrp="1"/>
          </p:cNvSpPr>
          <p:nvPr>
            <p:ph type="body" idx="1"/>
          </p:nvPr>
        </p:nvSpPr>
        <p:spPr/>
        <p:txBody>
          <a:bodyPr/>
          <a:lstStyle/>
          <a:p>
            <a:pPr>
              <a:lnSpc>
                <a:spcPct val="90000"/>
              </a:lnSpc>
              <a:spcBef>
                <a:spcPts val="1000"/>
              </a:spcBef>
            </a:pPr>
            <a:r>
              <a:rPr lang="en-US" b="1"/>
              <a:t>Rail Types</a:t>
            </a:r>
            <a:endParaRPr lang="en-US">
              <a:solidFill>
                <a:srgbClr val="FFFFFF"/>
              </a:solidFill>
            </a:endParaRPr>
          </a:p>
          <a:p>
            <a:pPr marL="151765" indent="-168910">
              <a:lnSpc>
                <a:spcPct val="90000"/>
              </a:lnSpc>
              <a:spcBef>
                <a:spcPts val="1000"/>
              </a:spcBef>
              <a:buFont typeface="Arial"/>
              <a:buChar char="•"/>
            </a:pPr>
            <a:r>
              <a:rPr lang="en-US"/>
              <a:t>Input</a:t>
            </a:r>
            <a:endParaRPr lang="en-US">
              <a:solidFill>
                <a:srgbClr val="FFFFFF"/>
              </a:solidFill>
            </a:endParaRPr>
          </a:p>
          <a:p>
            <a:pPr marL="304165" lvl="1" indent="-160655">
              <a:lnSpc>
                <a:spcPct val="90000"/>
              </a:lnSpc>
              <a:spcBef>
                <a:spcPts val="500"/>
              </a:spcBef>
              <a:buFont typeface="Courier New,monospace"/>
              <a:buChar char="•"/>
            </a:pPr>
            <a:r>
              <a:rPr lang="en-US"/>
              <a:t>Applied on user input before the LLM</a:t>
            </a:r>
            <a:endParaRPr lang="en-US">
              <a:solidFill>
                <a:srgbClr val="FFFFFF"/>
              </a:solidFill>
            </a:endParaRPr>
          </a:p>
          <a:p>
            <a:pPr marL="151765" indent="-168910">
              <a:lnSpc>
                <a:spcPct val="90000"/>
              </a:lnSpc>
              <a:spcBef>
                <a:spcPts val="1000"/>
              </a:spcBef>
              <a:buFont typeface="Courier New,monospace"/>
              <a:buChar char="o"/>
            </a:pPr>
            <a:r>
              <a:rPr lang="en-US"/>
              <a:t>Retrieval</a:t>
            </a:r>
            <a:endParaRPr lang="en-US">
              <a:solidFill>
                <a:srgbClr val="FFFFFF"/>
              </a:solidFill>
            </a:endParaRPr>
          </a:p>
          <a:p>
            <a:pPr marL="304165" lvl="1" indent="-160655">
              <a:lnSpc>
                <a:spcPct val="90000"/>
              </a:lnSpc>
              <a:spcBef>
                <a:spcPts val="500"/>
              </a:spcBef>
              <a:buFont typeface="Courier New,monospace"/>
              <a:buChar char="•"/>
            </a:pPr>
            <a:r>
              <a:rPr lang="en-US"/>
              <a:t>Applied to RAG documents during the RAG pipeline</a:t>
            </a:r>
            <a:endParaRPr lang="en-US">
              <a:solidFill>
                <a:srgbClr val="FFFFFF"/>
              </a:solidFill>
            </a:endParaRPr>
          </a:p>
          <a:p>
            <a:pPr marL="151765" indent="-168910">
              <a:lnSpc>
                <a:spcPct val="90000"/>
              </a:lnSpc>
              <a:spcBef>
                <a:spcPts val="1000"/>
              </a:spcBef>
              <a:buFont typeface="Courier New,monospace"/>
              <a:buChar char="o"/>
            </a:pPr>
            <a:r>
              <a:rPr lang="en-US"/>
              <a:t>Dialog</a:t>
            </a:r>
            <a:endParaRPr lang="en-US">
              <a:solidFill>
                <a:srgbClr val="FFFFFF"/>
              </a:solidFill>
            </a:endParaRPr>
          </a:p>
          <a:p>
            <a:pPr marL="304165" lvl="1" indent="-160655">
              <a:lnSpc>
                <a:spcPct val="90000"/>
              </a:lnSpc>
              <a:spcBef>
                <a:spcPts val="500"/>
              </a:spcBef>
              <a:buFont typeface="Courier New,monospace"/>
              <a:buChar char="•"/>
            </a:pPr>
            <a:r>
              <a:rPr lang="en-US"/>
              <a:t>Applied during conversations</a:t>
            </a:r>
            <a:endParaRPr lang="en-US">
              <a:solidFill>
                <a:srgbClr val="FFFFFF"/>
              </a:solidFill>
            </a:endParaRPr>
          </a:p>
          <a:p>
            <a:pPr marL="151765" indent="-168910">
              <a:lnSpc>
                <a:spcPct val="90000"/>
              </a:lnSpc>
              <a:spcBef>
                <a:spcPts val="1000"/>
              </a:spcBef>
              <a:buFont typeface="Courier New,monospace"/>
              <a:buChar char="o"/>
            </a:pPr>
            <a:r>
              <a:rPr lang="en-US"/>
              <a:t>Execution</a:t>
            </a:r>
            <a:endParaRPr lang="en-US">
              <a:solidFill>
                <a:srgbClr val="FFFFFF"/>
              </a:solidFill>
            </a:endParaRPr>
          </a:p>
          <a:p>
            <a:pPr marL="304165" lvl="1" indent="-160655">
              <a:lnSpc>
                <a:spcPct val="90000"/>
              </a:lnSpc>
              <a:spcBef>
                <a:spcPts val="500"/>
              </a:spcBef>
              <a:buFont typeface="Courier New,monospace"/>
              <a:buChar char="•"/>
            </a:pPr>
            <a:r>
              <a:rPr lang="en-US"/>
              <a:t>Applied during tool calls</a:t>
            </a:r>
            <a:endParaRPr lang="en-US">
              <a:solidFill>
                <a:srgbClr val="FFFFFF"/>
              </a:solidFill>
            </a:endParaRPr>
          </a:p>
          <a:p>
            <a:pPr marL="151765" indent="-168910">
              <a:lnSpc>
                <a:spcPct val="90000"/>
              </a:lnSpc>
              <a:spcBef>
                <a:spcPts val="1000"/>
              </a:spcBef>
              <a:buFont typeface="Courier New,monospace"/>
              <a:buChar char="o"/>
            </a:pPr>
            <a:r>
              <a:rPr lang="en-US"/>
              <a:t>Output</a:t>
            </a:r>
            <a:endParaRPr lang="en-US">
              <a:solidFill>
                <a:srgbClr val="FFFFFF"/>
              </a:solidFill>
            </a:endParaRPr>
          </a:p>
          <a:p>
            <a:pPr marL="304165" lvl="1" indent="-160655">
              <a:lnSpc>
                <a:spcPct val="90000"/>
              </a:lnSpc>
              <a:spcBef>
                <a:spcPts val="500"/>
              </a:spcBef>
              <a:buFont typeface="Courier New,monospace"/>
              <a:buChar char="•"/>
            </a:pPr>
            <a:r>
              <a:rPr lang="en-US"/>
              <a:t>Applied after the LLM</a:t>
            </a:r>
            <a:endParaRPr lang="en-US">
              <a:solidFill>
                <a:srgbClr val="FFFFFF"/>
              </a:solidFill>
            </a:endParaRPr>
          </a:p>
          <a:p>
            <a:pPr marL="151765" indent="-168910">
              <a:lnSpc>
                <a:spcPct val="90000"/>
              </a:lnSpc>
              <a:spcBef>
                <a:spcPts val="1000"/>
              </a:spcBef>
              <a:buFont typeface="Courier New,monospace"/>
              <a:buChar char="o"/>
            </a:pPr>
            <a:endParaRPr lang="en-US">
              <a:solidFill>
                <a:srgbClr val="FFFFFF"/>
              </a:solidFill>
            </a:endParaRPr>
          </a:p>
          <a:p>
            <a:pPr>
              <a:lnSpc>
                <a:spcPct val="90000"/>
              </a:lnSpc>
              <a:spcBef>
                <a:spcPts val="1000"/>
              </a:spcBef>
            </a:pPr>
            <a:r>
              <a:rPr lang="en-US"/>
              <a:t>Input &amp; Output are the most common.</a:t>
            </a:r>
          </a:p>
        </p:txBody>
      </p:sp>
      <p:sp>
        <p:nvSpPr>
          <p:cNvPr id="4" name="Slide Number Placeholder 3">
            <a:extLst>
              <a:ext uri="{FF2B5EF4-FFF2-40B4-BE49-F238E27FC236}">
                <a16:creationId xmlns:a16="http://schemas.microsoft.com/office/drawing/2014/main" id="{60A4AC59-9305-F7C4-5E30-3E2F95D84447}"/>
              </a:ext>
            </a:extLst>
          </p:cNvPr>
          <p:cNvSpPr>
            <a:spLocks noGrp="1"/>
          </p:cNvSpPr>
          <p:nvPr>
            <p:ph type="sldNum" sz="quarter" idx="5"/>
          </p:nvPr>
        </p:nvSpPr>
        <p:spPr/>
        <p:txBody>
          <a:bodyPr/>
          <a:lstStyle/>
          <a:p>
            <a:fld id="{8470C524-AED4-4007-B81B-37EB0B35AF0B}" type="slidenum">
              <a:rPr lang="en-US" smtClean="0"/>
              <a:t>7</a:t>
            </a:fld>
            <a:endParaRPr lang="en-US"/>
          </a:p>
        </p:txBody>
      </p:sp>
    </p:spTree>
    <p:extLst>
      <p:ext uri="{BB962C8B-B14F-4D97-AF65-F5344CB8AC3E}">
        <p14:creationId xmlns:p14="http://schemas.microsoft.com/office/powerpoint/2010/main" val="3021360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FD53E-6F1E-1778-413F-B0B1497396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A7C4A-49BD-CD41-75C5-DCD5B7FAF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CD60E-AD9E-18FD-55C8-1EB507484D19}"/>
              </a:ext>
            </a:extLst>
          </p:cNvPr>
          <p:cNvSpPr>
            <a:spLocks noGrp="1"/>
          </p:cNvSpPr>
          <p:nvPr>
            <p:ph type="body" idx="1"/>
          </p:nvPr>
        </p:nvSpPr>
        <p:spPr/>
        <p:txBody>
          <a:bodyPr/>
          <a:lstStyle/>
          <a:p>
            <a:pPr>
              <a:defRPr/>
            </a:pPr>
            <a:r>
              <a:rPr lang="en-US"/>
              <a:t> These models are supported in </a:t>
            </a:r>
            <a:r>
              <a:rPr lang="en-US" err="1"/>
              <a:t>NeMo</a:t>
            </a:r>
            <a:r>
              <a:rPr lang="en-US"/>
              <a:t> Guardrails, which orchestrate them as a unified safety system with minimal latency overhead.</a:t>
            </a:r>
            <a:endParaRPr lang="en-US">
              <a:solidFill>
                <a:srgbClr val="444444"/>
              </a:solidFill>
            </a:endParaRPr>
          </a:p>
          <a:p>
            <a:pPr indent="-285750">
              <a:defRPr/>
            </a:pPr>
            <a:r>
              <a:rPr lang="en-US"/>
              <a:t>Enterprises benefit from a modular, layered safety system that blends classification, reasoning, topic boundaries, and adversarial detection with policy enforcement—all within a production-grade platform.</a:t>
            </a:r>
            <a:endParaRPr lang="en-US">
              <a:solidFill>
                <a:srgbClr val="444444"/>
              </a:solidFill>
            </a:endParaRPr>
          </a:p>
          <a:p>
            <a:pPr>
              <a:defRPr/>
            </a:pPr>
            <a:endParaRPr lang="en-US">
              <a:solidFill>
                <a:srgbClr val="444444"/>
              </a:solidFill>
            </a:endParaRPr>
          </a:p>
          <a:p>
            <a:pPr>
              <a:defRPr/>
            </a:pPr>
            <a:r>
              <a:rPr lang="en-US"/>
              <a:t>The models available as NIM microservices are GPU accelerated and they perform with low latency and can be securely deployed anywhere, and they’re available as part of NVIDIA AI Enterprise.</a:t>
            </a:r>
            <a:endParaRPr lang="en-US">
              <a:solidFill>
                <a:srgbClr val="444444"/>
              </a:solidFill>
            </a:endParaRPr>
          </a:p>
          <a:p>
            <a:pPr indent="-285750">
              <a:defRPr/>
            </a:pPr>
            <a:endParaRPr lang="en-US">
              <a:solidFill>
                <a:srgbClr val="444444"/>
              </a:solidFill>
            </a:endParaRPr>
          </a:p>
          <a:p>
            <a:pPr indent="-285750">
              <a:defRPr/>
            </a:pPr>
            <a:endParaRPr lang="en-US">
              <a:solidFill>
                <a:srgbClr val="444444"/>
              </a:solidFill>
            </a:endParaRPr>
          </a:p>
          <a:p>
            <a:pPr marL="285750" indent="-285750">
              <a:buFont typeface="Arial"/>
              <a:buChar char="•"/>
              <a:defRPr/>
            </a:pPr>
            <a:r>
              <a:rPr lang="en-US" b="1"/>
              <a:t>Content safety</a:t>
            </a:r>
            <a:r>
              <a:rPr lang="en-US"/>
              <a:t>—blocking harmful or disallowed content. (AVAILABLE AS A NIM)</a:t>
            </a:r>
            <a:endParaRPr lang="en-US">
              <a:solidFill>
                <a:srgbClr val="444444"/>
              </a:solidFill>
            </a:endParaRPr>
          </a:p>
          <a:p>
            <a:pPr marL="742950" lvl="1" indent="-285750">
              <a:buFont typeface="Courier New"/>
              <a:buChar char="o"/>
              <a:defRPr/>
            </a:pPr>
            <a:r>
              <a:rPr lang="en-US"/>
              <a:t>It blocks harmful content including toxic, unethical content and safety hazards</a:t>
            </a:r>
            <a:endParaRPr lang="en-US">
              <a:solidFill>
                <a:srgbClr val="444444"/>
              </a:solidFill>
            </a:endParaRPr>
          </a:p>
          <a:p>
            <a:pPr marL="742950" lvl="1" indent="-285750">
              <a:buFont typeface="Courier New"/>
              <a:buChar char="o"/>
              <a:defRPr/>
            </a:pPr>
            <a:r>
              <a:rPr lang="en-US"/>
              <a:t>It was trained on NVIDIA’s Aegis Content Safety Dataset, curated and owned by NVIDIA and publicly available, which includes 35,000 human annotated data samples flagged for AI safety</a:t>
            </a:r>
            <a:endParaRPr lang="en-US">
              <a:solidFill>
                <a:srgbClr val="444444"/>
              </a:solidFill>
            </a:endParaRPr>
          </a:p>
          <a:p>
            <a:pPr marL="285750" indent="-285750">
              <a:buFont typeface="Arial"/>
              <a:buChar char="•"/>
              <a:defRPr/>
            </a:pPr>
            <a:r>
              <a:rPr lang="en-US" b="1"/>
              <a:t>Jailbreak detection</a:t>
            </a:r>
            <a:r>
              <a:rPr lang="en-US"/>
              <a:t>—identifying jailbreak and malicious prompts (AVAILABLE AS A NIM)</a:t>
            </a:r>
            <a:endParaRPr lang="en-US">
              <a:solidFill>
                <a:srgbClr val="444444"/>
              </a:solidFill>
            </a:endParaRPr>
          </a:p>
          <a:p>
            <a:pPr marL="742950" lvl="1" indent="-285750">
              <a:buFont typeface="Courier New,monospace"/>
              <a:buChar char="o"/>
              <a:defRPr/>
            </a:pPr>
            <a:r>
              <a:rPr lang="en-US"/>
              <a:t>It prevents intentional bypass of safeguards through clever hacks known as jailbreaks </a:t>
            </a:r>
            <a:endParaRPr lang="en-US">
              <a:solidFill>
                <a:srgbClr val="444444"/>
              </a:solidFill>
            </a:endParaRPr>
          </a:p>
          <a:p>
            <a:pPr marL="742950" lvl="1" indent="-285750">
              <a:buFont typeface="Courier New,monospace"/>
              <a:buChar char="o"/>
              <a:defRPr/>
            </a:pPr>
            <a:r>
              <a:rPr lang="en-US"/>
              <a:t>It was trained on a dataset of 17,000 known challenging and successful jailbreaks, built in part using NVIDIA Garak —which is  an open-source toolkit for LLM vulnerability scanning developed by our NVIDIA Research team  </a:t>
            </a:r>
          </a:p>
          <a:p>
            <a:pPr marL="742950" lvl="1" indent="-285750">
              <a:buFont typeface="Courier New,monospace"/>
              <a:buChar char="o"/>
              <a:defRPr/>
            </a:pPr>
            <a:r>
              <a:rPr lang="en-US"/>
              <a:t>These NIM microservices offer needed added layers of security and control that enterprises are asking for as they deploy agentic AI.</a:t>
            </a:r>
          </a:p>
          <a:p>
            <a:pPr marL="171450" indent="-171450">
              <a:buFont typeface="Arial,Sans-Serif"/>
              <a:buChar char="•"/>
              <a:defRPr/>
            </a:pPr>
            <a:r>
              <a:rPr lang="en-US" b="1"/>
              <a:t>Topic Control </a:t>
            </a:r>
            <a:r>
              <a:rPr lang="en-US"/>
              <a:t>- keeps AI agents on track throughout the duration of conversations and interactions (AVAILABLE AS A NIM)</a:t>
            </a:r>
            <a:endParaRPr lang="en-US">
              <a:solidFill>
                <a:srgbClr val="444444"/>
              </a:solidFill>
            </a:endParaRPr>
          </a:p>
          <a:p>
            <a:pPr marL="742950" lvl="1" indent="-285750">
              <a:buFont typeface="Courier New,monospace"/>
              <a:buChar char="o"/>
              <a:defRPr/>
            </a:pPr>
            <a:r>
              <a:rPr lang="en-US"/>
              <a:t>It ensures user-AI agent interactions stay focused, relevant and within predefined topical boundaries</a:t>
            </a:r>
            <a:endParaRPr lang="en-US">
              <a:solidFill>
                <a:srgbClr val="444444"/>
              </a:solidFill>
            </a:endParaRPr>
          </a:p>
          <a:p>
            <a:pPr marL="742950" lvl="1" indent="-285750">
              <a:buFont typeface="Courier New,monospace"/>
              <a:buChar char="o"/>
              <a:defRPr/>
            </a:pPr>
            <a:r>
              <a:rPr lang="en-US"/>
              <a:t>It’s fine tuned specifically for topic control – like you can fine tune a model specifically for math or coding</a:t>
            </a:r>
            <a:endParaRPr lang="en-US">
              <a:solidFill>
                <a:srgbClr val="444444"/>
              </a:solidFill>
            </a:endParaRPr>
          </a:p>
          <a:p>
            <a:pPr marL="742950" lvl="1" indent="-285750">
              <a:buFont typeface="Courier New,monospace"/>
              <a:buChar char="o"/>
              <a:defRPr/>
            </a:pPr>
            <a:r>
              <a:rPr lang="en-US"/>
              <a:t>Why is this important… The system prompt can lose track throughout the course of a multi-turn conversation –</a:t>
            </a:r>
            <a:endParaRPr lang="en-US">
              <a:solidFill>
                <a:srgbClr val="444444"/>
              </a:solidFill>
            </a:endParaRPr>
          </a:p>
          <a:p>
            <a:pPr marL="742950" lvl="1" indent="-285750">
              <a:buFont typeface="Courier New,monospace"/>
              <a:buChar char="o"/>
              <a:defRPr/>
            </a:pPr>
            <a:r>
              <a:rPr lang="en-US"/>
              <a:t>Just like you have been in a conversation with a friend that diverges, we all have that friend , that chatty friend, that tends to not only diverge but also divulge some information they shouldn’t have. </a:t>
            </a:r>
            <a:endParaRPr lang="en-US">
              <a:solidFill>
                <a:srgbClr val="444444"/>
              </a:solidFill>
            </a:endParaRPr>
          </a:p>
          <a:p>
            <a:pPr marL="285750" indent="-285750">
              <a:buFont typeface="Arial"/>
              <a:buChar char="•"/>
              <a:defRPr/>
            </a:pPr>
            <a:r>
              <a:rPr lang="en-US" b="1"/>
              <a:t>PII/PHI detection</a:t>
            </a:r>
            <a:r>
              <a:rPr lang="en-US"/>
              <a:t>—classifying and mitigating sensitive data exposure.</a:t>
            </a:r>
          </a:p>
          <a:p>
            <a:pPr marL="285750" indent="-285750">
              <a:buFont typeface="Arial"/>
              <a:buChar char="•"/>
              <a:defRPr/>
            </a:pPr>
            <a:r>
              <a:rPr lang="en-US" b="1"/>
              <a:t>Content Safety with Reasoning</a:t>
            </a:r>
            <a:r>
              <a:rPr lang="en-US"/>
              <a:t>—applying domain-specific policy logic using reasoning steps.</a:t>
            </a:r>
          </a:p>
          <a:p>
            <a:pPr>
              <a:defRPr/>
            </a:pPr>
            <a:r>
              <a:rPr lang="en-US"/>
              <a:t> </a:t>
            </a:r>
          </a:p>
          <a:p>
            <a:pPr>
              <a:defRPr/>
            </a:pPr>
            <a:endParaRPr lang="en-US" sz="1200"/>
          </a:p>
          <a:p>
            <a:pPr marL="0" indent="-285750"/>
            <a:endParaRPr lang="en-US" sz="1200"/>
          </a:p>
          <a:p>
            <a:pPr marL="0" indent="-285750"/>
            <a:endParaRPr lang="en-US" sz="1200"/>
          </a:p>
          <a:p>
            <a:pPr marL="497205" indent="-285750"/>
            <a:endParaRPr lang="en-US" sz="1200"/>
          </a:p>
          <a:p>
            <a:pPr marL="497205" indent="-285750"/>
            <a:endParaRPr lang="en-US" sz="1200"/>
          </a:p>
          <a:p>
            <a:pPr marL="497205" indent="-285750"/>
            <a:endParaRPr lang="en-US" sz="1200"/>
          </a:p>
        </p:txBody>
      </p:sp>
      <p:sp>
        <p:nvSpPr>
          <p:cNvPr id="4" name="Slide Number Placeholder 3">
            <a:extLst>
              <a:ext uri="{FF2B5EF4-FFF2-40B4-BE49-F238E27FC236}">
                <a16:creationId xmlns:a16="http://schemas.microsoft.com/office/drawing/2014/main" id="{6632F759-881A-3927-9FCB-6DD4C6EE8E95}"/>
              </a:ext>
            </a:extLst>
          </p:cNvPr>
          <p:cNvSpPr>
            <a:spLocks noGrp="1"/>
          </p:cNvSpPr>
          <p:nvPr>
            <p:ph type="sldNum" sz="quarter" idx="5"/>
          </p:nvPr>
        </p:nvSpPr>
        <p:spPr/>
        <p:txBody>
          <a:bodyPr/>
          <a:lstStyle/>
          <a:p>
            <a:fld id="{75E58633-D638-47FE-ADF2-C91E9CE05441}" type="slidenum">
              <a:rPr lang="en-US" smtClean="0"/>
              <a:t>8</a:t>
            </a:fld>
            <a:endParaRPr lang="en-US"/>
          </a:p>
        </p:txBody>
      </p:sp>
    </p:spTree>
    <p:extLst>
      <p:ext uri="{BB962C8B-B14F-4D97-AF65-F5344CB8AC3E}">
        <p14:creationId xmlns:p14="http://schemas.microsoft.com/office/powerpoint/2010/main" val="2915758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With Guardrails On, the response is blocked because the topic was one the user did not want the LLM to answer.</a:t>
            </a:r>
          </a:p>
        </p:txBody>
      </p:sp>
      <p:sp>
        <p:nvSpPr>
          <p:cNvPr id="4" name="Slide Number Placeholder 3"/>
          <p:cNvSpPr>
            <a:spLocks noGrp="1"/>
          </p:cNvSpPr>
          <p:nvPr>
            <p:ph type="sldNum" sz="quarter" idx="5"/>
          </p:nvPr>
        </p:nvSpPr>
        <p:spPr/>
        <p:txBody>
          <a:bodyPr/>
          <a:lstStyle/>
          <a:p>
            <a:fld id="{8470C524-AED4-4007-B81B-37EB0B35AF0B}" type="slidenum">
              <a:rPr lang="en-US" smtClean="0"/>
              <a:t>9</a:t>
            </a:fld>
            <a:endParaRPr lang="en-US"/>
          </a:p>
        </p:txBody>
      </p:sp>
    </p:spTree>
    <p:extLst>
      <p:ext uri="{BB962C8B-B14F-4D97-AF65-F5344CB8AC3E}">
        <p14:creationId xmlns:p14="http://schemas.microsoft.com/office/powerpoint/2010/main" val="1245687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Guardrails allows you to enforce specific policies by providing guidance about what the LLM should be allowed to answer and not.</a:t>
            </a:r>
          </a:p>
        </p:txBody>
      </p:sp>
      <p:sp>
        <p:nvSpPr>
          <p:cNvPr id="4" name="Slide Number Placeholder 3"/>
          <p:cNvSpPr>
            <a:spLocks noGrp="1"/>
          </p:cNvSpPr>
          <p:nvPr>
            <p:ph type="sldNum" sz="quarter" idx="5"/>
          </p:nvPr>
        </p:nvSpPr>
        <p:spPr/>
        <p:txBody>
          <a:bodyPr/>
          <a:lstStyle/>
          <a:p>
            <a:fld id="{8470C524-AED4-4007-B81B-37EB0B35AF0B}" type="slidenum">
              <a:rPr lang="en-US" smtClean="0"/>
              <a:t>10</a:t>
            </a:fld>
            <a:endParaRPr lang="en-US"/>
          </a:p>
        </p:txBody>
      </p:sp>
    </p:spTree>
    <p:extLst>
      <p:ext uri="{BB962C8B-B14F-4D97-AF65-F5344CB8AC3E}">
        <p14:creationId xmlns:p14="http://schemas.microsoft.com/office/powerpoint/2010/main" val="3151949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C315-A962-277C-99B4-7CE444437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CF02E-9B5B-EFEB-B6C0-AF49BA720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44D9D-8C50-D444-A267-C86D70210FA3}"/>
              </a:ext>
            </a:extLst>
          </p:cNvPr>
          <p:cNvSpPr>
            <a:spLocks noGrp="1"/>
          </p:cNvSpPr>
          <p:nvPr>
            <p:ph type="body" idx="1"/>
          </p:nvPr>
        </p:nvSpPr>
        <p:spPr/>
        <p:txBody>
          <a:bodyPr/>
          <a:lstStyle/>
          <a:p>
            <a:r>
              <a:rPr lang="en-US"/>
              <a:t>NVIDIA </a:t>
            </a:r>
            <a:r>
              <a:rPr lang="en-US" err="1"/>
              <a:t>NeMo</a:t>
            </a:r>
            <a:r>
              <a:rPr lang="en-US"/>
              <a:t> Auditor is an enterprise-grade red teaming tool that systematically tests LLMs for vulnerabilities before deployment. It runs audit jobs using over 160 attack categories—from jailbreaks like the "Grandma" attack that uses roleplay to bypass safety guardrails, to exploitation probes testing for SQL injection generation, to package hallucination checks that prevent supply chain attacks. The workflow is straightforward: create an audit target for your model, configure which probes to run, execute the audit job, and review results. This is particularly valuable when fine-tuning models, as you can compare before-and-after security postures to ensure customization hasn't introduced new vulnerabilities.</a:t>
            </a:r>
          </a:p>
        </p:txBody>
      </p:sp>
      <p:sp>
        <p:nvSpPr>
          <p:cNvPr id="4" name="Slide Number Placeholder 3">
            <a:extLst>
              <a:ext uri="{FF2B5EF4-FFF2-40B4-BE49-F238E27FC236}">
                <a16:creationId xmlns:a16="http://schemas.microsoft.com/office/drawing/2014/main" id="{A6E8F42B-98AF-FF7D-DF24-0431B0BF77E2}"/>
              </a:ext>
            </a:extLst>
          </p:cNvPr>
          <p:cNvSpPr>
            <a:spLocks noGrp="1"/>
          </p:cNvSpPr>
          <p:nvPr>
            <p:ph type="sldNum" sz="quarter" idx="5"/>
          </p:nvPr>
        </p:nvSpPr>
        <p:spPr/>
        <p:txBody>
          <a:bodyPr/>
          <a:lstStyle/>
          <a:p>
            <a:fld id="{75E58633-D638-47FE-ADF2-C91E9CE05441}" type="slidenum">
              <a:rPr lang="en-US" smtClean="0"/>
              <a:t>11</a:t>
            </a:fld>
            <a:endParaRPr lang="en-US"/>
          </a:p>
        </p:txBody>
      </p:sp>
    </p:spTree>
    <p:extLst>
      <p:ext uri="{BB962C8B-B14F-4D97-AF65-F5344CB8AC3E}">
        <p14:creationId xmlns:p14="http://schemas.microsoft.com/office/powerpoint/2010/main" val="1598887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AB69-F385-6FE1-EA05-E9AA475DA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B472D-A9EC-BB52-F3D8-24D0AF28B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EC9F2-AE7C-635A-6EBA-B52EF9AF8834}"/>
              </a:ext>
            </a:extLst>
          </p:cNvPr>
          <p:cNvSpPr>
            <a:spLocks noGrp="1"/>
          </p:cNvSpPr>
          <p:nvPr>
            <p:ph type="body" idx="1"/>
          </p:nvPr>
        </p:nvSpPr>
        <p:spPr/>
        <p:txBody>
          <a:bodyPr/>
          <a:lstStyle/>
          <a:p>
            <a:r>
              <a:rPr lang="en-US"/>
              <a:t>This slide shows how </a:t>
            </a:r>
            <a:r>
              <a:rPr lang="en-US" err="1"/>
              <a:t>NeMo</a:t>
            </a:r>
            <a:r>
              <a:rPr lang="en-US"/>
              <a:t> Auditor fits into an enterprise AI security architecture. The system operates in three steps: first, the Probe generates attack prompts targeting specific vulnerabilities; second, the Generator executes these prompts against your LLM; and third, the Detector analyzes whether the attack succeeded. </a:t>
            </a:r>
            <a:r>
              <a:rPr lang="en-US" err="1"/>
              <a:t>NeMo</a:t>
            </a:r>
            <a:r>
              <a:rPr lang="en-US"/>
              <a:t> Auditor runs these tests across four key categories—jailbreak detection, malicious injections, private data exfiltration, and package hallucination—then generates a risk assessment summary report for your compliance officer. The results feed into configuration storage for tracking security posture over time. Critically, this integrates with your production environment where </a:t>
            </a:r>
            <a:r>
              <a:rPr lang="en-US" err="1"/>
              <a:t>NeMo</a:t>
            </a:r>
            <a:r>
              <a:rPr lang="en-US"/>
              <a:t> Guardrails provides real-time protection at the application layer. The philosophy here is defense-in-depth: Auditor identifies vulnerabilities during development, Guardrails blocks attacks in production, and together they ensure your LLM behaves how you want, not how malicious actors want. </a:t>
            </a:r>
          </a:p>
        </p:txBody>
      </p:sp>
      <p:sp>
        <p:nvSpPr>
          <p:cNvPr id="4" name="Slide Number Placeholder 3">
            <a:extLst>
              <a:ext uri="{FF2B5EF4-FFF2-40B4-BE49-F238E27FC236}">
                <a16:creationId xmlns:a16="http://schemas.microsoft.com/office/drawing/2014/main" id="{8AE975A5-7333-BF9A-1B8E-4D31DB598B77}"/>
              </a:ext>
            </a:extLst>
          </p:cNvPr>
          <p:cNvSpPr>
            <a:spLocks noGrp="1"/>
          </p:cNvSpPr>
          <p:nvPr>
            <p:ph type="sldNum" sz="quarter" idx="5"/>
          </p:nvPr>
        </p:nvSpPr>
        <p:spPr/>
        <p:txBody>
          <a:bodyPr/>
          <a:lstStyle/>
          <a:p>
            <a:fld id="{75E58633-D638-47FE-ADF2-C91E9CE05441}" type="slidenum">
              <a:rPr lang="en-US" smtClean="0"/>
              <a:t>12</a:t>
            </a:fld>
            <a:endParaRPr lang="en-US"/>
          </a:p>
        </p:txBody>
      </p:sp>
    </p:spTree>
    <p:extLst>
      <p:ext uri="{BB962C8B-B14F-4D97-AF65-F5344CB8AC3E}">
        <p14:creationId xmlns:p14="http://schemas.microsoft.com/office/powerpoint/2010/main" val="4156809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E49F-1632-A771-4E08-75EC99DAC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0B305-2FA2-3D77-A144-E857F57F5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E87F5-98F1-A435-6F46-293414D90866}"/>
              </a:ext>
            </a:extLst>
          </p:cNvPr>
          <p:cNvSpPr>
            <a:spLocks noGrp="1"/>
          </p:cNvSpPr>
          <p:nvPr>
            <p:ph type="body" idx="1"/>
          </p:nvPr>
        </p:nvSpPr>
        <p:spPr/>
        <p:txBody>
          <a:bodyPr/>
          <a:lstStyle/>
          <a:p>
            <a:pPr indent="-285750"/>
            <a:r>
              <a:rPr lang="en-US"/>
              <a:t>Protecting AI agents requires two complementary layers of defense working together. </a:t>
            </a:r>
            <a:r>
              <a:rPr lang="en-US" err="1"/>
              <a:t>NeMo</a:t>
            </a:r>
            <a:r>
              <a:rPr lang="en-US"/>
              <a:t> Auditor provides on-demand security audits across your agent fleet—scanning for vulnerabilities, identifying risks before attackers exploit them, testing complex multi-turn agent interactions, and providing the audit trail needed for regulatory compliance. </a:t>
            </a:r>
            <a:r>
              <a:rPr lang="en-US" err="1"/>
              <a:t>NeMo</a:t>
            </a:r>
            <a:r>
              <a:rPr lang="en-US"/>
              <a:t> Guardrails delivers real-time protection during every agent interaction - blocking harmful outputs before they reach users, detecting jailbreak attempts, preventing sensitive data leaks like PII or proprietary information, and keeping agents on-topic and within their defined boundaries. Think of Auditor as "ensure agents remain on track" through proactive testing, while Guardrails "keeps agents on track" through active runtime defense. Together they create comprehensive protection for AI agent deployments.</a:t>
            </a:r>
          </a:p>
        </p:txBody>
      </p:sp>
      <p:sp>
        <p:nvSpPr>
          <p:cNvPr id="4" name="Slide Number Placeholder 3">
            <a:extLst>
              <a:ext uri="{FF2B5EF4-FFF2-40B4-BE49-F238E27FC236}">
                <a16:creationId xmlns:a16="http://schemas.microsoft.com/office/drawing/2014/main" id="{97A27A7F-643F-1659-30FA-E3C460459ABD}"/>
              </a:ext>
            </a:extLst>
          </p:cNvPr>
          <p:cNvSpPr>
            <a:spLocks noGrp="1"/>
          </p:cNvSpPr>
          <p:nvPr>
            <p:ph type="sldNum" sz="quarter" idx="5"/>
          </p:nvPr>
        </p:nvSpPr>
        <p:spPr/>
        <p:txBody>
          <a:bodyPr/>
          <a:lstStyle/>
          <a:p>
            <a:fld id="{75E58633-D638-47FE-ADF2-C91E9CE05441}" type="slidenum">
              <a:rPr lang="en-US" smtClean="0"/>
              <a:t>13</a:t>
            </a:fld>
            <a:endParaRPr lang="en-US"/>
          </a:p>
        </p:txBody>
      </p:sp>
    </p:spTree>
    <p:extLst>
      <p:ext uri="{BB962C8B-B14F-4D97-AF65-F5344CB8AC3E}">
        <p14:creationId xmlns:p14="http://schemas.microsoft.com/office/powerpoint/2010/main" val="26313393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19272-AD52-F11D-DE3C-E6870727C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67494-E0D7-AA23-1485-646ED0A56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7DF0B-14CA-5AE3-4378-93B1D0EC1DE8}"/>
              </a:ext>
            </a:extLst>
          </p:cNvPr>
          <p:cNvSpPr>
            <a:spLocks noGrp="1"/>
          </p:cNvSpPr>
          <p:nvPr>
            <p:ph type="body" idx="1"/>
          </p:nvPr>
        </p:nvSpPr>
        <p:spPr/>
        <p:txBody>
          <a:bodyPr/>
          <a:lstStyle/>
          <a:p>
            <a:r>
              <a:rPr lang="en-US" err="1"/>
              <a:t>NeMo</a:t>
            </a:r>
            <a:r>
              <a:rPr lang="en-US"/>
              <a:t> Safe Synthesizer generates synthetic versions of sensitive datasets. It creates entirely novel records with no 1-to-1 mapping to the original.</a:t>
            </a:r>
          </a:p>
          <a:p>
            <a:endParaRPr lang="en-US"/>
          </a:p>
          <a:p>
            <a:r>
              <a:rPr lang="en-US"/>
              <a:t>It unlocks insights of your data while maintaining data privacy.</a:t>
            </a:r>
          </a:p>
          <a:p>
            <a:endParaRPr lang="en-US"/>
          </a:p>
          <a:p>
            <a:r>
              <a:rPr lang="en-US"/>
              <a:t>It has built in evaluation for quality and privacy so you can quickly answer, "Did it work?"</a:t>
            </a:r>
          </a:p>
        </p:txBody>
      </p:sp>
      <p:sp>
        <p:nvSpPr>
          <p:cNvPr id="4" name="Slide Number Placeholder 3">
            <a:extLst>
              <a:ext uri="{FF2B5EF4-FFF2-40B4-BE49-F238E27FC236}">
                <a16:creationId xmlns:a16="http://schemas.microsoft.com/office/drawing/2014/main" id="{17016F7F-5CA3-C570-E277-D3A48545C426}"/>
              </a:ext>
            </a:extLst>
          </p:cNvPr>
          <p:cNvSpPr>
            <a:spLocks noGrp="1"/>
          </p:cNvSpPr>
          <p:nvPr>
            <p:ph type="sldNum" sz="quarter" idx="5"/>
          </p:nvPr>
        </p:nvSpPr>
        <p:spPr/>
        <p:txBody>
          <a:bodyPr/>
          <a:lstStyle/>
          <a:p>
            <a:fld id="{8470C524-AED4-4007-B81B-37EB0B35AF0B}" type="slidenum">
              <a:rPr lang="en-US" smtClean="0"/>
              <a:t>14</a:t>
            </a:fld>
            <a:endParaRPr lang="en-US"/>
          </a:p>
        </p:txBody>
      </p:sp>
    </p:spTree>
    <p:extLst>
      <p:ext uri="{BB962C8B-B14F-4D97-AF65-F5344CB8AC3E}">
        <p14:creationId xmlns:p14="http://schemas.microsoft.com/office/powerpoint/2010/main" val="2900421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Safe Synthesizer starts from an existing dataset. We recommend first replacing PII to ensure the model has no chance to learn the most sensitive info. Then the model is fine-tuned and synthetic records are generated that have no 1-to-1 mapping to original records. An evaluation report is automated created measuring privacy and quality.</a:t>
            </a:r>
          </a:p>
          <a:p>
            <a:endParaRPr lang="en-US">
              <a:latin typeface="Calibri"/>
              <a:ea typeface="Calibri"/>
              <a:cs typeface="Calibri"/>
            </a:endParaRPr>
          </a:p>
          <a:p>
            <a:r>
              <a:rPr lang="en-US">
                <a:latin typeface="Calibri"/>
                <a:ea typeface="Calibri"/>
                <a:cs typeface="Calibri"/>
              </a:rPr>
              <a:t>Common use cases include text documents, healthcare data, financial data, and time-series telecommunications data.</a:t>
            </a:r>
          </a:p>
          <a:p>
            <a:endParaRPr lang="en-US">
              <a:latin typeface="Calibri"/>
              <a:ea typeface="Calibri"/>
              <a:cs typeface="Calibri"/>
            </a:endParaRPr>
          </a:p>
          <a:p>
            <a:pPr marL="171450" indent="-171450">
              <a:buFont typeface="Arial"/>
              <a:buChar char="•"/>
            </a:pPr>
            <a:r>
              <a:rPr lang="en-US"/>
              <a:t>Healthcare, clinical trial data and share with other researchers</a:t>
            </a:r>
          </a:p>
          <a:p>
            <a:pPr marL="171450" indent="-171450">
              <a:buFont typeface="Arial"/>
              <a:buChar char="•"/>
            </a:pPr>
            <a:r>
              <a:rPr lang="en-US"/>
              <a:t>Language – training SLM </a:t>
            </a:r>
          </a:p>
          <a:p>
            <a:pPr marL="171450" indent="-171450">
              <a:buFont typeface="Arial"/>
              <a:buChar char="•"/>
            </a:pPr>
            <a:r>
              <a:rPr lang="en-US"/>
              <a:t>Finance – use a synthetic version of customer data to do downstream advanced analytics such as fraud detection and prediction</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8470C524-AED4-4007-B81B-37EB0B35AF0B}" type="slidenum">
              <a:rPr lang="en-US" smtClean="0"/>
              <a:t>15</a:t>
            </a:fld>
            <a:endParaRPr lang="en-US"/>
          </a:p>
        </p:txBody>
      </p:sp>
    </p:spTree>
    <p:extLst>
      <p:ext uri="{BB962C8B-B14F-4D97-AF65-F5344CB8AC3E}">
        <p14:creationId xmlns:p14="http://schemas.microsoft.com/office/powerpoint/2010/main" val="172922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You can select the privacy &amp; utility trade off that meets your needs. Level 1 is traditional data masking where a 1-to-1 mapping is maintained. However this is highly vulnerable to reidentification attacks.</a:t>
            </a:r>
          </a:p>
          <a:p>
            <a:endParaRPr lang="en-US">
              <a:latin typeface="Calibri"/>
              <a:ea typeface="Calibri"/>
              <a:cs typeface="Calibri"/>
            </a:endParaRPr>
          </a:p>
          <a:p>
            <a:r>
              <a:rPr lang="en-US">
                <a:latin typeface="Calibri"/>
                <a:ea typeface="Calibri"/>
                <a:cs typeface="Calibri"/>
              </a:rPr>
              <a:t>Level 2 and level 3 are what we recommend for Safe Synthesizer. These are where we actually fine-tune the model. Level 3 involves adding noise into the process to provide differential privacy – the gold standard of privacy that offers mathematical guarantees.</a:t>
            </a:r>
          </a:p>
          <a:p>
            <a:endParaRPr lang="en-US">
              <a:latin typeface="Calibri"/>
              <a:ea typeface="Calibri"/>
              <a:cs typeface="Calibri"/>
            </a:endParaRPr>
          </a:p>
          <a:p>
            <a:r>
              <a:rPr lang="en-US">
                <a:latin typeface="Calibri"/>
                <a:ea typeface="Calibri"/>
                <a:cs typeface="Calibri"/>
              </a:rPr>
              <a:t>You might wonder why doesn't everyone go for Level 3? Utility is lower, training time is longer (usually 2-4x, meaning higher compute usage and therefore higher cost), and number of records needed for training is higher (~10k minimum vs ~1k minimum for level 2).</a:t>
            </a:r>
          </a:p>
        </p:txBody>
      </p:sp>
      <p:sp>
        <p:nvSpPr>
          <p:cNvPr id="4" name="Slide Number Placeholder 3"/>
          <p:cNvSpPr>
            <a:spLocks noGrp="1"/>
          </p:cNvSpPr>
          <p:nvPr>
            <p:ph type="sldNum" sz="quarter" idx="5"/>
          </p:nvPr>
        </p:nvSpPr>
        <p:spPr/>
        <p:txBody>
          <a:bodyPr/>
          <a:lstStyle/>
          <a:p>
            <a:fld id="{8470C524-AED4-4007-B81B-37EB0B35AF0B}" type="slidenum">
              <a:rPr lang="en-US" smtClean="0"/>
              <a:t>16</a:t>
            </a:fld>
            <a:endParaRPr lang="en-US"/>
          </a:p>
        </p:txBody>
      </p:sp>
    </p:spTree>
    <p:extLst>
      <p:ext uri="{BB962C8B-B14F-4D97-AF65-F5344CB8AC3E}">
        <p14:creationId xmlns:p14="http://schemas.microsoft.com/office/powerpoint/2010/main" val="3033859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9D6D7-6BCC-C1E5-E572-42057F0A3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BF57B-B443-E61A-9087-4AF1A3ECD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97BB2-FBED-6252-D407-A27BE0C76376}"/>
              </a:ext>
            </a:extLst>
          </p:cNvPr>
          <p:cNvSpPr>
            <a:spLocks noGrp="1"/>
          </p:cNvSpPr>
          <p:nvPr>
            <p:ph type="body" idx="1"/>
          </p:nvPr>
        </p:nvSpPr>
        <p:spPr/>
        <p:txBody>
          <a:bodyPr/>
          <a:lstStyle/>
          <a:p>
            <a:r>
              <a:rPr lang="en-US"/>
              <a:t>Anonymizer supports a context-aware data anonymization within free text. After detecting sensitive entities, you can label, redact, hash, replace, or fully rewrite them.</a:t>
            </a:r>
          </a:p>
          <a:p>
            <a:endParaRPr lang="en-US"/>
          </a:p>
          <a:p>
            <a:r>
              <a:rPr lang="en-US"/>
              <a:t>Classic detection &amp; replacement techniques are insufficient because latent (ambiguous) entities go undetected and leak private info.</a:t>
            </a:r>
          </a:p>
        </p:txBody>
      </p:sp>
      <p:sp>
        <p:nvSpPr>
          <p:cNvPr id="4" name="Slide Number Placeholder 3">
            <a:extLst>
              <a:ext uri="{FF2B5EF4-FFF2-40B4-BE49-F238E27FC236}">
                <a16:creationId xmlns:a16="http://schemas.microsoft.com/office/drawing/2014/main" id="{973CBE47-99FD-37F7-7AB1-50FB92FDA4D6}"/>
              </a:ext>
            </a:extLst>
          </p:cNvPr>
          <p:cNvSpPr>
            <a:spLocks noGrp="1"/>
          </p:cNvSpPr>
          <p:nvPr>
            <p:ph type="sldNum" sz="quarter" idx="5"/>
          </p:nvPr>
        </p:nvSpPr>
        <p:spPr/>
        <p:txBody>
          <a:bodyPr/>
          <a:lstStyle/>
          <a:p>
            <a:fld id="{8470C524-AED4-4007-B81B-37EB0B35AF0B}" type="slidenum">
              <a:rPr lang="en-US" smtClean="0"/>
              <a:t>17</a:t>
            </a:fld>
            <a:endParaRPr lang="en-US"/>
          </a:p>
        </p:txBody>
      </p:sp>
    </p:spTree>
    <p:extLst>
      <p:ext uri="{BB962C8B-B14F-4D97-AF65-F5344CB8AC3E}">
        <p14:creationId xmlns:p14="http://schemas.microsoft.com/office/powerpoint/2010/main" val="2457586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Replacement swaps out sensitive info with context-aware replacements. For example, Eve is a nickname for Evelyn, and we see Izzy is now the nickname used for Isabella. Replacement replaces real info with fake info.</a:t>
            </a:r>
          </a:p>
          <a:p>
            <a:endParaRPr lang="en-US">
              <a:latin typeface="Calibri"/>
              <a:ea typeface="Calibri"/>
              <a:cs typeface="Calibri"/>
            </a:endParaRPr>
          </a:p>
          <a:p>
            <a:r>
              <a:rPr lang="en-US">
                <a:latin typeface="Calibri"/>
                <a:ea typeface="Calibri"/>
                <a:cs typeface="Calibri"/>
              </a:rPr>
              <a:t>Rewriting rewrites entire phrases to obfuscate both obvious and latent entities. It maintains the factual info and rephrases rather than replaces classic PII.</a:t>
            </a:r>
          </a:p>
        </p:txBody>
      </p:sp>
      <p:sp>
        <p:nvSpPr>
          <p:cNvPr id="4" name="Slide Number Placeholder 3"/>
          <p:cNvSpPr>
            <a:spLocks noGrp="1"/>
          </p:cNvSpPr>
          <p:nvPr>
            <p:ph type="sldNum" sz="quarter" idx="5"/>
          </p:nvPr>
        </p:nvSpPr>
        <p:spPr/>
        <p:txBody>
          <a:bodyPr/>
          <a:lstStyle/>
          <a:p>
            <a:fld id="{8470C524-AED4-4007-B81B-37EB0B35AF0B}" type="slidenum">
              <a:rPr lang="en-US" smtClean="0"/>
              <a:t>18</a:t>
            </a:fld>
            <a:endParaRPr lang="en-US"/>
          </a:p>
        </p:txBody>
      </p:sp>
    </p:spTree>
    <p:extLst>
      <p:ext uri="{BB962C8B-B14F-4D97-AF65-F5344CB8AC3E}">
        <p14:creationId xmlns:p14="http://schemas.microsoft.com/office/powerpoint/2010/main" val="640761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The first step in the workflow is entity detection. In the label, redact, and hash paths, detection is all that is needed and we can return the results. In the replace path, we add a step to use an LLM to identify context-aware replacements. We swap them out and return the dataset.</a:t>
            </a:r>
          </a:p>
          <a:p>
            <a:endParaRPr lang="en-US">
              <a:latin typeface="Calibri"/>
              <a:ea typeface="Calibri"/>
              <a:cs typeface="Calibri"/>
            </a:endParaRPr>
          </a:p>
          <a:p>
            <a:r>
              <a:rPr lang="en-US">
                <a:latin typeface="Calibri"/>
                <a:ea typeface="Calibri"/>
                <a:cs typeface="Calibri"/>
              </a:rPr>
              <a:t>On the rewrite path, we use an LLM to generate privacy and quality questions and we iteratively rewrite the text until it generally gets the quality questions right but the privacy questions wrong. Once it does, we return the dataset and an evaluation report.</a:t>
            </a:r>
          </a:p>
        </p:txBody>
      </p:sp>
      <p:sp>
        <p:nvSpPr>
          <p:cNvPr id="4" name="Slide Number Placeholder 3"/>
          <p:cNvSpPr>
            <a:spLocks noGrp="1"/>
          </p:cNvSpPr>
          <p:nvPr>
            <p:ph type="sldNum" sz="quarter" idx="5"/>
          </p:nvPr>
        </p:nvSpPr>
        <p:spPr/>
        <p:txBody>
          <a:bodyPr/>
          <a:lstStyle/>
          <a:p>
            <a:fld id="{8470C524-AED4-4007-B81B-37EB0B35AF0B}" type="slidenum">
              <a:rPr lang="en-US" smtClean="0"/>
              <a:t>19</a:t>
            </a:fld>
            <a:endParaRPr lang="en-US"/>
          </a:p>
        </p:txBody>
      </p:sp>
    </p:spTree>
    <p:extLst>
      <p:ext uri="{BB962C8B-B14F-4D97-AF65-F5344CB8AC3E}">
        <p14:creationId xmlns:p14="http://schemas.microsoft.com/office/powerpoint/2010/main" val="305232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5"/>
        <p:cNvGrpSpPr/>
        <p:nvPr/>
      </p:nvGrpSpPr>
      <p:grpSpPr>
        <a:xfrm>
          <a:off x="0" y="0"/>
          <a:ext cx="0" cy="0"/>
          <a:chOff x="0" y="0"/>
          <a:chExt cx="0" cy="0"/>
        </a:xfrm>
      </p:grpSpPr>
      <p:sp>
        <p:nvSpPr>
          <p:cNvPr id="4486" name="Google Shape;448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7" name="Google Shape;448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And now let's talk about how you can get started with these things. You can try the model directly from Hugging </a:t>
            </a:r>
            <a:r>
              <a:rPr lang="en-US" err="1"/>
              <a:t>FaceThere</a:t>
            </a:r>
            <a:r>
              <a:rPr lang="en-US"/>
              <a:t> are several ways to get started safeguarding your AI today: </a:t>
            </a:r>
            <a:endParaRPr/>
          </a:p>
          <a:p>
            <a:pPr marL="457200" indent="-317500">
              <a:buSzPts val="1400"/>
              <a:buAutoNum type="arabicPeriod"/>
            </a:pPr>
            <a:r>
              <a:rPr lang="en-US"/>
              <a:t>Access the </a:t>
            </a:r>
            <a:r>
              <a:rPr lang="en-US" err="1"/>
              <a:t>NeMo</a:t>
            </a:r>
            <a:r>
              <a:rPr lang="en-US"/>
              <a:t> Guardrails open library on </a:t>
            </a:r>
            <a:r>
              <a:rPr lang="en-US" err="1"/>
              <a:t>Github</a:t>
            </a:r>
            <a:endParaRPr lang="en-US"/>
          </a:p>
          <a:p>
            <a:pPr marL="457200" indent="-317500">
              <a:buSzPts val="1400"/>
              <a:buAutoNum type="arabicPeriod"/>
            </a:pPr>
            <a:r>
              <a:rPr lang="en-US"/>
              <a:t>Use the open </a:t>
            </a:r>
            <a:r>
              <a:rPr lang="en-US" err="1"/>
              <a:t>Nemotron</a:t>
            </a:r>
            <a:r>
              <a:rPr lang="en-US"/>
              <a:t> safety models on Hugging Face</a:t>
            </a:r>
          </a:p>
          <a:p>
            <a:pPr marL="457200" indent="-317500">
              <a:buSzPts val="1400"/>
              <a:buAutoNum type="arabicPeriod"/>
            </a:pPr>
            <a:r>
              <a:rPr lang="en-US"/>
              <a:t>Try the </a:t>
            </a:r>
            <a:r>
              <a:rPr lang="en-US" err="1"/>
              <a:t>NeMo</a:t>
            </a:r>
            <a:r>
              <a:rPr lang="en-US"/>
              <a:t> Guardrails microservice for production grade deployment and support</a:t>
            </a:r>
          </a:p>
          <a:p>
            <a:pPr marL="457200" lvl="0" indent="-317500" algn="l" rtl="0">
              <a:spcBef>
                <a:spcPts val="0"/>
              </a:spcBef>
              <a:spcAft>
                <a:spcPts val="0"/>
              </a:spcAft>
              <a:buSzPts val="1400"/>
              <a:buAutoNum type="arabicPeriod"/>
            </a:pPr>
            <a:r>
              <a:rPr lang="en-US"/>
              <a:t>Or request a 90-day free trial for NVIDIA AI Enterprise for enterprise support. </a:t>
            </a:r>
            <a:endParaRPr/>
          </a:p>
        </p:txBody>
      </p:sp>
      <p:sp>
        <p:nvSpPr>
          <p:cNvPr id="4488" name="Google Shape;4488;p26:notes"/>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5">
          <a:extLst>
            <a:ext uri="{FF2B5EF4-FFF2-40B4-BE49-F238E27FC236}">
              <a16:creationId xmlns:a16="http://schemas.microsoft.com/office/drawing/2014/main" id="{5F6B95D3-E338-69A6-0909-32FC27561A84}"/>
            </a:ext>
          </a:extLst>
        </p:cNvPr>
        <p:cNvGrpSpPr/>
        <p:nvPr/>
      </p:nvGrpSpPr>
      <p:grpSpPr>
        <a:xfrm>
          <a:off x="0" y="0"/>
          <a:ext cx="0" cy="0"/>
          <a:chOff x="0" y="0"/>
          <a:chExt cx="0" cy="0"/>
        </a:xfrm>
      </p:grpSpPr>
      <p:sp>
        <p:nvSpPr>
          <p:cNvPr id="4486" name="Google Shape;4486;p26:notes">
            <a:extLst>
              <a:ext uri="{FF2B5EF4-FFF2-40B4-BE49-F238E27FC236}">
                <a16:creationId xmlns:a16="http://schemas.microsoft.com/office/drawing/2014/main" id="{A22386C0-B16F-4506-7200-92502A9692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7" name="Google Shape;4487;p26:notes">
            <a:extLst>
              <a:ext uri="{FF2B5EF4-FFF2-40B4-BE49-F238E27FC236}">
                <a16:creationId xmlns:a16="http://schemas.microsoft.com/office/drawing/2014/main" id="{1B8A6144-A011-8FD4-6A26-5150894DFE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There are several ways to get started safeguarding your AI today: </a:t>
            </a:r>
            <a:endParaRPr/>
          </a:p>
          <a:p>
            <a:pPr marL="457200" indent="-317500">
              <a:buSzPts val="1400"/>
              <a:buAutoNum type="arabicPeriod"/>
            </a:pPr>
            <a:r>
              <a:rPr lang="en-US"/>
              <a:t>Access the </a:t>
            </a:r>
            <a:r>
              <a:rPr lang="en-US" err="1"/>
              <a:t>NeMo</a:t>
            </a:r>
            <a:r>
              <a:rPr lang="en-US"/>
              <a:t> Guardrails open library on </a:t>
            </a:r>
            <a:r>
              <a:rPr lang="en-US" err="1"/>
              <a:t>Github</a:t>
            </a:r>
          </a:p>
          <a:p>
            <a:pPr marL="457200" indent="-317500">
              <a:buSzPts val="1400"/>
              <a:buAutoNum type="arabicPeriod"/>
            </a:pPr>
            <a:r>
              <a:rPr lang="en-US"/>
              <a:t>Use the open </a:t>
            </a:r>
            <a:r>
              <a:rPr lang="en-US" err="1"/>
              <a:t>Nemotron</a:t>
            </a:r>
            <a:r>
              <a:rPr lang="en-US"/>
              <a:t> safety models on Hugging Face</a:t>
            </a:r>
          </a:p>
          <a:p>
            <a:pPr marL="457200" indent="-317500">
              <a:buSzPts val="1400"/>
              <a:buAutoNum type="arabicPeriod"/>
            </a:pPr>
            <a:r>
              <a:rPr lang="en-US"/>
              <a:t>Try the </a:t>
            </a:r>
            <a:r>
              <a:rPr lang="en-US" err="1"/>
              <a:t>NeMo</a:t>
            </a:r>
            <a:r>
              <a:rPr lang="en-US"/>
              <a:t> Guardrails microservice for production grade deployment and support</a:t>
            </a:r>
          </a:p>
          <a:p>
            <a:pPr marL="457200" lvl="0" indent="-317500" algn="l" rtl="0">
              <a:spcBef>
                <a:spcPts val="0"/>
              </a:spcBef>
              <a:spcAft>
                <a:spcPts val="0"/>
              </a:spcAft>
              <a:buSzPts val="1400"/>
              <a:buAutoNum type="arabicPeriod"/>
            </a:pPr>
            <a:r>
              <a:rPr lang="en-US"/>
              <a:t>Or request a 90-day free trial for NVIDIA AI Enterprise for enterprise support. </a:t>
            </a:r>
            <a:endParaRPr/>
          </a:p>
        </p:txBody>
      </p:sp>
      <p:sp>
        <p:nvSpPr>
          <p:cNvPr id="4488" name="Google Shape;4488;p26:notes">
            <a:extLst>
              <a:ext uri="{FF2B5EF4-FFF2-40B4-BE49-F238E27FC236}">
                <a16:creationId xmlns:a16="http://schemas.microsoft.com/office/drawing/2014/main" id="{24B10DAC-FE2C-74FA-8DDD-D2357D23D815}"/>
              </a:ext>
            </a:extLst>
          </p:cNvPr>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193953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BE76A-755E-A845-A904-D1F6E65E7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E9359-D19F-5E5E-4D21-16ED3BD9E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DDAB3-0E5E-6F80-6A1C-FE110C386F7F}"/>
              </a:ext>
            </a:extLst>
          </p:cNvPr>
          <p:cNvSpPr>
            <a:spLocks noGrp="1"/>
          </p:cNvSpPr>
          <p:nvPr>
            <p:ph type="body" idx="1"/>
          </p:nvPr>
        </p:nvSpPr>
        <p:spPr/>
        <p:txBody>
          <a:bodyPr/>
          <a:lstStyle/>
          <a:p>
            <a:r>
              <a:rPr lang="en-US"/>
              <a:t>This shows the breadth of NVIDIA’s open safety models—each addressing a specific safety need enterprises have surfaced.</a:t>
            </a:r>
          </a:p>
          <a:p>
            <a:r>
              <a:rPr lang="en-US"/>
              <a:t>For example:</a:t>
            </a:r>
          </a:p>
          <a:p>
            <a:r>
              <a:rPr lang="en-US"/>
              <a:t> </a:t>
            </a:r>
          </a:p>
          <a:p>
            <a:r>
              <a:rPr lang="en-US"/>
              <a:t>Topic Control keeps conversations constrained to approved domains.</a:t>
            </a:r>
          </a:p>
          <a:p>
            <a:r>
              <a:rPr lang="en-US"/>
              <a:t>Jailbreak Detection identifies adversarial intent before it reaches the LLM.</a:t>
            </a:r>
          </a:p>
          <a:p>
            <a:r>
              <a:rPr lang="en-US" err="1"/>
              <a:t>Nemotron</a:t>
            </a:r>
            <a:r>
              <a:rPr lang="en-US"/>
              <a:t> Safety Guard provides multilingual content safety using culturally aware datasets.</a:t>
            </a:r>
          </a:p>
          <a:p>
            <a:r>
              <a:rPr lang="en-US" err="1"/>
              <a:t>Nemotron</a:t>
            </a:r>
            <a:r>
              <a:rPr lang="en-US"/>
              <a:t> PII supports real-time classification of sensitive personal data.</a:t>
            </a:r>
          </a:p>
          <a:p>
            <a:r>
              <a:rPr lang="en-US"/>
              <a:t>Content Safety Reasoning introduces policy reasoning—applying structured logic to make nuanced safety decisions.</a:t>
            </a:r>
          </a:p>
          <a:p>
            <a:r>
              <a:rPr lang="en-US"/>
              <a:t>Content Safety VL extends safety techniques to multimodal inputs including images.</a:t>
            </a:r>
          </a:p>
          <a:p>
            <a:r>
              <a:rPr lang="en-US"/>
              <a:t> </a:t>
            </a:r>
          </a:p>
          <a:p>
            <a:r>
              <a:rPr lang="en-US"/>
              <a:t>Every model is available openly on Hugging Face and/or NVIDIA NIM so enterprises can use or deploy them in any environment.</a:t>
            </a:r>
          </a:p>
        </p:txBody>
      </p:sp>
      <p:sp>
        <p:nvSpPr>
          <p:cNvPr id="4" name="Slide Number Placeholder 3">
            <a:extLst>
              <a:ext uri="{FF2B5EF4-FFF2-40B4-BE49-F238E27FC236}">
                <a16:creationId xmlns:a16="http://schemas.microsoft.com/office/drawing/2014/main" id="{585EE69C-7C60-9BC9-6F78-EAED969DB910}"/>
              </a:ext>
            </a:extLst>
          </p:cNvPr>
          <p:cNvSpPr>
            <a:spLocks noGrp="1"/>
          </p:cNvSpPr>
          <p:nvPr>
            <p:ph type="sldNum" sz="quarter" idx="5"/>
          </p:nvPr>
        </p:nvSpPr>
        <p:spPr/>
        <p:txBody>
          <a:bodyPr/>
          <a:lstStyle/>
          <a:p>
            <a:fld id="{8470C524-AED4-4007-B81B-37EB0B35AF0B}" type="slidenum">
              <a:rPr lang="en-US" smtClean="0"/>
              <a:t>22</a:t>
            </a:fld>
            <a:endParaRPr lang="en-US"/>
          </a:p>
        </p:txBody>
      </p:sp>
    </p:spTree>
    <p:extLst>
      <p:ext uri="{BB962C8B-B14F-4D97-AF65-F5344CB8AC3E}">
        <p14:creationId xmlns:p14="http://schemas.microsoft.com/office/powerpoint/2010/main" val="1374135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4"/>
        <p:cNvGrpSpPr/>
        <p:nvPr/>
      </p:nvGrpSpPr>
      <p:grpSpPr>
        <a:xfrm>
          <a:off x="0" y="0"/>
          <a:ext cx="0" cy="0"/>
          <a:chOff x="0" y="0"/>
          <a:chExt cx="0" cy="0"/>
        </a:xfrm>
      </p:grpSpPr>
      <p:sp>
        <p:nvSpPr>
          <p:cNvPr id="4585" name="Google Shape;458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6" name="Google Shape;458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a:t>We provide extensive documentation, tutorials, blog posts, and reference implementations.</a:t>
            </a:r>
          </a:p>
          <a:p>
            <a:r>
              <a:rPr lang="en-US"/>
              <a:t>Teams can learn, test, and deploy safety models and Guardrails quickly—with full transparency into datasets and performance.</a:t>
            </a:r>
            <a:endParaRPr/>
          </a:p>
        </p:txBody>
      </p:sp>
      <p:sp>
        <p:nvSpPr>
          <p:cNvPr id="4587" name="Google Shape;4587;p27:notes"/>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60366-F784-4239-1811-D2E495D9F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F995D-4FF7-C7C5-E3AF-406021F06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CA08F-B7B5-3702-6D6B-C28F8F66E6F0}"/>
              </a:ext>
            </a:extLst>
          </p:cNvPr>
          <p:cNvSpPr>
            <a:spLocks noGrp="1"/>
          </p:cNvSpPr>
          <p:nvPr>
            <p:ph type="body" idx="1"/>
          </p:nvPr>
        </p:nvSpPr>
        <p:spPr/>
        <p:txBody>
          <a:bodyPr/>
          <a:lstStyle/>
          <a:p>
            <a:r>
              <a:rPr lang="en-US"/>
              <a:t>Thanks for joining today. This session is focused on NVIDIA’s approach to AI Safety—specifically how enterprises can secure, safeguard, and govern AI agents as they shift from simple chat interactions to multimodal, tool-using, autonomous workflows. Agentic AI creates enormous opportunity, but it also introduces new, complex safety challenges. Today, we’ll walk through those challenges and how NVIDIA’s safety stack—open models, datasets, and open library —helps enterprises mitigate risk while maintaining performance.</a:t>
            </a:r>
          </a:p>
        </p:txBody>
      </p:sp>
      <p:sp>
        <p:nvSpPr>
          <p:cNvPr id="4" name="Slide Number Placeholder 3">
            <a:extLst>
              <a:ext uri="{FF2B5EF4-FFF2-40B4-BE49-F238E27FC236}">
                <a16:creationId xmlns:a16="http://schemas.microsoft.com/office/drawing/2014/main" id="{CBBA8A02-E5F0-56BA-94F2-38077BDB6158}"/>
              </a:ext>
            </a:extLst>
          </p:cNvPr>
          <p:cNvSpPr>
            <a:spLocks noGrp="1"/>
          </p:cNvSpPr>
          <p:nvPr>
            <p:ph type="sldNum" sz="quarter" idx="5"/>
          </p:nvPr>
        </p:nvSpPr>
        <p:spPr/>
        <p:txBody>
          <a:bodyPr/>
          <a:lstStyle/>
          <a:p>
            <a:fld id="{8470C524-AED4-4007-B81B-37EB0B35AF0B}" type="slidenum">
              <a:rPr lang="en-US" smtClean="0"/>
              <a:t>24</a:t>
            </a:fld>
            <a:endParaRPr lang="en-US"/>
          </a:p>
        </p:txBody>
      </p:sp>
    </p:spTree>
    <p:extLst>
      <p:ext uri="{BB962C8B-B14F-4D97-AF65-F5344CB8AC3E}">
        <p14:creationId xmlns:p14="http://schemas.microsoft.com/office/powerpoint/2010/main" val="42883118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2042" y="257844"/>
            <a:ext cx="2788664" cy="96077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504338" y="994526"/>
            <a:ext cx="6427405" cy="1645920"/>
          </a:xfrm>
        </p:spPr>
        <p:txBody>
          <a:bodyPr anchor="b">
            <a:normAutofit/>
          </a:bodyPr>
          <a:lstStyle>
            <a:lvl1pPr algn="l">
              <a:defRPr sz="2933"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504338" y="2647242"/>
            <a:ext cx="6427405" cy="567944"/>
          </a:xfrm>
          <a:prstGeom prst="rect">
            <a:avLst/>
          </a:prstGeom>
        </p:spPr>
        <p:txBody>
          <a:bodyPr>
            <a:normAutofit/>
          </a:bodyPr>
          <a:lstStyle>
            <a:lvl1pPr marL="0" indent="0" algn="l">
              <a:buNone/>
              <a:defRPr sz="1467" b="0" cap="none" baseline="0">
                <a:solidFill>
                  <a:schemeClr val="bg1"/>
                </a:solidFill>
                <a:latin typeface="NVIDIA Sans" panose="020B0503020203020204" pitchFamily="34" charset="0"/>
                <a:cs typeface="NVIDIA Sans" panose="020B0503020203020204" pitchFamily="34" charset="0"/>
              </a:defRPr>
            </a:lvl1pPr>
            <a:lvl2pPr marL="457108" indent="0" algn="ctr">
              <a:buNone/>
              <a:defRPr sz="2000"/>
            </a:lvl2pPr>
            <a:lvl3pPr marL="914218" indent="0" algn="ctr">
              <a:buNone/>
              <a:defRPr sz="1800"/>
            </a:lvl3pPr>
            <a:lvl4pPr marL="1371326" indent="0" algn="ctr">
              <a:buNone/>
              <a:defRPr sz="1600"/>
            </a:lvl4pPr>
            <a:lvl5pPr marL="1828434" indent="0" algn="ctr">
              <a:buNone/>
              <a:defRPr sz="1600"/>
            </a:lvl5pPr>
            <a:lvl6pPr marL="2285542" indent="0" algn="ctr">
              <a:buNone/>
              <a:defRPr sz="1600"/>
            </a:lvl6pPr>
            <a:lvl7pPr marL="2742652" indent="0" algn="ctr">
              <a:buNone/>
              <a:defRPr sz="1600"/>
            </a:lvl7pPr>
            <a:lvl8pPr marL="3199760" indent="0" algn="ctr">
              <a:buNone/>
              <a:defRPr sz="1600"/>
            </a:lvl8pPr>
            <a:lvl9pPr marL="3656868" indent="0" algn="ctr">
              <a:buNone/>
              <a:defRPr sz="1600"/>
            </a:lvl9pPr>
          </a:lstStyle>
          <a:p>
            <a:r>
              <a:rPr lang="en-US"/>
              <a:t>Click to Add Subtitle/Name/Date</a:t>
            </a:r>
          </a:p>
        </p:txBody>
      </p:sp>
    </p:spTree>
    <p:extLst>
      <p:ext uri="{BB962C8B-B14F-4D97-AF65-F5344CB8AC3E}">
        <p14:creationId xmlns:p14="http://schemas.microsoft.com/office/powerpoint/2010/main" val="135509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9787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5000307" y="3518841"/>
            <a:ext cx="3673430" cy="24973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32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1029141" y="3518842"/>
            <a:ext cx="3674174" cy="2621507"/>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5317266" y="3713813"/>
            <a:ext cx="3091011" cy="850276"/>
          </a:xfrm>
          <a:prstGeom prst="rect">
            <a:avLst/>
          </a:prstGeom>
        </p:spPr>
        <p:txBody>
          <a:bodyPr/>
          <a:lstStyle>
            <a:lvl1pPr marL="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1pPr>
            <a:lvl2pPr marL="30474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2pPr>
            <a:lvl3pPr marL="60947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3pPr>
            <a:lvl4pPr marL="91421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4pPr>
            <a:lvl5pPr marL="1218956"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5317266" y="4576671"/>
            <a:ext cx="3091011" cy="850276"/>
          </a:xfrm>
          <a:prstGeom prst="rect">
            <a:avLst/>
          </a:prstGeom>
        </p:spPr>
        <p:txBody>
          <a:bodyPr/>
          <a:lstStyle>
            <a:lvl1pPr marL="0" indent="0">
              <a:buClr>
                <a:schemeClr val="tx2"/>
              </a:buClr>
              <a:buFontTx/>
              <a:buNone/>
              <a:defRPr sz="3200" b="0">
                <a:solidFill>
                  <a:schemeClr val="bg1"/>
                </a:solidFill>
                <a:latin typeface="NVIDIA Sans" panose="020B0503020203020204" pitchFamily="34" charset="0"/>
                <a:cs typeface="NVIDIA Sans" panose="020B0503020203020204" pitchFamily="34" charset="0"/>
              </a:defRPr>
            </a:lvl1pPr>
            <a:lvl2pPr marL="30474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2pPr>
            <a:lvl3pPr marL="60947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3pPr>
            <a:lvl4pPr marL="91421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4pPr>
            <a:lvl5pPr marL="1218956"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283563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91815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236162" y="6545262"/>
            <a:ext cx="2169291"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082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236162" y="6545262"/>
            <a:ext cx="2169291" cy="210379"/>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082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838200" y="1624584"/>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666091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838200" y="1624584"/>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236162" y="6545262"/>
            <a:ext cx="2169291"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025493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838200" y="1624584"/>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236162" y="6545262"/>
            <a:ext cx="2169291" cy="210379"/>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025493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838200"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6281928"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383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838200"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6281928"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236162" y="6545262"/>
            <a:ext cx="2169291"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87988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838200"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6281928" y="1615440"/>
            <a:ext cx="5071872"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236162" y="6545262"/>
            <a:ext cx="2169291" cy="210379"/>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87988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6376416" y="10068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6376416" y="2329399"/>
            <a:ext cx="4879848" cy="3781841"/>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6376416"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5471054" y="1897743"/>
            <a:ext cx="5760826"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591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6376416" y="2329399"/>
            <a:ext cx="4879848" cy="3781841"/>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5471054" y="1897743"/>
            <a:ext cx="5760826"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6376416" y="40625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Tree>
    <p:extLst>
      <p:ext uri="{BB962C8B-B14F-4D97-AF65-F5344CB8AC3E}">
        <p14:creationId xmlns:p14="http://schemas.microsoft.com/office/powerpoint/2010/main" val="206333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6720946"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865632" y="10068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865632" y="2329399"/>
            <a:ext cx="4879848" cy="3781841"/>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865632"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6501472"/>
            <a:ext cx="776856" cy="360979"/>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93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10896600" y="6111238"/>
            <a:ext cx="1295400" cy="7467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865632" y="100689"/>
            <a:ext cx="4879848" cy="1121898"/>
          </a:xfrm>
        </p:spPr>
        <p:txBody>
          <a:bodyPr>
            <a:normAutofit/>
          </a:bodyPr>
          <a:lstStyle>
            <a:lvl1pPr algn="l">
              <a:spcBef>
                <a:spcPts val="200"/>
              </a:spcBef>
              <a:spcAft>
                <a:spcPts val="200"/>
              </a:spcAft>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865632" y="2329399"/>
            <a:ext cx="4879848" cy="3781841"/>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865632"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6720946" y="1"/>
            <a:ext cx="5471054" cy="6857999"/>
          </a:xfrm>
          <a:prstGeom prst="rect">
            <a:avLst/>
          </a:prstGeom>
          <a:solidFill>
            <a:schemeClr val="tx1">
              <a:lumMod val="95000"/>
            </a:schemeClr>
          </a:solidFill>
          <a:ln w="9525">
            <a:noFill/>
          </a:ln>
        </p:spPr>
        <p:txBody>
          <a:bodyPr tIns="731520" anchor="ctr"/>
          <a:lstStyle/>
          <a:p>
            <a:pPr lvl="0" indent="0" algn="ctr" defTabSz="914218">
              <a:lnSpc>
                <a:spcPct val="90000"/>
              </a:lnSpc>
              <a:spcBef>
                <a:spcPts val="1000"/>
              </a:spcBef>
              <a:buFontTx/>
              <a:buNone/>
            </a:pPr>
            <a:endParaRPr lang="en-US" sz="1333"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6501472"/>
            <a:ext cx="776856" cy="360979"/>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522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865632" y="40625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865632" y="2329399"/>
            <a:ext cx="4879848" cy="3781841"/>
          </a:xfrm>
          <a:prstGeom prst="rect">
            <a:avLst/>
          </a:prstGeom>
        </p:spPr>
        <p:txBody>
          <a:bodyP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6501472"/>
            <a:ext cx="776856" cy="360979"/>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6720946"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Tree>
    <p:extLst>
      <p:ext uri="{BB962C8B-B14F-4D97-AF65-F5344CB8AC3E}">
        <p14:creationId xmlns:p14="http://schemas.microsoft.com/office/powerpoint/2010/main" val="1723949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5474208" y="0"/>
            <a:ext cx="6717792"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865633" y="2868051"/>
            <a:ext cx="4059935" cy="1121898"/>
          </a:xfrm>
        </p:spPr>
        <p:txBody>
          <a:bodyPr anchor="ct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6501472"/>
            <a:ext cx="776856" cy="360979"/>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357459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865632" y="2276531"/>
            <a:ext cx="4047744" cy="1121898"/>
          </a:xfrm>
        </p:spPr>
        <p:txBody>
          <a:bodyPr anchor="b">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865632" y="3427707"/>
            <a:ext cx="4047744"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6501472"/>
            <a:ext cx="776856" cy="360979"/>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5474208" y="0"/>
            <a:ext cx="6717792"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54" lvl="0" indent="-228554" algn="ctr"/>
            <a:r>
              <a:rPr lang="en-US"/>
              <a:t>Click icon to add picture</a:t>
            </a:r>
          </a:p>
        </p:txBody>
      </p:sp>
    </p:spTree>
    <p:extLst>
      <p:ext uri="{BB962C8B-B14F-4D97-AF65-F5344CB8AC3E}">
        <p14:creationId xmlns:p14="http://schemas.microsoft.com/office/powerpoint/2010/main" val="4224912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2020883" y="1616604"/>
            <a:ext cx="8150234"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2020883" y="5687987"/>
            <a:ext cx="81502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2020883" y="5917189"/>
            <a:ext cx="81502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250424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6451600" y="2306656"/>
            <a:ext cx="5194532" cy="2626508"/>
          </a:xfrm>
          <a:prstGeom prst="rect">
            <a:avLst/>
          </a:prstGeom>
        </p:spPr>
        <p:txBody>
          <a:bodyPr anchor="ct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48387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6197600"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6197603" y="5687987"/>
            <a:ext cx="544875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6197603" y="5917189"/>
            <a:ext cx="544875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10075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545868" y="1616604"/>
            <a:ext cx="294409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3686118" y="2306656"/>
            <a:ext cx="2308283" cy="2626508"/>
          </a:xfrm>
          <a:prstGeom prst="rect">
            <a:avLst/>
          </a:prstGeom>
        </p:spPr>
        <p:txBody>
          <a:bodyPr anchor="ct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6197602" y="1616604"/>
            <a:ext cx="294409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9337852" y="2306656"/>
            <a:ext cx="2308283" cy="2626508"/>
          </a:xfrm>
          <a:prstGeom prst="rect">
            <a:avLst/>
          </a:prstGeom>
        </p:spPr>
        <p:txBody>
          <a:bodyPr anchor="ctr"/>
          <a:lstStyle>
            <a:lvl1pPr marL="152370" indent="-152370">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545868" y="5687987"/>
            <a:ext cx="294409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545868" y="5917189"/>
            <a:ext cx="294409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6197603" y="5687987"/>
            <a:ext cx="2944215"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6197603" y="5917189"/>
            <a:ext cx="2944215"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741609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8049491"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4297679"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545868"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551037" y="5687987"/>
            <a:ext cx="359664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551037" y="5917189"/>
            <a:ext cx="359664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4297680" y="5687987"/>
            <a:ext cx="359664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4297680" y="5917189"/>
            <a:ext cx="359664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8044324" y="5687987"/>
            <a:ext cx="35967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8044324" y="5917189"/>
            <a:ext cx="35967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2363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6173587"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3357419"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545869" y="1616604"/>
            <a:ext cx="2656377"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8989753" y="1616604"/>
            <a:ext cx="2656378"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3362445" y="5687987"/>
            <a:ext cx="265596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543509" y="5687987"/>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3362445" y="5917189"/>
            <a:ext cx="265596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543509" y="5917189"/>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6175844" y="5687987"/>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6175844" y="5917189"/>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8992014" y="5687987"/>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8992014" y="5917189"/>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022663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429713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548528"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804949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552281"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552281"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4298116"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4298116"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8050438" y="3327295"/>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8050438" y="3556498"/>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6173586"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2421773"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2425529"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2425529"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6177851" y="5687987"/>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6177851" y="5917189"/>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590814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429713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548528"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804949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552281"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552281"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4298116"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4298116"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8050438" y="3327295"/>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8050438" y="3556498"/>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4300885"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552281"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8053245"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556035"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556035"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4301870"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4301870"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8054192" y="5687987"/>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8054192" y="5917189"/>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16596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4778357" y="5686374"/>
            <a:ext cx="265176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1962191" y="5686374"/>
            <a:ext cx="265677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4778357" y="5909019"/>
            <a:ext cx="265176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1962191" y="5909019"/>
            <a:ext cx="265677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1962191"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4778358"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7594525"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7594526" y="5686374"/>
            <a:ext cx="265048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7594526" y="5909019"/>
            <a:ext cx="265048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6178203"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3362036"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545869"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8994371"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3364804"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545868" y="3327295"/>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3364804"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545868" y="3556498"/>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6178202"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6178202"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8994372" y="3327295"/>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8994372" y="3556498"/>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604803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545868"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3362035"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6178202"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6178203"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3362036"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545869"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8994371"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8989354"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3364804"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545868" y="3327295"/>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3364804"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545868" y="3556498"/>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6178202"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6178202"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8994372" y="3327295"/>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8994372" y="3556498"/>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3362445" y="5686374"/>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543509" y="5686374"/>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3362445" y="5915576"/>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543509" y="5915576"/>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6175844" y="5686374"/>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6175844" y="5915576"/>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8992014" y="5686374"/>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8992014" y="5915576"/>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862100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3927371" y="5686374"/>
            <a:ext cx="208716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1679141" y="5686374"/>
            <a:ext cx="208494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3927371" y="5909019"/>
            <a:ext cx="208716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1679141" y="5909019"/>
            <a:ext cx="208494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1673726"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3926572"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8428719"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6177470"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6177470"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5050687"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2798278"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545869"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7303096"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9555505"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6175873"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8435808"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8435808"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5047304"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279731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5047304"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279731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7300221"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7300221"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9555506" y="3327295"/>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9555506" y="3556498"/>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54586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54586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014265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2794099" y="5686374"/>
            <a:ext cx="208716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545870" y="5686374"/>
            <a:ext cx="208494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2794099" y="5909019"/>
            <a:ext cx="208716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545870" y="5909019"/>
            <a:ext cx="208494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545868"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2798714"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7300862"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5044198"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5044198"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5050687"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2798278"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545869"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7303096"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9555505"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5048016"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7302536"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7302536"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5047304"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279731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5047304"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279731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7300221"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7300221"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9555506" y="3327295"/>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9555506" y="3556498"/>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9553708"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54" lvl="0" indent="-228554"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9548295" y="5701190"/>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9548295" y="5930392"/>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54586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54586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658069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2042" y="257844"/>
            <a:ext cx="2788664" cy="96077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504337" y="994526"/>
            <a:ext cx="6427405" cy="1645920"/>
          </a:xfrm>
        </p:spPr>
        <p:txBody>
          <a:bodyPr anchor="b">
            <a:normAutofit/>
          </a:bodyPr>
          <a:lstStyle>
            <a:lvl1pPr algn="l">
              <a:defRPr sz="2933"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504337" y="2647242"/>
            <a:ext cx="6427405" cy="567944"/>
          </a:xfrm>
          <a:prstGeom prst="rect">
            <a:avLst/>
          </a:prstGeom>
        </p:spPr>
        <p:txBody>
          <a:bodyPr>
            <a:normAutofit/>
          </a:bodyPr>
          <a:lstStyle>
            <a:lvl1pPr marL="0" indent="0" algn="l">
              <a:buNone/>
              <a:defRPr sz="1467" b="0" cap="none" baseline="0">
                <a:solidFill>
                  <a:schemeClr val="bg1"/>
                </a:solidFill>
                <a:latin typeface="NVIDIA Sans" panose="020B0503020203020204" pitchFamily="34" charset="0"/>
                <a:cs typeface="NVIDIA Sans" panose="020B0503020203020204" pitchFamily="34" charset="0"/>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Add Subtitle/Name/Date</a:t>
            </a:r>
          </a:p>
        </p:txBody>
      </p:sp>
    </p:spTree>
    <p:extLst>
      <p:ext uri="{BB962C8B-B14F-4D97-AF65-F5344CB8AC3E}">
        <p14:creationId xmlns:p14="http://schemas.microsoft.com/office/powerpoint/2010/main" val="135509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838200" y="1615440"/>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97875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838200" y="1615440"/>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5000307" y="3518841"/>
            <a:ext cx="3673430" cy="24973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32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1029141" y="3518841"/>
            <a:ext cx="3674174" cy="2621507"/>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5317265" y="3713813"/>
            <a:ext cx="3091011" cy="850276"/>
          </a:xfrm>
          <a:prstGeom prst="rect">
            <a:avLst/>
          </a:prstGeom>
        </p:spPr>
        <p:txBody>
          <a:bodyPr/>
          <a:lstStyle>
            <a:lvl1pPr marL="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1pPr>
            <a:lvl2pPr marL="30477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2pPr>
            <a:lvl3pPr marL="609539"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3pPr>
            <a:lvl4pPr marL="914309"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4pPr>
            <a:lvl5pPr marL="121907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5317265" y="4576671"/>
            <a:ext cx="3091011" cy="850276"/>
          </a:xfrm>
          <a:prstGeom prst="rect">
            <a:avLst/>
          </a:prstGeom>
        </p:spPr>
        <p:txBody>
          <a:bodyPr/>
          <a:lstStyle>
            <a:lvl1pPr marL="0" indent="0">
              <a:buClr>
                <a:schemeClr val="tx2"/>
              </a:buClr>
              <a:buFontTx/>
              <a:buNone/>
              <a:defRPr sz="3200" b="0">
                <a:solidFill>
                  <a:schemeClr val="bg1"/>
                </a:solidFill>
                <a:latin typeface="NVIDIA Sans" panose="020B0503020203020204" pitchFamily="34" charset="0"/>
                <a:cs typeface="NVIDIA Sans" panose="020B0503020203020204" pitchFamily="34" charset="0"/>
              </a:defRPr>
            </a:lvl1pPr>
            <a:lvl2pPr marL="304770"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2pPr>
            <a:lvl3pPr marL="609539"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3pPr>
            <a:lvl4pPr marL="914309"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4pPr>
            <a:lvl5pPr marL="1219078" indent="0">
              <a:buClr>
                <a:schemeClr val="tx2"/>
              </a:buClr>
              <a:buFontTx/>
              <a:buNone/>
              <a:defRPr sz="32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2835632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91815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838200" y="1615440"/>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236162" y="6545262"/>
            <a:ext cx="2168222"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838200" y="1615440"/>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236162" y="6545262"/>
            <a:ext cx="2300630" cy="210379"/>
          </a:xfrm>
          <a:prstGeom prst="rect">
            <a:avLst/>
          </a:prstGeom>
          <a:noFill/>
        </p:spPr>
        <p:txBody>
          <a:bodyPr wrap="non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082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838200" y="1624584"/>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666091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838200" y="1624584"/>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236162" y="6545262"/>
            <a:ext cx="2168222"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838200" y="0"/>
            <a:ext cx="10515600" cy="838200"/>
          </a:xfrm>
        </p:spPr>
        <p:txBody>
          <a:bodyPr>
            <a:normAutofit/>
          </a:bodyPr>
          <a:lstStyle>
            <a:lvl1pPr>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838200" y="1624584"/>
            <a:ext cx="10515600"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236162" y="6545262"/>
            <a:ext cx="2300630" cy="210379"/>
          </a:xfrm>
          <a:prstGeom prst="rect">
            <a:avLst/>
          </a:prstGeom>
          <a:noFill/>
        </p:spPr>
        <p:txBody>
          <a:bodyPr wrap="non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025493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838200"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6281928"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3833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838200"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6281928"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236162" y="6545262"/>
            <a:ext cx="2168222" cy="328423"/>
          </a:xfrm>
          <a:prstGeom prst="rect">
            <a:avLst/>
          </a:prstGeom>
          <a:noFill/>
        </p:spPr>
        <p:txBody>
          <a:bodyPr wrap="squar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838200"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6281928" y="1615440"/>
            <a:ext cx="5071872" cy="4550664"/>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236162" y="6545262"/>
            <a:ext cx="2300630" cy="210379"/>
          </a:xfrm>
          <a:prstGeom prst="rect">
            <a:avLst/>
          </a:prstGeom>
          <a:noFill/>
        </p:spPr>
        <p:txBody>
          <a:bodyPr wrap="none" rtlCol="0">
            <a:spAutoFit/>
          </a:bodyPr>
          <a:lstStyle/>
          <a:p>
            <a:r>
              <a:rPr lang="en-US" sz="767">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187988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6376416" y="10068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6376416" y="2329398"/>
            <a:ext cx="4879848" cy="3781841"/>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6376416"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5471054" y="1897743"/>
            <a:ext cx="5760826"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591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6376416" y="2329398"/>
            <a:ext cx="4879848" cy="3781841"/>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5471054" y="1897743"/>
            <a:ext cx="5760826"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6376416" y="40625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Tree>
    <p:extLst>
      <p:ext uri="{BB962C8B-B14F-4D97-AF65-F5344CB8AC3E}">
        <p14:creationId xmlns:p14="http://schemas.microsoft.com/office/powerpoint/2010/main" val="206333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6720946"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865632" y="10068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865632" y="2329398"/>
            <a:ext cx="4879848" cy="3781841"/>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865632"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6501471"/>
            <a:ext cx="776856" cy="360979"/>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93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10896600" y="6111238"/>
            <a:ext cx="1295400" cy="7467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865632" y="100689"/>
            <a:ext cx="4879848" cy="1121898"/>
          </a:xfrm>
        </p:spPr>
        <p:txBody>
          <a:bodyPr>
            <a:normAutofit/>
          </a:bodyPr>
          <a:lstStyle>
            <a:lvl1pPr algn="l">
              <a:spcBef>
                <a:spcPts val="200"/>
              </a:spcBef>
              <a:spcAft>
                <a:spcPts val="200"/>
              </a:spcAft>
              <a:defRPr sz="24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865632" y="2329398"/>
            <a:ext cx="4879848" cy="3781841"/>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865632" y="1243923"/>
            <a:ext cx="4879848" cy="469392"/>
          </a:xfrm>
          <a:prstGeom prst="rect">
            <a:avLst/>
          </a:prstGeom>
        </p:spPr>
        <p:txBody>
          <a:bodyPr/>
          <a:lstStyle>
            <a:lvl1pPr marL="0" indent="0" algn="l">
              <a:spcBef>
                <a:spcPts val="200"/>
              </a:spcBef>
              <a:spcAft>
                <a:spcPts val="200"/>
              </a:spcAft>
              <a:buFontTx/>
              <a:buNone/>
              <a:defRPr sz="16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6720946" y="0"/>
            <a:ext cx="5471054" cy="6857999"/>
          </a:xfrm>
          <a:prstGeom prst="rect">
            <a:avLst/>
          </a:prstGeom>
          <a:solidFill>
            <a:schemeClr val="tx1">
              <a:lumMod val="95000"/>
            </a:schemeClr>
          </a:solidFill>
          <a:ln w="9525">
            <a:noFill/>
          </a:ln>
        </p:spPr>
        <p:txBody>
          <a:bodyPr tIns="731520" anchor="ctr"/>
          <a:lstStyle/>
          <a:p>
            <a:pPr lvl="0" indent="0" algn="ctr" defTabSz="914309">
              <a:lnSpc>
                <a:spcPct val="90000"/>
              </a:lnSpc>
              <a:spcBef>
                <a:spcPts val="1000"/>
              </a:spcBef>
              <a:buFontTx/>
              <a:buNone/>
            </a:pPr>
            <a:endParaRPr lang="en-US" sz="1333"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6501471"/>
            <a:ext cx="776856" cy="360979"/>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522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865632" y="406259"/>
            <a:ext cx="4879848" cy="1121898"/>
          </a:xfrm>
        </p:spPr>
        <p:txBody>
          <a:bodyP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865632" y="2329398"/>
            <a:ext cx="4879848" cy="3781841"/>
          </a:xfrm>
          <a:prstGeom prst="rect">
            <a:avLst/>
          </a:prstGeom>
        </p:spPr>
        <p:txBody>
          <a:bodyP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6501471"/>
            <a:ext cx="776856" cy="360979"/>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1897743"/>
            <a:ext cx="574548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6720946" y="0"/>
            <a:ext cx="5471054"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Tree>
    <p:extLst>
      <p:ext uri="{BB962C8B-B14F-4D97-AF65-F5344CB8AC3E}">
        <p14:creationId xmlns:p14="http://schemas.microsoft.com/office/powerpoint/2010/main" val="1723949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5474208" y="0"/>
            <a:ext cx="6717792"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865632" y="2868051"/>
            <a:ext cx="4059935" cy="1121898"/>
          </a:xfrm>
        </p:spPr>
        <p:txBody>
          <a:bodyPr anchor="ctr">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6501471"/>
            <a:ext cx="776856" cy="360979"/>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357459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10988040" y="6309360"/>
            <a:ext cx="1203960" cy="548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865632" y="2276531"/>
            <a:ext cx="4047744" cy="1121898"/>
          </a:xfrm>
        </p:spPr>
        <p:txBody>
          <a:bodyPr anchor="b">
            <a:normAutofit/>
          </a:bodyPr>
          <a:lstStyle>
            <a:lvl1pPr algn="l">
              <a:spcBef>
                <a:spcPts val="200"/>
              </a:spcBef>
              <a:spcAft>
                <a:spcPts val="200"/>
              </a:spcAft>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865632" y="3427707"/>
            <a:ext cx="4047744" cy="469392"/>
          </a:xfrm>
          <a:prstGeom prst="rect">
            <a:avLst/>
          </a:prstGeom>
        </p:spPr>
        <p:txBody>
          <a:bodyPr/>
          <a:lstStyle>
            <a:lvl1pPr marL="0" indent="0" algn="l">
              <a:spcBef>
                <a:spcPts val="200"/>
              </a:spcBef>
              <a:spcAft>
                <a:spcPts val="200"/>
              </a:spcAft>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6501471"/>
            <a:ext cx="776856" cy="360979"/>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5474208" y="0"/>
            <a:ext cx="6717792" cy="6858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1333">
                <a:solidFill>
                  <a:schemeClr val="bg1"/>
                </a:solidFill>
                <a:latin typeface="NVIDIA Sans" panose="020B0503020203020204" pitchFamily="34" charset="0"/>
              </a:defRPr>
            </a:lvl1pPr>
          </a:lstStyle>
          <a:p>
            <a:pPr marL="228577" lvl="0" indent="-228577" algn="ctr"/>
            <a:r>
              <a:rPr lang="en-US"/>
              <a:t>Click icon to add picture</a:t>
            </a:r>
          </a:p>
        </p:txBody>
      </p:sp>
    </p:spTree>
    <p:extLst>
      <p:ext uri="{BB962C8B-B14F-4D97-AF65-F5344CB8AC3E}">
        <p14:creationId xmlns:p14="http://schemas.microsoft.com/office/powerpoint/2010/main" val="4224912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2020883" y="1616604"/>
            <a:ext cx="8150234"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2020883" y="5687987"/>
            <a:ext cx="81502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2020883" y="5917189"/>
            <a:ext cx="81502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250424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6451600" y="2306656"/>
            <a:ext cx="5194532" cy="2626508"/>
          </a:xfrm>
          <a:prstGeom prst="rect">
            <a:avLst/>
          </a:prstGeom>
        </p:spPr>
        <p:txBody>
          <a:bodyPr anchor="ct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48387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6197600"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6197602" y="5687987"/>
            <a:ext cx="544875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6197602" y="5917189"/>
            <a:ext cx="544875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10075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545868" y="1616604"/>
            <a:ext cx="294409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3686117" y="2306656"/>
            <a:ext cx="2308283" cy="2626508"/>
          </a:xfrm>
          <a:prstGeom prst="rect">
            <a:avLst/>
          </a:prstGeom>
        </p:spPr>
        <p:txBody>
          <a:bodyPr anchor="ct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6197602" y="1616604"/>
            <a:ext cx="294409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9337851" y="2306656"/>
            <a:ext cx="2308283" cy="2626508"/>
          </a:xfrm>
          <a:prstGeom prst="rect">
            <a:avLst/>
          </a:prstGeom>
        </p:spPr>
        <p:txBody>
          <a:bodyPr anchor="ctr"/>
          <a:lstStyle>
            <a:lvl1pPr marL="152385" indent="-152385">
              <a:buClr>
                <a:schemeClr val="tx2"/>
              </a:buClr>
              <a:buFont typeface="NVIDIA Sans" panose="020B0503020203020204" pitchFamily="34" charset="0"/>
              <a:buChar char="•"/>
              <a:defRPr sz="1467">
                <a:solidFill>
                  <a:schemeClr val="bg1"/>
                </a:solidFill>
                <a:latin typeface="NVIDIA Sans" panose="020B0503020203020204" pitchFamily="34" charset="0"/>
                <a:cs typeface="NVIDIA Sans" panose="020B0503020203020204" pitchFamily="34" charset="0"/>
              </a:defRPr>
            </a:lvl1pPr>
            <a:lvl2pPr marL="457154" indent="-152385">
              <a:buClr>
                <a:schemeClr val="tx2"/>
              </a:buClr>
              <a:buFont typeface="NVIDIA Sans" panose="020B0503020203020204" pitchFamily="34" charset="0"/>
              <a:buChar char="•"/>
              <a:defRPr sz="1333">
                <a:solidFill>
                  <a:schemeClr val="bg1"/>
                </a:solidFill>
                <a:latin typeface="NVIDIA Sans" panose="020B0503020203020204" pitchFamily="34" charset="0"/>
                <a:cs typeface="NVIDIA Sans" panose="020B0503020203020204" pitchFamily="34" charset="0"/>
              </a:defRPr>
            </a:lvl2pPr>
            <a:lvl3pPr marL="761924" indent="-152385">
              <a:buClr>
                <a:schemeClr val="tx2"/>
              </a:buClr>
              <a:buFont typeface="NVIDIA Sans" panose="020B0503020203020204" pitchFamily="34" charset="0"/>
              <a:buChar char="•"/>
              <a:defRPr sz="1200">
                <a:solidFill>
                  <a:schemeClr val="bg1"/>
                </a:solidFill>
                <a:latin typeface="NVIDIA Sans" panose="020B0503020203020204" pitchFamily="34" charset="0"/>
                <a:cs typeface="NVIDIA Sans" panose="020B0503020203020204" pitchFamily="34" charset="0"/>
              </a:defRPr>
            </a:lvl3pPr>
            <a:lvl4pPr marL="1066693" indent="-152385">
              <a:buClr>
                <a:schemeClr val="tx2"/>
              </a:buClr>
              <a:buFont typeface="NVIDIA Sans" panose="020B0503020203020204" pitchFamily="34" charset="0"/>
              <a:buChar char="•"/>
              <a:defRPr sz="1067">
                <a:solidFill>
                  <a:schemeClr val="bg1"/>
                </a:solidFill>
                <a:latin typeface="NVIDIA Sans" panose="020B0503020203020204" pitchFamily="34" charset="0"/>
                <a:cs typeface="NVIDIA Sans" panose="020B0503020203020204" pitchFamily="34" charset="0"/>
              </a:defRPr>
            </a:lvl4pPr>
            <a:lvl5pPr marL="1351357" indent="-132278">
              <a:buClr>
                <a:schemeClr val="tx2"/>
              </a:buClr>
              <a:buFont typeface="NVIDIA Sans" panose="020B0503020203020204" pitchFamily="34" charset="0"/>
              <a:buChar char="•"/>
              <a:defRPr sz="933">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545868" y="5687987"/>
            <a:ext cx="294409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545868" y="5917189"/>
            <a:ext cx="294409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6197602" y="5687987"/>
            <a:ext cx="2944215"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6197602" y="5917189"/>
            <a:ext cx="2944215"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741609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8049491"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4297679"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545868" y="1616604"/>
            <a:ext cx="3596640" cy="4006612"/>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551037" y="5687987"/>
            <a:ext cx="359664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551037" y="5917189"/>
            <a:ext cx="359664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4297680" y="5687987"/>
            <a:ext cx="359664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4297680" y="5917189"/>
            <a:ext cx="359664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8044324" y="5687987"/>
            <a:ext cx="35967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8044324" y="5917189"/>
            <a:ext cx="35967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2363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6173586"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3357418"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545869" y="1616604"/>
            <a:ext cx="2656377"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8989753" y="1616604"/>
            <a:ext cx="2656378"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3362444" y="5687987"/>
            <a:ext cx="265596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543509" y="5687987"/>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3362444" y="5917189"/>
            <a:ext cx="265596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543509" y="5917189"/>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6175843" y="5687987"/>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6175843" y="5917189"/>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8992013" y="5687987"/>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8992013" y="5917189"/>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022663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429713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548528"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804949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552281"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552281"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4298116"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4298116"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8050438" y="3327295"/>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8050438" y="3556498"/>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6173586"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2421773"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2425529"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2425529"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6177851" y="5687987"/>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6177851" y="5917189"/>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590814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429713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548528"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8049491" y="1616605"/>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552281"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552281"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4298116" y="3327295"/>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4298116" y="3556498"/>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8050438" y="3327295"/>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8050438" y="3556498"/>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4300885"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552281"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8053245" y="3977296"/>
            <a:ext cx="359664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556035"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556035"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4301870" y="5687987"/>
            <a:ext cx="359288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4301870" y="5917189"/>
            <a:ext cx="359288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8054192" y="5687987"/>
            <a:ext cx="3593034"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8054192" y="5917189"/>
            <a:ext cx="3593034"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16596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4778357" y="5686374"/>
            <a:ext cx="265176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1962191" y="5686374"/>
            <a:ext cx="265677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4778357" y="5909019"/>
            <a:ext cx="265176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1962191" y="5909019"/>
            <a:ext cx="265677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1962191"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4778358"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7594525"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7594525" y="5686374"/>
            <a:ext cx="265048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7594525" y="5909019"/>
            <a:ext cx="265048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6178203"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3362036"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545869"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8994371"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3364803"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545868" y="3327295"/>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3364803"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545868" y="3556498"/>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6178201"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6178201"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8994371" y="3327295"/>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8994371" y="3556498"/>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604803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545868"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3362035"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6178202"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6178203"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3362036"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545869"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8994371" y="1616605"/>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8989354" y="3975399"/>
            <a:ext cx="265176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3364803"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545868" y="3327295"/>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3364803"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545868" y="3556498"/>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6178201" y="3327295"/>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6178201" y="3556498"/>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8994371" y="3327295"/>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8994371" y="3556498"/>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3362444" y="5686374"/>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543509" y="5686374"/>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3362444" y="5915576"/>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543509" y="5915576"/>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6175843" y="5686374"/>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6175843" y="5915576"/>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8992013" y="5686374"/>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8992013" y="5915576"/>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862100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3927370" y="5686374"/>
            <a:ext cx="208716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1679140" y="5686374"/>
            <a:ext cx="208494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3927370" y="5909019"/>
            <a:ext cx="208716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1679140" y="5909019"/>
            <a:ext cx="208494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1673726"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3926572"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8428719"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6177470"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6177470"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5050687"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2798278"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545869"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7303096"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9555505"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6175873"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8435808"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8435808"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5047304"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279731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5047304"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279731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7300221"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7300221"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9555505" y="3327295"/>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9555505" y="3556498"/>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54586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54586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014265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2794098" y="5686374"/>
            <a:ext cx="208716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545869" y="5686374"/>
            <a:ext cx="208494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2794098" y="5909019"/>
            <a:ext cx="208716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545869" y="5909019"/>
            <a:ext cx="208494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545868"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2798714"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7300862"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5044198"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5044198"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5050687"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2798278"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545869"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7303096"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9555505" y="1616280"/>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5048016"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7302536" y="5686374"/>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7302536" y="5909019"/>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5047304"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279731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5047304"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279731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7300221"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7300221"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9555505" y="3327295"/>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9555505" y="3556498"/>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9553708" y="3975399"/>
            <a:ext cx="2087880" cy="164592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1200"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9548294" y="5701190"/>
            <a:ext cx="2087967"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9548294" y="5930392"/>
            <a:ext cx="2087967"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545869" y="3327295"/>
            <a:ext cx="208788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545869" y="3556498"/>
            <a:ext cx="208788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658069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12192000" cy="6858000"/>
          </a:xfrm>
          <a:prstGeom prst="rect">
            <a:avLst/>
          </a:prstGeom>
          <a:solidFill>
            <a:schemeClr val="tx1">
              <a:lumMod val="95000"/>
            </a:schemeClr>
          </a:solidFill>
          <a:ln w="19050">
            <a:noFill/>
          </a:ln>
        </p:spPr>
        <p:txBody>
          <a:bodyPr tIns="0" bIns="4206240" anchor="ctr"/>
          <a:lstStyle>
            <a:lvl1pPr marL="0" indent="0" algn="ctr">
              <a:buFontTx/>
              <a:buNone/>
              <a:defRPr sz="24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4218657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12192000" cy="6858000"/>
          </a:xfrm>
          <a:prstGeom prst="rect">
            <a:avLst/>
          </a:prstGeom>
          <a:solidFill>
            <a:schemeClr val="tx1">
              <a:lumMod val="95000"/>
            </a:schemeClr>
          </a:solidFill>
          <a:ln w="19050">
            <a:noFill/>
          </a:ln>
        </p:spPr>
        <p:txBody>
          <a:bodyPr tIns="0" bIns="4206240" anchor="ctr"/>
          <a:lstStyle>
            <a:lvl1pPr marL="0" indent="0" algn="ctr">
              <a:buFontTx/>
              <a:buNone/>
              <a:defRPr sz="24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2316286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12192000" cy="6858000"/>
          </a:xfrm>
          <a:prstGeom prst="rect">
            <a:avLst/>
          </a:prstGeom>
          <a:solidFill>
            <a:schemeClr val="tx1">
              <a:lumMod val="95000"/>
            </a:schemeClr>
          </a:solidFill>
          <a:ln w="19050">
            <a:noFill/>
          </a:ln>
        </p:spPr>
        <p:txBody>
          <a:bodyPr tIns="0" bIns="4206240" anchor="ctr"/>
          <a:lstStyle>
            <a:lvl1pPr marL="0" indent="0" algn="ctr">
              <a:buFontTx/>
              <a:buNone/>
              <a:defRPr lang="en-US" sz="2800" b="1" dirty="0">
                <a:solidFill>
                  <a:schemeClr val="bg1"/>
                </a:solidFill>
                <a:latin typeface="+mn-lt"/>
              </a:defRPr>
            </a:lvl1pPr>
          </a:lstStyle>
          <a:p>
            <a:pPr marL="285692" lvl="0" indent="-285692" algn="ctr"/>
            <a:r>
              <a:rPr lang="en-US"/>
              <a:t>Click to add video</a:t>
            </a:r>
          </a:p>
        </p:txBody>
      </p:sp>
    </p:spTree>
    <p:extLst>
      <p:ext uri="{BB962C8B-B14F-4D97-AF65-F5344CB8AC3E}">
        <p14:creationId xmlns:p14="http://schemas.microsoft.com/office/powerpoint/2010/main" val="897699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2321306"/>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3776425"/>
            <a:ext cx="12192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498797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2321306"/>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6952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2321306"/>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4172373"/>
            <a:ext cx="12192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368301"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368301"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368301" y="2649197"/>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368301"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2717799" y="4005353"/>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2717799" y="3474295"/>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2717799" y="3711598"/>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2717799" y="3226719"/>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5054599"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5054598"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5054599" y="2649197"/>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5054598"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7404100" y="4005353"/>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7404100" y="3474295"/>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7404100" y="3711598"/>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7404100" y="3226719"/>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9766302"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9766301"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9766302" y="2649197"/>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9766301"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093" indent="0">
              <a:buFontTx/>
              <a:buNone/>
              <a:defRPr sz="1333" b="1">
                <a:solidFill>
                  <a:schemeClr val="tx1"/>
                </a:solidFill>
                <a:latin typeface="NVIDIA Sans" panose="020B0503020203020204" pitchFamily="34" charset="0"/>
              </a:defRPr>
            </a:lvl2pPr>
            <a:lvl3pPr marL="1627536" indent="0">
              <a:buFontTx/>
              <a:buNone/>
              <a:defRPr sz="1333" b="1">
                <a:solidFill>
                  <a:schemeClr val="tx1"/>
                </a:solidFill>
                <a:latin typeface="NVIDIA Sans" panose="020B0503020203020204" pitchFamily="34" charset="0"/>
              </a:defRPr>
            </a:lvl3pPr>
            <a:lvl4pPr marL="2310781" indent="0">
              <a:buFontTx/>
              <a:buNone/>
              <a:defRPr sz="1333" b="1">
                <a:solidFill>
                  <a:schemeClr val="tx1"/>
                </a:solidFill>
                <a:latin typeface="NVIDIA Sans" panose="020B0503020203020204" pitchFamily="34" charset="0"/>
              </a:defRPr>
            </a:lvl4pPr>
            <a:lvl5pPr marL="2823239" indent="0">
              <a:buFontTx/>
              <a:buNone/>
              <a:defRPr sz="1333"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3794095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1381257"/>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5089968"/>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356078"/>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2052918" y="4478187"/>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094" indent="0" algn="l">
              <a:lnSpc>
                <a:spcPct val="90000"/>
              </a:lnSpc>
              <a:buFontTx/>
              <a:buNone/>
              <a:defRPr sz="2513" cap="all" baseline="0">
                <a:solidFill>
                  <a:schemeClr val="tx2"/>
                </a:solidFill>
                <a:latin typeface="NVIDIA Sans" panose="020B0503020203020204" pitchFamily="34" charset="0"/>
              </a:defRPr>
            </a:lvl2pPr>
            <a:lvl3pPr marL="1627535" indent="0" algn="l">
              <a:lnSpc>
                <a:spcPct val="90000"/>
              </a:lnSpc>
              <a:buFontTx/>
              <a:buNone/>
              <a:defRPr sz="2513" cap="all" baseline="0">
                <a:solidFill>
                  <a:schemeClr val="tx2"/>
                </a:solidFill>
                <a:latin typeface="NVIDIA Sans" panose="020B0503020203020204" pitchFamily="34" charset="0"/>
              </a:defRPr>
            </a:lvl3pPr>
            <a:lvl4pPr marL="2310781"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2052918" y="1902071"/>
            <a:ext cx="8086165" cy="243567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094" indent="0" algn="l">
              <a:lnSpc>
                <a:spcPct val="90000"/>
              </a:lnSpc>
              <a:buFontTx/>
              <a:buNone/>
              <a:defRPr sz="2513" cap="all" baseline="0">
                <a:solidFill>
                  <a:schemeClr val="tx2"/>
                </a:solidFill>
                <a:latin typeface="NVIDIA Sans" panose="020B0503020203020204" pitchFamily="34" charset="0"/>
              </a:defRPr>
            </a:lvl2pPr>
            <a:lvl3pPr marL="1627535" indent="0" algn="l">
              <a:lnSpc>
                <a:spcPct val="90000"/>
              </a:lnSpc>
              <a:buFontTx/>
              <a:buNone/>
              <a:defRPr sz="2513" cap="all" baseline="0">
                <a:solidFill>
                  <a:schemeClr val="tx2"/>
                </a:solidFill>
                <a:latin typeface="NVIDIA Sans" panose="020B0503020203020204" pitchFamily="34" charset="0"/>
              </a:defRPr>
            </a:lvl3pPr>
            <a:lvl4pPr marL="2310781"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5860760" y="4061575"/>
            <a:ext cx="489557" cy="1564274"/>
          </a:xfrm>
          <a:prstGeom prst="rect">
            <a:avLst/>
          </a:prstGeom>
          <a:noFill/>
        </p:spPr>
        <p:txBody>
          <a:bodyPr wrap="square" rtlCol="0">
            <a:spAutoFit/>
          </a:bodyPr>
          <a:lstStyle/>
          <a:p>
            <a:pPr algn="ctr"/>
            <a:r>
              <a:rPr lang="en-US" sz="9565">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2052918"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6340779"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2052918" y="1265604"/>
            <a:ext cx="8086165" cy="1502869"/>
            <a:chOff x="6158753" y="6234204"/>
            <a:chExt cx="24258494" cy="4508604"/>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3" y="6234204"/>
              <a:ext cx="1468671" cy="4508604"/>
            </a:xfrm>
            <a:prstGeom prst="rect">
              <a:avLst/>
            </a:prstGeom>
            <a:noFill/>
          </p:spPr>
          <p:txBody>
            <a:bodyPr wrap="none" rtlCol="0">
              <a:spAutoFit/>
            </a:bodyPr>
            <a:lstStyle/>
            <a:p>
              <a:pPr algn="ctr"/>
              <a:r>
                <a:rPr lang="en-US" sz="9565">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3912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1381257"/>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5089968"/>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356078"/>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1381257"/>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2052918" y="3959443"/>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094" indent="0" algn="l">
              <a:lnSpc>
                <a:spcPct val="90000"/>
              </a:lnSpc>
              <a:buFontTx/>
              <a:buNone/>
              <a:defRPr sz="2513" cap="all" baseline="0">
                <a:solidFill>
                  <a:schemeClr val="tx2"/>
                </a:solidFill>
                <a:latin typeface="NVIDIA Sans" panose="020B0503020203020204" pitchFamily="34" charset="0"/>
              </a:defRPr>
            </a:lvl2pPr>
            <a:lvl3pPr marL="1627535" indent="0" algn="l">
              <a:lnSpc>
                <a:spcPct val="90000"/>
              </a:lnSpc>
              <a:buFontTx/>
              <a:buNone/>
              <a:defRPr sz="2513" cap="all" baseline="0">
                <a:solidFill>
                  <a:schemeClr val="tx2"/>
                </a:solidFill>
                <a:latin typeface="NVIDIA Sans" panose="020B0503020203020204" pitchFamily="34" charset="0"/>
              </a:defRPr>
            </a:lvl3pPr>
            <a:lvl4pPr marL="2310781"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2052918" y="2351185"/>
            <a:ext cx="8086165" cy="146774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094" indent="0" algn="l">
              <a:lnSpc>
                <a:spcPct val="90000"/>
              </a:lnSpc>
              <a:buFontTx/>
              <a:buNone/>
              <a:defRPr sz="2513" cap="all" baseline="0">
                <a:solidFill>
                  <a:schemeClr val="tx2"/>
                </a:solidFill>
                <a:latin typeface="NVIDIA Sans" panose="020B0503020203020204" pitchFamily="34" charset="0"/>
              </a:defRPr>
            </a:lvl2pPr>
            <a:lvl3pPr marL="1627535" indent="0" algn="l">
              <a:lnSpc>
                <a:spcPct val="90000"/>
              </a:lnSpc>
              <a:buFontTx/>
              <a:buNone/>
              <a:defRPr sz="2513" cap="all" baseline="0">
                <a:solidFill>
                  <a:schemeClr val="tx2"/>
                </a:solidFill>
                <a:latin typeface="NVIDIA Sans" panose="020B0503020203020204" pitchFamily="34" charset="0"/>
              </a:defRPr>
            </a:lvl3pPr>
            <a:lvl4pPr marL="2310781"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2052918" y="1755689"/>
            <a:ext cx="8086165" cy="3367564"/>
            <a:chOff x="6158753" y="6264684"/>
            <a:chExt cx="24258494" cy="10102694"/>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5" y="6264684"/>
              <a:ext cx="1497282" cy="10102694"/>
              <a:chOff x="17553665" y="5634063"/>
              <a:chExt cx="1497282" cy="10102694"/>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5" y="5634063"/>
                <a:ext cx="1468671" cy="4508608"/>
              </a:xfrm>
              <a:prstGeom prst="rect">
                <a:avLst/>
              </a:prstGeom>
              <a:noFill/>
            </p:spPr>
            <p:txBody>
              <a:bodyPr wrap="none" rtlCol="0">
                <a:spAutoFit/>
              </a:bodyPr>
              <a:lstStyle/>
              <a:p>
                <a:pPr algn="ctr"/>
                <a:r>
                  <a:rPr lang="en-US" sz="9565">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6" y="11228149"/>
                <a:ext cx="1468671" cy="4508608"/>
              </a:xfrm>
              <a:prstGeom prst="rect">
                <a:avLst/>
              </a:prstGeom>
              <a:noFill/>
            </p:spPr>
            <p:txBody>
              <a:bodyPr wrap="none" rtlCol="0">
                <a:spAutoFit/>
              </a:bodyPr>
              <a:lstStyle/>
              <a:p>
                <a:pPr algn="ctr"/>
                <a:r>
                  <a:rPr lang="en-US" sz="9565">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4530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12192000" cy="6858000"/>
          </a:xfrm>
          <a:prstGeom prst="rect">
            <a:avLst/>
          </a:prstGeom>
          <a:solidFill>
            <a:schemeClr val="tx1">
              <a:lumMod val="95000"/>
            </a:schemeClr>
          </a:solidFill>
          <a:ln w="19050">
            <a:noFill/>
          </a:ln>
        </p:spPr>
        <p:txBody>
          <a:bodyPr tIns="0" bIns="4206240" anchor="ctr"/>
          <a:lstStyle>
            <a:lvl1pPr marL="0" indent="0" algn="ctr">
              <a:buFontTx/>
              <a:buNone/>
              <a:defRPr lang="en-US" sz="2800" b="1" dirty="0">
                <a:solidFill>
                  <a:schemeClr val="bg1"/>
                </a:solidFill>
                <a:latin typeface="+mn-lt"/>
              </a:defRPr>
            </a:lvl1pPr>
          </a:lstStyle>
          <a:p>
            <a:pPr marL="285721" lvl="0" indent="-285721" algn="ctr"/>
            <a:r>
              <a:rPr lang="en-US"/>
              <a:t>Click to add video</a:t>
            </a:r>
          </a:p>
        </p:txBody>
      </p:sp>
    </p:spTree>
    <p:extLst>
      <p:ext uri="{BB962C8B-B14F-4D97-AF65-F5344CB8AC3E}">
        <p14:creationId xmlns:p14="http://schemas.microsoft.com/office/powerpoint/2010/main" val="897699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2321305"/>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3776425"/>
            <a:ext cx="12192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498797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2321305"/>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69527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2321305"/>
            <a:ext cx="12192000" cy="4536695"/>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838200" y="0"/>
            <a:ext cx="10515600" cy="838200"/>
          </a:xfrm>
        </p:spPr>
        <p:txBody>
          <a:bodyPr/>
          <a:lstStyle>
            <a:lvl1pPr>
              <a:defRPr sz="24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4172373"/>
            <a:ext cx="12192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368300"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368301"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368300" y="2649196"/>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368301"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2717799" y="4005352"/>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2717799" y="3474295"/>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2717799" y="3711597"/>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2717799" y="3226719"/>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5054598"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5054598"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5054598" y="2649196"/>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5054598"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7404099" y="4005352"/>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7404100" y="3474295"/>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7404099" y="3711597"/>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7404100" y="3226719"/>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9766301" y="2942951"/>
            <a:ext cx="2057405" cy="1403131"/>
          </a:xfrm>
          <a:prstGeom prst="rect">
            <a:avLst/>
          </a:prstGeom>
          <a:solidFill>
            <a:schemeClr val="bg2"/>
          </a:solidFill>
          <a:ln w="9525">
            <a:solidFill>
              <a:schemeClr val="accent5"/>
            </a:solidFill>
          </a:ln>
        </p:spPr>
        <p:txBody>
          <a:bodyPr tIns="2194560" anchor="ctr"/>
          <a:lstStyle>
            <a:lvl1pPr marL="0" indent="0" algn="ctr">
              <a:buFontTx/>
              <a:buNone/>
              <a:defRPr sz="1333">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9766301" y="2411894"/>
            <a:ext cx="2057404" cy="265176"/>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9766301" y="2649196"/>
            <a:ext cx="2057405" cy="226585"/>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9766301" y="2164318"/>
            <a:ext cx="2057404" cy="265176"/>
          </a:xfrm>
          <a:prstGeom prst="rect">
            <a:avLst/>
          </a:prstGeom>
        </p:spPr>
        <p:txBody>
          <a:bodyPr anchor="b"/>
          <a:lstStyle>
            <a:lvl1pPr marL="0" indent="0" algn="ctr">
              <a:spcBef>
                <a:spcPts val="400"/>
              </a:spcBef>
              <a:buFontTx/>
              <a:buNone/>
              <a:defRPr sz="2400" b="0" cap="none" baseline="0">
                <a:solidFill>
                  <a:schemeClr val="bg1"/>
                </a:solidFill>
                <a:latin typeface="NVIDIA Sans Light" panose="020B0303020203020204" pitchFamily="34" charset="0"/>
                <a:cs typeface="NVIDIA Sans Light" panose="020B03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3794095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508996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35607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2052918" y="4478187"/>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2052918" y="1902070"/>
            <a:ext cx="8086165" cy="243567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5860760" y="4061509"/>
            <a:ext cx="489557" cy="1564403"/>
          </a:xfrm>
          <a:prstGeom prst="rect">
            <a:avLst/>
          </a:prstGeom>
          <a:noFill/>
        </p:spPr>
        <p:txBody>
          <a:bodyPr wrap="squar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2052918"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6340779"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2052918" y="1265603"/>
            <a:ext cx="8086165" cy="1502976"/>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508996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35607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2052918" y="3959443"/>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2052918" y="2351184"/>
            <a:ext cx="8086165" cy="146774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2052918" y="1755688"/>
            <a:ext cx="8086165" cy="3367617"/>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508996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35607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2052918" y="4478187"/>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2052918" y="1902070"/>
            <a:ext cx="8086165" cy="243567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5799204" y="4061509"/>
            <a:ext cx="612668" cy="1564403"/>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2052918"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6340779" y="5174503"/>
            <a:ext cx="3798304"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2052918" y="1265603"/>
            <a:ext cx="8086165" cy="1564403"/>
            <a:chOff x="6158753" y="6234204"/>
            <a:chExt cx="24258494" cy="4693206"/>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368997" y="6234204"/>
              <a:ext cx="1838004" cy="4693206"/>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3912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508996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356077"/>
            <a:ext cx="12192000" cy="1406083"/>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1381256"/>
            <a:ext cx="12192000" cy="71725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2052918" y="3959443"/>
            <a:ext cx="8086165" cy="347974"/>
          </a:xfrm>
          <a:prstGeom prst="rect">
            <a:avLst/>
          </a:prstGeom>
        </p:spPr>
        <p:txBody>
          <a:bodyPr/>
          <a:lstStyle>
            <a:lvl1pPr marL="0" indent="0" algn="ctr">
              <a:lnSpc>
                <a:spcPct val="90000"/>
              </a:lnSpc>
              <a:spcBef>
                <a:spcPts val="0"/>
              </a:spcBef>
              <a:buFontTx/>
              <a:buNone/>
              <a:defRPr sz="1467" i="1" cap="none" baseline="0">
                <a:solidFill>
                  <a:schemeClr val="tx2"/>
                </a:solidFill>
                <a:latin typeface="NVIDIA Sans" panose="020B0503020203020204" pitchFamily="34" charset="0"/>
                <a:cs typeface="NVIDIA Sans" panose="020B05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2052918" y="2351184"/>
            <a:ext cx="8086165" cy="1467741"/>
          </a:xfrm>
          <a:prstGeom prst="rect">
            <a:avLst/>
          </a:prstGeom>
        </p:spPr>
        <p:txBody>
          <a:bodyPr anchor="ctr"/>
          <a:lstStyle>
            <a:lvl1pPr marL="0" indent="0" algn="ctr">
              <a:lnSpc>
                <a:spcPct val="90000"/>
              </a:lnSpc>
              <a:spcBef>
                <a:spcPts val="0"/>
              </a:spcBef>
              <a:buFontTx/>
              <a:buNone/>
              <a:defRPr sz="4000" cap="none" baseline="0">
                <a:solidFill>
                  <a:schemeClr val="bg1"/>
                </a:solidFill>
                <a:latin typeface="NVIDIA Sans Light" panose="020B0303020203020204" pitchFamily="34" charset="0"/>
                <a:cs typeface="NVIDIA Sans Light" panose="020B03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2052918" y="1755688"/>
            <a:ext cx="8086165" cy="3398331"/>
            <a:chOff x="6158753" y="6264684"/>
            <a:chExt cx="24258494" cy="10194995"/>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368996" y="6264684"/>
              <a:ext cx="1866618" cy="10194995"/>
              <a:chOff x="17368996" y="5634063"/>
              <a:chExt cx="1866618" cy="10194995"/>
            </a:xfrm>
          </p:grpSpPr>
          <p:sp>
            <p:nvSpPr>
              <p:cNvPr id="39" name="TextBox 38">
                <a:extLst>
                  <a:ext uri="{FF2B5EF4-FFF2-40B4-BE49-F238E27FC236}">
                    <a16:creationId xmlns:a16="http://schemas.microsoft.com/office/drawing/2014/main" id="{31D0B919-1FC7-23E4-68BE-05C833FAB722}"/>
                  </a:ext>
                </a:extLst>
              </p:cNvPr>
              <p:cNvSpPr txBox="1"/>
              <p:nvPr/>
            </p:nvSpPr>
            <p:spPr>
              <a:xfrm>
                <a:off x="17368996" y="5634063"/>
                <a:ext cx="1838007" cy="4693210"/>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397610" y="11135848"/>
                <a:ext cx="1838004" cy="4693210"/>
              </a:xfrm>
              <a:prstGeom prst="rect">
                <a:avLst/>
              </a:prstGeom>
              <a:noFill/>
            </p:spPr>
            <p:txBody>
              <a:bodyPr wrap="none" rtlCol="0">
                <a:spAutoFit/>
              </a:bodyPr>
              <a:lstStyle/>
              <a:p>
                <a:pPr algn="ctr"/>
                <a:r>
                  <a:rPr lang="en-US" sz="9566">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4530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5716902" cy="6858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5716902" cy="6858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5734873" y="1798320"/>
            <a:ext cx="188976" cy="5059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805514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491289" y="621745"/>
            <a:ext cx="6158896" cy="1981200"/>
          </a:xfrm>
          <a:prstGeom prst="rect">
            <a:avLst/>
          </a:prstGeom>
        </p:spPr>
        <p:txBody>
          <a:bodyPr anchor="b"/>
          <a:lstStyle>
            <a:lvl1pPr marL="0" indent="0" algn="l">
              <a:spcBef>
                <a:spcPts val="0"/>
              </a:spcBef>
              <a:buFontTx/>
              <a:buNone/>
              <a:defRPr lang="en-US" sz="3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854093" indent="0">
              <a:buFontTx/>
              <a:buNone/>
              <a:defRPr lang="en-US" sz="2666" b="1" kern="0" cap="all" baseline="0" dirty="0" smtClean="0">
                <a:solidFill>
                  <a:schemeClr val="tx1"/>
                </a:solidFill>
                <a:latin typeface="NVIDIA Sans" panose="020B0503020203020204" pitchFamily="34" charset="0"/>
                <a:ea typeface="+mj-ea"/>
                <a:cs typeface="+mj-cs"/>
              </a:defRPr>
            </a:lvl2pPr>
            <a:lvl3pPr marL="1627536" indent="0">
              <a:buFontTx/>
              <a:buNone/>
              <a:defRPr lang="en-US" sz="2666" b="1" kern="0" cap="all" baseline="0" dirty="0" smtClean="0">
                <a:solidFill>
                  <a:schemeClr val="tx1"/>
                </a:solidFill>
                <a:latin typeface="NVIDIA Sans" panose="020B0503020203020204" pitchFamily="34" charset="0"/>
                <a:ea typeface="+mj-ea"/>
                <a:cs typeface="+mj-cs"/>
              </a:defRPr>
            </a:lvl3pPr>
            <a:lvl4pPr marL="2310781" indent="0">
              <a:buFontTx/>
              <a:buNone/>
              <a:defRPr lang="en-US" sz="2666" b="1" kern="0" cap="all" baseline="0" dirty="0" smtClean="0">
                <a:solidFill>
                  <a:schemeClr val="tx1"/>
                </a:solidFill>
                <a:latin typeface="NVIDIA Sans" panose="020B0503020203020204" pitchFamily="34" charset="0"/>
                <a:ea typeface="+mj-ea"/>
                <a:cs typeface="+mj-cs"/>
              </a:defRPr>
            </a:lvl4pPr>
            <a:lvl5pPr marL="2823239" indent="0">
              <a:buFontTx/>
              <a:buNone/>
              <a:defRPr lang="en-US" sz="2666"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0" y="0"/>
            <a:ext cx="188976" cy="24993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665718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12192000" cy="6858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2544754" y="3590668"/>
            <a:ext cx="7577959" cy="1825395"/>
          </a:xfrm>
          <a:prstGeom prst="rect">
            <a:avLst/>
          </a:prstGeom>
        </p:spPr>
        <p:txBody>
          <a:bodyPr/>
          <a:lstStyle>
            <a:lvl1pPr marL="0" indent="0" algn="l">
              <a:lnSpc>
                <a:spcPct val="90000"/>
              </a:lnSpc>
              <a:spcBef>
                <a:spcPts val="0"/>
              </a:spcBef>
              <a:buFontTx/>
              <a:buNone/>
              <a:defRPr sz="1467" cap="none" baseline="0">
                <a:solidFill>
                  <a:schemeClr val="tx1"/>
                </a:solidFill>
                <a:latin typeface="NVIDIA Sans Medium" panose="020B0603020203020204" pitchFamily="34" charset="0"/>
                <a:cs typeface="NVIDIA Sans Medium" panose="020B0603020203020204" pitchFamily="34" charset="0"/>
              </a:defRPr>
            </a:lvl1pPr>
            <a:lvl2pPr marL="854094" indent="0" algn="l">
              <a:lnSpc>
                <a:spcPct val="90000"/>
              </a:lnSpc>
              <a:buFontTx/>
              <a:buNone/>
              <a:defRPr sz="2513" cap="all" baseline="0">
                <a:solidFill>
                  <a:schemeClr val="tx2"/>
                </a:solidFill>
                <a:latin typeface="NVIDIA Sans" panose="020B0503020203020204" pitchFamily="34" charset="0"/>
              </a:defRPr>
            </a:lvl2pPr>
            <a:lvl3pPr marL="1627535" indent="0" algn="l">
              <a:lnSpc>
                <a:spcPct val="90000"/>
              </a:lnSpc>
              <a:buFontTx/>
              <a:buNone/>
              <a:defRPr sz="2513" cap="all" baseline="0">
                <a:solidFill>
                  <a:schemeClr val="tx2"/>
                </a:solidFill>
                <a:latin typeface="NVIDIA Sans" panose="020B0503020203020204" pitchFamily="34" charset="0"/>
              </a:defRPr>
            </a:lvl3pPr>
            <a:lvl4pPr marL="2310781"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2544755" y="3008255"/>
            <a:ext cx="7577959" cy="584755"/>
          </a:xfrm>
          <a:prstGeom prst="rect">
            <a:avLst/>
          </a:prstGeom>
        </p:spPr>
        <p:txBody>
          <a:bodyPr/>
          <a:lstStyle>
            <a:lvl1pPr algn="l">
              <a:defRPr sz="4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2397715" y="2082682"/>
            <a:ext cx="785753" cy="785752"/>
          </a:xfrm>
          <a:prstGeom prst="rect">
            <a:avLst/>
          </a:prstGeom>
        </p:spPr>
      </p:pic>
    </p:spTree>
    <p:extLst>
      <p:ext uri="{BB962C8B-B14F-4D97-AF65-F5344CB8AC3E}">
        <p14:creationId xmlns:p14="http://schemas.microsoft.com/office/powerpoint/2010/main" val="943206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491289" y="621745"/>
            <a:ext cx="6158896" cy="1981200"/>
          </a:xfrm>
          <a:prstGeom prst="rect">
            <a:avLst/>
          </a:prstGeom>
        </p:spPr>
        <p:txBody>
          <a:bodyPr anchor="b"/>
          <a:lstStyle>
            <a:lvl1pPr marL="0" indent="0" algn="l">
              <a:spcBef>
                <a:spcPts val="0"/>
              </a:spcBef>
              <a:buFontTx/>
              <a:buNone/>
              <a:defRPr lang="en-US" sz="3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854178" indent="0">
              <a:buFontTx/>
              <a:buNone/>
              <a:defRPr lang="en-US" sz="2666" b="1" kern="0" cap="all" baseline="0" dirty="0" smtClean="0">
                <a:solidFill>
                  <a:schemeClr val="tx1"/>
                </a:solidFill>
                <a:latin typeface="NVIDIA Sans" panose="020B0503020203020204" pitchFamily="34" charset="0"/>
                <a:ea typeface="+mj-ea"/>
                <a:cs typeface="+mj-cs"/>
              </a:defRPr>
            </a:lvl2pPr>
            <a:lvl3pPr marL="1627699" indent="0">
              <a:buFontTx/>
              <a:buNone/>
              <a:defRPr lang="en-US" sz="2666" b="1" kern="0" cap="all" baseline="0" dirty="0" smtClean="0">
                <a:solidFill>
                  <a:schemeClr val="tx1"/>
                </a:solidFill>
                <a:latin typeface="NVIDIA Sans" panose="020B0503020203020204" pitchFamily="34" charset="0"/>
                <a:ea typeface="+mj-ea"/>
                <a:cs typeface="+mj-cs"/>
              </a:defRPr>
            </a:lvl3pPr>
            <a:lvl4pPr marL="2311012" indent="0">
              <a:buFontTx/>
              <a:buNone/>
              <a:defRPr lang="en-US" sz="2666" b="1" kern="0" cap="all" baseline="0" dirty="0" smtClean="0">
                <a:solidFill>
                  <a:schemeClr val="tx1"/>
                </a:solidFill>
                <a:latin typeface="NVIDIA Sans" panose="020B0503020203020204" pitchFamily="34" charset="0"/>
                <a:ea typeface="+mj-ea"/>
                <a:cs typeface="+mj-cs"/>
              </a:defRPr>
            </a:lvl4pPr>
            <a:lvl5pPr marL="2823521" indent="0">
              <a:buFontTx/>
              <a:buNone/>
              <a:defRPr lang="en-US" sz="2666"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0" y="0"/>
            <a:ext cx="188976" cy="24993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665718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12192000" cy="6858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2544753" y="3590667"/>
            <a:ext cx="7577959" cy="1825395"/>
          </a:xfrm>
          <a:prstGeom prst="rect">
            <a:avLst/>
          </a:prstGeom>
        </p:spPr>
        <p:txBody>
          <a:bodyPr/>
          <a:lstStyle>
            <a:lvl1pPr marL="0" indent="0" algn="l">
              <a:lnSpc>
                <a:spcPct val="90000"/>
              </a:lnSpc>
              <a:spcBef>
                <a:spcPts val="0"/>
              </a:spcBef>
              <a:buFontTx/>
              <a:buNone/>
              <a:defRPr sz="1467" cap="none" baseline="0">
                <a:solidFill>
                  <a:schemeClr val="tx1"/>
                </a:solidFill>
                <a:latin typeface="NVIDIA Sans Medium" panose="020B0603020203020204" pitchFamily="34" charset="0"/>
                <a:cs typeface="NVIDIA Sans Medium" panose="020B0603020203020204" pitchFamily="34" charset="0"/>
              </a:defRPr>
            </a:lvl1pPr>
            <a:lvl2pPr marL="854179" indent="0" algn="l">
              <a:lnSpc>
                <a:spcPct val="90000"/>
              </a:lnSpc>
              <a:buFontTx/>
              <a:buNone/>
              <a:defRPr sz="2513" cap="all" baseline="0">
                <a:solidFill>
                  <a:schemeClr val="tx2"/>
                </a:solidFill>
                <a:latin typeface="NVIDIA Sans" panose="020B0503020203020204" pitchFamily="34" charset="0"/>
              </a:defRPr>
            </a:lvl2pPr>
            <a:lvl3pPr marL="1627698" indent="0" algn="l">
              <a:lnSpc>
                <a:spcPct val="90000"/>
              </a:lnSpc>
              <a:buFontTx/>
              <a:buNone/>
              <a:defRPr sz="2513" cap="all" baseline="0">
                <a:solidFill>
                  <a:schemeClr val="tx2"/>
                </a:solidFill>
                <a:latin typeface="NVIDIA Sans" panose="020B0503020203020204" pitchFamily="34" charset="0"/>
              </a:defRPr>
            </a:lvl3pPr>
            <a:lvl4pPr marL="2311012"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2544754" y="3008254"/>
            <a:ext cx="7577959" cy="584755"/>
          </a:xfrm>
          <a:prstGeom prst="rect">
            <a:avLst/>
          </a:prstGeom>
        </p:spPr>
        <p:txBody>
          <a:bodyPr/>
          <a:lstStyle>
            <a:lvl1pPr algn="l">
              <a:defRPr sz="4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2397714" y="2082682"/>
            <a:ext cx="785753" cy="785752"/>
          </a:xfrm>
          <a:prstGeom prst="rect">
            <a:avLst/>
          </a:prstGeom>
        </p:spPr>
      </p:pic>
    </p:spTree>
    <p:extLst>
      <p:ext uri="{BB962C8B-B14F-4D97-AF65-F5344CB8AC3E}">
        <p14:creationId xmlns:p14="http://schemas.microsoft.com/office/powerpoint/2010/main" val="943206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2042" y="257844"/>
            <a:ext cx="2788664" cy="960770"/>
          </a:xfrm>
          <a:prstGeom prst="rect">
            <a:avLst/>
          </a:prstGeom>
        </p:spPr>
      </p:pic>
    </p:spTree>
    <p:extLst>
      <p:ext uri="{BB962C8B-B14F-4D97-AF65-F5344CB8AC3E}">
        <p14:creationId xmlns:p14="http://schemas.microsoft.com/office/powerpoint/2010/main" val="2332533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Subtitle, Bullets">
  <p:cSld name="1_Title, Subtitle, Bullets">
    <p:spTree>
      <p:nvGrpSpPr>
        <p:cNvPr id="1" name="Shape 505"/>
        <p:cNvGrpSpPr/>
        <p:nvPr/>
      </p:nvGrpSpPr>
      <p:grpSpPr>
        <a:xfrm>
          <a:off x="0" y="0"/>
          <a:ext cx="0" cy="0"/>
          <a:chOff x="0" y="0"/>
          <a:chExt cx="0" cy="0"/>
        </a:xfrm>
      </p:grpSpPr>
      <p:sp>
        <p:nvSpPr>
          <p:cNvPr id="506" name="Google Shape;506;p60"/>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7" name="Google Shape;507;p60"/>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609524" marR="0" lvl="0" indent="-304762"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48" marR="0" lvl="1"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571" marR="0" lvl="2"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095" marR="0" lvl="3"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19" marR="0" lvl="4"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08" name="Google Shape;508;p60"/>
          <p:cNvSpPr txBox="1">
            <a:spLocks noGrp="1"/>
          </p:cNvSpPr>
          <p:nvPr>
            <p:ph type="body" idx="2"/>
          </p:nvPr>
        </p:nvSpPr>
        <p:spPr>
          <a:xfrm>
            <a:off x="838200" y="1615440"/>
            <a:ext cx="10515600"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9720937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wo Column">
  <p:cSld name="1_Two Column">
    <p:spTree>
      <p:nvGrpSpPr>
        <p:cNvPr id="1" name="Shape 531"/>
        <p:cNvGrpSpPr/>
        <p:nvPr/>
      </p:nvGrpSpPr>
      <p:grpSpPr>
        <a:xfrm>
          <a:off x="0" y="0"/>
          <a:ext cx="0" cy="0"/>
          <a:chOff x="0" y="0"/>
          <a:chExt cx="0" cy="0"/>
        </a:xfrm>
      </p:grpSpPr>
      <p:sp>
        <p:nvSpPr>
          <p:cNvPr id="532" name="Google Shape;532;p65"/>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65"/>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609524" marR="0" lvl="0" indent="-304762"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48" marR="0" lvl="1"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571" marR="0" lvl="2"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095" marR="0" lvl="3"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19" marR="0" lvl="4"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34" name="Google Shape;534;p65"/>
          <p:cNvSpPr txBox="1">
            <a:spLocks noGrp="1"/>
          </p:cNvSpPr>
          <p:nvPr>
            <p:ph type="body" idx="2"/>
          </p:nvPr>
        </p:nvSpPr>
        <p:spPr>
          <a:xfrm>
            <a:off x="838200" y="1615440"/>
            <a:ext cx="5071872"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35" name="Google Shape;535;p65"/>
          <p:cNvSpPr txBox="1">
            <a:spLocks noGrp="1"/>
          </p:cNvSpPr>
          <p:nvPr>
            <p:ph type="body" idx="3"/>
          </p:nvPr>
        </p:nvSpPr>
        <p:spPr>
          <a:xfrm>
            <a:off x="6281928" y="1615440"/>
            <a:ext cx="5071872"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55748388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NFIDENTIAL">
  <p:cSld name="1_CONFIDENTIAL">
    <p:spTree>
      <p:nvGrpSpPr>
        <p:cNvPr id="1" name="Shape 517"/>
        <p:cNvGrpSpPr/>
        <p:nvPr/>
      </p:nvGrpSpPr>
      <p:grpSpPr>
        <a:xfrm>
          <a:off x="0" y="0"/>
          <a:ext cx="0" cy="0"/>
          <a:chOff x="0" y="0"/>
          <a:chExt cx="0" cy="0"/>
        </a:xfrm>
      </p:grpSpPr>
      <p:sp>
        <p:nvSpPr>
          <p:cNvPr id="518" name="Google Shape;518;p62"/>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9" name="Google Shape;519;p62"/>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609524" marR="0" lvl="0" indent="-304762"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48" marR="0" lvl="1"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571" marR="0" lvl="2"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095" marR="0" lvl="3"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19" marR="0" lvl="4"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20" name="Google Shape;520;p62"/>
          <p:cNvSpPr txBox="1">
            <a:spLocks noGrp="1"/>
          </p:cNvSpPr>
          <p:nvPr>
            <p:ph type="body" idx="2"/>
          </p:nvPr>
        </p:nvSpPr>
        <p:spPr>
          <a:xfrm>
            <a:off x="838200" y="1615440"/>
            <a:ext cx="10515600"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3106203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Subtitle 3">
  <p:cSld name="Title, Subtitle 3">
    <p:spTree>
      <p:nvGrpSpPr>
        <p:cNvPr id="1" name="Shape 437"/>
        <p:cNvGrpSpPr/>
        <p:nvPr/>
      </p:nvGrpSpPr>
      <p:grpSpPr>
        <a:xfrm>
          <a:off x="0" y="0"/>
          <a:ext cx="0" cy="0"/>
          <a:chOff x="0" y="0"/>
          <a:chExt cx="0" cy="0"/>
        </a:xfrm>
      </p:grpSpPr>
      <p:sp>
        <p:nvSpPr>
          <p:cNvPr id="438" name="Google Shape;438;p47"/>
          <p:cNvSpPr txBox="1">
            <a:spLocks noGrp="1"/>
          </p:cNvSpPr>
          <p:nvPr>
            <p:ph type="title"/>
          </p:nvPr>
        </p:nvSpPr>
        <p:spPr>
          <a:xfrm>
            <a:off x="838200" y="0"/>
            <a:ext cx="10515600" cy="838400"/>
          </a:xfrm>
          <a:prstGeom prst="rect">
            <a:avLst/>
          </a:prstGeom>
          <a:noFill/>
          <a:ln>
            <a:noFill/>
          </a:ln>
        </p:spPr>
        <p:txBody>
          <a:bodyPr spcFirstLastPara="1" wrap="square" lIns="91500" tIns="45700" rIns="91500" bIns="45700" anchor="b" anchorCtr="0">
            <a:normAutofit/>
          </a:bodyPr>
          <a:lstStyle>
            <a:lvl1pPr lvl="0" algn="ctr" rtl="0">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439" name="Google Shape;439;p47"/>
          <p:cNvSpPr txBox="1">
            <a:spLocks noGrp="1"/>
          </p:cNvSpPr>
          <p:nvPr>
            <p:ph type="body" idx="1"/>
          </p:nvPr>
        </p:nvSpPr>
        <p:spPr>
          <a:xfrm>
            <a:off x="838200" y="829056"/>
            <a:ext cx="10515600" cy="469600"/>
          </a:xfrm>
          <a:prstGeom prst="rect">
            <a:avLst/>
          </a:prstGeom>
          <a:noFill/>
          <a:ln>
            <a:noFill/>
          </a:ln>
        </p:spPr>
        <p:txBody>
          <a:bodyPr spcFirstLastPara="1" wrap="square" lIns="91500" tIns="45700" rIns="91500" bIns="45700" anchor="t" anchorCtr="0">
            <a:noAutofit/>
          </a:bodyPr>
          <a:lstStyle>
            <a:lvl1pPr marL="152370" marR="0" lvl="0" indent="-76184" algn="ctr" rtl="0">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40" marR="0" lvl="1" indent="-76184" algn="ctr" rtl="0">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08" marR="0" lvl="2" indent="-76184" algn="ctr" rtl="0">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478" marR="0" lvl="3" indent="-76184" algn="ctr" rtl="0">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848" marR="0" lvl="4" indent="-76184" algn="ctr" rtl="0">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218" marR="0" lvl="5" indent="-194695" algn="l" rtl="0">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586" marR="0" lvl="6" indent="-194695" algn="l" rtl="0">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8956" marR="0" lvl="7" indent="-194695" algn="l" rtl="0">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326" marR="0" lvl="8" indent="-194695" algn="l" rtl="0">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70425081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Subtitle">
  <p:cSld name="1_Title, Subtitle">
    <p:spTree>
      <p:nvGrpSpPr>
        <p:cNvPr id="1" name="Shape 495"/>
        <p:cNvGrpSpPr/>
        <p:nvPr/>
      </p:nvGrpSpPr>
      <p:grpSpPr>
        <a:xfrm>
          <a:off x="0" y="0"/>
          <a:ext cx="0" cy="0"/>
          <a:chOff x="0" y="0"/>
          <a:chExt cx="0" cy="0"/>
        </a:xfrm>
      </p:grpSpPr>
      <p:sp>
        <p:nvSpPr>
          <p:cNvPr id="496" name="Google Shape;496;p58"/>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7" name="Google Shape;497;p58"/>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609524" marR="0" lvl="0" indent="-304762"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48" marR="0" lvl="1"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571" marR="0" lvl="2"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095" marR="0" lvl="3"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19" marR="0" lvl="4"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66306657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03640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CODING_Title, Subtitle, Bullets">
  <p:cSld name="1_CODING_Title, Subtitle, Bullets">
    <p:spTree>
      <p:nvGrpSpPr>
        <p:cNvPr id="1" name="Shape 111"/>
        <p:cNvGrpSpPr/>
        <p:nvPr/>
      </p:nvGrpSpPr>
      <p:grpSpPr>
        <a:xfrm>
          <a:off x="0" y="0"/>
          <a:ext cx="0" cy="0"/>
          <a:chOff x="0" y="0"/>
          <a:chExt cx="0" cy="0"/>
        </a:xfrm>
      </p:grpSpPr>
      <p:sp>
        <p:nvSpPr>
          <p:cNvPr id="112" name="Google Shape;112;p23"/>
          <p:cNvSpPr txBox="1">
            <a:spLocks noGrp="1"/>
          </p:cNvSpPr>
          <p:nvPr>
            <p:ph type="title"/>
          </p:nvPr>
        </p:nvSpPr>
        <p:spPr>
          <a:xfrm>
            <a:off x="838200" y="0"/>
            <a:ext cx="10515600" cy="838400"/>
          </a:xfrm>
          <a:prstGeom prst="rect">
            <a:avLst/>
          </a:prstGeom>
          <a:noFill/>
          <a:ln>
            <a:noFill/>
          </a:ln>
        </p:spPr>
        <p:txBody>
          <a:bodyPr spcFirstLastPara="1" wrap="square" lIns="22850" tIns="11425" rIns="22850" bIns="11425" anchor="b" anchorCtr="0">
            <a:normAutofit/>
          </a:bodyPr>
          <a:lstStyle>
            <a:lvl1pPr lvl="0" algn="ctr" rtl="0">
              <a:lnSpc>
                <a:spcPct val="90000"/>
              </a:lnSpc>
              <a:spcBef>
                <a:spcPts val="0"/>
              </a:spcBef>
              <a:spcAft>
                <a:spcPts val="0"/>
              </a:spcAft>
              <a:buClr>
                <a:schemeClr val="lt1"/>
              </a:buClr>
              <a:buSzPts val="1800"/>
              <a:buFont typeface="Roboto Mono"/>
              <a:buNone/>
              <a:defRPr sz="2400" b="1" cap="none">
                <a:latin typeface="Roboto Mono"/>
                <a:ea typeface="Roboto Mono"/>
                <a:cs typeface="Roboto Mono"/>
                <a:sym typeface="Roboto Mono"/>
              </a:defRPr>
            </a:lvl1pPr>
            <a:lvl2pPr lvl="1" rtl="0">
              <a:spcBef>
                <a:spcPts val="0"/>
              </a:spcBef>
              <a:spcAft>
                <a:spcPts val="0"/>
              </a:spcAft>
              <a:buSzPts val="400"/>
              <a:buNone/>
              <a:defRPr/>
            </a:lvl2pPr>
            <a:lvl3pPr lvl="2" rtl="0">
              <a:spcBef>
                <a:spcPts val="0"/>
              </a:spcBef>
              <a:spcAft>
                <a:spcPts val="0"/>
              </a:spcAft>
              <a:buSzPts val="400"/>
              <a:buNone/>
              <a:defRPr/>
            </a:lvl3pPr>
            <a:lvl4pPr lvl="3" rtl="0">
              <a:spcBef>
                <a:spcPts val="0"/>
              </a:spcBef>
              <a:spcAft>
                <a:spcPts val="0"/>
              </a:spcAft>
              <a:buSzPts val="400"/>
              <a:buNone/>
              <a:defRPr/>
            </a:lvl4pPr>
            <a:lvl5pPr lvl="4" rtl="0">
              <a:spcBef>
                <a:spcPts val="0"/>
              </a:spcBef>
              <a:spcAft>
                <a:spcPts val="0"/>
              </a:spcAft>
              <a:buSzPts val="400"/>
              <a:buNone/>
              <a:defRPr/>
            </a:lvl5pPr>
            <a:lvl6pPr lvl="5" rtl="0">
              <a:spcBef>
                <a:spcPts val="0"/>
              </a:spcBef>
              <a:spcAft>
                <a:spcPts val="0"/>
              </a:spcAft>
              <a:buSzPts val="400"/>
              <a:buNone/>
              <a:defRPr/>
            </a:lvl6pPr>
            <a:lvl7pPr lvl="6" rtl="0">
              <a:spcBef>
                <a:spcPts val="0"/>
              </a:spcBef>
              <a:spcAft>
                <a:spcPts val="0"/>
              </a:spcAft>
              <a:buSzPts val="400"/>
              <a:buNone/>
              <a:defRPr/>
            </a:lvl7pPr>
            <a:lvl8pPr lvl="7" rtl="0">
              <a:spcBef>
                <a:spcPts val="0"/>
              </a:spcBef>
              <a:spcAft>
                <a:spcPts val="0"/>
              </a:spcAft>
              <a:buSzPts val="400"/>
              <a:buNone/>
              <a:defRPr/>
            </a:lvl8pPr>
            <a:lvl9pPr lvl="8" rtl="0">
              <a:spcBef>
                <a:spcPts val="0"/>
              </a:spcBef>
              <a:spcAft>
                <a:spcPts val="0"/>
              </a:spcAft>
              <a:buSzPts val="400"/>
              <a:buNone/>
              <a:defRPr/>
            </a:lvl9pPr>
          </a:lstStyle>
          <a:p>
            <a:endParaRPr/>
          </a:p>
        </p:txBody>
      </p:sp>
      <p:sp>
        <p:nvSpPr>
          <p:cNvPr id="113" name="Google Shape;113;p23"/>
          <p:cNvSpPr txBox="1">
            <a:spLocks noGrp="1"/>
          </p:cNvSpPr>
          <p:nvPr>
            <p:ph type="body" idx="1"/>
          </p:nvPr>
        </p:nvSpPr>
        <p:spPr>
          <a:xfrm>
            <a:off x="838200" y="1624584"/>
            <a:ext cx="10515600" cy="4550800"/>
          </a:xfrm>
          <a:prstGeom prst="rect">
            <a:avLst/>
          </a:prstGeom>
          <a:noFill/>
          <a:ln>
            <a:noFill/>
          </a:ln>
        </p:spPr>
        <p:txBody>
          <a:bodyPr spcFirstLastPara="1" wrap="square" lIns="22850" tIns="11425" rIns="22850" bIns="11425" anchor="t" anchorCtr="0">
            <a:noAutofit/>
          </a:bodyPr>
          <a:lstStyle>
            <a:lvl1pPr marL="609478" marR="0" lvl="0" indent="-397854" algn="l" rtl="0">
              <a:lnSpc>
                <a:spcPct val="90000"/>
              </a:lnSpc>
              <a:spcBef>
                <a:spcPts val="1067"/>
              </a:spcBef>
              <a:spcAft>
                <a:spcPts val="0"/>
              </a:spcAft>
              <a:buClr>
                <a:schemeClr val="dk2"/>
              </a:buClr>
              <a:buSzPts val="1100"/>
              <a:buFont typeface="NVIDIA Sans"/>
              <a:buChar char="•"/>
              <a:defRPr sz="1467" b="0" i="0" u="none" strike="noStrike" cap="none">
                <a:solidFill>
                  <a:schemeClr val="lt1"/>
                </a:solidFill>
                <a:latin typeface="Roboto Mono"/>
                <a:ea typeface="Roboto Mono"/>
                <a:cs typeface="Roboto Mono"/>
                <a:sym typeface="Roboto Mono"/>
              </a:defRPr>
            </a:lvl1pPr>
            <a:lvl2pPr marL="1218956" marR="0" lvl="1" indent="-389389" algn="l" rtl="0">
              <a:lnSpc>
                <a:spcPct val="90000"/>
              </a:lnSpc>
              <a:spcBef>
                <a:spcPts val="533"/>
              </a:spcBef>
              <a:spcAft>
                <a:spcPts val="0"/>
              </a:spcAft>
              <a:buClr>
                <a:schemeClr val="dk2"/>
              </a:buClr>
              <a:buSzPts val="1000"/>
              <a:buFont typeface="NVIDIA Sans"/>
              <a:buChar char="•"/>
              <a:defRPr sz="1333" b="0" i="0" u="none" strike="noStrike" cap="none">
                <a:solidFill>
                  <a:schemeClr val="lt1"/>
                </a:solidFill>
                <a:latin typeface="Roboto Mono"/>
                <a:ea typeface="Roboto Mono"/>
                <a:cs typeface="Roboto Mono"/>
                <a:sym typeface="Roboto Mono"/>
              </a:defRPr>
            </a:lvl2pPr>
            <a:lvl3pPr marL="1828434" marR="0" lvl="2" indent="-380924" algn="l" rtl="0">
              <a:lnSpc>
                <a:spcPct val="90000"/>
              </a:lnSpc>
              <a:spcBef>
                <a:spcPts val="533"/>
              </a:spcBef>
              <a:spcAft>
                <a:spcPts val="0"/>
              </a:spcAft>
              <a:buClr>
                <a:schemeClr val="dk2"/>
              </a:buClr>
              <a:buSzPts val="900"/>
              <a:buFont typeface="NVIDIA Sans"/>
              <a:buChar char="•"/>
              <a:defRPr sz="1200" b="0" i="0" u="none" strike="noStrike" cap="none">
                <a:solidFill>
                  <a:schemeClr val="lt1"/>
                </a:solidFill>
                <a:latin typeface="Roboto Mono"/>
                <a:ea typeface="Roboto Mono"/>
                <a:cs typeface="Roboto Mono"/>
                <a:sym typeface="Roboto Mono"/>
              </a:defRPr>
            </a:lvl3pPr>
            <a:lvl4pPr marL="2437912" marR="0" lvl="3" indent="-372459" algn="l" rtl="0">
              <a:lnSpc>
                <a:spcPct val="90000"/>
              </a:lnSpc>
              <a:spcBef>
                <a:spcPts val="533"/>
              </a:spcBef>
              <a:spcAft>
                <a:spcPts val="0"/>
              </a:spcAft>
              <a:buClr>
                <a:schemeClr val="dk2"/>
              </a:buClr>
              <a:buSzPts val="800"/>
              <a:buFont typeface="NVIDIA Sans"/>
              <a:buChar char="•"/>
              <a:defRPr sz="1067" b="0" i="0" u="none" strike="noStrike" cap="none">
                <a:solidFill>
                  <a:schemeClr val="lt1"/>
                </a:solidFill>
                <a:latin typeface="Roboto Mono"/>
                <a:ea typeface="Roboto Mono"/>
                <a:cs typeface="Roboto Mono"/>
                <a:sym typeface="Roboto Mono"/>
              </a:defRPr>
            </a:lvl4pPr>
            <a:lvl5pPr marL="3047390" marR="0" lvl="4" indent="-363994" algn="l" rtl="0">
              <a:lnSpc>
                <a:spcPct val="90000"/>
              </a:lnSpc>
              <a:spcBef>
                <a:spcPts val="533"/>
              </a:spcBef>
              <a:spcAft>
                <a:spcPts val="0"/>
              </a:spcAft>
              <a:buClr>
                <a:schemeClr val="dk2"/>
              </a:buClr>
              <a:buSzPts val="700"/>
              <a:buFont typeface="NVIDIA Sans"/>
              <a:buChar char="•"/>
              <a:defRPr sz="933" b="0" i="0" u="none" strike="noStrike" cap="none">
                <a:solidFill>
                  <a:schemeClr val="lt1"/>
                </a:solidFill>
                <a:latin typeface="Roboto Mono"/>
                <a:ea typeface="Roboto Mono"/>
                <a:cs typeface="Roboto Mono"/>
                <a:sym typeface="Roboto Mono"/>
              </a:defRPr>
            </a:lvl5pPr>
            <a:lvl6pPr marL="3656868" marR="0" lvl="5"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6pPr>
            <a:lvl7pPr marL="4266346" marR="0" lvl="6"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7pPr>
            <a:lvl8pPr marL="4875824" marR="0" lvl="7"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8pPr>
            <a:lvl9pPr marL="5485302" marR="0" lvl="8"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14" name="Google Shape;114;p23"/>
          <p:cNvSpPr txBox="1">
            <a:spLocks noGrp="1"/>
          </p:cNvSpPr>
          <p:nvPr>
            <p:ph type="body" idx="2"/>
          </p:nvPr>
        </p:nvSpPr>
        <p:spPr>
          <a:xfrm>
            <a:off x="838200" y="829056"/>
            <a:ext cx="10515600" cy="469600"/>
          </a:xfrm>
          <a:prstGeom prst="rect">
            <a:avLst/>
          </a:prstGeom>
          <a:noFill/>
          <a:ln>
            <a:noFill/>
          </a:ln>
        </p:spPr>
        <p:txBody>
          <a:bodyPr spcFirstLastPara="1" wrap="square" lIns="22850" tIns="11425" rIns="22850" bIns="11425" anchor="t" anchorCtr="0">
            <a:noAutofit/>
          </a:bodyPr>
          <a:lstStyle>
            <a:lvl1pPr marL="609478" marR="0" lvl="0" indent="-304740" algn="ctr" rtl="0">
              <a:lnSpc>
                <a:spcPct val="90000"/>
              </a:lnSpc>
              <a:spcBef>
                <a:spcPts val="0"/>
              </a:spcBef>
              <a:spcAft>
                <a:spcPts val="0"/>
              </a:spcAft>
              <a:buClr>
                <a:schemeClr val="dk2"/>
              </a:buClr>
              <a:buSzPts val="1200"/>
              <a:buFont typeface="NVIDIA Sans"/>
              <a:buNone/>
              <a:defRPr sz="1600" b="0" i="0" u="none" strike="noStrike" cap="none">
                <a:solidFill>
                  <a:schemeClr val="dk2"/>
                </a:solidFill>
                <a:latin typeface="Roboto Mono"/>
                <a:ea typeface="Roboto Mono"/>
                <a:cs typeface="Roboto Mono"/>
                <a:sym typeface="Roboto Mono"/>
              </a:defRPr>
            </a:lvl1pPr>
            <a:lvl2pPr marL="1218956" marR="0" lvl="1" indent="-30474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2pPr>
            <a:lvl3pPr marL="1828434" marR="0" lvl="2" indent="-30474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3pPr>
            <a:lvl4pPr marL="2437912" marR="0" lvl="3" indent="-30474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4pPr>
            <a:lvl5pPr marL="3047390" marR="0" lvl="4" indent="-30474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5pPr>
            <a:lvl6pPr marL="3656868" marR="0" lvl="5"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6pPr>
            <a:lvl7pPr marL="4266346" marR="0" lvl="6"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7pPr>
            <a:lvl8pPr marL="4875824" marR="0" lvl="7"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8pPr>
            <a:lvl9pPr marL="5485302" marR="0" lvl="8" indent="-423249"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68990583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Content Slide_SUBTITLE_">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7287D93-1CC1-42BE-A9C5-6AFEDDF37F73}"/>
              </a:ext>
            </a:extLst>
          </p:cNvPr>
          <p:cNvSpPr>
            <a:spLocks noGrp="1"/>
          </p:cNvSpPr>
          <p:nvPr>
            <p:ph type="body" sz="quarter" idx="10" hasCustomPrompt="1"/>
          </p:nvPr>
        </p:nvSpPr>
        <p:spPr>
          <a:xfrm>
            <a:off x="1087349" y="616383"/>
            <a:ext cx="10015729" cy="467781"/>
          </a:xfrm>
          <a:prstGeom prst="rect">
            <a:avLst/>
          </a:prstGeom>
        </p:spPr>
        <p:txBody>
          <a:bodyPr/>
          <a:lstStyle>
            <a:lvl1pPr marL="0" indent="0" algn="ctr">
              <a:lnSpc>
                <a:spcPct val="90000"/>
              </a:lnSpc>
              <a:buFontTx/>
              <a:buNone/>
              <a:defRPr sz="1200" cap="none" baseline="0">
                <a:solidFill>
                  <a:schemeClr val="tx1"/>
                </a:solidFill>
                <a:latin typeface="NVIDIA Sans" panose="020B0503020203020204" pitchFamily="34" charset="0"/>
                <a:cs typeface="NVIDIA Sans" panose="020B0503020203020204" pitchFamily="34" charset="0"/>
              </a:defRPr>
            </a:lvl1pPr>
            <a:lvl2pPr marL="427004" indent="0" algn="l">
              <a:lnSpc>
                <a:spcPct val="90000"/>
              </a:lnSpc>
              <a:buFontTx/>
              <a:buNone/>
              <a:defRPr sz="1257" cap="all" baseline="0">
                <a:solidFill>
                  <a:schemeClr val="tx2"/>
                </a:solidFill>
                <a:latin typeface="NVIDIA Sans" panose="020B0503020203020204" pitchFamily="34" charset="0"/>
              </a:defRPr>
            </a:lvl2pPr>
            <a:lvl3pPr marL="813687" indent="0" algn="l">
              <a:lnSpc>
                <a:spcPct val="90000"/>
              </a:lnSpc>
              <a:buFontTx/>
              <a:buNone/>
              <a:defRPr sz="1257" cap="all" baseline="0">
                <a:solidFill>
                  <a:schemeClr val="tx2"/>
                </a:solidFill>
                <a:latin typeface="NVIDIA Sans" panose="020B0503020203020204" pitchFamily="34" charset="0"/>
              </a:defRPr>
            </a:lvl3pPr>
            <a:lvl4pPr marL="1155274" indent="0">
              <a:buNone/>
              <a:defRPr/>
            </a:lvl4pPr>
          </a:lstStyle>
          <a:p>
            <a:pPr lvl="0"/>
            <a:r>
              <a:rPr lang="en-US"/>
              <a:t>Edit Master Text Style</a:t>
            </a:r>
          </a:p>
        </p:txBody>
      </p:sp>
      <p:sp>
        <p:nvSpPr>
          <p:cNvPr id="2" name="Title 2">
            <a:extLst>
              <a:ext uri="{FF2B5EF4-FFF2-40B4-BE49-F238E27FC236}">
                <a16:creationId xmlns:a16="http://schemas.microsoft.com/office/drawing/2014/main" id="{BB79D40E-2E91-9554-8E12-50806CA33B8F}"/>
              </a:ext>
            </a:extLst>
          </p:cNvPr>
          <p:cNvSpPr>
            <a:spLocks noGrp="1" noChangeArrowheads="1"/>
          </p:cNvSpPr>
          <p:nvPr>
            <p:ph type="title"/>
          </p:nvPr>
        </p:nvSpPr>
        <p:spPr bwMode="auto">
          <a:xfrm>
            <a:off x="1087828" y="271695"/>
            <a:ext cx="10016351" cy="358336"/>
          </a:xfrm>
          <a:prstGeom prst="rect">
            <a:avLst/>
          </a:prstGeom>
          <a:noFill/>
          <a:ln w="9525">
            <a:noFill/>
            <a:miter lim="800000"/>
            <a:headEnd/>
            <a:tailEnd/>
          </a:ln>
        </p:spPr>
        <p:txBody>
          <a:bodyPr vert="horz" wrap="square" lIns="91386" tIns="45690" rIns="91386" bIns="45690" numCol="1" anchor="b" anchorCtr="0" compatLnSpc="1">
            <a:prstTxWarp prst="textNoShape">
              <a:avLst/>
            </a:prstTxWarp>
            <a:noAutofit/>
          </a:bodyPr>
          <a:lstStyle>
            <a:lvl1pPr>
              <a:defRPr sz="1467">
                <a:latin typeface="NVIDIA Sans" panose="020B0503020203020204" pitchFamily="34" charset="0"/>
                <a:cs typeface="NVIDIA Sans" panose="020B0503020203020204" pitchFamily="34" charset="0"/>
              </a:defRPr>
            </a:lvl1pPr>
          </a:lstStyle>
          <a:p>
            <a:pPr lvl="0"/>
            <a:r>
              <a:rPr lang="en-US"/>
              <a:t>Click to edit Master title style</a:t>
            </a:r>
          </a:p>
        </p:txBody>
      </p:sp>
    </p:spTree>
    <p:extLst>
      <p:ext uri="{BB962C8B-B14F-4D97-AF65-F5344CB8AC3E}">
        <p14:creationId xmlns:p14="http://schemas.microsoft.com/office/powerpoint/2010/main" val="233284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016" indent="0" algn="ctr">
              <a:buFontTx/>
              <a:buNone/>
              <a:defRPr sz="1467">
                <a:latin typeface="Trebuchet MS" panose="020B0603020202020204" pitchFamily="34" charset="0"/>
              </a:defRPr>
            </a:lvl2pPr>
            <a:lvl3pPr marL="914036" indent="0" algn="ctr">
              <a:buFontTx/>
              <a:buNone/>
              <a:defRPr sz="1467">
                <a:latin typeface="Trebuchet MS" panose="020B0603020202020204" pitchFamily="34" charset="0"/>
              </a:defRPr>
            </a:lvl3pPr>
            <a:lvl4pPr marL="1371052" indent="0" algn="ctr">
              <a:buFontTx/>
              <a:buNone/>
              <a:defRPr sz="1467">
                <a:latin typeface="Trebuchet MS" panose="020B0603020202020204" pitchFamily="34" charset="0"/>
              </a:defRPr>
            </a:lvl4pPr>
            <a:lvl5pPr marL="1828068" indent="0" algn="ctr">
              <a:buFontTx/>
              <a:buNone/>
              <a:defRPr sz="1467">
                <a:latin typeface="Trebuchet MS" panose="020B0603020202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6197600"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3923" indent="0">
              <a:buFontTx/>
              <a:buNone/>
              <a:defRPr sz="1333" b="1">
                <a:solidFill>
                  <a:schemeClr val="tx1"/>
                </a:solidFill>
                <a:latin typeface="Trebuchet MS" panose="020B0603020202020204" pitchFamily="34" charset="0"/>
              </a:defRPr>
            </a:lvl2pPr>
            <a:lvl3pPr marL="1627210" indent="0">
              <a:buFontTx/>
              <a:buNone/>
              <a:defRPr sz="1333" b="1">
                <a:solidFill>
                  <a:schemeClr val="tx1"/>
                </a:solidFill>
                <a:latin typeface="Trebuchet MS" panose="020B0603020202020204" pitchFamily="34" charset="0"/>
              </a:defRPr>
            </a:lvl3pPr>
            <a:lvl4pPr marL="2310319" indent="0">
              <a:buFontTx/>
              <a:buNone/>
              <a:defRPr sz="1333" b="1">
                <a:solidFill>
                  <a:schemeClr val="tx1"/>
                </a:solidFill>
                <a:latin typeface="Trebuchet MS" panose="020B0603020202020204" pitchFamily="34" charset="0"/>
              </a:defRPr>
            </a:lvl4pPr>
            <a:lvl5pPr marL="2822675" indent="0">
              <a:buFontTx/>
              <a:buNone/>
              <a:defRPr sz="1333" b="1">
                <a:solidFill>
                  <a:schemeClr val="tx1"/>
                </a:solidFill>
                <a:latin typeface="Trebuchet MS" panose="020B0603020202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3923" indent="0">
              <a:buFontTx/>
              <a:buNone/>
              <a:defRPr sz="1333" b="1">
                <a:solidFill>
                  <a:schemeClr val="tx1"/>
                </a:solidFill>
                <a:latin typeface="Trebuchet MS" panose="020B0603020202020204" pitchFamily="34" charset="0"/>
              </a:defRPr>
            </a:lvl2pPr>
            <a:lvl3pPr marL="1627210" indent="0">
              <a:buFontTx/>
              <a:buNone/>
              <a:defRPr sz="1333" b="1">
                <a:solidFill>
                  <a:schemeClr val="tx1"/>
                </a:solidFill>
                <a:latin typeface="Trebuchet MS" panose="020B0603020202020204" pitchFamily="34" charset="0"/>
              </a:defRPr>
            </a:lvl3pPr>
            <a:lvl4pPr marL="2310319" indent="0">
              <a:buFontTx/>
              <a:buNone/>
              <a:defRPr sz="1333" b="1">
                <a:solidFill>
                  <a:schemeClr val="tx1"/>
                </a:solidFill>
                <a:latin typeface="Trebuchet MS" panose="020B0603020202020204" pitchFamily="34" charset="0"/>
              </a:defRPr>
            </a:lvl4pPr>
            <a:lvl5pPr marL="2822675" indent="0">
              <a:buFontTx/>
              <a:buNone/>
              <a:defRPr sz="1333" b="1">
                <a:solidFill>
                  <a:schemeClr val="tx1"/>
                </a:solidFill>
                <a:latin typeface="Trebuchet MS" panose="020B0603020202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6197605" y="5687987"/>
            <a:ext cx="544875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3923" indent="0">
              <a:buFontTx/>
              <a:buNone/>
              <a:defRPr sz="1333" b="1">
                <a:solidFill>
                  <a:schemeClr val="tx1"/>
                </a:solidFill>
                <a:latin typeface="Trebuchet MS" panose="020B0603020202020204" pitchFamily="34" charset="0"/>
              </a:defRPr>
            </a:lvl2pPr>
            <a:lvl3pPr marL="1627210" indent="0">
              <a:buFontTx/>
              <a:buNone/>
              <a:defRPr sz="1333" b="1">
                <a:solidFill>
                  <a:schemeClr val="tx1"/>
                </a:solidFill>
                <a:latin typeface="Trebuchet MS" panose="020B0603020202020204" pitchFamily="34" charset="0"/>
              </a:defRPr>
            </a:lvl3pPr>
            <a:lvl4pPr marL="2310319" indent="0">
              <a:buFontTx/>
              <a:buNone/>
              <a:defRPr sz="1333" b="1">
                <a:solidFill>
                  <a:schemeClr val="tx1"/>
                </a:solidFill>
                <a:latin typeface="Trebuchet MS" panose="020B0603020202020204" pitchFamily="34" charset="0"/>
              </a:defRPr>
            </a:lvl4pPr>
            <a:lvl5pPr marL="2822675" indent="0">
              <a:buFontTx/>
              <a:buNone/>
              <a:defRPr sz="1333" b="1">
                <a:solidFill>
                  <a:schemeClr val="tx1"/>
                </a:solidFill>
                <a:latin typeface="Trebuchet MS" panose="020B0603020202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6197605" y="5917189"/>
            <a:ext cx="544875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3923" indent="0">
              <a:buFontTx/>
              <a:buNone/>
              <a:defRPr sz="1333" b="1">
                <a:solidFill>
                  <a:schemeClr val="tx1"/>
                </a:solidFill>
                <a:latin typeface="Trebuchet MS" panose="020B0603020202020204" pitchFamily="34" charset="0"/>
              </a:defRPr>
            </a:lvl2pPr>
            <a:lvl3pPr marL="1627210" indent="0">
              <a:buFontTx/>
              <a:buNone/>
              <a:defRPr sz="1333" b="1">
                <a:solidFill>
                  <a:schemeClr val="tx1"/>
                </a:solidFill>
                <a:latin typeface="Trebuchet MS" panose="020B0603020202020204" pitchFamily="34" charset="0"/>
              </a:defRPr>
            </a:lvl3pPr>
            <a:lvl4pPr marL="2310319" indent="0">
              <a:buFontTx/>
              <a:buNone/>
              <a:defRPr sz="1333" b="1">
                <a:solidFill>
                  <a:schemeClr val="tx1"/>
                </a:solidFill>
                <a:latin typeface="Trebuchet MS" panose="020B0603020202020204" pitchFamily="34" charset="0"/>
              </a:defRPr>
            </a:lvl4pPr>
            <a:lvl5pPr marL="2822675" indent="0">
              <a:buFontTx/>
              <a:buNone/>
              <a:defRPr sz="1333" b="1">
                <a:solidFill>
                  <a:schemeClr val="tx1"/>
                </a:solidFill>
                <a:latin typeface="Trebuchet MS" panose="020B0603020202020204" pitchFamily="34" charset="0"/>
              </a:defRPr>
            </a:lvl5pPr>
          </a:lstStyle>
          <a:p>
            <a:pPr lvl="0"/>
            <a:r>
              <a:rPr lang="en-US"/>
              <a:t>Click to add subtitle</a:t>
            </a:r>
          </a:p>
        </p:txBody>
      </p:sp>
    </p:spTree>
    <p:extLst>
      <p:ext uri="{BB962C8B-B14F-4D97-AF65-F5344CB8AC3E}">
        <p14:creationId xmlns:p14="http://schemas.microsoft.com/office/powerpoint/2010/main" val="103801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Subtitle, Bullets">
  <p:cSld name="1_Title, Subtitle, Bullets">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838200" y="0"/>
            <a:ext cx="10515600" cy="8384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14"/>
          <p:cNvSpPr txBox="1">
            <a:spLocks noGrp="1"/>
          </p:cNvSpPr>
          <p:nvPr>
            <p:ph type="body" idx="1"/>
          </p:nvPr>
        </p:nvSpPr>
        <p:spPr>
          <a:xfrm>
            <a:off x="838200" y="829056"/>
            <a:ext cx="10515600" cy="469200"/>
          </a:xfrm>
          <a:prstGeom prst="rect">
            <a:avLst/>
          </a:prstGeom>
          <a:noFill/>
          <a:ln>
            <a:noFill/>
          </a:ln>
        </p:spPr>
        <p:txBody>
          <a:bodyPr spcFirstLastPara="1" wrap="square" lIns="91425" tIns="45700" rIns="91425" bIns="45700" anchor="t" anchorCtr="0">
            <a:noAutofit/>
          </a:bodyPr>
          <a:lstStyle>
            <a:lvl1pPr marL="609478" marR="0" lvl="0" indent="-304740"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8956" marR="0" lvl="1" indent="-30474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434" marR="0" lvl="2" indent="-30474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7912" marR="0" lvl="3" indent="-30474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390" marR="0" lvl="4" indent="-30474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6868" marR="0" lvl="5"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346" marR="0" lvl="6"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5824" marR="0" lvl="7"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302" marR="0" lvl="8"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8" name="Google Shape;58;p14"/>
          <p:cNvSpPr txBox="1">
            <a:spLocks noGrp="1"/>
          </p:cNvSpPr>
          <p:nvPr>
            <p:ph type="body" idx="2"/>
          </p:nvPr>
        </p:nvSpPr>
        <p:spPr>
          <a:xfrm>
            <a:off x="838200" y="1615440"/>
            <a:ext cx="10515600" cy="4550800"/>
          </a:xfrm>
          <a:prstGeom prst="rect">
            <a:avLst/>
          </a:prstGeom>
          <a:noFill/>
          <a:ln>
            <a:noFill/>
          </a:ln>
        </p:spPr>
        <p:txBody>
          <a:bodyPr spcFirstLastPara="1" wrap="square" lIns="91425" tIns="45700" rIns="91425" bIns="45700" anchor="t" anchorCtr="0">
            <a:noAutofit/>
          </a:bodyPr>
          <a:lstStyle>
            <a:lvl1pPr marL="609478" marR="0" lvl="0" indent="-397854"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8956" marR="0" lvl="1" indent="-389389"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434" marR="0" lvl="2" indent="-380924"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7912" marR="0" lvl="3" indent="-372459"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390" marR="0" lvl="4" indent="-363994"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6868" marR="0" lvl="5"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346" marR="0" lvl="6"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5824" marR="0" lvl="7"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302" marR="0" lvl="8" indent="-419016"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06386418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CODING_Title, Subtitle, Bullets">
  <p:cSld name="1_CODING_Title, Subtitle, Bullets">
    <p:spTree>
      <p:nvGrpSpPr>
        <p:cNvPr id="1" name="Shape 111"/>
        <p:cNvGrpSpPr/>
        <p:nvPr/>
      </p:nvGrpSpPr>
      <p:grpSpPr>
        <a:xfrm>
          <a:off x="0" y="0"/>
          <a:ext cx="0" cy="0"/>
          <a:chOff x="0" y="0"/>
          <a:chExt cx="0" cy="0"/>
        </a:xfrm>
      </p:grpSpPr>
      <p:sp>
        <p:nvSpPr>
          <p:cNvPr id="112" name="Google Shape;112;p23"/>
          <p:cNvSpPr txBox="1">
            <a:spLocks noGrp="1"/>
          </p:cNvSpPr>
          <p:nvPr>
            <p:ph type="title"/>
          </p:nvPr>
        </p:nvSpPr>
        <p:spPr>
          <a:xfrm>
            <a:off x="838200" y="0"/>
            <a:ext cx="10515600" cy="838400"/>
          </a:xfrm>
          <a:prstGeom prst="rect">
            <a:avLst/>
          </a:prstGeom>
          <a:noFill/>
          <a:ln>
            <a:noFill/>
          </a:ln>
        </p:spPr>
        <p:txBody>
          <a:bodyPr spcFirstLastPara="1" wrap="square" lIns="22850" tIns="11425" rIns="22850" bIns="11425" anchor="b" anchorCtr="0">
            <a:normAutofit/>
          </a:bodyPr>
          <a:lstStyle>
            <a:lvl1pPr lvl="0" algn="ctr" rtl="0">
              <a:lnSpc>
                <a:spcPct val="90000"/>
              </a:lnSpc>
              <a:spcBef>
                <a:spcPts val="0"/>
              </a:spcBef>
              <a:spcAft>
                <a:spcPts val="0"/>
              </a:spcAft>
              <a:buClr>
                <a:schemeClr val="lt1"/>
              </a:buClr>
              <a:buSzPts val="1800"/>
              <a:buFont typeface="Roboto Mono"/>
              <a:buNone/>
              <a:defRPr sz="2400" b="1" cap="none">
                <a:latin typeface="Roboto Mono"/>
                <a:ea typeface="Roboto Mono"/>
                <a:cs typeface="Roboto Mono"/>
                <a:sym typeface="Roboto Mono"/>
              </a:defRPr>
            </a:lvl1pPr>
            <a:lvl2pPr lvl="1" rtl="0">
              <a:spcBef>
                <a:spcPts val="0"/>
              </a:spcBef>
              <a:spcAft>
                <a:spcPts val="0"/>
              </a:spcAft>
              <a:buSzPts val="400"/>
              <a:buNone/>
              <a:defRPr/>
            </a:lvl2pPr>
            <a:lvl3pPr lvl="2" rtl="0">
              <a:spcBef>
                <a:spcPts val="0"/>
              </a:spcBef>
              <a:spcAft>
                <a:spcPts val="0"/>
              </a:spcAft>
              <a:buSzPts val="400"/>
              <a:buNone/>
              <a:defRPr/>
            </a:lvl3pPr>
            <a:lvl4pPr lvl="3" rtl="0">
              <a:spcBef>
                <a:spcPts val="0"/>
              </a:spcBef>
              <a:spcAft>
                <a:spcPts val="0"/>
              </a:spcAft>
              <a:buSzPts val="400"/>
              <a:buNone/>
              <a:defRPr/>
            </a:lvl4pPr>
            <a:lvl5pPr lvl="4" rtl="0">
              <a:spcBef>
                <a:spcPts val="0"/>
              </a:spcBef>
              <a:spcAft>
                <a:spcPts val="0"/>
              </a:spcAft>
              <a:buSzPts val="400"/>
              <a:buNone/>
              <a:defRPr/>
            </a:lvl5pPr>
            <a:lvl6pPr lvl="5" rtl="0">
              <a:spcBef>
                <a:spcPts val="0"/>
              </a:spcBef>
              <a:spcAft>
                <a:spcPts val="0"/>
              </a:spcAft>
              <a:buSzPts val="400"/>
              <a:buNone/>
              <a:defRPr/>
            </a:lvl6pPr>
            <a:lvl7pPr lvl="6" rtl="0">
              <a:spcBef>
                <a:spcPts val="0"/>
              </a:spcBef>
              <a:spcAft>
                <a:spcPts val="0"/>
              </a:spcAft>
              <a:buSzPts val="400"/>
              <a:buNone/>
              <a:defRPr/>
            </a:lvl7pPr>
            <a:lvl8pPr lvl="7" rtl="0">
              <a:spcBef>
                <a:spcPts val="0"/>
              </a:spcBef>
              <a:spcAft>
                <a:spcPts val="0"/>
              </a:spcAft>
              <a:buSzPts val="400"/>
              <a:buNone/>
              <a:defRPr/>
            </a:lvl8pPr>
            <a:lvl9pPr lvl="8" rtl="0">
              <a:spcBef>
                <a:spcPts val="0"/>
              </a:spcBef>
              <a:spcAft>
                <a:spcPts val="0"/>
              </a:spcAft>
              <a:buSzPts val="400"/>
              <a:buNone/>
              <a:defRPr/>
            </a:lvl9pPr>
          </a:lstStyle>
          <a:p>
            <a:endParaRPr/>
          </a:p>
        </p:txBody>
      </p:sp>
      <p:sp>
        <p:nvSpPr>
          <p:cNvPr id="113" name="Google Shape;113;p23"/>
          <p:cNvSpPr txBox="1">
            <a:spLocks noGrp="1"/>
          </p:cNvSpPr>
          <p:nvPr>
            <p:ph type="body" idx="1"/>
          </p:nvPr>
        </p:nvSpPr>
        <p:spPr>
          <a:xfrm>
            <a:off x="838200" y="1624584"/>
            <a:ext cx="10515600" cy="4550800"/>
          </a:xfrm>
          <a:prstGeom prst="rect">
            <a:avLst/>
          </a:prstGeom>
          <a:noFill/>
          <a:ln>
            <a:noFill/>
          </a:ln>
        </p:spPr>
        <p:txBody>
          <a:bodyPr spcFirstLastPara="1" wrap="square" lIns="22850" tIns="11425" rIns="22850" bIns="11425" anchor="t" anchorCtr="0">
            <a:noAutofit/>
          </a:bodyPr>
          <a:lstStyle>
            <a:lvl1pPr marL="609539" marR="0" lvl="0" indent="-397894" algn="l" rtl="0">
              <a:lnSpc>
                <a:spcPct val="90000"/>
              </a:lnSpc>
              <a:spcBef>
                <a:spcPts val="1067"/>
              </a:spcBef>
              <a:spcAft>
                <a:spcPts val="0"/>
              </a:spcAft>
              <a:buClr>
                <a:schemeClr val="dk2"/>
              </a:buClr>
              <a:buSzPts val="1100"/>
              <a:buFont typeface="NVIDIA Sans"/>
              <a:buChar char="•"/>
              <a:defRPr sz="1467" b="0" i="0" u="none" strike="noStrike" cap="none">
                <a:solidFill>
                  <a:schemeClr val="lt1"/>
                </a:solidFill>
                <a:latin typeface="Roboto Mono"/>
                <a:ea typeface="Roboto Mono"/>
                <a:cs typeface="Roboto Mono"/>
                <a:sym typeface="Roboto Mono"/>
              </a:defRPr>
            </a:lvl1pPr>
            <a:lvl2pPr marL="1219078" marR="0" lvl="1" indent="-389428" algn="l" rtl="0">
              <a:lnSpc>
                <a:spcPct val="90000"/>
              </a:lnSpc>
              <a:spcBef>
                <a:spcPts val="533"/>
              </a:spcBef>
              <a:spcAft>
                <a:spcPts val="0"/>
              </a:spcAft>
              <a:buClr>
                <a:schemeClr val="dk2"/>
              </a:buClr>
              <a:buSzPts val="1000"/>
              <a:buFont typeface="NVIDIA Sans"/>
              <a:buChar char="•"/>
              <a:defRPr sz="1333" b="0" i="0" u="none" strike="noStrike" cap="none">
                <a:solidFill>
                  <a:schemeClr val="lt1"/>
                </a:solidFill>
                <a:latin typeface="Roboto Mono"/>
                <a:ea typeface="Roboto Mono"/>
                <a:cs typeface="Roboto Mono"/>
                <a:sym typeface="Roboto Mono"/>
              </a:defRPr>
            </a:lvl2pPr>
            <a:lvl3pPr marL="1828617" marR="0" lvl="2" indent="-380962" algn="l" rtl="0">
              <a:lnSpc>
                <a:spcPct val="90000"/>
              </a:lnSpc>
              <a:spcBef>
                <a:spcPts val="533"/>
              </a:spcBef>
              <a:spcAft>
                <a:spcPts val="0"/>
              </a:spcAft>
              <a:buClr>
                <a:schemeClr val="dk2"/>
              </a:buClr>
              <a:buSzPts val="900"/>
              <a:buFont typeface="NVIDIA Sans"/>
              <a:buChar char="•"/>
              <a:defRPr sz="1200" b="0" i="0" u="none" strike="noStrike" cap="none">
                <a:solidFill>
                  <a:schemeClr val="lt1"/>
                </a:solidFill>
                <a:latin typeface="Roboto Mono"/>
                <a:ea typeface="Roboto Mono"/>
                <a:cs typeface="Roboto Mono"/>
                <a:sym typeface="Roboto Mono"/>
              </a:defRPr>
            </a:lvl3pPr>
            <a:lvl4pPr marL="2438156" marR="0" lvl="3" indent="-372496" algn="l" rtl="0">
              <a:lnSpc>
                <a:spcPct val="90000"/>
              </a:lnSpc>
              <a:spcBef>
                <a:spcPts val="533"/>
              </a:spcBef>
              <a:spcAft>
                <a:spcPts val="0"/>
              </a:spcAft>
              <a:buClr>
                <a:schemeClr val="dk2"/>
              </a:buClr>
              <a:buSzPts val="800"/>
              <a:buFont typeface="NVIDIA Sans"/>
              <a:buChar char="•"/>
              <a:defRPr sz="1067" b="0" i="0" u="none" strike="noStrike" cap="none">
                <a:solidFill>
                  <a:schemeClr val="lt1"/>
                </a:solidFill>
                <a:latin typeface="Roboto Mono"/>
                <a:ea typeface="Roboto Mono"/>
                <a:cs typeface="Roboto Mono"/>
                <a:sym typeface="Roboto Mono"/>
              </a:defRPr>
            </a:lvl4pPr>
            <a:lvl5pPr marL="3047695" marR="0" lvl="4" indent="-364030" algn="l" rtl="0">
              <a:lnSpc>
                <a:spcPct val="90000"/>
              </a:lnSpc>
              <a:spcBef>
                <a:spcPts val="533"/>
              </a:spcBef>
              <a:spcAft>
                <a:spcPts val="0"/>
              </a:spcAft>
              <a:buClr>
                <a:schemeClr val="dk2"/>
              </a:buClr>
              <a:buSzPts val="700"/>
              <a:buFont typeface="NVIDIA Sans"/>
              <a:buChar char="•"/>
              <a:defRPr sz="933" b="0" i="0" u="none" strike="noStrike" cap="none">
                <a:solidFill>
                  <a:schemeClr val="lt1"/>
                </a:solidFill>
                <a:latin typeface="Roboto Mono"/>
                <a:ea typeface="Roboto Mono"/>
                <a:cs typeface="Roboto Mono"/>
                <a:sym typeface="Roboto Mono"/>
              </a:defRPr>
            </a:lvl5pPr>
            <a:lvl6pPr marL="3657234" marR="0" lvl="5"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6pPr>
            <a:lvl7pPr marL="4266773" marR="0" lvl="6"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7pPr>
            <a:lvl8pPr marL="4876312" marR="0" lvl="7"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8pPr>
            <a:lvl9pPr marL="5485851" marR="0" lvl="8"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14" name="Google Shape;114;p23"/>
          <p:cNvSpPr txBox="1">
            <a:spLocks noGrp="1"/>
          </p:cNvSpPr>
          <p:nvPr>
            <p:ph type="body" idx="2"/>
          </p:nvPr>
        </p:nvSpPr>
        <p:spPr>
          <a:xfrm>
            <a:off x="838200" y="829056"/>
            <a:ext cx="10515600" cy="469600"/>
          </a:xfrm>
          <a:prstGeom prst="rect">
            <a:avLst/>
          </a:prstGeom>
          <a:noFill/>
          <a:ln>
            <a:noFill/>
          </a:ln>
        </p:spPr>
        <p:txBody>
          <a:bodyPr spcFirstLastPara="1" wrap="square" lIns="22850" tIns="11425" rIns="22850" bIns="11425" anchor="t" anchorCtr="0">
            <a:noAutofit/>
          </a:bodyPr>
          <a:lstStyle>
            <a:lvl1pPr marL="609539" marR="0" lvl="0" indent="-304770" algn="ctr" rtl="0">
              <a:lnSpc>
                <a:spcPct val="90000"/>
              </a:lnSpc>
              <a:spcBef>
                <a:spcPts val="0"/>
              </a:spcBef>
              <a:spcAft>
                <a:spcPts val="0"/>
              </a:spcAft>
              <a:buClr>
                <a:schemeClr val="dk2"/>
              </a:buClr>
              <a:buSzPts val="1200"/>
              <a:buFont typeface="NVIDIA Sans"/>
              <a:buNone/>
              <a:defRPr sz="1600" b="0" i="0" u="none" strike="noStrike" cap="none">
                <a:solidFill>
                  <a:schemeClr val="dk2"/>
                </a:solidFill>
                <a:latin typeface="Roboto Mono"/>
                <a:ea typeface="Roboto Mono"/>
                <a:cs typeface="Roboto Mono"/>
                <a:sym typeface="Roboto Mono"/>
              </a:defRPr>
            </a:lvl1pPr>
            <a:lvl2pPr marL="1219078" marR="0" lvl="1" indent="-30477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2pPr>
            <a:lvl3pPr marL="1828617" marR="0" lvl="2" indent="-30477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3pPr>
            <a:lvl4pPr marL="2438156" marR="0" lvl="3" indent="-30477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4pPr>
            <a:lvl5pPr marL="3047695" marR="0" lvl="4" indent="-304770"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5pPr>
            <a:lvl6pPr marL="3657234" marR="0" lvl="5"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6pPr>
            <a:lvl7pPr marL="4266773" marR="0" lvl="6"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7pPr>
            <a:lvl8pPr marL="4876312" marR="0" lvl="7"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8pPr>
            <a:lvl9pPr marL="5485851" marR="0" lvl="8" indent="-423291" algn="l" rtl="0">
              <a:lnSpc>
                <a:spcPct val="90000"/>
              </a:lnSpc>
              <a:spcBef>
                <a:spcPts val="533"/>
              </a:spcBef>
              <a:spcAft>
                <a:spcPts val="0"/>
              </a:spcAft>
              <a:buClr>
                <a:schemeClr val="dk1"/>
              </a:buClr>
              <a:buSzPts val="14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68990583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Content Slide_SUBTITLE_">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7287D93-1CC1-42BE-A9C5-6AFEDDF37F73}"/>
              </a:ext>
            </a:extLst>
          </p:cNvPr>
          <p:cNvSpPr>
            <a:spLocks noGrp="1"/>
          </p:cNvSpPr>
          <p:nvPr>
            <p:ph type="body" sz="quarter" idx="10" hasCustomPrompt="1"/>
          </p:nvPr>
        </p:nvSpPr>
        <p:spPr>
          <a:xfrm>
            <a:off x="1087348" y="616382"/>
            <a:ext cx="10015729" cy="467781"/>
          </a:xfrm>
          <a:prstGeom prst="rect">
            <a:avLst/>
          </a:prstGeom>
        </p:spPr>
        <p:txBody>
          <a:bodyPr/>
          <a:lstStyle>
            <a:lvl1pPr marL="0" indent="0" algn="ctr">
              <a:lnSpc>
                <a:spcPct val="90000"/>
              </a:lnSpc>
              <a:buFontTx/>
              <a:buNone/>
              <a:defRPr sz="1200" cap="none" baseline="0">
                <a:solidFill>
                  <a:schemeClr val="tx1"/>
                </a:solidFill>
                <a:latin typeface="NVIDIA Sans" panose="020B0503020203020204" pitchFamily="34" charset="0"/>
                <a:cs typeface="NVIDIA Sans" panose="020B0503020203020204" pitchFamily="34" charset="0"/>
              </a:defRPr>
            </a:lvl1pPr>
            <a:lvl2pPr marL="427047" indent="0" algn="l">
              <a:lnSpc>
                <a:spcPct val="90000"/>
              </a:lnSpc>
              <a:buFontTx/>
              <a:buNone/>
              <a:defRPr sz="1257" cap="all" baseline="0">
                <a:solidFill>
                  <a:schemeClr val="tx2"/>
                </a:solidFill>
                <a:latin typeface="NVIDIA Sans" panose="020B0503020203020204" pitchFamily="34" charset="0"/>
              </a:defRPr>
            </a:lvl2pPr>
            <a:lvl3pPr marL="813768" indent="0" algn="l">
              <a:lnSpc>
                <a:spcPct val="90000"/>
              </a:lnSpc>
              <a:buFontTx/>
              <a:buNone/>
              <a:defRPr sz="1257" cap="all" baseline="0">
                <a:solidFill>
                  <a:schemeClr val="tx2"/>
                </a:solidFill>
                <a:latin typeface="NVIDIA Sans" panose="020B0503020203020204" pitchFamily="34" charset="0"/>
              </a:defRPr>
            </a:lvl3pPr>
            <a:lvl4pPr marL="1155390" indent="0">
              <a:buNone/>
              <a:defRPr/>
            </a:lvl4pPr>
          </a:lstStyle>
          <a:p>
            <a:pPr lvl="0"/>
            <a:r>
              <a:rPr lang="en-US"/>
              <a:t>Edit Master Text Style</a:t>
            </a:r>
          </a:p>
        </p:txBody>
      </p:sp>
      <p:sp>
        <p:nvSpPr>
          <p:cNvPr id="2" name="Title 2">
            <a:extLst>
              <a:ext uri="{FF2B5EF4-FFF2-40B4-BE49-F238E27FC236}">
                <a16:creationId xmlns:a16="http://schemas.microsoft.com/office/drawing/2014/main" id="{BB79D40E-2E91-9554-8E12-50806CA33B8F}"/>
              </a:ext>
            </a:extLst>
          </p:cNvPr>
          <p:cNvSpPr>
            <a:spLocks noGrp="1" noChangeArrowheads="1"/>
          </p:cNvSpPr>
          <p:nvPr>
            <p:ph type="title"/>
          </p:nvPr>
        </p:nvSpPr>
        <p:spPr bwMode="auto">
          <a:xfrm>
            <a:off x="1087827" y="271695"/>
            <a:ext cx="10016351" cy="358336"/>
          </a:xfrm>
          <a:prstGeom prst="rect">
            <a:avLst/>
          </a:prstGeom>
          <a:noFill/>
          <a:ln w="9525">
            <a:noFill/>
            <a:miter lim="800000"/>
            <a:headEnd/>
            <a:tailEnd/>
          </a:ln>
        </p:spPr>
        <p:txBody>
          <a:bodyPr vert="horz" wrap="square" lIns="91386" tIns="45690" rIns="91386" bIns="45690" numCol="1" anchor="b" anchorCtr="0" compatLnSpc="1">
            <a:prstTxWarp prst="textNoShape">
              <a:avLst/>
            </a:prstTxWarp>
            <a:noAutofit/>
          </a:bodyPr>
          <a:lstStyle>
            <a:lvl1pPr>
              <a:defRPr sz="1467">
                <a:latin typeface="NVIDIA Sans" panose="020B0503020203020204" pitchFamily="34" charset="0"/>
                <a:cs typeface="NVIDIA Sans" panose="020B0503020203020204" pitchFamily="34" charset="0"/>
              </a:defRPr>
            </a:lvl1pPr>
          </a:lstStyle>
          <a:p>
            <a:pPr lvl="0"/>
            <a:r>
              <a:rPr lang="en-US"/>
              <a:t>Click to edit Master title style</a:t>
            </a:r>
          </a:p>
        </p:txBody>
      </p:sp>
    </p:spTree>
    <p:extLst>
      <p:ext uri="{BB962C8B-B14F-4D97-AF65-F5344CB8AC3E}">
        <p14:creationId xmlns:p14="http://schemas.microsoft.com/office/powerpoint/2010/main" val="233284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062" indent="0" algn="ctr">
              <a:buFontTx/>
              <a:buNone/>
              <a:defRPr sz="1467">
                <a:latin typeface="Trebuchet MS" panose="020B0603020202020204" pitchFamily="34" charset="0"/>
              </a:defRPr>
            </a:lvl2pPr>
            <a:lvl3pPr marL="914127" indent="0" algn="ctr">
              <a:buFontTx/>
              <a:buNone/>
              <a:defRPr sz="1467">
                <a:latin typeface="Trebuchet MS" panose="020B0603020202020204" pitchFamily="34" charset="0"/>
              </a:defRPr>
            </a:lvl3pPr>
            <a:lvl4pPr marL="1371189" indent="0" algn="ctr">
              <a:buFontTx/>
              <a:buNone/>
              <a:defRPr sz="1467">
                <a:latin typeface="Trebuchet MS" panose="020B0603020202020204" pitchFamily="34" charset="0"/>
              </a:defRPr>
            </a:lvl4pPr>
            <a:lvl5pPr marL="1828251" indent="0" algn="ctr">
              <a:buFontTx/>
              <a:buNone/>
              <a:defRPr sz="1467">
                <a:latin typeface="Trebuchet MS" panose="020B0603020202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545868"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6197600" y="1616604"/>
            <a:ext cx="5448532" cy="4006612"/>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1333">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545868" y="5687987"/>
            <a:ext cx="5448532"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08" indent="0">
              <a:buFontTx/>
              <a:buNone/>
              <a:defRPr sz="1333" b="1">
                <a:solidFill>
                  <a:schemeClr val="tx1"/>
                </a:solidFill>
                <a:latin typeface="Trebuchet MS" panose="020B0603020202020204" pitchFamily="34" charset="0"/>
              </a:defRPr>
            </a:lvl2pPr>
            <a:lvl3pPr marL="1627373" indent="0">
              <a:buFontTx/>
              <a:buNone/>
              <a:defRPr sz="1333" b="1">
                <a:solidFill>
                  <a:schemeClr val="tx1"/>
                </a:solidFill>
                <a:latin typeface="Trebuchet MS" panose="020B0603020202020204" pitchFamily="34" charset="0"/>
              </a:defRPr>
            </a:lvl3pPr>
            <a:lvl4pPr marL="2310550" indent="0">
              <a:buFontTx/>
              <a:buNone/>
              <a:defRPr sz="1333" b="1">
                <a:solidFill>
                  <a:schemeClr val="tx1"/>
                </a:solidFill>
                <a:latin typeface="Trebuchet MS" panose="020B0603020202020204" pitchFamily="34" charset="0"/>
              </a:defRPr>
            </a:lvl4pPr>
            <a:lvl5pPr marL="2822957" indent="0">
              <a:buFontTx/>
              <a:buNone/>
              <a:defRPr sz="1333" b="1">
                <a:solidFill>
                  <a:schemeClr val="tx1"/>
                </a:solidFill>
                <a:latin typeface="Trebuchet MS" panose="020B0603020202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545868" y="5917189"/>
            <a:ext cx="5448532"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08" indent="0">
              <a:buFontTx/>
              <a:buNone/>
              <a:defRPr sz="1333" b="1">
                <a:solidFill>
                  <a:schemeClr val="tx1"/>
                </a:solidFill>
                <a:latin typeface="Trebuchet MS" panose="020B0603020202020204" pitchFamily="34" charset="0"/>
              </a:defRPr>
            </a:lvl2pPr>
            <a:lvl3pPr marL="1627373" indent="0">
              <a:buFontTx/>
              <a:buNone/>
              <a:defRPr sz="1333" b="1">
                <a:solidFill>
                  <a:schemeClr val="tx1"/>
                </a:solidFill>
                <a:latin typeface="Trebuchet MS" panose="020B0603020202020204" pitchFamily="34" charset="0"/>
              </a:defRPr>
            </a:lvl3pPr>
            <a:lvl4pPr marL="2310550" indent="0">
              <a:buFontTx/>
              <a:buNone/>
              <a:defRPr sz="1333" b="1">
                <a:solidFill>
                  <a:schemeClr val="tx1"/>
                </a:solidFill>
                <a:latin typeface="Trebuchet MS" panose="020B0603020202020204" pitchFamily="34" charset="0"/>
              </a:defRPr>
            </a:lvl4pPr>
            <a:lvl5pPr marL="2822957" indent="0">
              <a:buFontTx/>
              <a:buNone/>
              <a:defRPr sz="1333" b="1">
                <a:solidFill>
                  <a:schemeClr val="tx1"/>
                </a:solidFill>
                <a:latin typeface="Trebuchet MS" panose="020B0603020202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6197604" y="5687987"/>
            <a:ext cx="544875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008" indent="0">
              <a:buFontTx/>
              <a:buNone/>
              <a:defRPr sz="1333" b="1">
                <a:solidFill>
                  <a:schemeClr val="tx1"/>
                </a:solidFill>
                <a:latin typeface="Trebuchet MS" panose="020B0603020202020204" pitchFamily="34" charset="0"/>
              </a:defRPr>
            </a:lvl2pPr>
            <a:lvl3pPr marL="1627373" indent="0">
              <a:buFontTx/>
              <a:buNone/>
              <a:defRPr sz="1333" b="1">
                <a:solidFill>
                  <a:schemeClr val="tx1"/>
                </a:solidFill>
                <a:latin typeface="Trebuchet MS" panose="020B0603020202020204" pitchFamily="34" charset="0"/>
              </a:defRPr>
            </a:lvl3pPr>
            <a:lvl4pPr marL="2310550" indent="0">
              <a:buFontTx/>
              <a:buNone/>
              <a:defRPr sz="1333" b="1">
                <a:solidFill>
                  <a:schemeClr val="tx1"/>
                </a:solidFill>
                <a:latin typeface="Trebuchet MS" panose="020B0603020202020204" pitchFamily="34" charset="0"/>
              </a:defRPr>
            </a:lvl4pPr>
            <a:lvl5pPr marL="2822957" indent="0">
              <a:buFontTx/>
              <a:buNone/>
              <a:defRPr sz="1333" b="1">
                <a:solidFill>
                  <a:schemeClr val="tx1"/>
                </a:solidFill>
                <a:latin typeface="Trebuchet MS" panose="020B0603020202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6197604" y="5917189"/>
            <a:ext cx="544875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008" indent="0">
              <a:buFontTx/>
              <a:buNone/>
              <a:defRPr sz="1333" b="1">
                <a:solidFill>
                  <a:schemeClr val="tx1"/>
                </a:solidFill>
                <a:latin typeface="Trebuchet MS" panose="020B0603020202020204" pitchFamily="34" charset="0"/>
              </a:defRPr>
            </a:lvl2pPr>
            <a:lvl3pPr marL="1627373" indent="0">
              <a:buFontTx/>
              <a:buNone/>
              <a:defRPr sz="1333" b="1">
                <a:solidFill>
                  <a:schemeClr val="tx1"/>
                </a:solidFill>
                <a:latin typeface="Trebuchet MS" panose="020B0603020202020204" pitchFamily="34" charset="0"/>
              </a:defRPr>
            </a:lvl3pPr>
            <a:lvl4pPr marL="2310550" indent="0">
              <a:buFontTx/>
              <a:buNone/>
              <a:defRPr sz="1333" b="1">
                <a:solidFill>
                  <a:schemeClr val="tx1"/>
                </a:solidFill>
                <a:latin typeface="Trebuchet MS" panose="020B0603020202020204" pitchFamily="34" charset="0"/>
              </a:defRPr>
            </a:lvl4pPr>
            <a:lvl5pPr marL="2822957" indent="0">
              <a:buFontTx/>
              <a:buNone/>
              <a:defRPr sz="1333" b="1">
                <a:solidFill>
                  <a:schemeClr val="tx1"/>
                </a:solidFill>
                <a:latin typeface="Trebuchet MS" panose="020B0603020202020204" pitchFamily="34" charset="0"/>
              </a:defRPr>
            </a:lvl5pPr>
          </a:lstStyle>
          <a:p>
            <a:pPr lvl="0"/>
            <a:r>
              <a:rPr lang="en-US"/>
              <a:t>Click to add subtitle</a:t>
            </a:r>
          </a:p>
        </p:txBody>
      </p:sp>
    </p:spTree>
    <p:extLst>
      <p:ext uri="{BB962C8B-B14F-4D97-AF65-F5344CB8AC3E}">
        <p14:creationId xmlns:p14="http://schemas.microsoft.com/office/powerpoint/2010/main" val="1038010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Subtitle, Bullets">
  <p:cSld name="1_Title, Subtitle, Bullets">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838200" y="0"/>
            <a:ext cx="10515600" cy="8384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 name="Google Shape;57;p14"/>
          <p:cNvSpPr txBox="1">
            <a:spLocks noGrp="1"/>
          </p:cNvSpPr>
          <p:nvPr>
            <p:ph type="body" idx="1"/>
          </p:nvPr>
        </p:nvSpPr>
        <p:spPr>
          <a:xfrm>
            <a:off x="838200" y="829056"/>
            <a:ext cx="10515600" cy="469200"/>
          </a:xfrm>
          <a:prstGeom prst="rect">
            <a:avLst/>
          </a:prstGeom>
          <a:noFill/>
          <a:ln>
            <a:noFill/>
          </a:ln>
        </p:spPr>
        <p:txBody>
          <a:bodyPr spcFirstLastPara="1" wrap="square" lIns="91425" tIns="45700" rIns="91425" bIns="45700" anchor="t" anchorCtr="0">
            <a:noAutofit/>
          </a:bodyPr>
          <a:lstStyle>
            <a:lvl1pPr marL="609539" marR="0" lvl="0" indent="-304770"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78" marR="0" lvl="1" indent="-30477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617" marR="0" lvl="2" indent="-30477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156" marR="0" lvl="3" indent="-30477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95" marR="0" lvl="4" indent="-304770"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234" marR="0" lvl="5"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773" marR="0" lvl="6"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312" marR="0" lvl="7"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851" marR="0" lvl="8"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8" name="Google Shape;58;p14"/>
          <p:cNvSpPr txBox="1">
            <a:spLocks noGrp="1"/>
          </p:cNvSpPr>
          <p:nvPr>
            <p:ph type="body" idx="2"/>
          </p:nvPr>
        </p:nvSpPr>
        <p:spPr>
          <a:xfrm>
            <a:off x="838200" y="1615440"/>
            <a:ext cx="10515600" cy="4550800"/>
          </a:xfrm>
          <a:prstGeom prst="rect">
            <a:avLst/>
          </a:prstGeom>
          <a:noFill/>
          <a:ln>
            <a:noFill/>
          </a:ln>
        </p:spPr>
        <p:txBody>
          <a:bodyPr spcFirstLastPara="1" wrap="square" lIns="91425" tIns="45700" rIns="91425" bIns="45700" anchor="t" anchorCtr="0">
            <a:noAutofit/>
          </a:bodyPr>
          <a:lstStyle>
            <a:lvl1pPr marL="609539" marR="0" lvl="0" indent="-397894"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78" marR="0" lvl="1" indent="-38942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617" marR="0" lvl="2" indent="-38096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156" marR="0" lvl="3" indent="-372496"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95" marR="0" lvl="4" indent="-364030"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234" marR="0" lvl="5"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773" marR="0" lvl="6"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312" marR="0" lvl="7"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851" marR="0" lvl="8" indent="-41905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0638641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Image Right - Text Left">
  <p:cSld name="1_Image Right - Text Left">
    <p:spTree>
      <p:nvGrpSpPr>
        <p:cNvPr id="1" name="Shape 486"/>
        <p:cNvGrpSpPr/>
        <p:nvPr/>
      </p:nvGrpSpPr>
      <p:grpSpPr>
        <a:xfrm>
          <a:off x="0" y="0"/>
          <a:ext cx="0" cy="0"/>
          <a:chOff x="0" y="0"/>
          <a:chExt cx="0" cy="0"/>
        </a:xfrm>
      </p:grpSpPr>
      <p:sp>
        <p:nvSpPr>
          <p:cNvPr id="487" name="Google Shape;487;p58"/>
          <p:cNvSpPr/>
          <p:nvPr/>
        </p:nvSpPr>
        <p:spPr>
          <a:xfrm>
            <a:off x="10988040" y="6309360"/>
            <a:ext cx="1203960" cy="54864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endParaRPr sz="1333">
              <a:solidFill>
                <a:schemeClr val="dk1"/>
              </a:solidFill>
              <a:latin typeface="NVIDIA Sans"/>
              <a:ea typeface="NVIDIA Sans"/>
              <a:cs typeface="NVIDIA Sans"/>
              <a:sym typeface="NVIDIA Sans"/>
            </a:endParaRPr>
          </a:p>
        </p:txBody>
      </p:sp>
      <p:sp>
        <p:nvSpPr>
          <p:cNvPr id="488" name="Google Shape;488;p58"/>
          <p:cNvSpPr>
            <a:spLocks noGrp="1"/>
          </p:cNvSpPr>
          <p:nvPr>
            <p:ph type="pic" idx="2"/>
          </p:nvPr>
        </p:nvSpPr>
        <p:spPr>
          <a:xfrm>
            <a:off x="6720946" y="0"/>
            <a:ext cx="5471054" cy="6858000"/>
          </a:xfrm>
          <a:prstGeom prst="rect">
            <a:avLst/>
          </a:prstGeom>
          <a:solidFill>
            <a:srgbClr val="F2F2F2">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489" name="Google Shape;489;p58"/>
          <p:cNvSpPr txBox="1">
            <a:spLocks noGrp="1"/>
          </p:cNvSpPr>
          <p:nvPr>
            <p:ph type="title"/>
          </p:nvPr>
        </p:nvSpPr>
        <p:spPr>
          <a:xfrm>
            <a:off x="865632" y="100689"/>
            <a:ext cx="4879848" cy="1121898"/>
          </a:xfrm>
          <a:prstGeom prst="rect">
            <a:avLst/>
          </a:prstGeom>
          <a:noFill/>
          <a:ln>
            <a:noFill/>
          </a:ln>
        </p:spPr>
        <p:txBody>
          <a:bodyPr spcFirstLastPara="1" wrap="square" lIns="274275" tIns="137100" rIns="274275" bIns="137100" anchor="b" anchorCtr="0">
            <a:normAutofit/>
          </a:bodyPr>
          <a:lstStyle>
            <a:lvl1pPr lvl="0" algn="l">
              <a:lnSpc>
                <a:spcPct val="90000"/>
              </a:lnSpc>
              <a:spcBef>
                <a:spcPts val="20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20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490" name="Google Shape;490;p58"/>
          <p:cNvSpPr txBox="1">
            <a:spLocks noGrp="1"/>
          </p:cNvSpPr>
          <p:nvPr>
            <p:ph type="body" idx="1"/>
          </p:nvPr>
        </p:nvSpPr>
        <p:spPr>
          <a:xfrm>
            <a:off x="865632" y="2329398"/>
            <a:ext cx="4879848" cy="3781841"/>
          </a:xfrm>
          <a:prstGeom prst="rect">
            <a:avLst/>
          </a:prstGeom>
          <a:noFill/>
          <a:ln>
            <a:noFill/>
          </a:ln>
        </p:spPr>
        <p:txBody>
          <a:bodyPr spcFirstLastPara="1" wrap="square" lIns="274275" tIns="137100" rIns="274275" bIns="137100" anchor="t" anchorCtr="0">
            <a:noAutofit/>
          </a:bodyPr>
          <a:lstStyle>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91" name="Google Shape;491;p58"/>
          <p:cNvSpPr txBox="1">
            <a:spLocks noGrp="1"/>
          </p:cNvSpPr>
          <p:nvPr>
            <p:ph type="body" idx="3"/>
          </p:nvPr>
        </p:nvSpPr>
        <p:spPr>
          <a:xfrm>
            <a:off x="865632" y="1243923"/>
            <a:ext cx="4879848" cy="469392"/>
          </a:xfrm>
          <a:prstGeom prst="rect">
            <a:avLst/>
          </a:prstGeom>
          <a:noFill/>
          <a:ln>
            <a:noFill/>
          </a:ln>
        </p:spPr>
        <p:txBody>
          <a:bodyPr spcFirstLastPara="1" wrap="square" lIns="274275" tIns="137100" rIns="274275" bIns="137100" anchor="t" anchorCtr="0">
            <a:noAutofit/>
          </a:bodyPr>
          <a:lstStyle>
            <a:lvl1pPr marL="152385" marR="0" lvl="0" indent="-76192" algn="l" rtl="0">
              <a:lnSpc>
                <a:spcPct val="90000"/>
              </a:lnSpc>
              <a:spcBef>
                <a:spcPts val="20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grpSp>
        <p:nvGrpSpPr>
          <p:cNvPr id="492" name="Google Shape;492;p58"/>
          <p:cNvGrpSpPr/>
          <p:nvPr/>
        </p:nvGrpSpPr>
        <p:grpSpPr>
          <a:xfrm>
            <a:off x="0" y="6501471"/>
            <a:ext cx="776856" cy="360979"/>
            <a:chOff x="0" y="19504414"/>
            <a:chExt cx="2330569" cy="1082936"/>
          </a:xfrm>
        </p:grpSpPr>
        <p:sp>
          <p:nvSpPr>
            <p:cNvPr id="493" name="Google Shape;493;p58"/>
            <p:cNvSpPr/>
            <p:nvPr/>
          </p:nvSpPr>
          <p:spPr>
            <a:xfrm>
              <a:off x="0" y="19697679"/>
              <a:ext cx="155448" cy="889671"/>
            </a:xfrm>
            <a:prstGeom prst="rect">
              <a:avLst/>
            </a:prstGeom>
            <a:solidFill>
              <a:schemeClr val="dk2"/>
            </a:solidFill>
            <a:ln>
              <a:noFill/>
            </a:ln>
          </p:spPr>
          <p:txBody>
            <a:bodyPr spcFirstLastPara="1" wrap="square" lIns="274275" tIns="137100" rIns="274275" bIns="137100" anchor="ctr" anchorCtr="0">
              <a:noAutofit/>
            </a:bodyPr>
            <a:lstStyle/>
            <a:p>
              <a:pPr marL="0" marR="0" lvl="0" indent="0" algn="ctr" rtl="0">
                <a:lnSpc>
                  <a:spcPct val="90000"/>
                </a:lnSpc>
                <a:spcBef>
                  <a:spcPts val="0"/>
                </a:spcBef>
                <a:spcAft>
                  <a:spcPts val="0"/>
                </a:spcAft>
                <a:buNone/>
              </a:pPr>
              <a:endParaRPr sz="1333">
                <a:solidFill>
                  <a:schemeClr val="dk1"/>
                </a:solidFill>
                <a:latin typeface="NVIDIA Sans"/>
                <a:ea typeface="NVIDIA Sans"/>
                <a:cs typeface="NVIDIA Sans"/>
                <a:sym typeface="NVIDIA Sans"/>
              </a:endParaRPr>
            </a:p>
          </p:txBody>
        </p:sp>
        <p:pic>
          <p:nvPicPr>
            <p:cNvPr id="494" name="Google Shape;494;p58" descr="A picture containing shape&#10;&#10;Description automatically generated"/>
            <p:cNvPicPr preferRelativeResize="0"/>
            <p:nvPr/>
          </p:nvPicPr>
          <p:blipFill rotWithShape="1">
            <a:blip r:embed="rId2">
              <a:alphaModFix/>
            </a:blip>
            <a:srcRect/>
            <a:stretch/>
          </p:blipFill>
          <p:spPr>
            <a:xfrm>
              <a:off x="327131" y="19504414"/>
              <a:ext cx="2003438" cy="690238"/>
            </a:xfrm>
            <a:prstGeom prst="rect">
              <a:avLst/>
            </a:prstGeom>
            <a:noFill/>
            <a:ln>
              <a:noFill/>
            </a:ln>
          </p:spPr>
        </p:pic>
      </p:grpSp>
      <p:cxnSp>
        <p:nvCxnSpPr>
          <p:cNvPr id="495" name="Google Shape;495;p58"/>
          <p:cNvCxnSpPr/>
          <p:nvPr/>
        </p:nvCxnSpPr>
        <p:spPr>
          <a:xfrm>
            <a:off x="0" y="1897743"/>
            <a:ext cx="5745480" cy="0"/>
          </a:xfrm>
          <a:prstGeom prst="straightConnector1">
            <a:avLst/>
          </a:prstGeom>
          <a:noFill/>
          <a:ln w="31750" cap="flat" cmpd="sng">
            <a:solidFill>
              <a:schemeClr val="accent5"/>
            </a:solidFill>
            <a:prstDash val="solid"/>
            <a:round/>
            <a:headEnd type="none" w="sm" len="sm"/>
            <a:tailEnd type="none" w="sm" len="sm"/>
          </a:ln>
        </p:spPr>
      </p:cxnSp>
    </p:spTree>
    <p:extLst>
      <p:ext uri="{BB962C8B-B14F-4D97-AF65-F5344CB8AC3E}">
        <p14:creationId xmlns:p14="http://schemas.microsoft.com/office/powerpoint/2010/main" val="52623009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411"/>
        <p:cNvGrpSpPr/>
        <p:nvPr/>
      </p:nvGrpSpPr>
      <p:grpSpPr>
        <a:xfrm>
          <a:off x="0" y="0"/>
          <a:ext cx="0" cy="0"/>
          <a:chOff x="0" y="0"/>
          <a:chExt cx="0" cy="0"/>
        </a:xfrm>
      </p:grpSpPr>
      <p:pic>
        <p:nvPicPr>
          <p:cNvPr id="412" name="Google Shape;412;p44" descr="A green and white background&#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413" name="Google Shape;413;p44" descr="A picture containing graphics, logo, symbol, graphic design&#10;&#10;Description automatically generated"/>
          <p:cNvPicPr preferRelativeResize="0"/>
          <p:nvPr/>
        </p:nvPicPr>
        <p:blipFill rotWithShape="1">
          <a:blip r:embed="rId3">
            <a:alphaModFix/>
          </a:blip>
          <a:srcRect/>
          <a:stretch/>
        </p:blipFill>
        <p:spPr>
          <a:xfrm>
            <a:off x="272042" y="257844"/>
            <a:ext cx="2788664" cy="960770"/>
          </a:xfrm>
          <a:prstGeom prst="rect">
            <a:avLst/>
          </a:prstGeom>
          <a:noFill/>
          <a:ln>
            <a:noFill/>
          </a:ln>
        </p:spPr>
      </p:pic>
      <p:sp>
        <p:nvSpPr>
          <p:cNvPr id="414" name="Google Shape;414;p44"/>
          <p:cNvSpPr txBox="1">
            <a:spLocks noGrp="1"/>
          </p:cNvSpPr>
          <p:nvPr>
            <p:ph type="ctrTitle"/>
          </p:nvPr>
        </p:nvSpPr>
        <p:spPr>
          <a:xfrm>
            <a:off x="504337" y="994526"/>
            <a:ext cx="6427405" cy="1645920"/>
          </a:xfrm>
          <a:prstGeom prst="rect">
            <a:avLst/>
          </a:prstGeom>
          <a:noFill/>
          <a:ln>
            <a:noFill/>
          </a:ln>
        </p:spPr>
        <p:txBody>
          <a:bodyPr spcFirstLastPara="1" wrap="square" lIns="274275" tIns="137100" rIns="274275" bIns="137100" anchor="b" anchorCtr="0">
            <a:normAutofit/>
          </a:bodyPr>
          <a:lstStyle>
            <a:lvl1pPr lvl="0" algn="l">
              <a:lnSpc>
                <a:spcPct val="90000"/>
              </a:lnSpc>
              <a:spcBef>
                <a:spcPts val="0"/>
              </a:spcBef>
              <a:spcAft>
                <a:spcPts val="0"/>
              </a:spcAft>
              <a:buClr>
                <a:schemeClr val="lt1"/>
              </a:buClr>
              <a:buSzPts val="8800"/>
              <a:buFont typeface="NVIDIA Sans"/>
              <a:buNone/>
              <a:defRPr sz="2933" b="1" cap="none">
                <a:latin typeface="NVIDIA Sans"/>
                <a:ea typeface="NVIDIA Sans"/>
                <a:cs typeface="NVIDIA Sans"/>
                <a:sym typeface="NVIDIA Sans"/>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415" name="Google Shape;415;p44"/>
          <p:cNvSpPr txBox="1">
            <a:spLocks noGrp="1"/>
          </p:cNvSpPr>
          <p:nvPr>
            <p:ph type="subTitle" idx="1"/>
          </p:nvPr>
        </p:nvSpPr>
        <p:spPr>
          <a:xfrm>
            <a:off x="504337" y="2647242"/>
            <a:ext cx="6427405" cy="567944"/>
          </a:xfrm>
          <a:prstGeom prst="rect">
            <a:avLst/>
          </a:prstGeom>
          <a:noFill/>
          <a:ln>
            <a:noFill/>
          </a:ln>
        </p:spPr>
        <p:txBody>
          <a:bodyPr spcFirstLastPara="1" wrap="square" lIns="274275" tIns="137100" rIns="274275" bIns="137100" anchor="t" anchorCtr="0">
            <a:normAutofit/>
          </a:bodyPr>
          <a:lstStyle>
            <a:lvl1pPr marR="0" lvl="0" algn="l" rtl="0">
              <a:lnSpc>
                <a:spcPct val="90000"/>
              </a:lnSpc>
              <a:spcBef>
                <a:spcPts val="1000"/>
              </a:spcBef>
              <a:spcAft>
                <a:spcPts val="0"/>
              </a:spcAft>
              <a:buClr>
                <a:schemeClr val="lt1"/>
              </a:buClr>
              <a:buSzPts val="4400"/>
              <a:buFont typeface="NVIDIA Sans"/>
              <a:buNone/>
              <a:defRPr sz="1467" b="0" i="0" u="none" strike="noStrike" cap="none">
                <a:solidFill>
                  <a:schemeClr val="lt1"/>
                </a:solidFill>
                <a:latin typeface="NVIDIA Sans"/>
                <a:ea typeface="NVIDIA Sans"/>
                <a:cs typeface="NVIDIA Sans"/>
                <a:sym typeface="NVIDIA Sans"/>
              </a:defRPr>
            </a:lvl1pPr>
            <a:lvl2pPr marR="0" lvl="1" algn="ctr" rtl="0">
              <a:lnSpc>
                <a:spcPct val="90000"/>
              </a:lnSpc>
              <a:spcBef>
                <a:spcPts val="500"/>
              </a:spcBef>
              <a:spcAft>
                <a:spcPts val="0"/>
              </a:spcAft>
              <a:buClr>
                <a:schemeClr val="dk1"/>
              </a:buClr>
              <a:buSzPts val="6000"/>
              <a:buFont typeface="NVIDIA Sans"/>
              <a:buNone/>
              <a:defRPr sz="2000" b="0" i="0" u="none" strike="noStrike" cap="none">
                <a:solidFill>
                  <a:schemeClr val="dk1"/>
                </a:solidFill>
                <a:latin typeface="NVIDIA Sans"/>
                <a:ea typeface="NVIDIA Sans"/>
                <a:cs typeface="NVIDIA Sans"/>
                <a:sym typeface="NVIDIA Sans"/>
              </a:defRPr>
            </a:lvl2pPr>
            <a:lvl3pPr marR="0" lvl="2" algn="ctr" rtl="0">
              <a:lnSpc>
                <a:spcPct val="90000"/>
              </a:lnSpc>
              <a:spcBef>
                <a:spcPts val="500"/>
              </a:spcBef>
              <a:spcAft>
                <a:spcPts val="0"/>
              </a:spcAft>
              <a:buClr>
                <a:schemeClr val="dk1"/>
              </a:buClr>
              <a:buSzPts val="5400"/>
              <a:buFont typeface="NVIDIA Sans"/>
              <a:buNone/>
              <a:defRPr sz="1800" b="0" i="0" u="none" strike="noStrike" cap="none">
                <a:solidFill>
                  <a:schemeClr val="dk1"/>
                </a:solidFill>
                <a:latin typeface="NVIDIA Sans"/>
                <a:ea typeface="NVIDIA Sans"/>
                <a:cs typeface="NVIDIA Sans"/>
                <a:sym typeface="NVIDIA Sans"/>
              </a:defRPr>
            </a:lvl3pPr>
            <a:lvl4pPr marR="0" lvl="3"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4pPr>
            <a:lvl5pPr marR="0" lvl="4"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5pPr>
            <a:lvl6pPr marR="0" lvl="5"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6pPr>
            <a:lvl7pPr marR="0" lvl="6"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7pPr>
            <a:lvl8pPr marR="0" lvl="7"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8pPr>
            <a:lvl9pPr marR="0" lvl="8" algn="ctr" rtl="0">
              <a:lnSpc>
                <a:spcPct val="90000"/>
              </a:lnSpc>
              <a:spcBef>
                <a:spcPts val="500"/>
              </a:spcBef>
              <a:spcAft>
                <a:spcPts val="0"/>
              </a:spcAft>
              <a:buClr>
                <a:schemeClr val="dk1"/>
              </a:buClr>
              <a:buSzPts val="4800"/>
              <a:buFont typeface="NVIDIA Sans"/>
              <a:buNone/>
              <a:defRPr sz="16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72840652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Title,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0"/>
            <a:ext cx="10515600" cy="838200"/>
          </a:xfrm>
        </p:spPr>
        <p:txBody>
          <a:bodyPr/>
          <a:lstStyle>
            <a:lvl1pPr>
              <a:defRPr sz="2400" cap="none"/>
            </a:lvl1pPr>
          </a:lstStyle>
          <a:p>
            <a:r>
              <a:rPr lang="en-US"/>
              <a:t>Click To Add Title</a:t>
            </a:r>
          </a:p>
        </p:txBody>
      </p:sp>
      <p:sp>
        <p:nvSpPr>
          <p:cNvPr id="8" name="Text Placeholder 7">
            <a:extLst>
              <a:ext uri="{FF2B5EF4-FFF2-40B4-BE49-F238E27FC236}">
                <a16:creationId xmlns:a16="http://schemas.microsoft.com/office/drawing/2014/main" id="{56F4B3C8-1BB0-4553-892C-C0A9CA70929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4" name="Content Placeholder 2">
            <a:extLst>
              <a:ext uri="{FF2B5EF4-FFF2-40B4-BE49-F238E27FC236}">
                <a16:creationId xmlns:a16="http://schemas.microsoft.com/office/drawing/2014/main" id="{01212348-FD7A-DFE0-EEA3-CDB6BEC4F6D9}"/>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tx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tx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tx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tx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7504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5A9D33-2AEA-3F2B-509B-A0B7BBCBA3E1}"/>
              </a:ext>
            </a:extLst>
          </p:cNvPr>
          <p:cNvSpPr>
            <a:spLocks noGrp="1"/>
          </p:cNvSpPr>
          <p:nvPr>
            <p:ph type="dt" sz="half" idx="10"/>
          </p:nvPr>
        </p:nvSpPr>
        <p:spPr/>
        <p:txBody>
          <a:bodyPr/>
          <a:lstStyle/>
          <a:p>
            <a:fld id="{6B17B349-949B-49C7-907A-62A7B6010183}" type="datetimeFigureOut">
              <a:rPr lang="en-US" smtClean="0"/>
              <a:t>6/3/26</a:t>
            </a:fld>
            <a:endParaRPr lang="en-US"/>
          </a:p>
        </p:txBody>
      </p:sp>
      <p:sp>
        <p:nvSpPr>
          <p:cNvPr id="3" name="Footer Placeholder 2">
            <a:extLst>
              <a:ext uri="{FF2B5EF4-FFF2-40B4-BE49-F238E27FC236}">
                <a16:creationId xmlns:a16="http://schemas.microsoft.com/office/drawing/2014/main" id="{F73C21A1-6134-67CD-6A9A-5081E15268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D31EC1-1A7A-8291-4B23-1B402D6364DB}"/>
              </a:ext>
            </a:extLst>
          </p:cNvPr>
          <p:cNvSpPr>
            <a:spLocks noGrp="1"/>
          </p:cNvSpPr>
          <p:nvPr>
            <p:ph type="sldNum" sz="quarter" idx="12"/>
          </p:nvPr>
        </p:nvSpPr>
        <p:spPr/>
        <p:txBody>
          <a:bodyPr/>
          <a:lstStyle/>
          <a:p>
            <a:fld id="{6441A771-74E1-4219-9BCB-7A1C3C9E20E3}" type="slidenum">
              <a:rPr lang="en-US" smtClean="0"/>
              <a:t>‹#›</a:t>
            </a:fld>
            <a:endParaRPr lang="en-US"/>
          </a:p>
        </p:txBody>
      </p:sp>
    </p:spTree>
    <p:extLst>
      <p:ext uri="{BB962C8B-B14F-4D97-AF65-F5344CB8AC3E}">
        <p14:creationId xmlns:p14="http://schemas.microsoft.com/office/powerpoint/2010/main" val="364889800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2-up Image">
  <p:cSld name="2_2-up Image">
    <p:spTree>
      <p:nvGrpSpPr>
        <p:cNvPr id="1" name="Shape 1211"/>
        <p:cNvGrpSpPr/>
        <p:nvPr/>
      </p:nvGrpSpPr>
      <p:grpSpPr>
        <a:xfrm>
          <a:off x="0" y="0"/>
          <a:ext cx="0" cy="0"/>
          <a:chOff x="0" y="0"/>
          <a:chExt cx="0" cy="0"/>
        </a:xfrm>
      </p:grpSpPr>
      <p:sp>
        <p:nvSpPr>
          <p:cNvPr id="1212" name="Google Shape;1212;p128"/>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a:endParaRPr/>
          </a:p>
        </p:txBody>
      </p:sp>
      <p:sp>
        <p:nvSpPr>
          <p:cNvPr id="1213" name="Google Shape;1213;p128"/>
          <p:cNvSpPr txBox="1">
            <a:spLocks noGrp="1"/>
          </p:cNvSpPr>
          <p:nvPr>
            <p:ph type="body" idx="1"/>
          </p:nvPr>
        </p:nvSpPr>
        <p:spPr>
          <a:xfrm>
            <a:off x="838200" y="829056"/>
            <a:ext cx="10515600" cy="4696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4" name="Google Shape;1214;p128"/>
          <p:cNvSpPr>
            <a:spLocks noGrp="1"/>
          </p:cNvSpPr>
          <p:nvPr>
            <p:ph type="pic" idx="2"/>
          </p:nvPr>
        </p:nvSpPr>
        <p:spPr>
          <a:xfrm>
            <a:off x="545868" y="1616604"/>
            <a:ext cx="5448400" cy="4006800"/>
          </a:xfrm>
          <a:prstGeom prst="rect">
            <a:avLst/>
          </a:prstGeom>
          <a:solidFill>
            <a:srgbClr val="151617">
              <a:alpha val="60390"/>
            </a:srgbClr>
          </a:solidFill>
          <a:ln w="9525" cap="flat" cmpd="sng">
            <a:solidFill>
              <a:schemeClr val="accent5"/>
            </a:solidFill>
            <a:prstDash val="solid"/>
            <a:round/>
            <a:headEnd type="none" w="sm" len="sm"/>
            <a:tailEnd type="none" w="sm" len="sm"/>
          </a:ln>
        </p:spPr>
        <p:txBody>
          <a:bodyPr/>
          <a:lstStyle/>
          <a:p>
            <a:endParaRPr lang="en-US"/>
          </a:p>
        </p:txBody>
      </p:sp>
      <p:sp>
        <p:nvSpPr>
          <p:cNvPr id="1215" name="Google Shape;1215;p128"/>
          <p:cNvSpPr>
            <a:spLocks noGrp="1"/>
          </p:cNvSpPr>
          <p:nvPr>
            <p:ph type="pic" idx="3"/>
          </p:nvPr>
        </p:nvSpPr>
        <p:spPr>
          <a:xfrm>
            <a:off x="6197600" y="1616604"/>
            <a:ext cx="5448400" cy="4006800"/>
          </a:xfrm>
          <a:prstGeom prst="rect">
            <a:avLst/>
          </a:prstGeom>
          <a:solidFill>
            <a:srgbClr val="151617">
              <a:alpha val="60390"/>
            </a:srgbClr>
          </a:solidFill>
          <a:ln w="9525" cap="flat" cmpd="sng">
            <a:solidFill>
              <a:schemeClr val="accent5"/>
            </a:solidFill>
            <a:prstDash val="solid"/>
            <a:round/>
            <a:headEnd type="none" w="sm" len="sm"/>
            <a:tailEnd type="none" w="sm" len="sm"/>
          </a:ln>
        </p:spPr>
        <p:txBody>
          <a:bodyPr/>
          <a:lstStyle/>
          <a:p>
            <a:endParaRPr lang="en-US"/>
          </a:p>
        </p:txBody>
      </p:sp>
      <p:sp>
        <p:nvSpPr>
          <p:cNvPr id="1216" name="Google Shape;1216;p128"/>
          <p:cNvSpPr txBox="1">
            <a:spLocks noGrp="1"/>
          </p:cNvSpPr>
          <p:nvPr>
            <p:ph type="body" idx="4"/>
          </p:nvPr>
        </p:nvSpPr>
        <p:spPr>
          <a:xfrm>
            <a:off x="545868" y="5687987"/>
            <a:ext cx="5448400" cy="250000"/>
          </a:xfrm>
          <a:prstGeom prst="rect">
            <a:avLst/>
          </a:prstGeom>
          <a:noFill/>
          <a:ln>
            <a:noFill/>
          </a:ln>
        </p:spPr>
        <p:txBody>
          <a:bodyPr spcFirstLastPara="1" wrap="square" lIns="91400" tIns="45700" rIns="91400" bIns="45700" anchor="b" anchorCtr="0">
            <a:noAutofit/>
          </a:bodyPr>
          <a:lstStyle>
            <a:lvl1pPr marL="152385" marR="0" lvl="0" indent="-76192" algn="ctr">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7" name="Google Shape;1217;p128"/>
          <p:cNvSpPr txBox="1">
            <a:spLocks noGrp="1"/>
          </p:cNvSpPr>
          <p:nvPr>
            <p:ph type="body" idx="5"/>
          </p:nvPr>
        </p:nvSpPr>
        <p:spPr>
          <a:xfrm>
            <a:off x="545868" y="5917189"/>
            <a:ext cx="5448400" cy="2500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267"/>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8" name="Google Shape;1218;p128"/>
          <p:cNvSpPr txBox="1">
            <a:spLocks noGrp="1"/>
          </p:cNvSpPr>
          <p:nvPr>
            <p:ph type="body" idx="6"/>
          </p:nvPr>
        </p:nvSpPr>
        <p:spPr>
          <a:xfrm>
            <a:off x="6197601" y="5687987"/>
            <a:ext cx="5448800" cy="250000"/>
          </a:xfrm>
          <a:prstGeom prst="rect">
            <a:avLst/>
          </a:prstGeom>
          <a:noFill/>
          <a:ln>
            <a:noFill/>
          </a:ln>
        </p:spPr>
        <p:txBody>
          <a:bodyPr spcFirstLastPara="1" wrap="square" lIns="91400" tIns="45700" rIns="91400" bIns="45700" anchor="b" anchorCtr="0">
            <a:noAutofit/>
          </a:bodyPr>
          <a:lstStyle>
            <a:lvl1pPr marL="152385" marR="0" lvl="0" indent="-76192" algn="ctr">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9" name="Google Shape;1219;p128"/>
          <p:cNvSpPr txBox="1">
            <a:spLocks noGrp="1"/>
          </p:cNvSpPr>
          <p:nvPr>
            <p:ph type="body" idx="7"/>
          </p:nvPr>
        </p:nvSpPr>
        <p:spPr>
          <a:xfrm>
            <a:off x="6197601" y="5917189"/>
            <a:ext cx="5448800" cy="2500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267"/>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67729402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2-up Image">
  <p:cSld name="2_2-up Image">
    <p:spTree>
      <p:nvGrpSpPr>
        <p:cNvPr id="1" name="Shape 1211"/>
        <p:cNvGrpSpPr/>
        <p:nvPr/>
      </p:nvGrpSpPr>
      <p:grpSpPr>
        <a:xfrm>
          <a:off x="0" y="0"/>
          <a:ext cx="0" cy="0"/>
          <a:chOff x="0" y="0"/>
          <a:chExt cx="0" cy="0"/>
        </a:xfrm>
      </p:grpSpPr>
      <p:sp>
        <p:nvSpPr>
          <p:cNvPr id="1212" name="Google Shape;1212;p128"/>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a:endParaRPr/>
          </a:p>
        </p:txBody>
      </p:sp>
      <p:sp>
        <p:nvSpPr>
          <p:cNvPr id="1213" name="Google Shape;1213;p128"/>
          <p:cNvSpPr txBox="1">
            <a:spLocks noGrp="1"/>
          </p:cNvSpPr>
          <p:nvPr>
            <p:ph type="body" idx="1"/>
          </p:nvPr>
        </p:nvSpPr>
        <p:spPr>
          <a:xfrm>
            <a:off x="838200" y="829056"/>
            <a:ext cx="10515600" cy="4696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4" name="Google Shape;1214;p128"/>
          <p:cNvSpPr>
            <a:spLocks noGrp="1"/>
          </p:cNvSpPr>
          <p:nvPr>
            <p:ph type="pic" idx="2"/>
          </p:nvPr>
        </p:nvSpPr>
        <p:spPr>
          <a:xfrm>
            <a:off x="545868" y="1616604"/>
            <a:ext cx="5448400" cy="4006800"/>
          </a:xfrm>
          <a:prstGeom prst="rect">
            <a:avLst/>
          </a:prstGeom>
          <a:solidFill>
            <a:srgbClr val="151617">
              <a:alpha val="60390"/>
            </a:srgbClr>
          </a:solidFill>
          <a:ln w="9525" cap="flat" cmpd="sng">
            <a:solidFill>
              <a:schemeClr val="accent5"/>
            </a:solidFill>
            <a:prstDash val="solid"/>
            <a:round/>
            <a:headEnd type="none" w="sm" len="sm"/>
            <a:tailEnd type="none" w="sm" len="sm"/>
          </a:ln>
        </p:spPr>
      </p:sp>
      <p:sp>
        <p:nvSpPr>
          <p:cNvPr id="1215" name="Google Shape;1215;p128"/>
          <p:cNvSpPr>
            <a:spLocks noGrp="1"/>
          </p:cNvSpPr>
          <p:nvPr>
            <p:ph type="pic" idx="3"/>
          </p:nvPr>
        </p:nvSpPr>
        <p:spPr>
          <a:xfrm>
            <a:off x="6197600" y="1616604"/>
            <a:ext cx="5448400" cy="4006800"/>
          </a:xfrm>
          <a:prstGeom prst="rect">
            <a:avLst/>
          </a:prstGeom>
          <a:solidFill>
            <a:srgbClr val="151617">
              <a:alpha val="60390"/>
            </a:srgbClr>
          </a:solidFill>
          <a:ln w="9525" cap="flat" cmpd="sng">
            <a:solidFill>
              <a:schemeClr val="accent5"/>
            </a:solidFill>
            <a:prstDash val="solid"/>
            <a:round/>
            <a:headEnd type="none" w="sm" len="sm"/>
            <a:tailEnd type="none" w="sm" len="sm"/>
          </a:ln>
        </p:spPr>
      </p:sp>
      <p:sp>
        <p:nvSpPr>
          <p:cNvPr id="1216" name="Google Shape;1216;p128"/>
          <p:cNvSpPr txBox="1">
            <a:spLocks noGrp="1"/>
          </p:cNvSpPr>
          <p:nvPr>
            <p:ph type="body" idx="4"/>
          </p:nvPr>
        </p:nvSpPr>
        <p:spPr>
          <a:xfrm>
            <a:off x="545868" y="5687987"/>
            <a:ext cx="5448400" cy="250000"/>
          </a:xfrm>
          <a:prstGeom prst="rect">
            <a:avLst/>
          </a:prstGeom>
          <a:noFill/>
          <a:ln>
            <a:noFill/>
          </a:ln>
        </p:spPr>
        <p:txBody>
          <a:bodyPr spcFirstLastPara="1" wrap="square" lIns="91400" tIns="45700" rIns="91400" bIns="45700" anchor="b" anchorCtr="0">
            <a:noAutofit/>
          </a:bodyPr>
          <a:lstStyle>
            <a:lvl1pPr marL="152385" marR="0" lvl="0" indent="-76192" algn="ctr">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7" name="Google Shape;1217;p128"/>
          <p:cNvSpPr txBox="1">
            <a:spLocks noGrp="1"/>
          </p:cNvSpPr>
          <p:nvPr>
            <p:ph type="body" idx="5"/>
          </p:nvPr>
        </p:nvSpPr>
        <p:spPr>
          <a:xfrm>
            <a:off x="545868" y="5917189"/>
            <a:ext cx="5448400" cy="2500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267"/>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8" name="Google Shape;1218;p128"/>
          <p:cNvSpPr txBox="1">
            <a:spLocks noGrp="1"/>
          </p:cNvSpPr>
          <p:nvPr>
            <p:ph type="body" idx="6"/>
          </p:nvPr>
        </p:nvSpPr>
        <p:spPr>
          <a:xfrm>
            <a:off x="6197601" y="5687987"/>
            <a:ext cx="5448800" cy="250000"/>
          </a:xfrm>
          <a:prstGeom prst="rect">
            <a:avLst/>
          </a:prstGeom>
          <a:noFill/>
          <a:ln>
            <a:noFill/>
          </a:ln>
        </p:spPr>
        <p:txBody>
          <a:bodyPr spcFirstLastPara="1" wrap="square" lIns="91400" tIns="45700" rIns="91400" bIns="45700" anchor="b" anchorCtr="0">
            <a:noAutofit/>
          </a:bodyPr>
          <a:lstStyle>
            <a:lvl1pPr marL="152385" marR="0" lvl="0" indent="-76192" algn="ctr">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1219" name="Google Shape;1219;p128"/>
          <p:cNvSpPr txBox="1">
            <a:spLocks noGrp="1"/>
          </p:cNvSpPr>
          <p:nvPr>
            <p:ph type="body" idx="7"/>
          </p:nvPr>
        </p:nvSpPr>
        <p:spPr>
          <a:xfrm>
            <a:off x="6197601" y="5917189"/>
            <a:ext cx="5448800" cy="2500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267"/>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a:lnSpc>
                <a:spcPct val="90000"/>
              </a:lnSpc>
              <a:spcBef>
                <a:spcPts val="533"/>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67729402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Complex_Timeline">
  <p:cSld name="1_Complex_Timeline">
    <p:spTree>
      <p:nvGrpSpPr>
        <p:cNvPr id="1" name="Shape 1532"/>
        <p:cNvGrpSpPr/>
        <p:nvPr/>
      </p:nvGrpSpPr>
      <p:grpSpPr>
        <a:xfrm>
          <a:off x="0" y="0"/>
          <a:ext cx="0" cy="0"/>
          <a:chOff x="0" y="0"/>
          <a:chExt cx="0" cy="0"/>
        </a:xfrm>
      </p:grpSpPr>
      <p:pic>
        <p:nvPicPr>
          <p:cNvPr id="1533" name="Google Shape;1533;p157" descr="A green and white background&#10;&#10;Description automatically generated"/>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534" name="Google Shape;1534;p157"/>
          <p:cNvSpPr/>
          <p:nvPr/>
        </p:nvSpPr>
        <p:spPr>
          <a:xfrm>
            <a:off x="0" y="2321305"/>
            <a:ext cx="12192000" cy="4536800"/>
          </a:xfrm>
          <a:prstGeom prst="rect">
            <a:avLst/>
          </a:prstGeom>
          <a:gradFill>
            <a:gsLst>
              <a:gs pos="0">
                <a:schemeClr val="dk1"/>
              </a:gs>
              <a:gs pos="78000">
                <a:srgbClr val="FFFFFF">
                  <a:alpha val="54509"/>
                </a:srgbClr>
              </a:gs>
              <a:gs pos="100000">
                <a:srgbClr val="FFFFFF">
                  <a:alpha val="0"/>
                </a:srgbClr>
              </a:gs>
            </a:gsLst>
            <a:lin ang="5400012" scaled="0"/>
          </a:gradFill>
          <a:ln>
            <a:noFill/>
          </a:ln>
        </p:spPr>
        <p:txBody>
          <a:bodyPr spcFirstLastPara="1" wrap="square" lIns="30467" tIns="15233" rIns="30467" bIns="15233" anchor="ctr" anchorCtr="0">
            <a:noAutofit/>
          </a:bodyPr>
          <a:lstStyle/>
          <a:p>
            <a:pPr marL="0" marR="0" lvl="0" indent="0" algn="ctr" rtl="0">
              <a:lnSpc>
                <a:spcPct val="90000"/>
              </a:lnSpc>
              <a:spcBef>
                <a:spcPts val="0"/>
              </a:spcBef>
              <a:spcAft>
                <a:spcPts val="0"/>
              </a:spcAft>
              <a:buClr>
                <a:srgbClr val="000000"/>
              </a:buClr>
              <a:buSzPts val="4000"/>
              <a:buFont typeface="Arial"/>
              <a:buNone/>
            </a:pPr>
            <a:endParaRPr sz="1333" b="0" i="0" u="none" strike="noStrike" cap="none">
              <a:solidFill>
                <a:schemeClr val="dk1"/>
              </a:solidFill>
              <a:latin typeface="NVIDIA Sans"/>
              <a:ea typeface="NVIDIA Sans"/>
              <a:cs typeface="NVIDIA Sans"/>
              <a:sym typeface="NVIDIA Sans"/>
            </a:endParaRPr>
          </a:p>
        </p:txBody>
      </p:sp>
      <p:sp>
        <p:nvSpPr>
          <p:cNvPr id="1535" name="Google Shape;1535;p157"/>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solidFill>
                  <a:schemeClr val="lt1"/>
                </a:solidFill>
                <a:latin typeface="NVIDIA Sans"/>
                <a:ea typeface="NVIDIA Sans"/>
                <a:cs typeface="NVIDIA Sans"/>
                <a:sym typeface="NVIDIA Sans"/>
              </a:defRPr>
            </a:lvl1pPr>
            <a:lvl2pPr lvl="1" algn="l">
              <a:lnSpc>
                <a:spcPct val="100000"/>
              </a:lnSpc>
              <a:spcBef>
                <a:spcPts val="0"/>
              </a:spcBef>
              <a:spcAft>
                <a:spcPts val="0"/>
              </a:spcAft>
              <a:buSzPts val="1600"/>
              <a:buNone/>
              <a:defRPr/>
            </a:lvl2pPr>
            <a:lvl3pPr lvl="2" algn="l">
              <a:lnSpc>
                <a:spcPct val="100000"/>
              </a:lnSpc>
              <a:spcBef>
                <a:spcPts val="0"/>
              </a:spcBef>
              <a:spcAft>
                <a:spcPts val="0"/>
              </a:spcAft>
              <a:buSzPts val="1600"/>
              <a:buNone/>
              <a:defRPr/>
            </a:lvl3pPr>
            <a:lvl4pPr lvl="3" algn="l">
              <a:lnSpc>
                <a:spcPct val="100000"/>
              </a:lnSpc>
              <a:spcBef>
                <a:spcPts val="0"/>
              </a:spcBef>
              <a:spcAft>
                <a:spcPts val="0"/>
              </a:spcAft>
              <a:buSzPts val="1600"/>
              <a:buNone/>
              <a:defRPr/>
            </a:lvl4pPr>
            <a:lvl5pPr lvl="4" algn="l">
              <a:lnSpc>
                <a:spcPct val="100000"/>
              </a:lnSpc>
              <a:spcBef>
                <a:spcPts val="0"/>
              </a:spcBef>
              <a:spcAft>
                <a:spcPts val="0"/>
              </a:spcAft>
              <a:buSzPts val="1600"/>
              <a:buNone/>
              <a:defRPr/>
            </a:lvl5pPr>
            <a:lvl6pPr lvl="5" algn="l">
              <a:lnSpc>
                <a:spcPct val="100000"/>
              </a:lnSpc>
              <a:spcBef>
                <a:spcPts val="0"/>
              </a:spcBef>
              <a:spcAft>
                <a:spcPts val="0"/>
              </a:spcAft>
              <a:buSzPts val="1600"/>
              <a:buNone/>
              <a:defRPr/>
            </a:lvl6pPr>
            <a:lvl7pPr lvl="6" algn="l">
              <a:lnSpc>
                <a:spcPct val="100000"/>
              </a:lnSpc>
              <a:spcBef>
                <a:spcPts val="0"/>
              </a:spcBef>
              <a:spcAft>
                <a:spcPts val="0"/>
              </a:spcAft>
              <a:buSzPts val="1600"/>
              <a:buNone/>
              <a:defRPr/>
            </a:lvl7pPr>
            <a:lvl8pPr lvl="7" algn="l">
              <a:lnSpc>
                <a:spcPct val="100000"/>
              </a:lnSpc>
              <a:spcBef>
                <a:spcPts val="0"/>
              </a:spcBef>
              <a:spcAft>
                <a:spcPts val="0"/>
              </a:spcAft>
              <a:buSzPts val="1600"/>
              <a:buNone/>
              <a:defRPr/>
            </a:lvl8pPr>
            <a:lvl9pPr lvl="8" algn="l">
              <a:lnSpc>
                <a:spcPct val="100000"/>
              </a:lnSpc>
              <a:spcBef>
                <a:spcPts val="0"/>
              </a:spcBef>
              <a:spcAft>
                <a:spcPts val="0"/>
              </a:spcAft>
              <a:buSzPts val="1600"/>
              <a:buNone/>
              <a:defRPr/>
            </a:lvl9pPr>
          </a:lstStyle>
          <a:p>
            <a:endParaRPr/>
          </a:p>
        </p:txBody>
      </p:sp>
      <p:sp>
        <p:nvSpPr>
          <p:cNvPr id="1536" name="Google Shape;1536;p157"/>
          <p:cNvSpPr txBox="1">
            <a:spLocks noGrp="1"/>
          </p:cNvSpPr>
          <p:nvPr>
            <p:ph type="body" idx="1"/>
          </p:nvPr>
        </p:nvSpPr>
        <p:spPr>
          <a:xfrm>
            <a:off x="838200" y="829056"/>
            <a:ext cx="10515600" cy="4696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4022640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Subtitle 1">
  <p:cSld name="Title, Subtitle 1">
    <p:spTree>
      <p:nvGrpSpPr>
        <p:cNvPr id="1" name="Shape 411"/>
        <p:cNvGrpSpPr/>
        <p:nvPr/>
      </p:nvGrpSpPr>
      <p:grpSpPr>
        <a:xfrm>
          <a:off x="0" y="0"/>
          <a:ext cx="0" cy="0"/>
          <a:chOff x="0" y="0"/>
          <a:chExt cx="0" cy="0"/>
        </a:xfrm>
      </p:grpSpPr>
      <p:sp>
        <p:nvSpPr>
          <p:cNvPr id="412" name="Google Shape;412;p44"/>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a:endParaRPr/>
          </a:p>
        </p:txBody>
      </p:sp>
      <p:sp>
        <p:nvSpPr>
          <p:cNvPr id="413" name="Google Shape;413;p44"/>
          <p:cNvSpPr txBox="1">
            <a:spLocks noGrp="1"/>
          </p:cNvSpPr>
          <p:nvPr>
            <p:ph type="body" idx="1"/>
          </p:nvPr>
        </p:nvSpPr>
        <p:spPr>
          <a:xfrm>
            <a:off x="838200" y="829056"/>
            <a:ext cx="10515600" cy="4692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99012871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Subtitle, Bullets 2">
  <p:cSld name="Title, Subtitle, Bullets 2">
    <p:spTree>
      <p:nvGrpSpPr>
        <p:cNvPr id="1" name="Shape 414"/>
        <p:cNvGrpSpPr/>
        <p:nvPr/>
      </p:nvGrpSpPr>
      <p:grpSpPr>
        <a:xfrm>
          <a:off x="0" y="0"/>
          <a:ext cx="0" cy="0"/>
          <a:chOff x="0" y="0"/>
          <a:chExt cx="0" cy="0"/>
        </a:xfrm>
      </p:grpSpPr>
      <p:sp>
        <p:nvSpPr>
          <p:cNvPr id="415" name="Google Shape;415;p45"/>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a:endParaRPr/>
          </a:p>
        </p:txBody>
      </p:sp>
      <p:sp>
        <p:nvSpPr>
          <p:cNvPr id="416" name="Google Shape;416;p45"/>
          <p:cNvSpPr txBox="1">
            <a:spLocks noGrp="1"/>
          </p:cNvSpPr>
          <p:nvPr>
            <p:ph type="body" idx="1"/>
          </p:nvPr>
        </p:nvSpPr>
        <p:spPr>
          <a:xfrm>
            <a:off x="838200" y="829056"/>
            <a:ext cx="10515600" cy="4692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417" name="Google Shape;417;p45"/>
          <p:cNvSpPr txBox="1">
            <a:spLocks noGrp="1"/>
          </p:cNvSpPr>
          <p:nvPr>
            <p:ph type="body" idx="2"/>
          </p:nvPr>
        </p:nvSpPr>
        <p:spPr>
          <a:xfrm>
            <a:off x="838200" y="1615440"/>
            <a:ext cx="10515600" cy="4550800"/>
          </a:xfrm>
          <a:prstGeom prst="rect">
            <a:avLst/>
          </a:prstGeom>
          <a:noFill/>
          <a:ln>
            <a:noFill/>
          </a:ln>
        </p:spPr>
        <p:txBody>
          <a:bodyPr spcFirstLastPara="1" wrap="square" lIns="91400" tIns="45700" rIns="91400" bIns="45700" anchor="t" anchorCtr="0">
            <a:noAutofit/>
          </a:bodyPr>
          <a:lstStyle>
            <a:lvl1pPr marL="152385" marR="0" lvl="0" indent="-169316" algn="l">
              <a:lnSpc>
                <a:spcPct val="90000"/>
              </a:lnSpc>
              <a:spcBef>
                <a:spcPts val="1067"/>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a:lnSpc>
                <a:spcPct val="90000"/>
              </a:lnSpc>
              <a:spcBef>
                <a:spcPts val="533"/>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a:lnSpc>
                <a:spcPct val="90000"/>
              </a:lnSpc>
              <a:spcBef>
                <a:spcPts val="533"/>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a:lnSpc>
                <a:spcPct val="90000"/>
              </a:lnSpc>
              <a:spcBef>
                <a:spcPts val="533"/>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a:lnSpc>
                <a:spcPct val="90000"/>
              </a:lnSpc>
              <a:spcBef>
                <a:spcPts val="533"/>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55296065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Subtitle">
  <p:cSld name="2_Title, Subtitle">
    <p:spTree>
      <p:nvGrpSpPr>
        <p:cNvPr id="1" name="Shape 396"/>
        <p:cNvGrpSpPr/>
        <p:nvPr/>
      </p:nvGrpSpPr>
      <p:grpSpPr>
        <a:xfrm>
          <a:off x="0" y="0"/>
          <a:ext cx="0" cy="0"/>
          <a:chOff x="0" y="0"/>
          <a:chExt cx="0" cy="0"/>
        </a:xfrm>
      </p:grpSpPr>
      <p:sp>
        <p:nvSpPr>
          <p:cNvPr id="397" name="Google Shape;397;p40"/>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None/>
              <a:defRPr sz="2400" cap="none"/>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a:endParaRPr/>
          </a:p>
        </p:txBody>
      </p:sp>
      <p:sp>
        <p:nvSpPr>
          <p:cNvPr id="398" name="Google Shape;398;p40"/>
          <p:cNvSpPr txBox="1">
            <a:spLocks noGrp="1"/>
          </p:cNvSpPr>
          <p:nvPr>
            <p:ph type="subTitle" idx="1"/>
          </p:nvPr>
        </p:nvSpPr>
        <p:spPr>
          <a:xfrm>
            <a:off x="838200" y="829056"/>
            <a:ext cx="10515600" cy="4694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Clr>
                <a:schemeClr val="dk2"/>
              </a:buClr>
              <a:buSzPts val="4800"/>
              <a:buFont typeface="NVIDIA Sans"/>
              <a:buNone/>
              <a:defRPr sz="1600">
                <a:solidFill>
                  <a:schemeClr val="dk2"/>
                </a:solidFill>
                <a:latin typeface="NVIDIA Sans"/>
                <a:ea typeface="NVIDIA Sans"/>
                <a:cs typeface="NVIDIA Sans"/>
                <a:sym typeface="NVIDIA Sans"/>
              </a:defRPr>
            </a:lvl1pPr>
            <a:lvl2pPr lvl="1">
              <a:spcBef>
                <a:spcPts val="0"/>
              </a:spcBef>
              <a:spcAft>
                <a:spcPts val="0"/>
              </a:spcAft>
              <a:buSzPts val="4800"/>
              <a:buFont typeface="NVIDIA Sans"/>
              <a:buNone/>
              <a:defRPr sz="1600">
                <a:latin typeface="NVIDIA Sans"/>
                <a:ea typeface="NVIDIA Sans"/>
                <a:cs typeface="NVIDIA Sans"/>
                <a:sym typeface="NVIDIA Sans"/>
              </a:defRPr>
            </a:lvl2pPr>
            <a:lvl3pPr lvl="2">
              <a:spcBef>
                <a:spcPts val="0"/>
              </a:spcBef>
              <a:spcAft>
                <a:spcPts val="0"/>
              </a:spcAft>
              <a:buSzPts val="4800"/>
              <a:buFont typeface="NVIDIA Sans"/>
              <a:buNone/>
              <a:defRPr sz="1600">
                <a:latin typeface="NVIDIA Sans"/>
                <a:ea typeface="NVIDIA Sans"/>
                <a:cs typeface="NVIDIA Sans"/>
                <a:sym typeface="NVIDIA Sans"/>
              </a:defRPr>
            </a:lvl3pPr>
            <a:lvl4pPr lvl="3">
              <a:spcBef>
                <a:spcPts val="0"/>
              </a:spcBef>
              <a:spcAft>
                <a:spcPts val="0"/>
              </a:spcAft>
              <a:buSzPts val="4800"/>
              <a:buFont typeface="NVIDIA Sans"/>
              <a:buNone/>
              <a:defRPr sz="1600">
                <a:latin typeface="NVIDIA Sans"/>
                <a:ea typeface="NVIDIA Sans"/>
                <a:cs typeface="NVIDIA Sans"/>
                <a:sym typeface="NVIDIA Sans"/>
              </a:defRPr>
            </a:lvl4pPr>
            <a:lvl5pPr lvl="4">
              <a:spcBef>
                <a:spcPts val="0"/>
              </a:spcBef>
              <a:spcAft>
                <a:spcPts val="0"/>
              </a:spcAft>
              <a:buSzPts val="4800"/>
              <a:buFont typeface="NVIDIA Sans"/>
              <a:buNone/>
              <a:defRPr sz="1600">
                <a:latin typeface="NVIDIA Sans"/>
                <a:ea typeface="NVIDIA Sans"/>
                <a:cs typeface="NVIDIA Sans"/>
                <a:sym typeface="NVIDIA Sans"/>
              </a:defRPr>
            </a:lvl5pPr>
            <a:lvl6pPr lvl="5">
              <a:spcBef>
                <a:spcPts val="0"/>
              </a:spcBef>
              <a:spcAft>
                <a:spcPts val="0"/>
              </a:spcAft>
              <a:buSzPts val="4800"/>
              <a:buFont typeface="NVIDIA Sans"/>
              <a:buNone/>
              <a:defRPr sz="1600">
                <a:latin typeface="NVIDIA Sans"/>
                <a:ea typeface="NVIDIA Sans"/>
                <a:cs typeface="NVIDIA Sans"/>
                <a:sym typeface="NVIDIA Sans"/>
              </a:defRPr>
            </a:lvl6pPr>
            <a:lvl7pPr lvl="6">
              <a:spcBef>
                <a:spcPts val="0"/>
              </a:spcBef>
              <a:spcAft>
                <a:spcPts val="0"/>
              </a:spcAft>
              <a:buSzPts val="4800"/>
              <a:buFont typeface="NVIDIA Sans"/>
              <a:buNone/>
              <a:defRPr sz="1600">
                <a:latin typeface="NVIDIA Sans"/>
                <a:ea typeface="NVIDIA Sans"/>
                <a:cs typeface="NVIDIA Sans"/>
                <a:sym typeface="NVIDIA Sans"/>
              </a:defRPr>
            </a:lvl7pPr>
            <a:lvl8pPr lvl="7">
              <a:spcBef>
                <a:spcPts val="0"/>
              </a:spcBef>
              <a:spcAft>
                <a:spcPts val="0"/>
              </a:spcAft>
              <a:buSzPts val="4800"/>
              <a:buFont typeface="NVIDIA Sans"/>
              <a:buNone/>
              <a:defRPr sz="1600">
                <a:latin typeface="NVIDIA Sans"/>
                <a:ea typeface="NVIDIA Sans"/>
                <a:cs typeface="NVIDIA Sans"/>
                <a:sym typeface="NVIDIA Sans"/>
              </a:defRPr>
            </a:lvl8pPr>
            <a:lvl9pPr lvl="8">
              <a:spcBef>
                <a:spcPts val="0"/>
              </a:spcBef>
              <a:spcAft>
                <a:spcPts val="0"/>
              </a:spcAft>
              <a:buSzPts val="4800"/>
              <a:buFont typeface="NVIDIA Sans"/>
              <a:buNone/>
              <a:defRPr sz="1600">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9300351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wo Column 1">
  <p:cSld name="Two Column 1">
    <p:spTree>
      <p:nvGrpSpPr>
        <p:cNvPr id="1" name="Shape 423"/>
        <p:cNvGrpSpPr/>
        <p:nvPr/>
      </p:nvGrpSpPr>
      <p:grpSpPr>
        <a:xfrm>
          <a:off x="0" y="0"/>
          <a:ext cx="0" cy="0"/>
          <a:chOff x="0" y="0"/>
          <a:chExt cx="0" cy="0"/>
        </a:xfrm>
      </p:grpSpPr>
      <p:sp>
        <p:nvSpPr>
          <p:cNvPr id="424" name="Google Shape;424;p47"/>
          <p:cNvSpPr txBox="1">
            <a:spLocks noGrp="1"/>
          </p:cNvSpPr>
          <p:nvPr>
            <p:ph type="title"/>
          </p:nvPr>
        </p:nvSpPr>
        <p:spPr>
          <a:xfrm>
            <a:off x="838200" y="0"/>
            <a:ext cx="10515600" cy="838400"/>
          </a:xfrm>
          <a:prstGeom prst="rect">
            <a:avLst/>
          </a:prstGeom>
          <a:noFill/>
          <a:ln>
            <a:noFill/>
          </a:ln>
        </p:spPr>
        <p:txBody>
          <a:bodyPr spcFirstLastPara="1" wrap="square" lIns="91400" tIns="45700" rIns="91400"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a:endParaRPr/>
          </a:p>
        </p:txBody>
      </p:sp>
      <p:sp>
        <p:nvSpPr>
          <p:cNvPr id="425" name="Google Shape;425;p47"/>
          <p:cNvSpPr txBox="1">
            <a:spLocks noGrp="1"/>
          </p:cNvSpPr>
          <p:nvPr>
            <p:ph type="body" idx="1"/>
          </p:nvPr>
        </p:nvSpPr>
        <p:spPr>
          <a:xfrm>
            <a:off x="838200" y="829056"/>
            <a:ext cx="10515600" cy="469200"/>
          </a:xfrm>
          <a:prstGeom prst="rect">
            <a:avLst/>
          </a:prstGeom>
          <a:noFill/>
          <a:ln>
            <a:noFill/>
          </a:ln>
        </p:spPr>
        <p:txBody>
          <a:bodyPr spcFirstLastPara="1" wrap="square" lIns="91400" tIns="45700" rIns="91400" bIns="45700" anchor="t" anchorCtr="0">
            <a:noAutofit/>
          </a:bodyPr>
          <a:lstStyle>
            <a:lvl1pPr marL="152385" marR="0" lvl="0" indent="-76192" algn="ctr">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a:lnSpc>
                <a:spcPct val="90000"/>
              </a:lnSpc>
              <a:spcBef>
                <a:spcPts val="533"/>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426" name="Google Shape;426;p47"/>
          <p:cNvSpPr txBox="1">
            <a:spLocks noGrp="1"/>
          </p:cNvSpPr>
          <p:nvPr>
            <p:ph type="body" idx="2"/>
          </p:nvPr>
        </p:nvSpPr>
        <p:spPr>
          <a:xfrm>
            <a:off x="838200" y="1615440"/>
            <a:ext cx="5072000" cy="4550800"/>
          </a:xfrm>
          <a:prstGeom prst="rect">
            <a:avLst/>
          </a:prstGeom>
          <a:noFill/>
          <a:ln>
            <a:noFill/>
          </a:ln>
        </p:spPr>
        <p:txBody>
          <a:bodyPr spcFirstLastPara="1" wrap="square" lIns="91400" tIns="45700" rIns="91400" bIns="45700" anchor="t" anchorCtr="0">
            <a:noAutofit/>
          </a:bodyPr>
          <a:lstStyle>
            <a:lvl1pPr marL="152385" marR="0" lvl="0" indent="-169316" algn="l">
              <a:lnSpc>
                <a:spcPct val="90000"/>
              </a:lnSpc>
              <a:spcBef>
                <a:spcPts val="1067"/>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a:lnSpc>
                <a:spcPct val="90000"/>
              </a:lnSpc>
              <a:spcBef>
                <a:spcPts val="533"/>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a:lnSpc>
                <a:spcPct val="90000"/>
              </a:lnSpc>
              <a:spcBef>
                <a:spcPts val="533"/>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a:lnSpc>
                <a:spcPct val="90000"/>
              </a:lnSpc>
              <a:spcBef>
                <a:spcPts val="533"/>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a:lnSpc>
                <a:spcPct val="90000"/>
              </a:lnSpc>
              <a:spcBef>
                <a:spcPts val="533"/>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
        <p:nvSpPr>
          <p:cNvPr id="427" name="Google Shape;427;p47"/>
          <p:cNvSpPr txBox="1">
            <a:spLocks noGrp="1"/>
          </p:cNvSpPr>
          <p:nvPr>
            <p:ph type="body" idx="3"/>
          </p:nvPr>
        </p:nvSpPr>
        <p:spPr>
          <a:xfrm>
            <a:off x="6281928" y="1615440"/>
            <a:ext cx="5072000" cy="4550800"/>
          </a:xfrm>
          <a:prstGeom prst="rect">
            <a:avLst/>
          </a:prstGeom>
          <a:noFill/>
          <a:ln>
            <a:noFill/>
          </a:ln>
        </p:spPr>
        <p:txBody>
          <a:bodyPr spcFirstLastPara="1" wrap="square" lIns="91400" tIns="45700" rIns="91400" bIns="45700" anchor="t" anchorCtr="0">
            <a:noAutofit/>
          </a:bodyPr>
          <a:lstStyle>
            <a:lvl1pPr marL="152385" marR="0" lvl="0" indent="-169316" algn="l">
              <a:lnSpc>
                <a:spcPct val="90000"/>
              </a:lnSpc>
              <a:spcBef>
                <a:spcPts val="1067"/>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a:lnSpc>
                <a:spcPct val="90000"/>
              </a:lnSpc>
              <a:spcBef>
                <a:spcPts val="533"/>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a:lnSpc>
                <a:spcPct val="90000"/>
              </a:lnSpc>
              <a:spcBef>
                <a:spcPts val="533"/>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a:lnSpc>
                <a:spcPct val="90000"/>
              </a:lnSpc>
              <a:spcBef>
                <a:spcPts val="533"/>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a:lnSpc>
                <a:spcPct val="90000"/>
              </a:lnSpc>
              <a:spcBef>
                <a:spcPts val="533"/>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6pPr>
            <a:lvl7pPr marL="1066693" marR="0" lvl="6"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7pPr>
            <a:lvl8pPr marL="1219078" marR="0" lvl="7"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8pPr>
            <a:lvl9pPr marL="1371463" marR="0" lvl="8" indent="-194714" algn="l">
              <a:lnSpc>
                <a:spcPct val="90000"/>
              </a:lnSpc>
              <a:spcBef>
                <a:spcPts val="533"/>
              </a:spcBef>
              <a:spcAft>
                <a:spcPts val="0"/>
              </a:spcAft>
              <a:buClr>
                <a:schemeClr val="dk1"/>
              </a:buClr>
              <a:buSzPts val="5600"/>
              <a:buFont typeface="NVIDIA Sans"/>
              <a:buChar char="•"/>
              <a:defRPr sz="1866"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3454535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Subtitle,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0"/>
            <a:ext cx="10515600" cy="838200"/>
          </a:xfrm>
        </p:spPr>
        <p:txBody>
          <a:bodyPr/>
          <a:lstStyle>
            <a:lvl1pPr>
              <a:defRPr sz="2400" cap="none"/>
            </a:lvl1pPr>
          </a:lstStyle>
          <a:p>
            <a:r>
              <a:rPr lang="en-US"/>
              <a:t>Click To Add Title</a:t>
            </a:r>
          </a:p>
        </p:txBody>
      </p:sp>
      <p:sp>
        <p:nvSpPr>
          <p:cNvPr id="8" name="Text Placeholder 7">
            <a:extLst>
              <a:ext uri="{FF2B5EF4-FFF2-40B4-BE49-F238E27FC236}">
                <a16:creationId xmlns:a16="http://schemas.microsoft.com/office/drawing/2014/main" id="{56F4B3C8-1BB0-4553-892C-C0A9CA70929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08" indent="0" algn="ctr">
              <a:buFontTx/>
              <a:buNone/>
              <a:defRPr sz="1467">
                <a:latin typeface="NVIDIA Sans" panose="020B0503020203020204" pitchFamily="34" charset="0"/>
              </a:defRPr>
            </a:lvl2pPr>
            <a:lvl3pPr marL="914218" indent="0" algn="ctr">
              <a:buFontTx/>
              <a:buNone/>
              <a:defRPr sz="1467">
                <a:latin typeface="NVIDIA Sans" panose="020B0503020203020204" pitchFamily="34" charset="0"/>
              </a:defRPr>
            </a:lvl3pPr>
            <a:lvl4pPr marL="1371326" indent="0" algn="ctr">
              <a:buFontTx/>
              <a:buNone/>
              <a:defRPr sz="1467">
                <a:latin typeface="NVIDIA Sans" panose="020B0503020203020204" pitchFamily="34" charset="0"/>
              </a:defRPr>
            </a:lvl4pPr>
            <a:lvl5pPr marL="1828434" indent="0" algn="ctr">
              <a:buFontTx/>
              <a:buNone/>
              <a:defRPr sz="1467">
                <a:latin typeface="NVIDIA Sans" panose="020B0503020203020204" pitchFamily="34" charset="0"/>
              </a:defRPr>
            </a:lvl5pPr>
          </a:lstStyle>
          <a:p>
            <a:pPr lvl="0"/>
            <a:r>
              <a:rPr lang="en-US"/>
              <a:t>Click to add subtitle</a:t>
            </a:r>
          </a:p>
        </p:txBody>
      </p:sp>
      <p:sp>
        <p:nvSpPr>
          <p:cNvPr id="6" name="Content Placeholder 2">
            <a:extLst>
              <a:ext uri="{FF2B5EF4-FFF2-40B4-BE49-F238E27FC236}">
                <a16:creationId xmlns:a16="http://schemas.microsoft.com/office/drawing/2014/main" id="{7E5C15A8-2EC0-4C53-87C6-66E26EAB0D00}"/>
              </a:ext>
            </a:extLst>
          </p:cNvPr>
          <p:cNvSpPr>
            <a:spLocks noGrp="1"/>
          </p:cNvSpPr>
          <p:nvPr>
            <p:ph idx="1" hasCustomPrompt="1"/>
          </p:nvPr>
        </p:nvSpPr>
        <p:spPr>
          <a:xfrm>
            <a:off x="838200" y="1615440"/>
            <a:ext cx="10515600" cy="4550664"/>
          </a:xfrm>
          <a:prstGeom prst="rect">
            <a:avLst/>
          </a:prstGeom>
        </p:spPr>
        <p:txBody>
          <a:bodyPr/>
          <a:lstStyle>
            <a:lvl1pPr marL="152370" indent="-152370">
              <a:buClr>
                <a:schemeClr val="tx2"/>
              </a:buClr>
              <a:buFont typeface="NVIDIA Sans" panose="020B0503020203020204" pitchFamily="34" charset="0"/>
              <a:buChar char="•"/>
              <a:defRPr sz="1467">
                <a:solidFill>
                  <a:schemeClr val="tx1"/>
                </a:solidFill>
                <a:latin typeface="NVIDIA Sans" panose="020B0503020203020204" pitchFamily="34" charset="0"/>
                <a:cs typeface="NVIDIA Sans" panose="020B0503020203020204" pitchFamily="34" charset="0"/>
              </a:defRPr>
            </a:lvl1pPr>
            <a:lvl2pPr marL="457108" indent="-152370">
              <a:buClr>
                <a:schemeClr val="tx2"/>
              </a:buClr>
              <a:buFont typeface="NVIDIA Sans" panose="020B0503020203020204" pitchFamily="34" charset="0"/>
              <a:buChar char="•"/>
              <a:defRPr sz="1333">
                <a:solidFill>
                  <a:schemeClr val="tx1"/>
                </a:solidFill>
                <a:latin typeface="NVIDIA Sans" panose="020B0503020203020204" pitchFamily="34" charset="0"/>
                <a:cs typeface="NVIDIA Sans" panose="020B0503020203020204" pitchFamily="34" charset="0"/>
              </a:defRPr>
            </a:lvl2pPr>
            <a:lvl3pPr marL="761848" indent="-152370">
              <a:buClr>
                <a:schemeClr val="tx2"/>
              </a:buClr>
              <a:buFont typeface="NVIDIA Sans" panose="020B0503020203020204" pitchFamily="34" charset="0"/>
              <a:buChar char="•"/>
              <a:defRPr sz="1200">
                <a:solidFill>
                  <a:schemeClr val="tx1"/>
                </a:solidFill>
                <a:latin typeface="NVIDIA Sans" panose="020B0503020203020204" pitchFamily="34" charset="0"/>
                <a:cs typeface="NVIDIA Sans" panose="020B0503020203020204" pitchFamily="34" charset="0"/>
              </a:defRPr>
            </a:lvl3pPr>
            <a:lvl4pPr marL="1066586" indent="-152370">
              <a:buClr>
                <a:schemeClr val="tx2"/>
              </a:buClr>
              <a:buFont typeface="NVIDIA Sans" panose="020B0503020203020204" pitchFamily="34" charset="0"/>
              <a:buChar char="•"/>
              <a:defRPr sz="1067">
                <a:solidFill>
                  <a:schemeClr val="tx1"/>
                </a:solidFill>
                <a:latin typeface="NVIDIA Sans" panose="020B0503020203020204" pitchFamily="34" charset="0"/>
                <a:cs typeface="NVIDIA Sans" panose="020B0503020203020204" pitchFamily="34" charset="0"/>
              </a:defRPr>
            </a:lvl4pPr>
            <a:lvl5pPr marL="1351222" indent="-132265">
              <a:buClr>
                <a:schemeClr val="tx2"/>
              </a:buClr>
              <a:buFont typeface="NVIDIA Sans" panose="020B0503020203020204" pitchFamily="34" charset="0"/>
              <a:buChar char="•"/>
              <a:defRPr sz="933">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2043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413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90"/>
        <p:cNvGrpSpPr/>
        <p:nvPr/>
      </p:nvGrpSpPr>
      <p:grpSpPr>
        <a:xfrm>
          <a:off x="0" y="0"/>
          <a:ext cx="0" cy="0"/>
          <a:chOff x="0" y="0"/>
          <a:chExt cx="0" cy="0"/>
        </a:xfrm>
      </p:grpSpPr>
      <p:sp>
        <p:nvSpPr>
          <p:cNvPr id="91" name="Google Shape;91;p44"/>
          <p:cNvSpPr>
            <a:spLocks noGrp="1"/>
          </p:cNvSpPr>
          <p:nvPr>
            <p:ph type="pic" idx="2"/>
          </p:nvPr>
        </p:nvSpPr>
        <p:spPr>
          <a:xfrm>
            <a:off x="4297131"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2" name="Google Shape;92;p44"/>
          <p:cNvSpPr>
            <a:spLocks noGrp="1"/>
          </p:cNvSpPr>
          <p:nvPr>
            <p:ph type="pic" idx="3"/>
          </p:nvPr>
        </p:nvSpPr>
        <p:spPr>
          <a:xfrm>
            <a:off x="548528"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3" name="Google Shape;93;p44"/>
          <p:cNvSpPr>
            <a:spLocks noGrp="1"/>
          </p:cNvSpPr>
          <p:nvPr>
            <p:ph type="pic" idx="4"/>
          </p:nvPr>
        </p:nvSpPr>
        <p:spPr>
          <a:xfrm>
            <a:off x="8049491"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4" name="Google Shape;94;p44"/>
          <p:cNvSpPr txBox="1">
            <a:spLocks noGrp="1"/>
          </p:cNvSpPr>
          <p:nvPr>
            <p:ph type="body" idx="1"/>
          </p:nvPr>
        </p:nvSpPr>
        <p:spPr>
          <a:xfrm>
            <a:off x="552281" y="3327295"/>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5" name="Google Shape;95;p44"/>
          <p:cNvSpPr txBox="1">
            <a:spLocks noGrp="1"/>
          </p:cNvSpPr>
          <p:nvPr>
            <p:ph type="body" idx="5"/>
          </p:nvPr>
        </p:nvSpPr>
        <p:spPr>
          <a:xfrm>
            <a:off x="552281" y="3556498"/>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6" name="Google Shape;96;p44"/>
          <p:cNvSpPr txBox="1">
            <a:spLocks noGrp="1"/>
          </p:cNvSpPr>
          <p:nvPr>
            <p:ph type="body" idx="6"/>
          </p:nvPr>
        </p:nvSpPr>
        <p:spPr>
          <a:xfrm>
            <a:off x="4298116" y="3327295"/>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7" name="Google Shape;97;p44"/>
          <p:cNvSpPr txBox="1">
            <a:spLocks noGrp="1"/>
          </p:cNvSpPr>
          <p:nvPr>
            <p:ph type="body" idx="7"/>
          </p:nvPr>
        </p:nvSpPr>
        <p:spPr>
          <a:xfrm>
            <a:off x="4298116" y="3556498"/>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8" name="Google Shape;98;p44"/>
          <p:cNvSpPr txBox="1">
            <a:spLocks noGrp="1"/>
          </p:cNvSpPr>
          <p:nvPr>
            <p:ph type="body" idx="8"/>
          </p:nvPr>
        </p:nvSpPr>
        <p:spPr>
          <a:xfrm>
            <a:off x="8050438" y="3327295"/>
            <a:ext cx="359303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9" name="Google Shape;99;p44"/>
          <p:cNvSpPr txBox="1">
            <a:spLocks noGrp="1"/>
          </p:cNvSpPr>
          <p:nvPr>
            <p:ph type="body" idx="9"/>
          </p:nvPr>
        </p:nvSpPr>
        <p:spPr>
          <a:xfrm>
            <a:off x="8050438" y="3556498"/>
            <a:ext cx="359303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0" name="Google Shape;100;p44"/>
          <p:cNvSpPr>
            <a:spLocks noGrp="1"/>
          </p:cNvSpPr>
          <p:nvPr>
            <p:ph type="pic" idx="13"/>
          </p:nvPr>
        </p:nvSpPr>
        <p:spPr>
          <a:xfrm>
            <a:off x="4300885"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1" name="Google Shape;101;p44"/>
          <p:cNvSpPr>
            <a:spLocks noGrp="1"/>
          </p:cNvSpPr>
          <p:nvPr>
            <p:ph type="pic" idx="14"/>
          </p:nvPr>
        </p:nvSpPr>
        <p:spPr>
          <a:xfrm>
            <a:off x="552281"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2" name="Google Shape;102;p44"/>
          <p:cNvSpPr>
            <a:spLocks noGrp="1"/>
          </p:cNvSpPr>
          <p:nvPr>
            <p:ph type="pic" idx="15"/>
          </p:nvPr>
        </p:nvSpPr>
        <p:spPr>
          <a:xfrm>
            <a:off x="8053245"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3" name="Google Shape;103;p44"/>
          <p:cNvSpPr txBox="1">
            <a:spLocks noGrp="1"/>
          </p:cNvSpPr>
          <p:nvPr>
            <p:ph type="body" idx="16"/>
          </p:nvPr>
        </p:nvSpPr>
        <p:spPr>
          <a:xfrm>
            <a:off x="556035" y="5687987"/>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4" name="Google Shape;104;p44"/>
          <p:cNvSpPr txBox="1">
            <a:spLocks noGrp="1"/>
          </p:cNvSpPr>
          <p:nvPr>
            <p:ph type="body" idx="17"/>
          </p:nvPr>
        </p:nvSpPr>
        <p:spPr>
          <a:xfrm>
            <a:off x="556035" y="5917189"/>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5" name="Google Shape;105;p44"/>
          <p:cNvSpPr txBox="1">
            <a:spLocks noGrp="1"/>
          </p:cNvSpPr>
          <p:nvPr>
            <p:ph type="body" idx="18"/>
          </p:nvPr>
        </p:nvSpPr>
        <p:spPr>
          <a:xfrm>
            <a:off x="4301870" y="5687987"/>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6" name="Google Shape;106;p44"/>
          <p:cNvSpPr txBox="1">
            <a:spLocks noGrp="1"/>
          </p:cNvSpPr>
          <p:nvPr>
            <p:ph type="body" idx="19"/>
          </p:nvPr>
        </p:nvSpPr>
        <p:spPr>
          <a:xfrm>
            <a:off x="4301870" y="5917189"/>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7" name="Google Shape;107;p44"/>
          <p:cNvSpPr txBox="1">
            <a:spLocks noGrp="1"/>
          </p:cNvSpPr>
          <p:nvPr>
            <p:ph type="body" idx="20"/>
          </p:nvPr>
        </p:nvSpPr>
        <p:spPr>
          <a:xfrm>
            <a:off x="8054192" y="5687987"/>
            <a:ext cx="359303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8" name="Google Shape;108;p44"/>
          <p:cNvSpPr txBox="1">
            <a:spLocks noGrp="1"/>
          </p:cNvSpPr>
          <p:nvPr>
            <p:ph type="body" idx="21"/>
          </p:nvPr>
        </p:nvSpPr>
        <p:spPr>
          <a:xfrm>
            <a:off x="8054192" y="5917189"/>
            <a:ext cx="359303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9" name="Google Shape;109;p44"/>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44"/>
          <p:cNvSpPr txBox="1">
            <a:spLocks noGrp="1"/>
          </p:cNvSpPr>
          <p:nvPr>
            <p:ph type="body" idx="22"/>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46768590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553720" y="579121"/>
            <a:ext cx="11084560" cy="656590"/>
          </a:xfrm>
        </p:spPr>
        <p:txBody>
          <a:bodyPr/>
          <a:lstStyle>
            <a:lvl1pPr algn="ctr">
              <a:defRPr sz="3200">
                <a:solidFill>
                  <a:schemeClr val="bg1"/>
                </a:solidFill>
              </a:defRPr>
            </a:lvl1pPr>
          </a:lstStyle>
          <a:p>
            <a:r>
              <a:rPr lang="en-US"/>
              <a:t>Click to edit Master title style</a:t>
            </a:r>
          </a:p>
        </p:txBody>
      </p:sp>
      <p:sp>
        <p:nvSpPr>
          <p:cNvPr id="3" name="Content Placeholder 2"/>
          <p:cNvSpPr>
            <a:spLocks noGrp="1"/>
          </p:cNvSpPr>
          <p:nvPr>
            <p:ph idx="1"/>
          </p:nvPr>
        </p:nvSpPr>
        <p:spPr>
          <a:xfrm>
            <a:off x="568960" y="2336707"/>
            <a:ext cx="11054080" cy="4104175"/>
          </a:xfrm>
        </p:spPr>
        <p:txBody>
          <a:bodyPr/>
          <a:lstStyle>
            <a:lvl1pPr marL="0" indent="0">
              <a:buClr>
                <a:schemeClr val="bg2"/>
              </a:buClr>
              <a:buSzPct val="100000"/>
              <a:buFontTx/>
              <a:buNone/>
              <a:defRPr sz="1600">
                <a:solidFill>
                  <a:schemeClr val="accent4"/>
                </a:solidFill>
              </a:defRPr>
            </a:lvl1pPr>
            <a:lvl2pPr marL="634949" indent="0">
              <a:buClr>
                <a:schemeClr val="bg2"/>
              </a:buClr>
              <a:buSzPct val="100000"/>
              <a:buFontTx/>
              <a:buNone/>
              <a:defRPr sz="1333">
                <a:solidFill>
                  <a:schemeClr val="accent4"/>
                </a:solidFill>
              </a:defRPr>
            </a:lvl2pPr>
            <a:lvl3pPr marL="1209931" indent="0">
              <a:buClr>
                <a:schemeClr val="bg2"/>
              </a:buClr>
              <a:buSzPct val="100000"/>
              <a:buFontTx/>
              <a:buNone/>
              <a:defRPr sz="1200">
                <a:solidFill>
                  <a:schemeClr val="accent4"/>
                </a:solidFill>
              </a:defRPr>
            </a:lvl3pPr>
            <a:lvl4pPr marL="1971870" indent="-253980">
              <a:buClr>
                <a:schemeClr val="bg2"/>
              </a:buClr>
              <a:buFont typeface="Wingdings" panose="05000000000000000000" pitchFamily="2" charset="2"/>
              <a:buChar char="§"/>
              <a:defRPr sz="2000">
                <a:solidFill>
                  <a:schemeClr val="tx1"/>
                </a:solidFill>
              </a:defRPr>
            </a:lvl4pPr>
            <a:lvl5pPr marL="2352839" indent="-25398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53720" y="1209041"/>
            <a:ext cx="11084560" cy="583848"/>
          </a:xfrm>
        </p:spPr>
        <p:txBody>
          <a:bodyPr/>
          <a:lstStyle>
            <a:lvl1pPr marL="0" indent="0" algn="ctr">
              <a:buFontTx/>
              <a:buNone/>
              <a:defRPr sz="2000" b="0">
                <a:solidFill>
                  <a:schemeClr val="tx2"/>
                </a:solidFill>
                <a:latin typeface="Trebuchet MS" panose="020B0603020202020204" pitchFamily="34" charset="0"/>
              </a:defRPr>
            </a:lvl1pPr>
            <a:lvl2pPr marL="634949" indent="0" algn="ctr">
              <a:buFontTx/>
              <a:buNone/>
              <a:defRPr sz="3111">
                <a:solidFill>
                  <a:schemeClr val="tx2"/>
                </a:solidFill>
                <a:latin typeface="Trebuchet MS" panose="020B0603020202020204" pitchFamily="34" charset="0"/>
              </a:defRPr>
            </a:lvl2pPr>
            <a:lvl3pPr marL="1209931" indent="0" algn="ctr">
              <a:buFontTx/>
              <a:buNone/>
              <a:defRPr sz="3111">
                <a:solidFill>
                  <a:schemeClr val="tx2"/>
                </a:solidFill>
                <a:latin typeface="Trebuchet MS" panose="020B0603020202020204" pitchFamily="34" charset="0"/>
              </a:defRPr>
            </a:lvl3pPr>
            <a:lvl4pPr marL="1717890" indent="0" algn="ctr">
              <a:buFontTx/>
              <a:buNone/>
              <a:defRPr sz="3111">
                <a:solidFill>
                  <a:schemeClr val="tx2"/>
                </a:solidFill>
                <a:latin typeface="Trebuchet MS" panose="020B0603020202020204" pitchFamily="34" charset="0"/>
              </a:defRPr>
            </a:lvl4pPr>
            <a:lvl5pPr marL="2098860" indent="0" algn="ctr">
              <a:buFontTx/>
              <a:buNone/>
              <a:defRPr sz="3111">
                <a:solidFill>
                  <a:schemeClr val="tx2"/>
                </a:solidFill>
                <a:latin typeface="Trebuchet MS" panose="020B0603020202020204" pitchFamily="34" charset="0"/>
              </a:defRPr>
            </a:lvl5pPr>
          </a:lstStyle>
          <a:p>
            <a:pPr lvl="0"/>
            <a:r>
              <a:rPr lang="en-US"/>
              <a:t>Click to edit Master text styles</a:t>
            </a:r>
          </a:p>
        </p:txBody>
      </p:sp>
      <p:sp>
        <p:nvSpPr>
          <p:cNvPr id="4" name="Rectangle 3">
            <a:extLst>
              <a:ext uri="{FF2B5EF4-FFF2-40B4-BE49-F238E27FC236}">
                <a16:creationId xmlns:a16="http://schemas.microsoft.com/office/drawing/2014/main" id="{018D8CF8-E6F1-4C71-A0F0-EB56510727F2}"/>
              </a:ext>
            </a:extLst>
          </p:cNvPr>
          <p:cNvSpPr/>
          <p:nvPr userDrawn="1"/>
        </p:nvSpPr>
        <p:spPr>
          <a:xfrm>
            <a:off x="10964549" y="6477645"/>
            <a:ext cx="1227452" cy="380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Tree>
    <p:extLst>
      <p:ext uri="{BB962C8B-B14F-4D97-AF65-F5344CB8AC3E}">
        <p14:creationId xmlns:p14="http://schemas.microsoft.com/office/powerpoint/2010/main" val="266468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3-up Image 2">
  <p:cSld name="3-up Image_2">
    <p:spTree>
      <p:nvGrpSpPr>
        <p:cNvPr id="1" name="Shape 553"/>
        <p:cNvGrpSpPr/>
        <p:nvPr/>
      </p:nvGrpSpPr>
      <p:grpSpPr>
        <a:xfrm>
          <a:off x="0" y="0"/>
          <a:ext cx="0" cy="0"/>
          <a:chOff x="0" y="0"/>
          <a:chExt cx="0" cy="0"/>
        </a:xfrm>
      </p:grpSpPr>
      <p:sp>
        <p:nvSpPr>
          <p:cNvPr id="554" name="Google Shape;554;p72"/>
          <p:cNvSpPr txBox="1">
            <a:spLocks noGrp="1"/>
          </p:cNvSpPr>
          <p:nvPr>
            <p:ph type="title"/>
          </p:nvPr>
        </p:nvSpPr>
        <p:spPr>
          <a:xfrm>
            <a:off x="838200" y="0"/>
            <a:ext cx="10515600" cy="8384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24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55" name="Google Shape;555;p72"/>
          <p:cNvSpPr>
            <a:spLocks noGrp="1"/>
          </p:cNvSpPr>
          <p:nvPr>
            <p:ph type="pic" idx="2"/>
          </p:nvPr>
        </p:nvSpPr>
        <p:spPr>
          <a:xfrm>
            <a:off x="8049491" y="1616604"/>
            <a:ext cx="3596800" cy="4006800"/>
          </a:xfrm>
          <a:prstGeom prst="rect">
            <a:avLst/>
          </a:prstGeom>
          <a:solidFill>
            <a:srgbClr val="151617">
              <a:alpha val="60000"/>
            </a:srgbClr>
          </a:solidFill>
          <a:ln w="9525" cap="flat" cmpd="sng">
            <a:solidFill>
              <a:schemeClr val="accent5"/>
            </a:solidFill>
            <a:prstDash val="solid"/>
            <a:round/>
            <a:headEnd type="none" w="sm" len="sm"/>
            <a:tailEnd type="none" w="sm" len="sm"/>
          </a:ln>
        </p:spPr>
        <p:txBody>
          <a:bodyPr/>
          <a:lstStyle/>
          <a:p>
            <a:endParaRPr lang="en-US"/>
          </a:p>
        </p:txBody>
      </p:sp>
      <p:sp>
        <p:nvSpPr>
          <p:cNvPr id="556" name="Google Shape;556;p72"/>
          <p:cNvSpPr>
            <a:spLocks noGrp="1"/>
          </p:cNvSpPr>
          <p:nvPr>
            <p:ph type="pic" idx="3"/>
          </p:nvPr>
        </p:nvSpPr>
        <p:spPr>
          <a:xfrm>
            <a:off x="4297680" y="1616604"/>
            <a:ext cx="3596800" cy="4006800"/>
          </a:xfrm>
          <a:prstGeom prst="rect">
            <a:avLst/>
          </a:prstGeom>
          <a:solidFill>
            <a:srgbClr val="151617">
              <a:alpha val="60000"/>
            </a:srgbClr>
          </a:solidFill>
          <a:ln w="9525" cap="flat" cmpd="sng">
            <a:solidFill>
              <a:schemeClr val="accent5"/>
            </a:solidFill>
            <a:prstDash val="solid"/>
            <a:round/>
            <a:headEnd type="none" w="sm" len="sm"/>
            <a:tailEnd type="none" w="sm" len="sm"/>
          </a:ln>
        </p:spPr>
        <p:txBody>
          <a:bodyPr/>
          <a:lstStyle/>
          <a:p>
            <a:endParaRPr lang="en-US"/>
          </a:p>
        </p:txBody>
      </p:sp>
      <p:sp>
        <p:nvSpPr>
          <p:cNvPr id="557" name="Google Shape;557;p72"/>
          <p:cNvSpPr>
            <a:spLocks noGrp="1"/>
          </p:cNvSpPr>
          <p:nvPr>
            <p:ph type="pic" idx="4"/>
          </p:nvPr>
        </p:nvSpPr>
        <p:spPr>
          <a:xfrm>
            <a:off x="545868" y="1616604"/>
            <a:ext cx="3596800" cy="4006800"/>
          </a:xfrm>
          <a:prstGeom prst="rect">
            <a:avLst/>
          </a:prstGeom>
          <a:solidFill>
            <a:srgbClr val="151617">
              <a:alpha val="60000"/>
            </a:srgbClr>
          </a:solidFill>
          <a:ln w="9525" cap="flat" cmpd="sng">
            <a:solidFill>
              <a:schemeClr val="accent5"/>
            </a:solidFill>
            <a:prstDash val="solid"/>
            <a:round/>
            <a:headEnd type="none" w="sm" len="sm"/>
            <a:tailEnd type="none" w="sm" len="sm"/>
          </a:ln>
        </p:spPr>
        <p:txBody>
          <a:bodyPr/>
          <a:lstStyle/>
          <a:p>
            <a:endParaRPr lang="en-US"/>
          </a:p>
        </p:txBody>
      </p:sp>
      <p:sp>
        <p:nvSpPr>
          <p:cNvPr id="558" name="Google Shape;558;p72"/>
          <p:cNvSpPr txBox="1">
            <a:spLocks noGrp="1"/>
          </p:cNvSpPr>
          <p:nvPr>
            <p:ph type="subTitle" idx="1"/>
          </p:nvPr>
        </p:nvSpPr>
        <p:spPr>
          <a:xfrm>
            <a:off x="838200" y="829056"/>
            <a:ext cx="10515600" cy="469600"/>
          </a:xfrm>
          <a:prstGeom prst="rect">
            <a:avLst/>
          </a:prstGeom>
          <a:noFill/>
          <a:ln>
            <a:noFill/>
          </a:ln>
        </p:spPr>
        <p:txBody>
          <a:bodyPr spcFirstLastPara="1" wrap="square" lIns="22850" tIns="11425" rIns="22850" bIns="11425" anchor="t" anchorCtr="0">
            <a:noAutofit/>
          </a:bodyPr>
          <a:lstStyle>
            <a:lvl1pPr marR="0" lvl="0" algn="ctr">
              <a:lnSpc>
                <a:spcPct val="100000"/>
              </a:lnSpc>
              <a:spcBef>
                <a:spcPts val="0"/>
              </a:spcBef>
              <a:spcAft>
                <a:spcPts val="0"/>
              </a:spcAft>
              <a:buClr>
                <a:schemeClr val="dk2"/>
              </a:buClr>
              <a:buSzPts val="1200"/>
              <a:buFont typeface="NVIDIA Sans"/>
              <a:buNone/>
              <a:defRPr sz="1600" b="0" i="0" u="none" strike="noStrike" cap="none">
                <a:solidFill>
                  <a:schemeClr val="dk2"/>
                </a:solidFill>
                <a:latin typeface="NVIDIA Sans"/>
                <a:ea typeface="NVIDIA Sans"/>
                <a:cs typeface="NVIDIA Sans"/>
                <a:sym typeface="NVIDIA Sans"/>
              </a:defRPr>
            </a:lvl1pPr>
            <a:lvl2pPr marR="0" lvl="1"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2pPr>
            <a:lvl3pPr marR="0" lvl="2"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3pPr>
            <a:lvl4pPr marR="0" lvl="3"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4pPr>
            <a:lvl5pPr marR="0" lvl="4"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5pPr>
            <a:lvl6pPr marR="0" lvl="5"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6pPr>
            <a:lvl7pPr marR="0" lvl="6"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7pPr>
            <a:lvl8pPr marR="0" lvl="7"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8pPr>
            <a:lvl9pPr marR="0" lvl="8" algn="l">
              <a:lnSpc>
                <a:spcPct val="100000"/>
              </a:lnSpc>
              <a:spcBef>
                <a:spcPts val="0"/>
              </a:spcBef>
              <a:spcAft>
                <a:spcPts val="0"/>
              </a:spcAft>
              <a:buClr>
                <a:srgbClr val="000000"/>
              </a:buClr>
              <a:buSzPts val="1200"/>
              <a:buFont typeface="NVIDIA Sans"/>
              <a:buNone/>
              <a:defRPr sz="1600" b="0" i="0" u="none" strike="noStrike" cap="none">
                <a:solidFill>
                  <a:srgbClr val="000000"/>
                </a:solidFill>
                <a:latin typeface="NVIDIA Sans"/>
                <a:ea typeface="NVIDIA Sans"/>
                <a:cs typeface="NVIDIA Sans"/>
                <a:sym typeface="NVIDIA Sans"/>
              </a:defRPr>
            </a:lvl9pPr>
          </a:lstStyle>
          <a:p>
            <a:endParaRPr/>
          </a:p>
        </p:txBody>
      </p:sp>
      <p:sp>
        <p:nvSpPr>
          <p:cNvPr id="559" name="Google Shape;559;p72"/>
          <p:cNvSpPr txBox="1">
            <a:spLocks noGrp="1"/>
          </p:cNvSpPr>
          <p:nvPr>
            <p:ph type="subTitle" idx="5"/>
          </p:nvPr>
        </p:nvSpPr>
        <p:spPr>
          <a:xfrm>
            <a:off x="8049491" y="5916168"/>
            <a:ext cx="3590000" cy="250000"/>
          </a:xfrm>
          <a:prstGeom prst="rect">
            <a:avLst/>
          </a:prstGeom>
          <a:noFill/>
          <a:ln>
            <a:noFill/>
          </a:ln>
        </p:spPr>
        <p:txBody>
          <a:bodyPr spcFirstLastPara="1" wrap="square" lIns="22850" tIns="11425" rIns="22850" bIns="11425" anchor="t" anchorCtr="0">
            <a:noAutofit/>
          </a:bodyPr>
          <a:lstStyle>
            <a:lvl1pPr marR="0" lvl="0"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1pPr>
            <a:lvl2pPr marR="0" lvl="1"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2pPr>
            <a:lvl3pPr marR="0" lvl="2"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3pPr>
            <a:lvl4pPr marR="0" lvl="3"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4pPr>
            <a:lvl5pPr marR="0" lvl="4"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5pPr>
            <a:lvl6pPr marR="0" lvl="5"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6pPr>
            <a:lvl7pPr marR="0" lvl="6"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7pPr>
            <a:lvl8pPr marR="0" lvl="7"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8pPr>
            <a:lvl9pPr marR="0" lvl="8"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9pPr>
          </a:lstStyle>
          <a:p>
            <a:endParaRPr/>
          </a:p>
        </p:txBody>
      </p:sp>
      <p:sp>
        <p:nvSpPr>
          <p:cNvPr id="560" name="Google Shape;560;p72"/>
          <p:cNvSpPr txBox="1">
            <a:spLocks noGrp="1"/>
          </p:cNvSpPr>
          <p:nvPr>
            <p:ph type="subTitle" idx="6"/>
          </p:nvPr>
        </p:nvSpPr>
        <p:spPr>
          <a:xfrm>
            <a:off x="555365" y="5916168"/>
            <a:ext cx="3590000" cy="250000"/>
          </a:xfrm>
          <a:prstGeom prst="rect">
            <a:avLst/>
          </a:prstGeom>
          <a:noFill/>
          <a:ln>
            <a:noFill/>
          </a:ln>
        </p:spPr>
        <p:txBody>
          <a:bodyPr spcFirstLastPara="1" wrap="square" lIns="22850" tIns="11425" rIns="22850" bIns="11425" anchor="t" anchorCtr="0">
            <a:noAutofit/>
          </a:bodyPr>
          <a:lstStyle>
            <a:lvl1pPr marR="0" lvl="0"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1pPr>
            <a:lvl2pPr marR="0" lvl="1"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2pPr>
            <a:lvl3pPr marR="0" lvl="2"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3pPr>
            <a:lvl4pPr marR="0" lvl="3"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4pPr>
            <a:lvl5pPr marR="0" lvl="4"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5pPr>
            <a:lvl6pPr marR="0" lvl="5"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6pPr>
            <a:lvl7pPr marR="0" lvl="6"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7pPr>
            <a:lvl8pPr marR="0" lvl="7"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8pPr>
            <a:lvl9pPr marR="0" lvl="8"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9pPr>
          </a:lstStyle>
          <a:p>
            <a:endParaRPr/>
          </a:p>
        </p:txBody>
      </p:sp>
      <p:sp>
        <p:nvSpPr>
          <p:cNvPr id="561" name="Google Shape;561;p72"/>
          <p:cNvSpPr txBox="1">
            <a:spLocks noGrp="1"/>
          </p:cNvSpPr>
          <p:nvPr>
            <p:ph type="subTitle" idx="7"/>
          </p:nvPr>
        </p:nvSpPr>
        <p:spPr>
          <a:xfrm>
            <a:off x="4306183" y="5916168"/>
            <a:ext cx="3590000" cy="250000"/>
          </a:xfrm>
          <a:prstGeom prst="rect">
            <a:avLst/>
          </a:prstGeom>
          <a:noFill/>
          <a:ln>
            <a:noFill/>
          </a:ln>
        </p:spPr>
        <p:txBody>
          <a:bodyPr spcFirstLastPara="1" wrap="square" lIns="22850" tIns="11425" rIns="22850" bIns="11425" anchor="t" anchorCtr="0">
            <a:noAutofit/>
          </a:bodyPr>
          <a:lstStyle>
            <a:lvl1pPr marR="0" lvl="0"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1pPr>
            <a:lvl2pPr marR="0" lvl="1"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2pPr>
            <a:lvl3pPr marR="0" lvl="2"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3pPr>
            <a:lvl4pPr marR="0" lvl="3"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4pPr>
            <a:lvl5pPr marR="0" lvl="4"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5pPr>
            <a:lvl6pPr marR="0" lvl="5"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6pPr>
            <a:lvl7pPr marR="0" lvl="6"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7pPr>
            <a:lvl8pPr marR="0" lvl="7"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8pPr>
            <a:lvl9pPr marR="0" lvl="8" algn="ctr">
              <a:lnSpc>
                <a:spcPct val="100000"/>
              </a:lnSpc>
              <a:spcBef>
                <a:spcPts val="0"/>
              </a:spcBef>
              <a:spcAft>
                <a:spcPts val="0"/>
              </a:spcAft>
              <a:buClr>
                <a:schemeClr val="lt1"/>
              </a:buClr>
              <a:buSzPts val="700"/>
              <a:buFont typeface="NVIDIA Sans"/>
              <a:buNone/>
              <a:defRPr sz="933" b="0" i="0" u="none" strike="noStrike" cap="none">
                <a:solidFill>
                  <a:schemeClr val="lt1"/>
                </a:solidFill>
                <a:latin typeface="NVIDIA Sans"/>
                <a:ea typeface="NVIDIA Sans"/>
                <a:cs typeface="NVIDIA Sans"/>
                <a:sym typeface="NVIDIA Sans"/>
              </a:defRPr>
            </a:lvl9pPr>
          </a:lstStyle>
          <a:p>
            <a:endParaRPr/>
          </a:p>
        </p:txBody>
      </p:sp>
      <p:sp>
        <p:nvSpPr>
          <p:cNvPr id="562" name="Google Shape;562;p72"/>
          <p:cNvSpPr txBox="1">
            <a:spLocks noGrp="1"/>
          </p:cNvSpPr>
          <p:nvPr>
            <p:ph type="title" idx="8"/>
          </p:nvPr>
        </p:nvSpPr>
        <p:spPr>
          <a:xfrm>
            <a:off x="545867" y="5623208"/>
            <a:ext cx="3590000" cy="3784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1333"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9pPr>
          </a:lstStyle>
          <a:p>
            <a:endParaRPr/>
          </a:p>
        </p:txBody>
      </p:sp>
      <p:sp>
        <p:nvSpPr>
          <p:cNvPr id="563" name="Google Shape;563;p72"/>
          <p:cNvSpPr txBox="1">
            <a:spLocks noGrp="1"/>
          </p:cNvSpPr>
          <p:nvPr>
            <p:ph type="title" idx="9"/>
          </p:nvPr>
        </p:nvSpPr>
        <p:spPr>
          <a:xfrm>
            <a:off x="4306184" y="5623208"/>
            <a:ext cx="3590000" cy="3784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1333"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9pPr>
          </a:lstStyle>
          <a:p>
            <a:endParaRPr/>
          </a:p>
        </p:txBody>
      </p:sp>
      <p:sp>
        <p:nvSpPr>
          <p:cNvPr id="564" name="Google Shape;564;p72"/>
          <p:cNvSpPr txBox="1">
            <a:spLocks noGrp="1"/>
          </p:cNvSpPr>
          <p:nvPr>
            <p:ph type="title" idx="13"/>
          </p:nvPr>
        </p:nvSpPr>
        <p:spPr>
          <a:xfrm>
            <a:off x="8057000" y="5623208"/>
            <a:ext cx="3590000" cy="3784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1333"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1333"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184798351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omplex_Timeline 1">
  <p:cSld name="Complex_Timeline_1">
    <p:spTree>
      <p:nvGrpSpPr>
        <p:cNvPr id="1" name="Shape 539"/>
        <p:cNvGrpSpPr/>
        <p:nvPr/>
      </p:nvGrpSpPr>
      <p:grpSpPr>
        <a:xfrm>
          <a:off x="0" y="0"/>
          <a:ext cx="0" cy="0"/>
          <a:chOff x="0" y="0"/>
          <a:chExt cx="0" cy="0"/>
        </a:xfrm>
      </p:grpSpPr>
      <p:pic>
        <p:nvPicPr>
          <p:cNvPr id="540" name="Google Shape;540;p69" descr="A green and white background&#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41" name="Google Shape;541;p69"/>
          <p:cNvSpPr/>
          <p:nvPr/>
        </p:nvSpPr>
        <p:spPr>
          <a:xfrm>
            <a:off x="0" y="2321305"/>
            <a:ext cx="12192000" cy="4536800"/>
          </a:xfrm>
          <a:prstGeom prst="rect">
            <a:avLst/>
          </a:prstGeom>
          <a:gradFill>
            <a:gsLst>
              <a:gs pos="0">
                <a:schemeClr val="dk1"/>
              </a:gs>
              <a:gs pos="78000">
                <a:srgbClr val="FFFFFF">
                  <a:alpha val="54509"/>
                </a:srgbClr>
              </a:gs>
              <a:gs pos="100000">
                <a:srgbClr val="FFFFFF">
                  <a:alpha val="0"/>
                </a:srgbClr>
              </a:gs>
            </a:gsLst>
            <a:lin ang="5400012" scaled="0"/>
          </a:gradFill>
          <a:ln>
            <a:noFill/>
          </a:ln>
        </p:spPr>
        <p:txBody>
          <a:bodyPr spcFirstLastPara="1" wrap="square" lIns="28633" tIns="14300" rIns="28633" bIns="14300" anchor="ctr" anchorCtr="0">
            <a:noAutofit/>
          </a:bodyPr>
          <a:lstStyle/>
          <a:p>
            <a:pPr marL="0" marR="0" lvl="0" indent="0" algn="ctr" rtl="0">
              <a:lnSpc>
                <a:spcPct val="90000"/>
              </a:lnSpc>
              <a:spcBef>
                <a:spcPts val="0"/>
              </a:spcBef>
              <a:spcAft>
                <a:spcPts val="0"/>
              </a:spcAft>
              <a:buClr>
                <a:schemeClr val="dk1"/>
              </a:buClr>
              <a:buSzPts val="900"/>
              <a:buFont typeface="Arial"/>
              <a:buNone/>
            </a:pPr>
            <a:endParaRPr sz="1200" b="0" i="0" u="none" strike="noStrike" cap="none">
              <a:solidFill>
                <a:schemeClr val="dk1"/>
              </a:solidFill>
              <a:latin typeface="NVIDIA Sans"/>
              <a:ea typeface="NVIDIA Sans"/>
              <a:cs typeface="NVIDIA Sans"/>
              <a:sym typeface="NVIDIA Sans"/>
            </a:endParaRPr>
          </a:p>
        </p:txBody>
      </p:sp>
      <p:sp>
        <p:nvSpPr>
          <p:cNvPr id="542" name="Google Shape;542;p69"/>
          <p:cNvSpPr txBox="1">
            <a:spLocks noGrp="1"/>
          </p:cNvSpPr>
          <p:nvPr>
            <p:ph type="title"/>
          </p:nvPr>
        </p:nvSpPr>
        <p:spPr>
          <a:xfrm>
            <a:off x="838200" y="0"/>
            <a:ext cx="10515600" cy="838400"/>
          </a:xfrm>
          <a:prstGeom prst="rect">
            <a:avLst/>
          </a:prstGeom>
          <a:noFill/>
          <a:ln>
            <a:noFill/>
          </a:ln>
        </p:spPr>
        <p:txBody>
          <a:bodyPr spcFirstLastPara="1" wrap="square" lIns="21475" tIns="10725" rIns="21475" bIns="10725" anchor="b" anchorCtr="0">
            <a:normAutofit/>
          </a:bodyPr>
          <a:lstStyle>
            <a:lvl1pPr lvl="0" algn="ctr">
              <a:lnSpc>
                <a:spcPct val="90000"/>
              </a:lnSpc>
              <a:spcBef>
                <a:spcPts val="0"/>
              </a:spcBef>
              <a:spcAft>
                <a:spcPts val="0"/>
              </a:spcAft>
              <a:buClr>
                <a:schemeClr val="lt1"/>
              </a:buClr>
              <a:buSzPts val="1700"/>
              <a:buFont typeface="NVIDIA Sans"/>
              <a:buNone/>
              <a:defRPr sz="2267" b="1" cap="none">
                <a:solidFill>
                  <a:schemeClr val="lt1"/>
                </a:solidFill>
                <a:latin typeface="NVIDIA Sans"/>
                <a:ea typeface="NVIDIA Sans"/>
                <a:cs typeface="NVIDIA Sans"/>
                <a:sym typeface="NVIDIA Sans"/>
              </a:defRPr>
            </a:lvl1pPr>
            <a:lvl2pPr lvl="1" algn="l">
              <a:lnSpc>
                <a:spcPct val="100000"/>
              </a:lnSpc>
              <a:spcBef>
                <a:spcPts val="0"/>
              </a:spcBef>
              <a:spcAft>
                <a:spcPts val="0"/>
              </a:spcAft>
              <a:buSzPts val="300"/>
              <a:buNone/>
              <a:defRPr/>
            </a:lvl2pPr>
            <a:lvl3pPr lvl="2" algn="l">
              <a:lnSpc>
                <a:spcPct val="100000"/>
              </a:lnSpc>
              <a:spcBef>
                <a:spcPts val="0"/>
              </a:spcBef>
              <a:spcAft>
                <a:spcPts val="0"/>
              </a:spcAft>
              <a:buSzPts val="300"/>
              <a:buNone/>
              <a:defRPr/>
            </a:lvl3pPr>
            <a:lvl4pPr lvl="3" algn="l">
              <a:lnSpc>
                <a:spcPct val="100000"/>
              </a:lnSpc>
              <a:spcBef>
                <a:spcPts val="0"/>
              </a:spcBef>
              <a:spcAft>
                <a:spcPts val="0"/>
              </a:spcAft>
              <a:buSzPts val="300"/>
              <a:buNone/>
              <a:defRPr/>
            </a:lvl4pPr>
            <a:lvl5pPr lvl="4" algn="l">
              <a:lnSpc>
                <a:spcPct val="100000"/>
              </a:lnSpc>
              <a:spcBef>
                <a:spcPts val="0"/>
              </a:spcBef>
              <a:spcAft>
                <a:spcPts val="0"/>
              </a:spcAft>
              <a:buSzPts val="300"/>
              <a:buNone/>
              <a:defRPr/>
            </a:lvl5pPr>
            <a:lvl6pPr lvl="5" algn="l">
              <a:lnSpc>
                <a:spcPct val="100000"/>
              </a:lnSpc>
              <a:spcBef>
                <a:spcPts val="0"/>
              </a:spcBef>
              <a:spcAft>
                <a:spcPts val="0"/>
              </a:spcAft>
              <a:buSzPts val="300"/>
              <a:buNone/>
              <a:defRPr/>
            </a:lvl6pPr>
            <a:lvl7pPr lvl="6" algn="l">
              <a:lnSpc>
                <a:spcPct val="100000"/>
              </a:lnSpc>
              <a:spcBef>
                <a:spcPts val="0"/>
              </a:spcBef>
              <a:spcAft>
                <a:spcPts val="0"/>
              </a:spcAft>
              <a:buSzPts val="300"/>
              <a:buNone/>
              <a:defRPr/>
            </a:lvl7pPr>
            <a:lvl8pPr lvl="7" algn="l">
              <a:lnSpc>
                <a:spcPct val="100000"/>
              </a:lnSpc>
              <a:spcBef>
                <a:spcPts val="0"/>
              </a:spcBef>
              <a:spcAft>
                <a:spcPts val="0"/>
              </a:spcAft>
              <a:buSzPts val="300"/>
              <a:buNone/>
              <a:defRPr/>
            </a:lvl8pPr>
            <a:lvl9pPr lvl="8" algn="l">
              <a:lnSpc>
                <a:spcPct val="100000"/>
              </a:lnSpc>
              <a:spcBef>
                <a:spcPts val="0"/>
              </a:spcBef>
              <a:spcAft>
                <a:spcPts val="0"/>
              </a:spcAft>
              <a:buSzPts val="300"/>
              <a:buNone/>
              <a:defRPr/>
            </a:lvl9pPr>
          </a:lstStyle>
          <a:p>
            <a:endParaRPr/>
          </a:p>
        </p:txBody>
      </p:sp>
      <p:sp>
        <p:nvSpPr>
          <p:cNvPr id="543" name="Google Shape;543;p69"/>
          <p:cNvSpPr txBox="1">
            <a:spLocks noGrp="1"/>
          </p:cNvSpPr>
          <p:nvPr>
            <p:ph type="body" idx="1"/>
          </p:nvPr>
        </p:nvSpPr>
        <p:spPr>
          <a:xfrm>
            <a:off x="838200" y="829056"/>
            <a:ext cx="10515600" cy="469600"/>
          </a:xfrm>
          <a:prstGeom prst="rect">
            <a:avLst/>
          </a:prstGeom>
          <a:noFill/>
          <a:ln>
            <a:noFill/>
          </a:ln>
        </p:spPr>
        <p:txBody>
          <a:bodyPr spcFirstLastPara="1" wrap="square" lIns="21475" tIns="10725" rIns="21475" bIns="10725" anchor="t" anchorCtr="0">
            <a:noAutofit/>
          </a:bodyPr>
          <a:lstStyle>
            <a:lvl1pPr marL="609585" marR="0" lvl="0" indent="-304792" algn="ctr">
              <a:lnSpc>
                <a:spcPct val="90000"/>
              </a:lnSpc>
              <a:spcBef>
                <a:spcPts val="0"/>
              </a:spcBef>
              <a:spcAft>
                <a:spcPts val="0"/>
              </a:spcAft>
              <a:buClr>
                <a:schemeClr val="dk2"/>
              </a:buClr>
              <a:buSzPts val="1100"/>
              <a:buFont typeface="NVIDIA Sans"/>
              <a:buNone/>
              <a:defRPr sz="1467" b="0" i="0" u="none" strike="noStrike" cap="none">
                <a:solidFill>
                  <a:schemeClr val="dk2"/>
                </a:solidFill>
                <a:latin typeface="NVIDIA Sans"/>
                <a:ea typeface="NVIDIA Sans"/>
                <a:cs typeface="NVIDIA Sans"/>
                <a:sym typeface="NVIDIA Sans"/>
              </a:defRPr>
            </a:lvl1pPr>
            <a:lvl2pPr marL="1219170" marR="0" lvl="1"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2pPr>
            <a:lvl3pPr marL="1828754" marR="0" lvl="2"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3pPr>
            <a:lvl4pPr marL="2438339" marR="0" lvl="3"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4pPr>
            <a:lvl5pPr marL="3047924" marR="0" lvl="4"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5pPr>
            <a:lvl6pPr marL="3657509" marR="0" lvl="5"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6pPr>
            <a:lvl7pPr marL="4267093" marR="0" lvl="6"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7pPr>
            <a:lvl8pPr marL="4876678" marR="0" lvl="7"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8pPr>
            <a:lvl9pPr marL="5486263" marR="0" lvl="8"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03838650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ext Left TITLE ONLY - Image Right">
  <p:cSld name="Text Left TITLE ONLY - Image Right">
    <p:spTree>
      <p:nvGrpSpPr>
        <p:cNvPr id="1" name="Shape 1319"/>
        <p:cNvGrpSpPr/>
        <p:nvPr/>
      </p:nvGrpSpPr>
      <p:grpSpPr>
        <a:xfrm>
          <a:off x="0" y="0"/>
          <a:ext cx="0" cy="0"/>
          <a:chOff x="0" y="0"/>
          <a:chExt cx="0" cy="0"/>
        </a:xfrm>
      </p:grpSpPr>
      <p:sp>
        <p:nvSpPr>
          <p:cNvPr id="1320" name="Google Shape;1320;p145"/>
          <p:cNvSpPr/>
          <p:nvPr/>
        </p:nvSpPr>
        <p:spPr>
          <a:xfrm>
            <a:off x="10988040" y="6309360"/>
            <a:ext cx="1204000" cy="548800"/>
          </a:xfrm>
          <a:prstGeom prst="rect">
            <a:avLst/>
          </a:prstGeom>
          <a:solidFill>
            <a:schemeClr val="dk1"/>
          </a:solidFill>
          <a:ln>
            <a:noFill/>
          </a:ln>
        </p:spPr>
        <p:txBody>
          <a:bodyPr spcFirstLastPara="1" wrap="square" lIns="30467" tIns="15233" rIns="30467" bIns="15233" anchor="ctr" anchorCtr="0">
            <a:noAutofit/>
          </a:bodyPr>
          <a:lstStyle/>
          <a:p>
            <a:pPr marL="0" marR="0" lvl="0" indent="0" algn="ctr" rtl="0">
              <a:lnSpc>
                <a:spcPct val="90000"/>
              </a:lnSpc>
              <a:spcBef>
                <a:spcPts val="0"/>
              </a:spcBef>
              <a:spcAft>
                <a:spcPts val="0"/>
              </a:spcAft>
              <a:buNone/>
            </a:pPr>
            <a:endParaRPr sz="1333">
              <a:solidFill>
                <a:schemeClr val="dk1"/>
              </a:solidFill>
              <a:latin typeface="Trebuchet MS"/>
              <a:ea typeface="Trebuchet MS"/>
              <a:cs typeface="Trebuchet MS"/>
              <a:sym typeface="Trebuchet MS"/>
            </a:endParaRPr>
          </a:p>
        </p:txBody>
      </p:sp>
      <p:sp>
        <p:nvSpPr>
          <p:cNvPr id="1321" name="Google Shape;1321;p145"/>
          <p:cNvSpPr>
            <a:spLocks noGrp="1"/>
          </p:cNvSpPr>
          <p:nvPr>
            <p:ph type="pic" idx="2"/>
          </p:nvPr>
        </p:nvSpPr>
        <p:spPr>
          <a:xfrm>
            <a:off x="5474208" y="0"/>
            <a:ext cx="6718000" cy="6858000"/>
          </a:xfrm>
          <a:prstGeom prst="rect">
            <a:avLst/>
          </a:prstGeom>
          <a:solidFill>
            <a:srgbClr val="F2F2F2">
              <a:alpha val="60780"/>
            </a:srgbClr>
          </a:solidFill>
          <a:ln w="9525" cap="flat" cmpd="sng">
            <a:solidFill>
              <a:schemeClr val="accent5"/>
            </a:solidFill>
            <a:prstDash val="solid"/>
            <a:round/>
            <a:headEnd type="none" w="sm" len="sm"/>
            <a:tailEnd type="none" w="sm" len="sm"/>
          </a:ln>
        </p:spPr>
        <p:txBody>
          <a:bodyPr/>
          <a:lstStyle/>
          <a:p>
            <a:endParaRPr lang="en-US"/>
          </a:p>
        </p:txBody>
      </p:sp>
      <p:sp>
        <p:nvSpPr>
          <p:cNvPr id="1322" name="Google Shape;1322;p145"/>
          <p:cNvSpPr txBox="1">
            <a:spLocks noGrp="1"/>
          </p:cNvSpPr>
          <p:nvPr>
            <p:ph type="title"/>
          </p:nvPr>
        </p:nvSpPr>
        <p:spPr>
          <a:xfrm>
            <a:off x="865632" y="2868051"/>
            <a:ext cx="4060000" cy="1122000"/>
          </a:xfrm>
          <a:prstGeom prst="rect">
            <a:avLst/>
          </a:prstGeom>
          <a:noFill/>
          <a:ln>
            <a:noFill/>
          </a:ln>
        </p:spPr>
        <p:txBody>
          <a:bodyPr spcFirstLastPara="1" wrap="square" lIns="22850" tIns="11425" rIns="22850" bIns="11425" anchor="ctr" anchorCtr="0">
            <a:normAutofit/>
          </a:bodyPr>
          <a:lstStyle>
            <a:lvl1pPr lvl="0" algn="l">
              <a:lnSpc>
                <a:spcPct val="90000"/>
              </a:lnSpc>
              <a:spcBef>
                <a:spcPts val="267"/>
              </a:spcBef>
              <a:spcAft>
                <a:spcPts val="0"/>
              </a:spcAft>
              <a:buClr>
                <a:schemeClr val="lt1"/>
              </a:buClr>
              <a:buSzPts val="1800"/>
              <a:buNone/>
              <a:defRPr sz="2400" cap="none"/>
            </a:lvl1pPr>
            <a:lvl2pPr lvl="1">
              <a:spcBef>
                <a:spcPts val="267"/>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grpSp>
        <p:nvGrpSpPr>
          <p:cNvPr id="1323" name="Google Shape;1323;p145"/>
          <p:cNvGrpSpPr/>
          <p:nvPr/>
        </p:nvGrpSpPr>
        <p:grpSpPr>
          <a:xfrm>
            <a:off x="0" y="6501472"/>
            <a:ext cx="776856" cy="361021"/>
            <a:chOff x="0" y="19504414"/>
            <a:chExt cx="2330569" cy="1083065"/>
          </a:xfrm>
        </p:grpSpPr>
        <p:sp>
          <p:nvSpPr>
            <p:cNvPr id="1324" name="Google Shape;1324;p145"/>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None/>
              </a:pPr>
              <a:endParaRPr sz="1333">
                <a:solidFill>
                  <a:schemeClr val="dk1"/>
                </a:solidFill>
                <a:latin typeface="Trebuchet MS"/>
                <a:ea typeface="Trebuchet MS"/>
                <a:cs typeface="Trebuchet MS"/>
                <a:sym typeface="Trebuchet MS"/>
              </a:endParaRPr>
            </a:p>
          </p:txBody>
        </p:sp>
        <p:pic>
          <p:nvPicPr>
            <p:cNvPr id="1325" name="Google Shape;1325;p145"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Tree>
    <p:extLst>
      <p:ext uri="{BB962C8B-B14F-4D97-AF65-F5344CB8AC3E}">
        <p14:creationId xmlns:p14="http://schemas.microsoft.com/office/powerpoint/2010/main" val="55816133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omplex_Timeline 2">
  <p:cSld name="Complex_Timeline_2">
    <p:spTree>
      <p:nvGrpSpPr>
        <p:cNvPr id="1" name="Shape 1430"/>
        <p:cNvGrpSpPr/>
        <p:nvPr/>
      </p:nvGrpSpPr>
      <p:grpSpPr>
        <a:xfrm>
          <a:off x="0" y="0"/>
          <a:ext cx="0" cy="0"/>
          <a:chOff x="0" y="0"/>
          <a:chExt cx="0" cy="0"/>
        </a:xfrm>
      </p:grpSpPr>
      <p:pic>
        <p:nvPicPr>
          <p:cNvPr id="1431" name="Google Shape;1431;p161" descr="A green and white background&#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32" name="Google Shape;1432;p161"/>
          <p:cNvSpPr/>
          <p:nvPr/>
        </p:nvSpPr>
        <p:spPr>
          <a:xfrm>
            <a:off x="0" y="2321305"/>
            <a:ext cx="12192000" cy="4536800"/>
          </a:xfrm>
          <a:prstGeom prst="rect">
            <a:avLst/>
          </a:prstGeom>
          <a:gradFill>
            <a:gsLst>
              <a:gs pos="0">
                <a:schemeClr val="dk1"/>
              </a:gs>
              <a:gs pos="78000">
                <a:srgbClr val="FFFFFF">
                  <a:alpha val="54509"/>
                </a:srgbClr>
              </a:gs>
              <a:gs pos="100000">
                <a:srgbClr val="FFFFFF">
                  <a:alpha val="0"/>
                </a:srgbClr>
              </a:gs>
            </a:gsLst>
            <a:lin ang="5400012" scaled="0"/>
          </a:gradFill>
          <a:ln>
            <a:noFill/>
          </a:ln>
        </p:spPr>
        <p:txBody>
          <a:bodyPr spcFirstLastPara="1" wrap="square" lIns="28633" tIns="14300" rIns="28633" bIns="14300" anchor="ctr" anchorCtr="0">
            <a:noAutofit/>
          </a:bodyPr>
          <a:lstStyle/>
          <a:p>
            <a:pPr marL="0" marR="0" lvl="0" indent="0" algn="ctr" rtl="0">
              <a:lnSpc>
                <a:spcPct val="90000"/>
              </a:lnSpc>
              <a:spcBef>
                <a:spcPts val="0"/>
              </a:spcBef>
              <a:spcAft>
                <a:spcPts val="0"/>
              </a:spcAft>
              <a:buClr>
                <a:schemeClr val="dk1"/>
              </a:buClr>
              <a:buSzPts val="900"/>
              <a:buFont typeface="Arial"/>
              <a:buNone/>
            </a:pPr>
            <a:endParaRPr sz="1200" b="0" i="0" u="none" strike="noStrike" cap="none">
              <a:solidFill>
                <a:schemeClr val="dk1"/>
              </a:solidFill>
              <a:latin typeface="NVIDIA Sans"/>
              <a:ea typeface="NVIDIA Sans"/>
              <a:cs typeface="NVIDIA Sans"/>
              <a:sym typeface="NVIDIA Sans"/>
            </a:endParaRPr>
          </a:p>
        </p:txBody>
      </p:sp>
      <p:sp>
        <p:nvSpPr>
          <p:cNvPr id="1433" name="Google Shape;1433;p161"/>
          <p:cNvSpPr txBox="1">
            <a:spLocks noGrp="1"/>
          </p:cNvSpPr>
          <p:nvPr>
            <p:ph type="title"/>
          </p:nvPr>
        </p:nvSpPr>
        <p:spPr>
          <a:xfrm>
            <a:off x="838200" y="0"/>
            <a:ext cx="10515600" cy="838400"/>
          </a:xfrm>
          <a:prstGeom prst="rect">
            <a:avLst/>
          </a:prstGeom>
          <a:noFill/>
          <a:ln>
            <a:noFill/>
          </a:ln>
        </p:spPr>
        <p:txBody>
          <a:bodyPr spcFirstLastPara="1" wrap="square" lIns="21475" tIns="10725" rIns="21475" bIns="10725" anchor="b" anchorCtr="0">
            <a:normAutofit/>
          </a:bodyPr>
          <a:lstStyle>
            <a:lvl1pPr lvl="0" algn="ctr">
              <a:lnSpc>
                <a:spcPct val="90000"/>
              </a:lnSpc>
              <a:spcBef>
                <a:spcPts val="0"/>
              </a:spcBef>
              <a:spcAft>
                <a:spcPts val="0"/>
              </a:spcAft>
              <a:buClr>
                <a:schemeClr val="lt1"/>
              </a:buClr>
              <a:buSzPts val="1700"/>
              <a:buFont typeface="NVIDIA Sans"/>
              <a:buNone/>
              <a:defRPr sz="2267" b="1" cap="none">
                <a:solidFill>
                  <a:schemeClr val="lt1"/>
                </a:solidFill>
                <a:latin typeface="NVIDIA Sans"/>
                <a:ea typeface="NVIDIA Sans"/>
                <a:cs typeface="NVIDIA Sans"/>
                <a:sym typeface="NVIDIA Sans"/>
              </a:defRPr>
            </a:lvl1pPr>
            <a:lvl2pPr lvl="1" algn="l">
              <a:lnSpc>
                <a:spcPct val="100000"/>
              </a:lnSpc>
              <a:spcBef>
                <a:spcPts val="0"/>
              </a:spcBef>
              <a:spcAft>
                <a:spcPts val="0"/>
              </a:spcAft>
              <a:buSzPts val="300"/>
              <a:buNone/>
              <a:defRPr/>
            </a:lvl2pPr>
            <a:lvl3pPr lvl="2" algn="l">
              <a:lnSpc>
                <a:spcPct val="100000"/>
              </a:lnSpc>
              <a:spcBef>
                <a:spcPts val="0"/>
              </a:spcBef>
              <a:spcAft>
                <a:spcPts val="0"/>
              </a:spcAft>
              <a:buSzPts val="300"/>
              <a:buNone/>
              <a:defRPr/>
            </a:lvl3pPr>
            <a:lvl4pPr lvl="3" algn="l">
              <a:lnSpc>
                <a:spcPct val="100000"/>
              </a:lnSpc>
              <a:spcBef>
                <a:spcPts val="0"/>
              </a:spcBef>
              <a:spcAft>
                <a:spcPts val="0"/>
              </a:spcAft>
              <a:buSzPts val="300"/>
              <a:buNone/>
              <a:defRPr/>
            </a:lvl4pPr>
            <a:lvl5pPr lvl="4" algn="l">
              <a:lnSpc>
                <a:spcPct val="100000"/>
              </a:lnSpc>
              <a:spcBef>
                <a:spcPts val="0"/>
              </a:spcBef>
              <a:spcAft>
                <a:spcPts val="0"/>
              </a:spcAft>
              <a:buSzPts val="300"/>
              <a:buNone/>
              <a:defRPr/>
            </a:lvl5pPr>
            <a:lvl6pPr lvl="5" algn="l">
              <a:lnSpc>
                <a:spcPct val="100000"/>
              </a:lnSpc>
              <a:spcBef>
                <a:spcPts val="0"/>
              </a:spcBef>
              <a:spcAft>
                <a:spcPts val="0"/>
              </a:spcAft>
              <a:buSzPts val="300"/>
              <a:buNone/>
              <a:defRPr/>
            </a:lvl6pPr>
            <a:lvl7pPr lvl="6" algn="l">
              <a:lnSpc>
                <a:spcPct val="100000"/>
              </a:lnSpc>
              <a:spcBef>
                <a:spcPts val="0"/>
              </a:spcBef>
              <a:spcAft>
                <a:spcPts val="0"/>
              </a:spcAft>
              <a:buSzPts val="300"/>
              <a:buNone/>
              <a:defRPr/>
            </a:lvl7pPr>
            <a:lvl8pPr lvl="7" algn="l">
              <a:lnSpc>
                <a:spcPct val="100000"/>
              </a:lnSpc>
              <a:spcBef>
                <a:spcPts val="0"/>
              </a:spcBef>
              <a:spcAft>
                <a:spcPts val="0"/>
              </a:spcAft>
              <a:buSzPts val="300"/>
              <a:buNone/>
              <a:defRPr/>
            </a:lvl8pPr>
            <a:lvl9pPr lvl="8" algn="l">
              <a:lnSpc>
                <a:spcPct val="100000"/>
              </a:lnSpc>
              <a:spcBef>
                <a:spcPts val="0"/>
              </a:spcBef>
              <a:spcAft>
                <a:spcPts val="0"/>
              </a:spcAft>
              <a:buSzPts val="300"/>
              <a:buNone/>
              <a:defRPr/>
            </a:lvl9pPr>
          </a:lstStyle>
          <a:p>
            <a:endParaRPr/>
          </a:p>
        </p:txBody>
      </p:sp>
      <p:sp>
        <p:nvSpPr>
          <p:cNvPr id="1434" name="Google Shape;1434;p161"/>
          <p:cNvSpPr txBox="1">
            <a:spLocks noGrp="1"/>
          </p:cNvSpPr>
          <p:nvPr>
            <p:ph type="body" idx="1"/>
          </p:nvPr>
        </p:nvSpPr>
        <p:spPr>
          <a:xfrm>
            <a:off x="838200" y="829056"/>
            <a:ext cx="10515600" cy="469600"/>
          </a:xfrm>
          <a:prstGeom prst="rect">
            <a:avLst/>
          </a:prstGeom>
          <a:noFill/>
          <a:ln>
            <a:noFill/>
          </a:ln>
        </p:spPr>
        <p:txBody>
          <a:bodyPr spcFirstLastPara="1" wrap="square" lIns="21475" tIns="10725" rIns="21475" bIns="10725" anchor="t" anchorCtr="0">
            <a:noAutofit/>
          </a:bodyPr>
          <a:lstStyle>
            <a:lvl1pPr marL="609585" marR="0" lvl="0" indent="-304792" algn="ctr">
              <a:lnSpc>
                <a:spcPct val="90000"/>
              </a:lnSpc>
              <a:spcBef>
                <a:spcPts val="0"/>
              </a:spcBef>
              <a:spcAft>
                <a:spcPts val="0"/>
              </a:spcAft>
              <a:buClr>
                <a:schemeClr val="dk2"/>
              </a:buClr>
              <a:buSzPts val="1100"/>
              <a:buFont typeface="NVIDIA Sans"/>
              <a:buNone/>
              <a:defRPr sz="1467" b="0" i="0" u="none" strike="noStrike" cap="none">
                <a:solidFill>
                  <a:schemeClr val="dk2"/>
                </a:solidFill>
                <a:latin typeface="NVIDIA Sans"/>
                <a:ea typeface="NVIDIA Sans"/>
                <a:cs typeface="NVIDIA Sans"/>
                <a:sym typeface="NVIDIA Sans"/>
              </a:defRPr>
            </a:lvl1pPr>
            <a:lvl2pPr marL="1219170" marR="0" lvl="1"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2pPr>
            <a:lvl3pPr marL="1828754" marR="0" lvl="2"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3pPr>
            <a:lvl4pPr marL="2438339" marR="0" lvl="3"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4pPr>
            <a:lvl5pPr marL="3047924" marR="0" lvl="4" indent="-304792" algn="ctr">
              <a:lnSpc>
                <a:spcPct val="90000"/>
              </a:lnSpc>
              <a:spcBef>
                <a:spcPts val="533"/>
              </a:spcBef>
              <a:spcAft>
                <a:spcPts val="0"/>
              </a:spcAft>
              <a:buClr>
                <a:schemeClr val="dk1"/>
              </a:buClr>
              <a:buSzPts val="1000"/>
              <a:buFont typeface="NVIDIA Sans"/>
              <a:buNone/>
              <a:defRPr sz="1333" b="0" i="0" u="none" strike="noStrike" cap="none">
                <a:solidFill>
                  <a:schemeClr val="dk1"/>
                </a:solidFill>
                <a:latin typeface="NVIDIA Sans"/>
                <a:ea typeface="NVIDIA Sans"/>
                <a:cs typeface="NVIDIA Sans"/>
                <a:sym typeface="NVIDIA Sans"/>
              </a:defRPr>
            </a:lvl5pPr>
            <a:lvl6pPr marL="3657509" marR="0" lvl="5"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6pPr>
            <a:lvl7pPr marL="4267093" marR="0" lvl="6"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7pPr>
            <a:lvl8pPr marL="4876678" marR="0" lvl="7"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8pPr>
            <a:lvl9pPr marL="5486263" marR="0" lvl="8" indent="-414856" algn="l">
              <a:lnSpc>
                <a:spcPct val="90000"/>
              </a:lnSpc>
              <a:spcBef>
                <a:spcPts val="533"/>
              </a:spcBef>
              <a:spcAft>
                <a:spcPts val="0"/>
              </a:spcAft>
              <a:buClr>
                <a:schemeClr val="dk1"/>
              </a:buClr>
              <a:buSzPts val="1300"/>
              <a:buFont typeface="NVIDIA Sans"/>
              <a:buChar char="•"/>
              <a:defRPr sz="1733"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601302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528"/>
        <p:cNvGrpSpPr/>
        <p:nvPr/>
      </p:nvGrpSpPr>
      <p:grpSpPr>
        <a:xfrm>
          <a:off x="0" y="0"/>
          <a:ext cx="0" cy="0"/>
          <a:chOff x="0" y="0"/>
          <a:chExt cx="0" cy="0"/>
        </a:xfrm>
      </p:grpSpPr>
      <p:sp>
        <p:nvSpPr>
          <p:cNvPr id="529" name="Google Shape;529;p61"/>
          <p:cNvSpPr txBox="1">
            <a:spLocks noGrp="1"/>
          </p:cNvSpPr>
          <p:nvPr>
            <p:ph type="title"/>
          </p:nvPr>
        </p:nvSpPr>
        <p:spPr>
          <a:xfrm>
            <a:off x="838200" y="0"/>
            <a:ext cx="10515600" cy="8384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30" name="Google Shape;530;p61"/>
          <p:cNvSpPr txBox="1">
            <a:spLocks noGrp="1"/>
          </p:cNvSpPr>
          <p:nvPr>
            <p:ph type="body" idx="1"/>
          </p:nvPr>
        </p:nvSpPr>
        <p:spPr>
          <a:xfrm>
            <a:off x="838200" y="829056"/>
            <a:ext cx="10515600" cy="469600"/>
          </a:xfrm>
          <a:prstGeom prst="rect">
            <a:avLst/>
          </a:prstGeom>
          <a:noFill/>
          <a:ln>
            <a:noFill/>
          </a:ln>
        </p:spPr>
        <p:txBody>
          <a:bodyPr spcFirstLastPara="1" wrap="square" lIns="68575" tIns="34275" rIns="68575" bIns="34275" anchor="t" anchorCtr="0">
            <a:noAutofit/>
          </a:bodyPr>
          <a:lstStyle>
            <a:lvl1pPr marL="609585" marR="0" lvl="0" indent="-304792" algn="ctr">
              <a:lnSpc>
                <a:spcPct val="90000"/>
              </a:lnSpc>
              <a:spcBef>
                <a:spcPts val="0"/>
              </a:spcBef>
              <a:spcAft>
                <a:spcPts val="0"/>
              </a:spcAft>
              <a:buClr>
                <a:schemeClr val="dk2"/>
              </a:buClr>
              <a:buSzPts val="1200"/>
              <a:buFont typeface="NVIDIA Sans"/>
              <a:buNone/>
              <a:defRPr sz="1600" b="0" i="0" u="none" strike="noStrike" cap="none">
                <a:solidFill>
                  <a:schemeClr val="dk2"/>
                </a:solidFill>
                <a:latin typeface="NVIDIA Sans"/>
                <a:ea typeface="NVIDIA Sans"/>
                <a:cs typeface="NVIDIA Sans"/>
                <a:sym typeface="NVIDIA Sans"/>
              </a:defRPr>
            </a:lvl1pPr>
            <a:lvl2pPr marL="1219170" marR="0" lvl="1" indent="-304792" algn="ctr">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2pPr>
            <a:lvl3pPr marL="1828754" marR="0" lvl="2" indent="-304792" algn="ctr">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3pPr>
            <a:lvl4pPr marL="2438339" marR="0" lvl="3" indent="-304792" algn="ctr">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4pPr>
            <a:lvl5pPr marL="3047924" marR="0" lvl="4" indent="-304792" algn="ctr">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5pPr>
            <a:lvl6pPr marL="3657509" marR="0" lvl="5" indent="-423323" algn="l">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6pPr>
            <a:lvl7pPr marL="4267093" marR="0" lvl="6" indent="-423323" algn="l">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7pPr>
            <a:lvl8pPr marL="4876678" marR="0" lvl="7" indent="-423323" algn="l">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8pPr>
            <a:lvl9pPr marL="5486263" marR="0" lvl="8" indent="-423323" algn="l">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45"/>
        <p:cNvGrpSpPr/>
        <p:nvPr/>
      </p:nvGrpSpPr>
      <p:grpSpPr>
        <a:xfrm>
          <a:off x="0" y="0"/>
          <a:ext cx="0" cy="0"/>
          <a:chOff x="0" y="0"/>
          <a:chExt cx="0" cy="0"/>
        </a:xfrm>
      </p:grpSpPr>
      <p:sp>
        <p:nvSpPr>
          <p:cNvPr id="46" name="Google Shape;46;p38"/>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8"/>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48" name="Google Shape;48;p38"/>
          <p:cNvSpPr txBox="1">
            <a:spLocks noGrp="1"/>
          </p:cNvSpPr>
          <p:nvPr>
            <p:ph type="body" idx="2"/>
          </p:nvPr>
        </p:nvSpPr>
        <p:spPr>
          <a:xfrm>
            <a:off x="838200" y="1615440"/>
            <a:ext cx="10515600" cy="4550664"/>
          </a:xfrm>
          <a:prstGeom prst="rect">
            <a:avLst/>
          </a:prstGeom>
          <a:noFill/>
          <a:ln>
            <a:noFill/>
          </a:ln>
        </p:spPr>
        <p:txBody>
          <a:bodyPr spcFirstLastPara="1" wrap="square" lIns="91425" tIns="45700" rIns="91425" bIns="45700" anchor="t" anchorCtr="0">
            <a:noAutofit/>
          </a:bodyPr>
          <a:lstStyle>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91607968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272042" y="257844"/>
            <a:ext cx="2788664" cy="960770"/>
          </a:xfrm>
          <a:prstGeom prst="rect">
            <a:avLst/>
          </a:prstGeom>
        </p:spPr>
      </p:pic>
    </p:spTree>
    <p:extLst>
      <p:ext uri="{BB962C8B-B14F-4D97-AF65-F5344CB8AC3E}">
        <p14:creationId xmlns:p14="http://schemas.microsoft.com/office/powerpoint/2010/main" val="3157692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838200" y="0"/>
            <a:ext cx="10515600" cy="838200"/>
          </a:xfrm>
        </p:spPr>
        <p:txBody>
          <a:bodyPr/>
          <a:lstStyle>
            <a:lvl1pPr>
              <a:defRPr sz="24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838200" y="829056"/>
            <a:ext cx="10515600" cy="469392"/>
          </a:xfrm>
          <a:prstGeom prst="rect">
            <a:avLst/>
          </a:prstGeom>
        </p:spPr>
        <p:txBody>
          <a:bodyPr/>
          <a:lstStyle>
            <a:lvl1pPr marL="0" indent="0" algn="ctr">
              <a:spcBef>
                <a:spcPts val="0"/>
              </a:spcBef>
              <a:buFontTx/>
              <a:buNone/>
              <a:defRPr sz="1600">
                <a:solidFill>
                  <a:schemeClr val="tx2"/>
                </a:solidFill>
                <a:latin typeface="NVIDIA Sans" panose="020B0503020203020204" pitchFamily="34" charset="0"/>
                <a:cs typeface="NVIDIA Sans" panose="020B0503020203020204" pitchFamily="34" charset="0"/>
              </a:defRPr>
            </a:lvl1pPr>
            <a:lvl2pPr marL="457154" indent="0" algn="ctr">
              <a:buFontTx/>
              <a:buNone/>
              <a:defRPr sz="1467">
                <a:latin typeface="NVIDIA Sans" panose="020B0503020203020204" pitchFamily="34" charset="0"/>
              </a:defRPr>
            </a:lvl2pPr>
            <a:lvl3pPr marL="914309" indent="0" algn="ctr">
              <a:buFontTx/>
              <a:buNone/>
              <a:defRPr sz="1467">
                <a:latin typeface="NVIDIA Sans" panose="020B0503020203020204" pitchFamily="34" charset="0"/>
              </a:defRPr>
            </a:lvl3pPr>
            <a:lvl4pPr marL="1371463" indent="0" algn="ctr">
              <a:buFontTx/>
              <a:buNone/>
              <a:defRPr sz="1467">
                <a:latin typeface="NVIDIA Sans" panose="020B0503020203020204" pitchFamily="34" charset="0"/>
              </a:defRPr>
            </a:lvl4pPr>
            <a:lvl5pPr marL="1828617" indent="0" algn="ctr">
              <a:buFontTx/>
              <a:buNone/>
              <a:defRPr sz="1467">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6173586"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3357418" y="1616604"/>
            <a:ext cx="2660995"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545869" y="1616604"/>
            <a:ext cx="2656377"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8989753" y="1616604"/>
            <a:ext cx="2656378" cy="4006612"/>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1333" dirty="0">
                <a:solidFill>
                  <a:schemeClr val="bg2"/>
                </a:solidFill>
                <a:latin typeface="NVIDIA Sans" panose="020B0503020203020204" pitchFamily="34" charset="0"/>
                <a:cs typeface="NVIDIA Sans" panose="020B0503020203020204" pitchFamily="34" charset="0"/>
              </a:defRPr>
            </a:lvl1pPr>
          </a:lstStyle>
          <a:p>
            <a:pPr marL="228577" lvl="0" indent="-228577"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3362444" y="5687987"/>
            <a:ext cx="2655969"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543509" y="5687987"/>
            <a:ext cx="2648990"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3362444" y="5917189"/>
            <a:ext cx="2655969"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543509" y="5917189"/>
            <a:ext cx="2648990"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6175843" y="5687987"/>
            <a:ext cx="264899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6175843" y="5917189"/>
            <a:ext cx="264899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8992013" y="5687987"/>
            <a:ext cx="2649101" cy="250120"/>
          </a:xfrm>
          <a:prstGeom prst="rect">
            <a:avLst/>
          </a:prstGeom>
        </p:spPr>
        <p:txBody>
          <a:bodyPr anchor="b"/>
          <a:lstStyle>
            <a:lvl1pPr marL="0" indent="0" algn="ctr">
              <a:spcBef>
                <a:spcPts val="400"/>
              </a:spcBef>
              <a:buFontTx/>
              <a:buNone/>
              <a:defRPr sz="1333" b="0" cap="none" baseline="0">
                <a:solidFill>
                  <a:schemeClr val="bg1"/>
                </a:solidFill>
                <a:latin typeface="+mj-lt"/>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8992013" y="5917189"/>
            <a:ext cx="2649101" cy="250120"/>
          </a:xfrm>
          <a:prstGeom prst="rect">
            <a:avLst/>
          </a:prstGeom>
        </p:spPr>
        <p:txBody>
          <a:bodyPr/>
          <a:lstStyle>
            <a:lvl1pPr marL="0" indent="0" algn="ctr">
              <a:spcBef>
                <a:spcPts val="200"/>
              </a:spcBef>
              <a:buFontTx/>
              <a:buNone/>
              <a:defRPr sz="933" b="0">
                <a:solidFill>
                  <a:schemeClr val="bg1"/>
                </a:solidFill>
                <a:latin typeface="NVIDIA Sans" panose="020B0503020203020204" pitchFamily="34" charset="0"/>
                <a:cs typeface="NVIDIA Sans" panose="020B0503020203020204" pitchFamily="34" charset="0"/>
              </a:defRPr>
            </a:lvl1pPr>
            <a:lvl2pPr marL="854178" indent="0">
              <a:buFontTx/>
              <a:buNone/>
              <a:defRPr sz="1333" b="1">
                <a:solidFill>
                  <a:schemeClr val="tx1"/>
                </a:solidFill>
                <a:latin typeface="NVIDIA Sans" panose="020B0503020203020204" pitchFamily="34" charset="0"/>
              </a:defRPr>
            </a:lvl2pPr>
            <a:lvl3pPr marL="1627699" indent="0">
              <a:buFontTx/>
              <a:buNone/>
              <a:defRPr sz="1333" b="1">
                <a:solidFill>
                  <a:schemeClr val="tx1"/>
                </a:solidFill>
                <a:latin typeface="NVIDIA Sans" panose="020B0503020203020204" pitchFamily="34" charset="0"/>
              </a:defRPr>
            </a:lvl3pPr>
            <a:lvl4pPr marL="2311012" indent="0">
              <a:buFontTx/>
              <a:buNone/>
              <a:defRPr sz="1333" b="1">
                <a:solidFill>
                  <a:schemeClr val="tx1"/>
                </a:solidFill>
                <a:latin typeface="NVIDIA Sans" panose="020B0503020203020204" pitchFamily="34" charset="0"/>
              </a:defRPr>
            </a:lvl4pPr>
            <a:lvl5pPr marL="2823521" indent="0">
              <a:buFontTx/>
              <a:buNone/>
              <a:defRPr sz="1333"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37577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wo Column">
  <p:cSld name="1_Two Column">
    <p:spTree>
      <p:nvGrpSpPr>
        <p:cNvPr id="1" name="Shape 531"/>
        <p:cNvGrpSpPr/>
        <p:nvPr/>
      </p:nvGrpSpPr>
      <p:grpSpPr>
        <a:xfrm>
          <a:off x="0" y="0"/>
          <a:ext cx="0" cy="0"/>
          <a:chOff x="0" y="0"/>
          <a:chExt cx="0" cy="0"/>
        </a:xfrm>
      </p:grpSpPr>
      <p:sp>
        <p:nvSpPr>
          <p:cNvPr id="532" name="Google Shape;532;p65"/>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18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3" name="Google Shape;533;p65"/>
          <p:cNvSpPr txBox="1">
            <a:spLocks noGrp="1"/>
          </p:cNvSpPr>
          <p:nvPr>
            <p:ph type="body" idx="1"/>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609524" marR="0" lvl="0" indent="-304762" algn="ctr" rtl="0">
              <a:lnSpc>
                <a:spcPct val="90000"/>
              </a:lnSpc>
              <a:spcBef>
                <a:spcPts val="0"/>
              </a:spcBef>
              <a:spcAft>
                <a:spcPts val="0"/>
              </a:spcAft>
              <a:buClr>
                <a:schemeClr val="dk2"/>
              </a:buClr>
              <a:buSzPts val="1200"/>
              <a:buFont typeface="Arial"/>
              <a:buNone/>
              <a:defRPr sz="1600" b="0" i="0" u="none" strike="noStrike" cap="none">
                <a:solidFill>
                  <a:schemeClr val="dk2"/>
                </a:solidFill>
                <a:latin typeface="NVIDIA Sans"/>
                <a:ea typeface="NVIDIA Sans"/>
                <a:cs typeface="NVIDIA Sans"/>
                <a:sym typeface="NVIDIA Sans"/>
              </a:defRPr>
            </a:lvl1pPr>
            <a:lvl2pPr marL="1219048" marR="0" lvl="1"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2pPr>
            <a:lvl3pPr marL="1828571" marR="0" lvl="2"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3pPr>
            <a:lvl4pPr marL="2438095" marR="0" lvl="3"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4pPr>
            <a:lvl5pPr marL="3047619" marR="0" lvl="4" indent="-304762" algn="ctr" rtl="0">
              <a:lnSpc>
                <a:spcPct val="90000"/>
              </a:lnSpc>
              <a:spcBef>
                <a:spcPts val="500"/>
              </a:spcBef>
              <a:spcAft>
                <a:spcPts val="0"/>
              </a:spcAft>
              <a:buClr>
                <a:schemeClr val="dk1"/>
              </a:buClr>
              <a:buSzPts val="1100"/>
              <a:buFont typeface="Arial"/>
              <a:buNone/>
              <a:defRPr sz="1467" b="0" i="0" u="none" strike="noStrike" cap="none">
                <a:solidFill>
                  <a:schemeClr val="dk1"/>
                </a:solidFill>
                <a:latin typeface="Trebuchet MS"/>
                <a:ea typeface="Trebuchet MS"/>
                <a:cs typeface="Trebuchet MS"/>
                <a:sym typeface="Trebuchet M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34" name="Google Shape;534;p65"/>
          <p:cNvSpPr txBox="1">
            <a:spLocks noGrp="1"/>
          </p:cNvSpPr>
          <p:nvPr>
            <p:ph type="body" idx="2"/>
          </p:nvPr>
        </p:nvSpPr>
        <p:spPr>
          <a:xfrm>
            <a:off x="838200" y="1615440"/>
            <a:ext cx="5071872"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35" name="Google Shape;535;p65"/>
          <p:cNvSpPr txBox="1">
            <a:spLocks noGrp="1"/>
          </p:cNvSpPr>
          <p:nvPr>
            <p:ph type="body" idx="3"/>
          </p:nvPr>
        </p:nvSpPr>
        <p:spPr>
          <a:xfrm>
            <a:off x="6281928" y="1615440"/>
            <a:ext cx="5071872" cy="4550664"/>
          </a:xfrm>
          <a:prstGeom prst="rect">
            <a:avLst/>
          </a:prstGeom>
          <a:noFill/>
          <a:ln>
            <a:noFill/>
          </a:ln>
        </p:spPr>
        <p:txBody>
          <a:bodyPr spcFirstLastPara="1" wrap="square" lIns="91425" tIns="45700" rIns="91425" bIns="45700" anchor="t" anchorCtr="0">
            <a:noAutofit/>
          </a:bodyPr>
          <a:lstStyle>
            <a:lvl1pPr marL="609524" marR="0" lvl="0" indent="-397883" algn="l" rtl="0">
              <a:lnSpc>
                <a:spcPct val="90000"/>
              </a:lnSpc>
              <a:spcBef>
                <a:spcPts val="1000"/>
              </a:spcBef>
              <a:spcAft>
                <a:spcPts val="0"/>
              </a:spcAft>
              <a:buClr>
                <a:schemeClr val="dk2"/>
              </a:buClr>
              <a:buSzPts val="1100"/>
              <a:buFont typeface="Arial"/>
              <a:buChar char="•"/>
              <a:defRPr sz="1467" b="0" i="0" u="none" strike="noStrike" cap="none">
                <a:solidFill>
                  <a:schemeClr val="lt1"/>
                </a:solidFill>
                <a:latin typeface="NVIDIA Sans"/>
                <a:ea typeface="NVIDIA Sans"/>
                <a:cs typeface="NVIDIA Sans"/>
                <a:sym typeface="NVIDIA Sans"/>
              </a:defRPr>
            </a:lvl1pPr>
            <a:lvl2pPr marL="1219048" marR="0" lvl="1" indent="-389418" algn="l" rtl="0">
              <a:lnSpc>
                <a:spcPct val="90000"/>
              </a:lnSpc>
              <a:spcBef>
                <a:spcPts val="500"/>
              </a:spcBef>
              <a:spcAft>
                <a:spcPts val="0"/>
              </a:spcAft>
              <a:buClr>
                <a:schemeClr val="dk2"/>
              </a:buClr>
              <a:buSzPts val="1000"/>
              <a:buFont typeface="Arial"/>
              <a:buChar char="•"/>
              <a:defRPr sz="1333" b="0" i="0" u="none" strike="noStrike" cap="none">
                <a:solidFill>
                  <a:schemeClr val="lt1"/>
                </a:solidFill>
                <a:latin typeface="NVIDIA Sans"/>
                <a:ea typeface="NVIDIA Sans"/>
                <a:cs typeface="NVIDIA Sans"/>
                <a:sym typeface="NVIDIA Sans"/>
              </a:defRPr>
            </a:lvl2pPr>
            <a:lvl3pPr marL="1828571" marR="0" lvl="2" indent="-380952" algn="l" rtl="0">
              <a:lnSpc>
                <a:spcPct val="90000"/>
              </a:lnSpc>
              <a:spcBef>
                <a:spcPts val="500"/>
              </a:spcBef>
              <a:spcAft>
                <a:spcPts val="0"/>
              </a:spcAft>
              <a:buClr>
                <a:schemeClr val="dk2"/>
              </a:buClr>
              <a:buSzPts val="900"/>
              <a:buFont typeface="Arial"/>
              <a:buChar char="•"/>
              <a:defRPr sz="1200" b="0" i="0" u="none" strike="noStrike" cap="none">
                <a:solidFill>
                  <a:schemeClr val="lt1"/>
                </a:solidFill>
                <a:latin typeface="NVIDIA Sans"/>
                <a:ea typeface="NVIDIA Sans"/>
                <a:cs typeface="NVIDIA Sans"/>
                <a:sym typeface="NVIDIA Sans"/>
              </a:defRPr>
            </a:lvl3pPr>
            <a:lvl4pPr marL="2438095" marR="0" lvl="3" indent="-372487" algn="l" rtl="0">
              <a:lnSpc>
                <a:spcPct val="90000"/>
              </a:lnSpc>
              <a:spcBef>
                <a:spcPts val="500"/>
              </a:spcBef>
              <a:spcAft>
                <a:spcPts val="0"/>
              </a:spcAft>
              <a:buClr>
                <a:schemeClr val="dk2"/>
              </a:buClr>
              <a:buSzPts val="800"/>
              <a:buFont typeface="Arial"/>
              <a:buChar char="•"/>
              <a:defRPr sz="1067" b="0" i="0" u="none" strike="noStrike" cap="none">
                <a:solidFill>
                  <a:schemeClr val="lt1"/>
                </a:solidFill>
                <a:latin typeface="NVIDIA Sans"/>
                <a:ea typeface="NVIDIA Sans"/>
                <a:cs typeface="NVIDIA Sans"/>
                <a:sym typeface="NVIDIA Sans"/>
              </a:defRPr>
            </a:lvl4pPr>
            <a:lvl5pPr marL="3047619" marR="0" lvl="4" indent="-364022" algn="l" rtl="0">
              <a:lnSpc>
                <a:spcPct val="90000"/>
              </a:lnSpc>
              <a:spcBef>
                <a:spcPts val="500"/>
              </a:spcBef>
              <a:spcAft>
                <a:spcPts val="0"/>
              </a:spcAft>
              <a:buClr>
                <a:schemeClr val="dk2"/>
              </a:buClr>
              <a:buSzPts val="700"/>
              <a:buFont typeface="Arial"/>
              <a:buChar char="•"/>
              <a:defRPr sz="933" b="0" i="0" u="none" strike="noStrike" cap="none">
                <a:solidFill>
                  <a:schemeClr val="lt1"/>
                </a:solidFill>
                <a:latin typeface="NVIDIA Sans"/>
                <a:ea typeface="NVIDIA Sans"/>
                <a:cs typeface="NVIDIA Sans"/>
                <a:sym typeface="NVIDIA Sans"/>
              </a:defRPr>
            </a:lvl5pPr>
            <a:lvl6pPr marL="3657143" marR="0" lvl="5"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6pPr>
            <a:lvl7pPr marL="4266666" marR="0" lvl="6"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7pPr>
            <a:lvl8pPr marL="4876190" marR="0" lvl="7"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8pPr>
            <a:lvl9pPr marL="5485714" marR="0" lvl="8" indent="-419048" algn="l" rtl="0">
              <a:lnSpc>
                <a:spcPct val="90000"/>
              </a:lnSpc>
              <a:spcBef>
                <a:spcPts val="500"/>
              </a:spcBef>
              <a:spcAft>
                <a:spcPts val="0"/>
              </a:spcAft>
              <a:buClr>
                <a:schemeClr val="dk1"/>
              </a:buClr>
              <a:buSzPts val="1350"/>
              <a:buFont typeface="Arial"/>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55859712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54"/>
        <p:cNvGrpSpPr/>
        <p:nvPr/>
      </p:nvGrpSpPr>
      <p:grpSpPr>
        <a:xfrm>
          <a:off x="0" y="0"/>
          <a:ext cx="0" cy="0"/>
          <a:chOff x="0" y="0"/>
          <a:chExt cx="0" cy="0"/>
        </a:xfrm>
      </p:grpSpPr>
      <p:sp>
        <p:nvSpPr>
          <p:cNvPr id="55" name="Google Shape;55;p42"/>
          <p:cNvSpPr txBox="1">
            <a:spLocks noGrp="1"/>
          </p:cNvSpPr>
          <p:nvPr>
            <p:ph type="body" idx="1"/>
          </p:nvPr>
        </p:nvSpPr>
        <p:spPr>
          <a:xfrm>
            <a:off x="2794098" y="5686374"/>
            <a:ext cx="2087161"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6" name="Google Shape;56;p42"/>
          <p:cNvSpPr txBox="1">
            <a:spLocks noGrp="1"/>
          </p:cNvSpPr>
          <p:nvPr>
            <p:ph type="body" idx="2"/>
          </p:nvPr>
        </p:nvSpPr>
        <p:spPr>
          <a:xfrm>
            <a:off x="545869" y="5686374"/>
            <a:ext cx="2084947"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7" name="Google Shape;57;p42"/>
          <p:cNvSpPr txBox="1">
            <a:spLocks noGrp="1"/>
          </p:cNvSpPr>
          <p:nvPr>
            <p:ph type="body" idx="3"/>
          </p:nvPr>
        </p:nvSpPr>
        <p:spPr>
          <a:xfrm>
            <a:off x="2794098" y="5909019"/>
            <a:ext cx="2087161"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8" name="Google Shape;58;p42"/>
          <p:cNvSpPr txBox="1">
            <a:spLocks noGrp="1"/>
          </p:cNvSpPr>
          <p:nvPr>
            <p:ph type="body" idx="4"/>
          </p:nvPr>
        </p:nvSpPr>
        <p:spPr>
          <a:xfrm>
            <a:off x="545869" y="5909019"/>
            <a:ext cx="2084947"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59" name="Google Shape;59;p42"/>
          <p:cNvSpPr>
            <a:spLocks noGrp="1"/>
          </p:cNvSpPr>
          <p:nvPr>
            <p:ph type="pic" idx="5"/>
          </p:nvPr>
        </p:nvSpPr>
        <p:spPr>
          <a:xfrm>
            <a:off x="545868" y="3975399"/>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0" name="Google Shape;60;p42"/>
          <p:cNvSpPr>
            <a:spLocks noGrp="1"/>
          </p:cNvSpPr>
          <p:nvPr>
            <p:ph type="pic" idx="6"/>
          </p:nvPr>
        </p:nvSpPr>
        <p:spPr>
          <a:xfrm>
            <a:off x="2798714" y="3975399"/>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1" name="Google Shape;61;p42"/>
          <p:cNvSpPr>
            <a:spLocks noGrp="1"/>
          </p:cNvSpPr>
          <p:nvPr>
            <p:ph type="pic" idx="7"/>
          </p:nvPr>
        </p:nvSpPr>
        <p:spPr>
          <a:xfrm>
            <a:off x="7300862" y="3975399"/>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2" name="Google Shape;62;p42"/>
          <p:cNvSpPr txBox="1">
            <a:spLocks noGrp="1"/>
          </p:cNvSpPr>
          <p:nvPr>
            <p:ph type="body" idx="8"/>
          </p:nvPr>
        </p:nvSpPr>
        <p:spPr>
          <a:xfrm>
            <a:off x="5044198" y="5686374"/>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63" name="Google Shape;63;p42"/>
          <p:cNvSpPr txBox="1">
            <a:spLocks noGrp="1"/>
          </p:cNvSpPr>
          <p:nvPr>
            <p:ph type="body" idx="9"/>
          </p:nvPr>
        </p:nvSpPr>
        <p:spPr>
          <a:xfrm>
            <a:off x="5044198" y="5909019"/>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64" name="Google Shape;64;p42"/>
          <p:cNvSpPr>
            <a:spLocks noGrp="1"/>
          </p:cNvSpPr>
          <p:nvPr>
            <p:ph type="pic" idx="13"/>
          </p:nvPr>
        </p:nvSpPr>
        <p:spPr>
          <a:xfrm>
            <a:off x="5050687" y="1616280"/>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5" name="Google Shape;65;p42"/>
          <p:cNvSpPr>
            <a:spLocks noGrp="1"/>
          </p:cNvSpPr>
          <p:nvPr>
            <p:ph type="pic" idx="14"/>
          </p:nvPr>
        </p:nvSpPr>
        <p:spPr>
          <a:xfrm>
            <a:off x="2798278" y="1616280"/>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6" name="Google Shape;66;p42"/>
          <p:cNvSpPr>
            <a:spLocks noGrp="1"/>
          </p:cNvSpPr>
          <p:nvPr>
            <p:ph type="pic" idx="15"/>
          </p:nvPr>
        </p:nvSpPr>
        <p:spPr>
          <a:xfrm>
            <a:off x="545869" y="1616280"/>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7" name="Google Shape;67;p42"/>
          <p:cNvSpPr>
            <a:spLocks noGrp="1"/>
          </p:cNvSpPr>
          <p:nvPr>
            <p:ph type="pic" idx="16"/>
          </p:nvPr>
        </p:nvSpPr>
        <p:spPr>
          <a:xfrm>
            <a:off x="7303096" y="1616280"/>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8" name="Google Shape;68;p42"/>
          <p:cNvSpPr>
            <a:spLocks noGrp="1"/>
          </p:cNvSpPr>
          <p:nvPr>
            <p:ph type="pic" idx="17"/>
          </p:nvPr>
        </p:nvSpPr>
        <p:spPr>
          <a:xfrm>
            <a:off x="9555505" y="1616280"/>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69" name="Google Shape;69;p42"/>
          <p:cNvSpPr>
            <a:spLocks noGrp="1"/>
          </p:cNvSpPr>
          <p:nvPr>
            <p:ph type="pic" idx="18"/>
          </p:nvPr>
        </p:nvSpPr>
        <p:spPr>
          <a:xfrm>
            <a:off x="5048016" y="3975399"/>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70" name="Google Shape;70;p42"/>
          <p:cNvSpPr txBox="1">
            <a:spLocks noGrp="1"/>
          </p:cNvSpPr>
          <p:nvPr>
            <p:ph type="body" idx="19"/>
          </p:nvPr>
        </p:nvSpPr>
        <p:spPr>
          <a:xfrm>
            <a:off x="7302536" y="5686374"/>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1" name="Google Shape;71;p42"/>
          <p:cNvSpPr txBox="1">
            <a:spLocks noGrp="1"/>
          </p:cNvSpPr>
          <p:nvPr>
            <p:ph type="body" idx="20"/>
          </p:nvPr>
        </p:nvSpPr>
        <p:spPr>
          <a:xfrm>
            <a:off x="7302536" y="5909019"/>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2" name="Google Shape;72;p42"/>
          <p:cNvSpPr txBox="1">
            <a:spLocks noGrp="1"/>
          </p:cNvSpPr>
          <p:nvPr>
            <p:ph type="body" idx="21"/>
          </p:nvPr>
        </p:nvSpPr>
        <p:spPr>
          <a:xfrm>
            <a:off x="5047304" y="3327295"/>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3" name="Google Shape;73;p42"/>
          <p:cNvSpPr txBox="1">
            <a:spLocks noGrp="1"/>
          </p:cNvSpPr>
          <p:nvPr>
            <p:ph type="body" idx="22"/>
          </p:nvPr>
        </p:nvSpPr>
        <p:spPr>
          <a:xfrm>
            <a:off x="2797319" y="3327295"/>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4" name="Google Shape;74;p42"/>
          <p:cNvSpPr txBox="1">
            <a:spLocks noGrp="1"/>
          </p:cNvSpPr>
          <p:nvPr>
            <p:ph type="body" idx="23"/>
          </p:nvPr>
        </p:nvSpPr>
        <p:spPr>
          <a:xfrm>
            <a:off x="5047304" y="3556498"/>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5" name="Google Shape;75;p42"/>
          <p:cNvSpPr txBox="1">
            <a:spLocks noGrp="1"/>
          </p:cNvSpPr>
          <p:nvPr>
            <p:ph type="body" idx="24"/>
          </p:nvPr>
        </p:nvSpPr>
        <p:spPr>
          <a:xfrm>
            <a:off x="2797319" y="3556498"/>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6" name="Google Shape;76;p42"/>
          <p:cNvSpPr txBox="1">
            <a:spLocks noGrp="1"/>
          </p:cNvSpPr>
          <p:nvPr>
            <p:ph type="body" idx="25"/>
          </p:nvPr>
        </p:nvSpPr>
        <p:spPr>
          <a:xfrm>
            <a:off x="7300221" y="3327295"/>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7" name="Google Shape;77;p42"/>
          <p:cNvSpPr txBox="1">
            <a:spLocks noGrp="1"/>
          </p:cNvSpPr>
          <p:nvPr>
            <p:ph type="body" idx="26"/>
          </p:nvPr>
        </p:nvSpPr>
        <p:spPr>
          <a:xfrm>
            <a:off x="7300221" y="3556498"/>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8" name="Google Shape;78;p42"/>
          <p:cNvSpPr txBox="1">
            <a:spLocks noGrp="1"/>
          </p:cNvSpPr>
          <p:nvPr>
            <p:ph type="body" idx="27"/>
          </p:nvPr>
        </p:nvSpPr>
        <p:spPr>
          <a:xfrm>
            <a:off x="9555505" y="3327295"/>
            <a:ext cx="2087967"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79" name="Google Shape;79;p42"/>
          <p:cNvSpPr txBox="1">
            <a:spLocks noGrp="1"/>
          </p:cNvSpPr>
          <p:nvPr>
            <p:ph type="body" idx="28"/>
          </p:nvPr>
        </p:nvSpPr>
        <p:spPr>
          <a:xfrm>
            <a:off x="9555505" y="3556498"/>
            <a:ext cx="2087967"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0" name="Google Shape;80;p42"/>
          <p:cNvSpPr>
            <a:spLocks noGrp="1"/>
          </p:cNvSpPr>
          <p:nvPr>
            <p:ph type="pic" idx="29"/>
          </p:nvPr>
        </p:nvSpPr>
        <p:spPr>
          <a:xfrm>
            <a:off x="9553708" y="3975399"/>
            <a:ext cx="208788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81" name="Google Shape;81;p42"/>
          <p:cNvSpPr txBox="1">
            <a:spLocks noGrp="1"/>
          </p:cNvSpPr>
          <p:nvPr>
            <p:ph type="body" idx="30"/>
          </p:nvPr>
        </p:nvSpPr>
        <p:spPr>
          <a:xfrm>
            <a:off x="9548294" y="5701190"/>
            <a:ext cx="2087967"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2" name="Google Shape;82;p42"/>
          <p:cNvSpPr txBox="1">
            <a:spLocks noGrp="1"/>
          </p:cNvSpPr>
          <p:nvPr>
            <p:ph type="body" idx="31"/>
          </p:nvPr>
        </p:nvSpPr>
        <p:spPr>
          <a:xfrm>
            <a:off x="9548294" y="5930392"/>
            <a:ext cx="2087967"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3" name="Google Shape;83;p42"/>
          <p:cNvSpPr txBox="1">
            <a:spLocks noGrp="1"/>
          </p:cNvSpPr>
          <p:nvPr>
            <p:ph type="body" idx="32"/>
          </p:nvPr>
        </p:nvSpPr>
        <p:spPr>
          <a:xfrm>
            <a:off x="545869" y="3327295"/>
            <a:ext cx="2087880"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4" name="Google Shape;84;p42"/>
          <p:cNvSpPr txBox="1">
            <a:spLocks noGrp="1"/>
          </p:cNvSpPr>
          <p:nvPr>
            <p:ph type="body" idx="33"/>
          </p:nvPr>
        </p:nvSpPr>
        <p:spPr>
          <a:xfrm>
            <a:off x="545869" y="3556498"/>
            <a:ext cx="2087880"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85" name="Google Shape;85;p42"/>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42"/>
          <p:cNvSpPr txBox="1">
            <a:spLocks noGrp="1"/>
          </p:cNvSpPr>
          <p:nvPr>
            <p:ph type="body" idx="34"/>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50480753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Use Case Layout">
  <p:cSld name="Use Case Layout">
    <p:spTree>
      <p:nvGrpSpPr>
        <p:cNvPr id="1" name="Shape 87"/>
        <p:cNvGrpSpPr/>
        <p:nvPr/>
      </p:nvGrpSpPr>
      <p:grpSpPr>
        <a:xfrm>
          <a:off x="0" y="0"/>
          <a:ext cx="0" cy="0"/>
          <a:chOff x="0" y="0"/>
          <a:chExt cx="0" cy="0"/>
        </a:xfrm>
      </p:grpSpPr>
      <p:pic>
        <p:nvPicPr>
          <p:cNvPr id="88" name="Google Shape;88;p4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89" name="Google Shape;89;p43"/>
          <p:cNvSpPr>
            <a:spLocks noGrp="1"/>
          </p:cNvSpPr>
          <p:nvPr>
            <p:ph type="pic" idx="2"/>
          </p:nvPr>
        </p:nvSpPr>
        <p:spPr>
          <a:xfrm>
            <a:off x="0" y="0"/>
            <a:ext cx="12192000" cy="6858000"/>
          </a:xfrm>
          <a:prstGeom prst="rect">
            <a:avLst/>
          </a:prstGeom>
          <a:solidFill>
            <a:srgbClr val="F2F2F2"/>
          </a:solidFill>
          <a:ln>
            <a:noFill/>
          </a:ln>
        </p:spPr>
      </p:sp>
    </p:spTree>
    <p:extLst>
      <p:ext uri="{BB962C8B-B14F-4D97-AF65-F5344CB8AC3E}">
        <p14:creationId xmlns:p14="http://schemas.microsoft.com/office/powerpoint/2010/main" val="54451706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90"/>
        <p:cNvGrpSpPr/>
        <p:nvPr/>
      </p:nvGrpSpPr>
      <p:grpSpPr>
        <a:xfrm>
          <a:off x="0" y="0"/>
          <a:ext cx="0" cy="0"/>
          <a:chOff x="0" y="0"/>
          <a:chExt cx="0" cy="0"/>
        </a:xfrm>
      </p:grpSpPr>
      <p:sp>
        <p:nvSpPr>
          <p:cNvPr id="91" name="Google Shape;91;p44"/>
          <p:cNvSpPr>
            <a:spLocks noGrp="1"/>
          </p:cNvSpPr>
          <p:nvPr>
            <p:ph type="pic" idx="2"/>
          </p:nvPr>
        </p:nvSpPr>
        <p:spPr>
          <a:xfrm>
            <a:off x="4297131"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2" name="Google Shape;92;p44"/>
          <p:cNvSpPr>
            <a:spLocks noGrp="1"/>
          </p:cNvSpPr>
          <p:nvPr>
            <p:ph type="pic" idx="3"/>
          </p:nvPr>
        </p:nvSpPr>
        <p:spPr>
          <a:xfrm>
            <a:off x="548528"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3" name="Google Shape;93;p44"/>
          <p:cNvSpPr>
            <a:spLocks noGrp="1"/>
          </p:cNvSpPr>
          <p:nvPr>
            <p:ph type="pic" idx="4"/>
          </p:nvPr>
        </p:nvSpPr>
        <p:spPr>
          <a:xfrm>
            <a:off x="8049491" y="1616605"/>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94" name="Google Shape;94;p44"/>
          <p:cNvSpPr txBox="1">
            <a:spLocks noGrp="1"/>
          </p:cNvSpPr>
          <p:nvPr>
            <p:ph type="body" idx="1"/>
          </p:nvPr>
        </p:nvSpPr>
        <p:spPr>
          <a:xfrm>
            <a:off x="552281" y="3327295"/>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5" name="Google Shape;95;p44"/>
          <p:cNvSpPr txBox="1">
            <a:spLocks noGrp="1"/>
          </p:cNvSpPr>
          <p:nvPr>
            <p:ph type="body" idx="5"/>
          </p:nvPr>
        </p:nvSpPr>
        <p:spPr>
          <a:xfrm>
            <a:off x="552281" y="3556498"/>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6" name="Google Shape;96;p44"/>
          <p:cNvSpPr txBox="1">
            <a:spLocks noGrp="1"/>
          </p:cNvSpPr>
          <p:nvPr>
            <p:ph type="body" idx="6"/>
          </p:nvPr>
        </p:nvSpPr>
        <p:spPr>
          <a:xfrm>
            <a:off x="4298116" y="3327295"/>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7" name="Google Shape;97;p44"/>
          <p:cNvSpPr txBox="1">
            <a:spLocks noGrp="1"/>
          </p:cNvSpPr>
          <p:nvPr>
            <p:ph type="body" idx="7"/>
          </p:nvPr>
        </p:nvSpPr>
        <p:spPr>
          <a:xfrm>
            <a:off x="4298116" y="3556498"/>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8" name="Google Shape;98;p44"/>
          <p:cNvSpPr txBox="1">
            <a:spLocks noGrp="1"/>
          </p:cNvSpPr>
          <p:nvPr>
            <p:ph type="body" idx="8"/>
          </p:nvPr>
        </p:nvSpPr>
        <p:spPr>
          <a:xfrm>
            <a:off x="8050438" y="3327295"/>
            <a:ext cx="359303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99" name="Google Shape;99;p44"/>
          <p:cNvSpPr txBox="1">
            <a:spLocks noGrp="1"/>
          </p:cNvSpPr>
          <p:nvPr>
            <p:ph type="body" idx="9"/>
          </p:nvPr>
        </p:nvSpPr>
        <p:spPr>
          <a:xfrm>
            <a:off x="8050438" y="3556498"/>
            <a:ext cx="359303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0" name="Google Shape;100;p44"/>
          <p:cNvSpPr>
            <a:spLocks noGrp="1"/>
          </p:cNvSpPr>
          <p:nvPr>
            <p:ph type="pic" idx="13"/>
          </p:nvPr>
        </p:nvSpPr>
        <p:spPr>
          <a:xfrm>
            <a:off x="4300885"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1" name="Google Shape;101;p44"/>
          <p:cNvSpPr>
            <a:spLocks noGrp="1"/>
          </p:cNvSpPr>
          <p:nvPr>
            <p:ph type="pic" idx="14"/>
          </p:nvPr>
        </p:nvSpPr>
        <p:spPr>
          <a:xfrm>
            <a:off x="552281"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2" name="Google Shape;102;p44"/>
          <p:cNvSpPr>
            <a:spLocks noGrp="1"/>
          </p:cNvSpPr>
          <p:nvPr>
            <p:ph type="pic" idx="15"/>
          </p:nvPr>
        </p:nvSpPr>
        <p:spPr>
          <a:xfrm>
            <a:off x="8053245" y="3977296"/>
            <a:ext cx="3596640" cy="1645920"/>
          </a:xfrm>
          <a:prstGeom prst="rect">
            <a:avLst/>
          </a:prstGeom>
          <a:solidFill>
            <a:srgbClr val="151617">
              <a:alpha val="60784"/>
            </a:srgbClr>
          </a:solidFill>
          <a:ln w="9525" cap="flat" cmpd="sng">
            <a:solidFill>
              <a:schemeClr val="accent5"/>
            </a:solidFill>
            <a:prstDash val="solid"/>
            <a:round/>
            <a:headEnd type="none" w="sm" len="sm"/>
            <a:tailEnd type="none" w="sm" len="sm"/>
          </a:ln>
        </p:spPr>
        <p:txBody>
          <a:bodyPr/>
          <a:lstStyle/>
          <a:p>
            <a:endParaRPr lang="en-US"/>
          </a:p>
        </p:txBody>
      </p:sp>
      <p:sp>
        <p:nvSpPr>
          <p:cNvPr id="103" name="Google Shape;103;p44"/>
          <p:cNvSpPr txBox="1">
            <a:spLocks noGrp="1"/>
          </p:cNvSpPr>
          <p:nvPr>
            <p:ph type="body" idx="16"/>
          </p:nvPr>
        </p:nvSpPr>
        <p:spPr>
          <a:xfrm>
            <a:off x="556035" y="5687987"/>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4" name="Google Shape;104;p44"/>
          <p:cNvSpPr txBox="1">
            <a:spLocks noGrp="1"/>
          </p:cNvSpPr>
          <p:nvPr>
            <p:ph type="body" idx="17"/>
          </p:nvPr>
        </p:nvSpPr>
        <p:spPr>
          <a:xfrm>
            <a:off x="556035" y="5917189"/>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5" name="Google Shape;105;p44"/>
          <p:cNvSpPr txBox="1">
            <a:spLocks noGrp="1"/>
          </p:cNvSpPr>
          <p:nvPr>
            <p:ph type="body" idx="18"/>
          </p:nvPr>
        </p:nvSpPr>
        <p:spPr>
          <a:xfrm>
            <a:off x="4301870" y="5687987"/>
            <a:ext cx="359288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6" name="Google Shape;106;p44"/>
          <p:cNvSpPr txBox="1">
            <a:spLocks noGrp="1"/>
          </p:cNvSpPr>
          <p:nvPr>
            <p:ph type="body" idx="19"/>
          </p:nvPr>
        </p:nvSpPr>
        <p:spPr>
          <a:xfrm>
            <a:off x="4301870" y="5917189"/>
            <a:ext cx="359288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7" name="Google Shape;107;p44"/>
          <p:cNvSpPr txBox="1">
            <a:spLocks noGrp="1"/>
          </p:cNvSpPr>
          <p:nvPr>
            <p:ph type="body" idx="20"/>
          </p:nvPr>
        </p:nvSpPr>
        <p:spPr>
          <a:xfrm>
            <a:off x="8054192" y="5687987"/>
            <a:ext cx="3593034" cy="250120"/>
          </a:xfrm>
          <a:prstGeom prst="rect">
            <a:avLst/>
          </a:prstGeom>
          <a:noFill/>
          <a:ln>
            <a:noFill/>
          </a:ln>
        </p:spPr>
        <p:txBody>
          <a:bodyPr spcFirstLastPara="1" wrap="square" lIns="91425" tIns="45700" rIns="91425" bIns="45700" anchor="b" anchorCtr="0">
            <a:noAutofit/>
          </a:bodyPr>
          <a:lstStyle>
            <a:lvl1pPr marL="152385" marR="0" lvl="0" indent="-76192" algn="ctr" rtl="0">
              <a:lnSpc>
                <a:spcPct val="90000"/>
              </a:lnSpc>
              <a:spcBef>
                <a:spcPts val="400"/>
              </a:spcBef>
              <a:spcAft>
                <a:spcPts val="0"/>
              </a:spcAft>
              <a:buClr>
                <a:schemeClr val="lt1"/>
              </a:buClr>
              <a:buSzPts val="4000"/>
              <a:buFont typeface="NVIDIA Sans"/>
              <a:buNone/>
              <a:defRPr sz="1333" b="0" i="0" u="none" strike="noStrike" cap="none">
                <a:solidFill>
                  <a:schemeClr val="lt1"/>
                </a:solidFill>
                <a:latin typeface="NVIDIA Sans Medium"/>
                <a:ea typeface="NVIDIA Sans Medium"/>
                <a:cs typeface="NVIDIA Sans Medium"/>
                <a:sym typeface="NVIDIA Sans Medium"/>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8" name="Google Shape;108;p44"/>
          <p:cNvSpPr txBox="1">
            <a:spLocks noGrp="1"/>
          </p:cNvSpPr>
          <p:nvPr>
            <p:ph type="body" idx="21"/>
          </p:nvPr>
        </p:nvSpPr>
        <p:spPr>
          <a:xfrm>
            <a:off x="8054192" y="5917189"/>
            <a:ext cx="3593034" cy="250120"/>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200"/>
              </a:spcBef>
              <a:spcAft>
                <a:spcPts val="0"/>
              </a:spcAft>
              <a:buClr>
                <a:schemeClr val="lt1"/>
              </a:buClr>
              <a:buSzPts val="2800"/>
              <a:buFont typeface="NVIDIA Sans"/>
              <a:buNone/>
              <a:defRPr sz="933" b="0" i="0" u="none" strike="noStrike" cap="none">
                <a:solidFill>
                  <a:schemeClr val="lt1"/>
                </a:solidFill>
                <a:latin typeface="NVIDIA Sans"/>
                <a:ea typeface="NVIDIA Sans"/>
                <a:cs typeface="NVIDIA Sans"/>
                <a:sym typeface="NVIDIA Sans"/>
              </a:defRPr>
            </a:lvl1pPr>
            <a:lvl2pPr marL="304770" marR="0" lvl="1"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2pPr>
            <a:lvl3pPr marL="457154" marR="0" lvl="2"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3pPr>
            <a:lvl4pPr marL="609539" marR="0" lvl="3"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4pPr>
            <a:lvl5pPr marL="761924" marR="0" lvl="4" indent="-76192" algn="l" rtl="0">
              <a:lnSpc>
                <a:spcPct val="90000"/>
              </a:lnSpc>
              <a:spcBef>
                <a:spcPts val="500"/>
              </a:spcBef>
              <a:spcAft>
                <a:spcPts val="0"/>
              </a:spcAft>
              <a:buClr>
                <a:schemeClr val="dk1"/>
              </a:buClr>
              <a:buSzPts val="4000"/>
              <a:buFont typeface="NVIDIA Sans"/>
              <a:buNone/>
              <a:defRPr sz="1333" b="1"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
        <p:nvSpPr>
          <p:cNvPr id="109" name="Google Shape;109;p44"/>
          <p:cNvSpPr txBox="1">
            <a:spLocks noGrp="1"/>
          </p:cNvSpPr>
          <p:nvPr>
            <p:ph type="title"/>
          </p:nvPr>
        </p:nvSpPr>
        <p:spPr>
          <a:xfrm>
            <a:off x="838200" y="0"/>
            <a:ext cx="10515600" cy="838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7200"/>
              <a:buFont typeface="NVIDIA Sans"/>
              <a:buNone/>
              <a:defRPr sz="2400" b="1" cap="none">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44"/>
          <p:cNvSpPr txBox="1">
            <a:spLocks noGrp="1"/>
          </p:cNvSpPr>
          <p:nvPr>
            <p:ph type="body" idx="22"/>
          </p:nvPr>
        </p:nvSpPr>
        <p:spPr>
          <a:xfrm>
            <a:off x="838200" y="829056"/>
            <a:ext cx="10515600" cy="469392"/>
          </a:xfrm>
          <a:prstGeom prst="rect">
            <a:avLst/>
          </a:prstGeom>
          <a:noFill/>
          <a:ln>
            <a:noFill/>
          </a:ln>
        </p:spPr>
        <p:txBody>
          <a:bodyPr spcFirstLastPara="1" wrap="square" lIns="91425" tIns="45700" rIns="91425" bIns="45700" anchor="t" anchorCtr="0">
            <a:noAutofit/>
          </a:bodyPr>
          <a:lstStyle>
            <a:lvl1pPr marL="152385" marR="0" lvl="0" indent="-76192" algn="ctr" rtl="0">
              <a:lnSpc>
                <a:spcPct val="90000"/>
              </a:lnSpc>
              <a:spcBef>
                <a:spcPts val="0"/>
              </a:spcBef>
              <a:spcAft>
                <a:spcPts val="0"/>
              </a:spcAft>
              <a:buClr>
                <a:schemeClr val="dk2"/>
              </a:buClr>
              <a:buSzPts val="4800"/>
              <a:buFont typeface="NVIDIA Sans"/>
              <a:buNone/>
              <a:defRPr sz="1600" b="0" i="0" u="none" strike="noStrike" cap="none">
                <a:solidFill>
                  <a:schemeClr val="dk2"/>
                </a:solidFill>
                <a:latin typeface="NVIDIA Sans"/>
                <a:ea typeface="NVIDIA Sans"/>
                <a:cs typeface="NVIDIA Sans"/>
                <a:sym typeface="NVIDIA Sans"/>
              </a:defRPr>
            </a:lvl1pPr>
            <a:lvl2pPr marL="304770" marR="0" lvl="1"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2pPr>
            <a:lvl3pPr marL="457154" marR="0" lvl="2"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3pPr>
            <a:lvl4pPr marL="609539" marR="0" lvl="3"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4pPr>
            <a:lvl5pPr marL="761924" marR="0" lvl="4" indent="-76192" algn="ctr" rtl="0">
              <a:lnSpc>
                <a:spcPct val="90000"/>
              </a:lnSpc>
              <a:spcBef>
                <a:spcPts val="500"/>
              </a:spcBef>
              <a:spcAft>
                <a:spcPts val="0"/>
              </a:spcAft>
              <a:buClr>
                <a:schemeClr val="dk1"/>
              </a:buClr>
              <a:buSzPts val="4400"/>
              <a:buFont typeface="NVIDIA Sans"/>
              <a:buNone/>
              <a:defRPr sz="1467" b="0" i="0" u="none" strike="noStrike" cap="none">
                <a:solidFill>
                  <a:schemeClr val="dk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89765323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12192000" cy="6858000"/>
          </a:xfrm>
          <a:prstGeom prst="rect">
            <a:avLst/>
          </a:prstGeom>
          <a:solidFill>
            <a:schemeClr val="tx1">
              <a:lumMod val="95000"/>
            </a:schemeClr>
          </a:solidFill>
          <a:ln w="19050">
            <a:noFill/>
          </a:ln>
        </p:spPr>
        <p:txBody>
          <a:bodyPr tIns="0" bIns="4206240" anchor="ctr"/>
          <a:lstStyle>
            <a:lvl1pPr marL="0" indent="0" algn="ctr">
              <a:buFontTx/>
              <a:buNone/>
              <a:defRPr sz="24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39402054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theme" Target="../theme/theme1.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image" Target="../media/image1.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5.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2" Type="http://schemas.openxmlformats.org/officeDocument/2006/relationships/slideLayout" Target="../slideLayouts/slideLayout119.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image" Target="../media/image10.png"/><Relationship Id="rId5" Type="http://schemas.openxmlformats.org/officeDocument/2006/relationships/slideLayout" Target="../slideLayouts/slideLayout122.xml"/><Relationship Id="rId10" Type="http://schemas.openxmlformats.org/officeDocument/2006/relationships/theme" Target="../theme/theme2.xml"/><Relationship Id="rId4" Type="http://schemas.openxmlformats.org/officeDocument/2006/relationships/slideLayout" Target="../slideLayouts/slideLayout121.xml"/><Relationship Id="rId9"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0"/>
            <a:ext cx="10515600" cy="8382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11353800" y="6501472"/>
            <a:ext cx="838200" cy="357594"/>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1333"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119">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379941238"/>
      </p:ext>
    </p:extLst>
  </p:cSld>
  <p:clrMap bg1="lt1" tx1="dk1" bg2="lt2" tx2="dk2" accent1="accent1" accent2="accent2" accent3="accent3" accent4="accent4" accent5="accent5" accent6="accent6" hlink="hlink" folHlink="folHlink"/>
  <p:sldLayoutIdLst>
    <p:sldLayoutId id="2147483948" r:id="rId1"/>
    <p:sldLayoutId id="2147483918" r:id="rId2"/>
    <p:sldLayoutId id="2147483949" r:id="rId3"/>
    <p:sldLayoutId id="2147483950" r:id="rId4"/>
    <p:sldLayoutId id="2147484020" r:id="rId5"/>
    <p:sldLayoutId id="2147483951" r:id="rId6"/>
    <p:sldLayoutId id="2147483952" r:id="rId7"/>
    <p:sldLayoutId id="2147484021" r:id="rId8"/>
    <p:sldLayoutId id="2147483953" r:id="rId9"/>
    <p:sldLayoutId id="2147483954" r:id="rId10"/>
    <p:sldLayoutId id="2147484022" r:id="rId11"/>
    <p:sldLayoutId id="2147483955" r:id="rId12"/>
    <p:sldLayoutId id="2147483956" r:id="rId13"/>
    <p:sldLayoutId id="2147483957" r:id="rId14"/>
    <p:sldLayoutId id="2147483944" r:id="rId15"/>
    <p:sldLayoutId id="2147483958" r:id="rId16"/>
    <p:sldLayoutId id="2147483959" r:id="rId17"/>
    <p:sldLayoutId id="2147483960" r:id="rId18"/>
    <p:sldLayoutId id="2147483947" r:id="rId19"/>
    <p:sldLayoutId id="2147484024" r:id="rId20"/>
    <p:sldLayoutId id="2147484025" r:id="rId21"/>
    <p:sldLayoutId id="2147483946" r:id="rId22"/>
    <p:sldLayoutId id="2147483921" r:id="rId23"/>
    <p:sldLayoutId id="2147483920" r:id="rId24"/>
    <p:sldLayoutId id="2147483922" r:id="rId25"/>
    <p:sldLayoutId id="2147483923" r:id="rId26"/>
    <p:sldLayoutId id="2147483963" r:id="rId27"/>
    <p:sldLayoutId id="2147483925" r:id="rId28"/>
    <p:sldLayoutId id="2147483926" r:id="rId29"/>
    <p:sldLayoutId id="2147483927" r:id="rId30"/>
    <p:sldLayoutId id="2147483929" r:id="rId31"/>
    <p:sldLayoutId id="2147483661" r:id="rId32"/>
    <p:sldLayoutId id="2147483662" r:id="rId33"/>
    <p:sldLayoutId id="2147483663" r:id="rId34"/>
    <p:sldLayoutId id="2147483664" r:id="rId35"/>
    <p:sldLayoutId id="2147483681" r:id="rId36"/>
    <p:sldLayoutId id="2147483665" r:id="rId37"/>
    <p:sldLayoutId id="2147483666" r:id="rId38"/>
    <p:sldLayoutId id="2147483682" r:id="rId39"/>
    <p:sldLayoutId id="2147483667" r:id="rId40"/>
    <p:sldLayoutId id="2147483668" r:id="rId41"/>
    <p:sldLayoutId id="2147483705" r:id="rId42"/>
    <p:sldLayoutId id="2147483669" r:id="rId43"/>
    <p:sldLayoutId id="2147483670" r:id="rId44"/>
    <p:sldLayoutId id="2147483671" r:id="rId45"/>
    <p:sldLayoutId id="2147484019" r:id="rId46"/>
    <p:sldLayoutId id="2147483673" r:id="rId47"/>
    <p:sldLayoutId id="2147483674" r:id="rId48"/>
    <p:sldLayoutId id="2147483675" r:id="rId49"/>
    <p:sldLayoutId id="2147483676" r:id="rId50"/>
    <p:sldLayoutId id="2147483677" r:id="rId51"/>
    <p:sldLayoutId id="2147483678" r:id="rId52"/>
    <p:sldLayoutId id="2147483679" r:id="rId53"/>
    <p:sldLayoutId id="2147483680" r:id="rId54"/>
    <p:sldLayoutId id="2147484016" r:id="rId55"/>
    <p:sldLayoutId id="2147484017" r:id="rId56"/>
    <p:sldLayoutId id="2147483683" r:id="rId57"/>
    <p:sldLayoutId id="2147483684" r:id="rId58"/>
    <p:sldLayoutId id="2147483685" r:id="rId59"/>
    <p:sldLayoutId id="2147483686" r:id="rId60"/>
    <p:sldLayoutId id="2147483687" r:id="rId61"/>
    <p:sldLayoutId id="2147483688" r:id="rId62"/>
    <p:sldLayoutId id="2147483689" r:id="rId63"/>
    <p:sldLayoutId id="2147483690" r:id="rId64"/>
    <p:sldLayoutId id="2147483928" r:id="rId65"/>
    <p:sldLayoutId id="2147483930" r:id="rId66"/>
    <p:sldLayoutId id="2147483931" r:id="rId67"/>
    <p:sldLayoutId id="2147483942" r:id="rId68"/>
    <p:sldLayoutId id="2147483964" r:id="rId69"/>
    <p:sldLayoutId id="2147483965" r:id="rId70"/>
    <p:sldLayoutId id="2147483691" r:id="rId71"/>
    <p:sldLayoutId id="2147483692" r:id="rId72"/>
    <p:sldLayoutId id="2147483693" r:id="rId73"/>
    <p:sldLayoutId id="2147483694" r:id="rId74"/>
    <p:sldLayoutId id="2147483672" r:id="rId75"/>
    <p:sldLayoutId id="2147483708" r:id="rId76"/>
    <p:sldLayoutId id="2147483695" r:id="rId77"/>
    <p:sldLayoutId id="2147483696" r:id="rId78"/>
    <p:sldLayoutId id="2147483697" r:id="rId79"/>
    <p:sldLayoutId id="2147483966" r:id="rId80"/>
    <p:sldLayoutId id="2147483967" r:id="rId81"/>
    <p:sldLayoutId id="2147483698" r:id="rId82"/>
    <p:sldLayoutId id="2147483699" r:id="rId83"/>
    <p:sldLayoutId id="2147483700" r:id="rId84"/>
    <p:sldLayoutId id="2147483728" r:id="rId85"/>
    <p:sldLayoutId id="2147483729" r:id="rId86"/>
    <p:sldLayoutId id="2147483731" r:id="rId87"/>
    <p:sldLayoutId id="2147483732" r:id="rId88"/>
    <p:sldLayoutId id="2147483733" r:id="rId89"/>
    <p:sldLayoutId id="2147483726" r:id="rId90"/>
    <p:sldLayoutId id="2147483968" r:id="rId91"/>
    <p:sldLayoutId id="2147483969" r:id="rId92"/>
    <p:sldLayoutId id="2147483970" r:id="rId93"/>
    <p:sldLayoutId id="2147483971" r:id="rId94"/>
    <p:sldLayoutId id="2147483701" r:id="rId95"/>
    <p:sldLayoutId id="2147483702" r:id="rId96"/>
    <p:sldLayoutId id="2147483703" r:id="rId97"/>
    <p:sldLayoutId id="2147483704" r:id="rId98"/>
    <p:sldLayoutId id="2147483797" r:id="rId99"/>
    <p:sldLayoutId id="2147483798" r:id="rId100"/>
    <p:sldLayoutId id="2147483799" r:id="rId101"/>
    <p:sldLayoutId id="2147483706" r:id="rId102"/>
    <p:sldLayoutId id="2147484023" r:id="rId103"/>
    <p:sldLayoutId id="2147483707" r:id="rId104"/>
    <p:sldLayoutId id="2147483945" r:id="rId105"/>
    <p:sldLayoutId id="2147483932" r:id="rId106"/>
    <p:sldLayoutId id="2147483934" r:id="rId107"/>
    <p:sldLayoutId id="2147483935" r:id="rId108"/>
    <p:sldLayoutId id="2147483936" r:id="rId109"/>
    <p:sldLayoutId id="2147483961" r:id="rId110"/>
    <p:sldLayoutId id="2147483962" r:id="rId111"/>
    <p:sldLayoutId id="2147483847" r:id="rId112"/>
    <p:sldLayoutId id="2147484014" r:id="rId113"/>
    <p:sldLayoutId id="2147484031" r:id="rId114"/>
    <p:sldLayoutId id="2147484032" r:id="rId115"/>
    <p:sldLayoutId id="2147484033" r:id="rId116"/>
    <p:sldLayoutId id="2147484034" r:id="rId117"/>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914309" rtl="0" eaLnBrk="1" latinLnBrk="0" hangingPunct="1">
        <a:lnSpc>
          <a:spcPct val="90000"/>
        </a:lnSpc>
        <a:spcBef>
          <a:spcPct val="0"/>
        </a:spcBef>
        <a:buNone/>
        <a:defRPr sz="24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228577" indent="-228577" algn="l" defTabSz="914309" rtl="0" eaLnBrk="1" latinLnBrk="0" hangingPunct="1">
        <a:lnSpc>
          <a:spcPct val="90000"/>
        </a:lnSpc>
        <a:spcBef>
          <a:spcPts val="1000"/>
        </a:spcBef>
        <a:buFont typeface="NVIDIA Sans" panose="020B0503020203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NVIDIA Sans" panose="020B0503020203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NVIDIA Sans" panose="020B0503020203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06"/>
        <p:cNvGrpSpPr/>
        <p:nvPr/>
      </p:nvGrpSpPr>
      <p:grpSpPr>
        <a:xfrm>
          <a:off x="0" y="0"/>
          <a:ext cx="0" cy="0"/>
          <a:chOff x="0" y="0"/>
          <a:chExt cx="0" cy="0"/>
        </a:xfrm>
      </p:grpSpPr>
      <p:sp>
        <p:nvSpPr>
          <p:cNvPr id="507" name="Google Shape;507;p58"/>
          <p:cNvSpPr txBox="1">
            <a:spLocks noGrp="1"/>
          </p:cNvSpPr>
          <p:nvPr>
            <p:ph type="title"/>
          </p:nvPr>
        </p:nvSpPr>
        <p:spPr>
          <a:xfrm>
            <a:off x="838200" y="0"/>
            <a:ext cx="10515600" cy="838400"/>
          </a:xfrm>
          <a:prstGeom prst="rect">
            <a:avLst/>
          </a:prstGeom>
          <a:noFill/>
          <a:ln>
            <a:noFill/>
          </a:ln>
        </p:spPr>
        <p:txBody>
          <a:bodyPr spcFirstLastPara="1" wrap="square" lIns="68575" tIns="34275" rIns="68575" bIns="34275" anchor="b" anchorCtr="0">
            <a:normAutofit/>
          </a:bodyPr>
          <a:lstStyle>
            <a:lvl1pPr marR="0" lvl="0" algn="ctr">
              <a:lnSpc>
                <a:spcPct val="90000"/>
              </a:lnSpc>
              <a:spcBef>
                <a:spcPts val="0"/>
              </a:spcBef>
              <a:spcAft>
                <a:spcPts val="0"/>
              </a:spcAft>
              <a:buClr>
                <a:schemeClr val="lt1"/>
              </a:buClr>
              <a:buSzPts val="1800"/>
              <a:buFont typeface="NVIDIA Sans"/>
              <a:buNone/>
              <a:defRPr sz="1800" b="1" i="0" u="none" strike="noStrike" cap="none">
                <a:solidFill>
                  <a:schemeClr val="lt1"/>
                </a:solidFill>
                <a:latin typeface="NVIDIA Sans"/>
                <a:ea typeface="NVIDIA Sans"/>
                <a:cs typeface="NVIDIA Sans"/>
                <a:sym typeface="NVIDIA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grpSp>
        <p:nvGrpSpPr>
          <p:cNvPr id="508" name="Google Shape;508;p58"/>
          <p:cNvGrpSpPr/>
          <p:nvPr/>
        </p:nvGrpSpPr>
        <p:grpSpPr>
          <a:xfrm>
            <a:off x="11353804" y="6501479"/>
            <a:ext cx="838184" cy="357637"/>
            <a:chOff x="34061399" y="19504414"/>
            <a:chExt cx="2514553" cy="1072912"/>
          </a:xfrm>
        </p:grpSpPr>
        <p:sp>
          <p:nvSpPr>
            <p:cNvPr id="509" name="Google Shape;509;p58"/>
            <p:cNvSpPr/>
            <p:nvPr/>
          </p:nvSpPr>
          <p:spPr>
            <a:xfrm>
              <a:off x="36420552" y="19687526"/>
              <a:ext cx="155400" cy="8898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None/>
              </a:pPr>
              <a:endParaRPr sz="1333" b="0" i="0" u="none" strike="noStrike" cap="none">
                <a:solidFill>
                  <a:schemeClr val="dk1"/>
                </a:solidFill>
                <a:latin typeface="NVIDIA Sans"/>
                <a:ea typeface="NVIDIA Sans"/>
                <a:cs typeface="NVIDIA Sans"/>
                <a:sym typeface="NVIDIA Sans"/>
              </a:endParaRPr>
            </a:p>
          </p:txBody>
        </p:sp>
        <p:pic>
          <p:nvPicPr>
            <p:cNvPr id="510" name="Google Shape;510;p58" descr="A picture containing shape&#10;&#10;Description automatically generated"/>
            <p:cNvPicPr preferRelativeResize="0"/>
            <p:nvPr/>
          </p:nvPicPr>
          <p:blipFill rotWithShape="1">
            <a:blip r:embed="rId11">
              <a:alphaModFix/>
            </a:blip>
            <a:srcRect/>
            <a:stretch/>
          </p:blipFill>
          <p:spPr>
            <a:xfrm>
              <a:off x="34061399" y="19504414"/>
              <a:ext cx="2003438" cy="690237"/>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4018" r:id="rId1"/>
    <p:sldLayoutId id="2147483800" r:id="rId2"/>
    <p:sldLayoutId id="2147484015" r:id="rId3"/>
    <p:sldLayoutId id="2147484026" r:id="rId4"/>
    <p:sldLayoutId id="2147484027" r:id="rId5"/>
    <p:sldLayoutId id="2147484028" r:id="rId6"/>
    <p:sldLayoutId id="2147484029" r:id="rId7"/>
    <p:sldLayoutId id="2147484030" r:id="rId8"/>
    <p:sldLayoutId id="214748403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microsoft.com/office/2018/10/relationships/comments" Target="../comments/modernComment_13F_2ABF32F6.xml"/><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132_1D884A98.xml"/><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8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www.zendata.dev/post/understanding-personally-identifiable-information" TargetMode="External"/><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8_3DE5B97C.xml"/><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18/10/relationships/comments" Target="../comments/modernComment_7FFFFFFF_6C957CDF.xml"/><Relationship Id="rId7"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18.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hyperlink" Target="https://developer.nvidia.com/nemo-guardrails" TargetMode="External"/><Relationship Id="rId9" Type="http://schemas.openxmlformats.org/officeDocument/2006/relationships/image" Target="../media/image40.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B_D187D4C3.xml"/><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1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8" Type="http://schemas.openxmlformats.org/officeDocument/2006/relationships/hyperlink" Target="https://huggingface.co/blog/nvidia/custom-policy-reasoning-nemotron-content-safety" TargetMode="External"/><Relationship Id="rId13" Type="http://schemas.openxmlformats.org/officeDocument/2006/relationships/hyperlink" Target="https://github.com/Microsoft/presidio" TargetMode="External"/><Relationship Id="rId3" Type="http://schemas.microsoft.com/office/2018/10/relationships/comments" Target="../comments/modernComment_130_FE69E68B.xml"/><Relationship Id="rId7" Type="http://schemas.openxmlformats.org/officeDocument/2006/relationships/hyperlink" Target="http://build.nvidia.com/nvidia/llama-3_1-nemoguard-8b-topic-control" TargetMode="External"/><Relationship Id="rId12" Type="http://schemas.openxmlformats.org/officeDocument/2006/relationships/hyperlink" Target="https://aclanthology.org/2023.acl-long.634.pdf" TargetMode="External"/><Relationship Id="rId2" Type="http://schemas.openxmlformats.org/officeDocument/2006/relationships/notesSlide" Target="../notesSlides/notesSlide7.xml"/><Relationship Id="rId16" Type="http://schemas.openxmlformats.org/officeDocument/2006/relationships/image" Target="../media/image46.png"/><Relationship Id="rId1" Type="http://schemas.openxmlformats.org/officeDocument/2006/relationships/slideLayout" Target="../slideLayouts/slideLayout119.xml"/><Relationship Id="rId6" Type="http://schemas.openxmlformats.org/officeDocument/2006/relationships/hyperlink" Target="https://docs.fiddler.ai/product-guide/llm-monitoring/guardrails" TargetMode="External"/><Relationship Id="rId11" Type="http://schemas.openxmlformats.org/officeDocument/2006/relationships/hyperlink" Target="https://huggingface.co/PatronusAI/Patronus-Lynx-70B-Instruct" TargetMode="External"/><Relationship Id="rId5" Type="http://schemas.openxmlformats.org/officeDocument/2006/relationships/hyperlink" Target="https://www.cisco.com/site/us/en/products/security/ai-defense/index.html?utm_medium=github&amp;amp;utm_campaign=nemo-guardrails" TargetMode="External"/><Relationship Id="rId15" Type="http://schemas.openxmlformats.org/officeDocument/2006/relationships/hyperlink" Target="https://docs.private-ai.com/?utm_medium=github&amp;amp;utm_campaign=nemo-guardrails" TargetMode="External"/><Relationship Id="rId10" Type="http://schemas.openxmlformats.org/officeDocument/2006/relationships/hyperlink" Target="https://ai.google.dev/gemma/docs/shieldgemma" TargetMode="External"/><Relationship Id="rId4" Type="http://schemas.openxmlformats.org/officeDocument/2006/relationships/hyperlink" Target="https://docs.activefence.com/index.html" TargetMode="External"/><Relationship Id="rId9" Type="http://schemas.openxmlformats.org/officeDocument/2006/relationships/hyperlink" Target="https://www.llama.com/docs/model-cards-and-prompt-formats/llama-guard-3/" TargetMode="External"/><Relationship Id="rId14" Type="http://schemas.openxmlformats.org/officeDocument/2006/relationships/hyperlink" Target="https://docs.cloud.google.com/natural-language/docs/moderating-text" TargetMode="External"/></Relationships>
</file>

<file path=ppt/slides/_rels/slide8.xml.rels><?xml version="1.0" encoding="UTF-8" standalone="yes"?>
<Relationships xmlns="http://schemas.openxmlformats.org/package/2006/relationships"><Relationship Id="rId3" Type="http://schemas.microsoft.com/office/2018/10/relationships/comments" Target="../comments/modernComment_11C_708F913D.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A_209E7D8D.xml"/><Relationship Id="rId2" Type="http://schemas.openxmlformats.org/officeDocument/2006/relationships/notesSlide" Target="../notesSlides/notesSlide9.xml"/><Relationship Id="rId1" Type="http://schemas.openxmlformats.org/officeDocument/2006/relationships/slideLayout" Target="../slideLayouts/slideLayout119.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C_CC87E133.xml"/><Relationship Id="rId2" Type="http://schemas.openxmlformats.org/officeDocument/2006/relationships/notesSlide" Target="../notesSlides/notesSlide10.xml"/><Relationship Id="rId1" Type="http://schemas.openxmlformats.org/officeDocument/2006/relationships/slideLayout" Target="../slideLayouts/slideLayout122.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E_44220798.xm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3C_6B67BC6.xml"/><Relationship Id="rId7"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50.png"/><Relationship Id="rId4" Type="http://schemas.openxmlformats.org/officeDocument/2006/relationships/image" Target="../media/image49.jpe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60.png"/><Relationship Id="rId3" Type="http://schemas.microsoft.com/office/2018/10/relationships/comments" Target="../comments/modernComment_128_48D3E297.xml"/><Relationship Id="rId7"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33.xml"/><Relationship Id="rId6" Type="http://schemas.openxmlformats.org/officeDocument/2006/relationships/image" Target="../media/image47.png"/><Relationship Id="rId5" Type="http://schemas.openxmlformats.org/officeDocument/2006/relationships/image" Target="../media/image36.png"/><Relationship Id="rId4" Type="http://schemas.openxmlformats.org/officeDocument/2006/relationships/image" Target="../media/image58.png"/><Relationship Id="rId9" Type="http://schemas.openxmlformats.org/officeDocument/2006/relationships/hyperlink" Target="https://docs.nvidia.com/nemo/microservices/latest/about/core-concepts/safe-synthesizer.html"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11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23_CBB59A1C.xml"/><Relationship Id="rId2" Type="http://schemas.openxmlformats.org/officeDocument/2006/relationships/notesSlide" Target="../notesSlides/notesSlide16.xml"/><Relationship Id="rId1" Type="http://schemas.openxmlformats.org/officeDocument/2006/relationships/slideLayout" Target="../slideLayouts/slideLayout114.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07_EA3EDD04.xml"/><Relationship Id="rId2" Type="http://schemas.openxmlformats.org/officeDocument/2006/relationships/notesSlide" Target="../notesSlides/notesSlide17.xml"/><Relationship Id="rId1" Type="http://schemas.openxmlformats.org/officeDocument/2006/relationships/slideLayout" Target="../slideLayouts/slideLayout33.xml"/><Relationship Id="rId5" Type="http://schemas.openxmlformats.org/officeDocument/2006/relationships/image" Target="../media/image70.svg"/><Relationship Id="rId4" Type="http://schemas.openxmlformats.org/officeDocument/2006/relationships/image" Target="../media/image69.jpeg"/></Relationships>
</file>

<file path=ppt/slides/_rels/slide18.xml.rels><?xml version="1.0" encoding="UTF-8" standalone="yes"?>
<Relationships xmlns="http://schemas.openxmlformats.org/package/2006/relationships"><Relationship Id="rId3" Type="http://schemas.microsoft.com/office/2018/10/relationships/comments" Target="../comments/modernComment_125_863B85BF.xml"/><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31_71F1783B.xml"/><Relationship Id="rId2" Type="http://schemas.openxmlformats.org/officeDocument/2006/relationships/notesSlide" Target="../notesSlides/notesSlide19.xml"/><Relationship Id="rId1" Type="http://schemas.openxmlformats.org/officeDocument/2006/relationships/slideLayout" Target="../slideLayouts/slideLayout33.xml"/><Relationship Id="rId4" Type="http://schemas.openxmlformats.org/officeDocument/2006/relationships/image" Target="../media/image71.png"/></Relationships>
</file>

<file path=ppt/slides/_rels/slide20.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hyperlink" Target="https://www.nvidia.com/en-us/data-center/products/ai-enterprise/" TargetMode="External"/><Relationship Id="rId3" Type="http://schemas.microsoft.com/office/2018/10/relationships/comments" Target="../comments/modernComment_110_34CB6721.xml"/><Relationship Id="rId7" Type="http://schemas.microsoft.com/office/2007/relationships/hdphoto" Target="../media/hdphoto1.wdp"/><Relationship Id="rId12" Type="http://schemas.openxmlformats.org/officeDocument/2006/relationships/hyperlink" Target="https://build.nvidia.com/explore/safety-moderation" TargetMode="External"/><Relationship Id="rId2" Type="http://schemas.openxmlformats.org/officeDocument/2006/relationships/notesSlide" Target="../notesSlides/notesSlide20.xml"/><Relationship Id="rId1" Type="http://schemas.openxmlformats.org/officeDocument/2006/relationships/slideLayout" Target="../slideLayouts/slideLayout125.xml"/><Relationship Id="rId6" Type="http://schemas.openxmlformats.org/officeDocument/2006/relationships/image" Target="../media/image73.png"/><Relationship Id="rId11" Type="http://schemas.openxmlformats.org/officeDocument/2006/relationships/hyperlink" Target="https://huggingface.co/collections/nvidia/nemoguard" TargetMode="External"/><Relationship Id="rId5" Type="http://schemas.openxmlformats.org/officeDocument/2006/relationships/image" Target="../media/image72.png"/><Relationship Id="rId10" Type="http://schemas.openxmlformats.org/officeDocument/2006/relationships/hyperlink" Target="https://brev.nvidia.com/launchable/deploy?launchableID=e%20nv-37wipAuAptYmhMzmPiS2DJj7aL3%E2%80%8B%E2%80%8B%20%20%E2%80%8B" TargetMode="External"/><Relationship Id="rId4" Type="http://schemas.openxmlformats.org/officeDocument/2006/relationships/image" Target="../media/image34.png"/><Relationship Id="rId9" Type="http://schemas.openxmlformats.org/officeDocument/2006/relationships/hyperlink" Target="https://github.com/NVIDIA-NeMo/NeMo"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catalog.ngc.nvidia.com/orgs/nvidia/teams/nemo-microservices/containers/auditor?version=25.12" TargetMode="External"/><Relationship Id="rId3" Type="http://schemas.openxmlformats.org/officeDocument/2006/relationships/hyperlink" Target="https://catalog.ngc.nvidia.com/orgs/nvidia/teams/nemo-microservices/containers/safe-synthesizer?version=25.12" TargetMode="External"/><Relationship Id="rId7" Type="http://schemas.openxmlformats.org/officeDocument/2006/relationships/hyperlink" Target="https://github.com/NVIDIA/garak" TargetMode="External"/><Relationship Id="rId2" Type="http://schemas.openxmlformats.org/officeDocument/2006/relationships/notesSlide" Target="../notesSlides/notesSlide21.xml"/><Relationship Id="rId1" Type="http://schemas.openxmlformats.org/officeDocument/2006/relationships/slideLayout" Target="../slideLayouts/slideLayout125.xml"/><Relationship Id="rId6" Type="http://schemas.openxmlformats.org/officeDocument/2006/relationships/hyperlink" Target="https://docs.nvidia.com/nemo/microservices/latest/set-up/deploy-as-microservices/guardrails/gcp-installation.html" TargetMode="External"/><Relationship Id="rId5" Type="http://schemas.openxmlformats.org/officeDocument/2006/relationships/hyperlink" Target="https://catalog.ngc.nvidia.com/orgs/nvidia/teams/nemo-microservices/containers/guardrails?version=25.09" TargetMode="External"/><Relationship Id="rId4" Type="http://schemas.openxmlformats.org/officeDocument/2006/relationships/hyperlink" Target="https://github.com/NVIDIA-NeMo/Guardrails"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huggingface.co/nvidia/NemoGuard-JailbreakDetect" TargetMode="External"/><Relationship Id="rId13" Type="http://schemas.openxmlformats.org/officeDocument/2006/relationships/hyperlink" Target="https://huggingface.co/datasets/nvidia/Aegis-AI-Content-Safety-Dataset-2.0" TargetMode="External"/><Relationship Id="rId18" Type="http://schemas.openxmlformats.org/officeDocument/2006/relationships/hyperlink" Target="https://huggingface.co/nvidia/Nemotron-Content-Safety-Reasoning-4B" TargetMode="External"/><Relationship Id="rId3" Type="http://schemas.openxmlformats.org/officeDocument/2006/relationships/hyperlink" Target="https://developer.nvidia.com/blog/how-to-safeguard-ai-agents-for-customer-service-with-nvidia-nemo-guardrails/" TargetMode="External"/><Relationship Id="rId21" Type="http://schemas.openxmlformats.org/officeDocument/2006/relationships/hyperlink" Target="https://huggingface.co/blog/nvidia/nemotron-pii" TargetMode="External"/><Relationship Id="rId7" Type="http://schemas.openxmlformats.org/officeDocument/2006/relationships/hyperlink" Target="https://build.nvidia.com/nvidia/llama-3_1-nemoguard-8b-topic-control" TargetMode="External"/><Relationship Id="rId12" Type="http://schemas.openxmlformats.org/officeDocument/2006/relationships/hyperlink" Target="https://huggingface.co/nvidia/Llama-3.1-Nemotron-Safety-Guard-8B-v3" TargetMode="External"/><Relationship Id="rId17" Type="http://schemas.openxmlformats.org/officeDocument/2006/relationships/hyperlink" Target="https://arxiv.org/abs/2505.20087" TargetMode="External"/><Relationship Id="rId2" Type="http://schemas.openxmlformats.org/officeDocument/2006/relationships/notesSlide" Target="../notesSlides/notesSlide22.xml"/><Relationship Id="rId16" Type="http://schemas.openxmlformats.org/officeDocument/2006/relationships/hyperlink" Target="https://huggingface.co/blog/nvidia/custom-policy-reasoning-nemotron-content-safety" TargetMode="External"/><Relationship Id="rId20" Type="http://schemas.openxmlformats.org/officeDocument/2006/relationships/hyperlink" Target="https://build.nvidia.com/nvidia/nemotron-content-safety-reasoning-4b" TargetMode="External"/><Relationship Id="rId1" Type="http://schemas.openxmlformats.org/officeDocument/2006/relationships/slideLayout" Target="../slideLayouts/slideLayout2.xml"/><Relationship Id="rId6" Type="http://schemas.openxmlformats.org/officeDocument/2006/relationships/hyperlink" Target="https://huggingface.co/collections/nvidia/nemoguard-678170a7888b11b28838198c" TargetMode="External"/><Relationship Id="rId11" Type="http://schemas.openxmlformats.org/officeDocument/2006/relationships/hyperlink" Target="https://developer.nvidia.com/blog/develop-specialized-ai-agents-with-new-nvidia-nemotron-vision-rag-and-guardrail-models/" TargetMode="External"/><Relationship Id="rId5" Type="http://schemas.openxmlformats.org/officeDocument/2006/relationships/hyperlink" Target="https://huggingface.co/nvidia/llama-3.1-nemoguard-8b-topic-control" TargetMode="External"/><Relationship Id="rId15" Type="http://schemas.openxmlformats.org/officeDocument/2006/relationships/hyperlink" Target="https://blogs.nvidia.com/blog/neurips-open-source-digital-physical-ai/" TargetMode="External"/><Relationship Id="rId10" Type="http://schemas.openxmlformats.org/officeDocument/2006/relationships/hyperlink" Target="https://build.nvidia.com/nvidia/nemoguard-jailbreak-detect" TargetMode="External"/><Relationship Id="rId19" Type="http://schemas.openxmlformats.org/officeDocument/2006/relationships/hyperlink" Target="https://huggingface.co/datasets/nvidia/Nemotron-Content-Safety-Reasoning-Dataset" TargetMode="External"/><Relationship Id="rId4" Type="http://schemas.openxmlformats.org/officeDocument/2006/relationships/hyperlink" Target="https://arxiv.org/abs/2501.09004" TargetMode="External"/><Relationship Id="rId9" Type="http://schemas.openxmlformats.org/officeDocument/2006/relationships/hyperlink" Target="https://huggingface.co/collections/nvidia/nemoguard" TargetMode="External"/><Relationship Id="rId14" Type="http://schemas.openxmlformats.org/officeDocument/2006/relationships/hyperlink" Target="https://huggingface.co/datasets/nvidia/Nemotron-Safety-Guard-Dataset-v3" TargetMode="External"/><Relationship Id="rId22" Type="http://schemas.openxmlformats.org/officeDocument/2006/relationships/hyperlink" Target="https://huggingface.co/nvidia/gliner-PII"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github.com/NVIDIA/GenerativeAIExamples/blob/main/nemo/NeMo-Guardrails/Parallel_Rails_Tutorial.ipynb" TargetMode="External"/><Relationship Id="rId13" Type="http://schemas.openxmlformats.org/officeDocument/2006/relationships/hyperlink" Target="https://developer.nvidia.com/join-nvidia-developer-program/" TargetMode="External"/><Relationship Id="rId3" Type="http://schemas.microsoft.com/office/2018/10/relationships/comments" Target="../comments/modernComment_113_A5F7CA0A.xml"/><Relationship Id="rId7" Type="http://schemas.openxmlformats.org/officeDocument/2006/relationships/hyperlink" Target="https://docs.nvidia.com/nemo/guardrails/latest/index.html" TargetMode="External"/><Relationship Id="rId12" Type="http://schemas.openxmlformats.org/officeDocument/2006/relationships/hyperlink" Target="http://docs.garak.ai" TargetMode="External"/><Relationship Id="rId2" Type="http://schemas.openxmlformats.org/officeDocument/2006/relationships/notesSlide" Target="../notesSlides/notesSlide23.xml"/><Relationship Id="rId1" Type="http://schemas.openxmlformats.org/officeDocument/2006/relationships/slideLayout" Target="../slideLayouts/slideLayout118.xml"/><Relationship Id="rId6" Type="http://schemas.openxmlformats.org/officeDocument/2006/relationships/hyperlink" Target="https://github.com/NVIDIA/GenerativeAIExamples/tree/main/nemo/NeMo-Safe-Synthesizer" TargetMode="External"/><Relationship Id="rId11" Type="http://schemas.openxmlformats.org/officeDocument/2006/relationships/hyperlink" Target="https://docs.nvidia.com/nemo/microservices/latest/generate-private-synthetic-data/index.html" TargetMode="External"/><Relationship Id="rId5" Type="http://schemas.openxmlformats.org/officeDocument/2006/relationships/hyperlink" Target="https://developer.nvidia.com/blog/how-to-build-a-real-time-voice-agent-with-rag-and-safety-guardrails/" TargetMode="External"/><Relationship Id="rId10" Type="http://schemas.openxmlformats.org/officeDocument/2006/relationships/hyperlink" Target="https://github.com/NVIDIA-NeMo/Guardrails/blob/develop/examples/notebooks/safeguard_ai_virtual_assistant_notebook.ipynb" TargetMode="External"/><Relationship Id="rId4" Type="http://schemas.openxmlformats.org/officeDocument/2006/relationships/hyperlink" Target="https://build.nvidia.com/explore/retrieval" TargetMode="External"/><Relationship Id="rId9" Type="http://schemas.openxmlformats.org/officeDocument/2006/relationships/hyperlink" Target="https://docs.nvidia.com/nemo/guardrails/latest/getting-started/3-demo-use-case/README.html"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669F0-F5A4-CBAF-A02C-FA8162818619}"/>
              </a:ext>
            </a:extLst>
          </p:cNvPr>
          <p:cNvSpPr>
            <a:spLocks noGrp="1"/>
          </p:cNvSpPr>
          <p:nvPr>
            <p:ph type="ctrTitle"/>
          </p:nvPr>
        </p:nvSpPr>
        <p:spPr>
          <a:xfrm>
            <a:off x="504337" y="994526"/>
            <a:ext cx="10076577" cy="1645920"/>
          </a:xfrm>
        </p:spPr>
        <p:txBody>
          <a:bodyPr/>
          <a:lstStyle/>
          <a:p>
            <a:r>
              <a:rPr lang="en-US" sz="2900">
                <a:latin typeface="NVIDIA Sans"/>
                <a:cs typeface="NVIDIA Sans"/>
              </a:rPr>
              <a:t>NVIDIA AI Safety</a:t>
            </a:r>
            <a:endParaRPr lang="en-US" sz="2900"/>
          </a:p>
        </p:txBody>
      </p:sp>
    </p:spTree>
    <p:extLst>
      <p:ext uri="{BB962C8B-B14F-4D97-AF65-F5344CB8AC3E}">
        <p14:creationId xmlns:p14="http://schemas.microsoft.com/office/powerpoint/2010/main" val="1476714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6463-D101-8153-5387-5FDF96352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D7515-8FFB-53A6-9347-3B319B22D200}"/>
              </a:ext>
            </a:extLst>
          </p:cNvPr>
          <p:cNvSpPr>
            <a:spLocks noGrp="1"/>
          </p:cNvSpPr>
          <p:nvPr>
            <p:ph type="title"/>
          </p:nvPr>
        </p:nvSpPr>
        <p:spPr/>
        <p:txBody>
          <a:bodyPr/>
          <a:lstStyle/>
          <a:p>
            <a:r>
              <a:rPr lang="en-US">
                <a:latin typeface="NVIDIA Sans"/>
                <a:cs typeface="NVIDIA Sans"/>
              </a:rPr>
              <a:t>NVIDIA </a:t>
            </a:r>
            <a:r>
              <a:rPr lang="en-US" err="1">
                <a:latin typeface="NVIDIA Sans"/>
                <a:cs typeface="NVIDIA Sans"/>
              </a:rPr>
              <a:t>NeMo</a:t>
            </a:r>
            <a:r>
              <a:rPr lang="en-US">
                <a:latin typeface="NVIDIA Sans"/>
                <a:cs typeface="NVIDIA Sans"/>
              </a:rPr>
              <a:t> Libraries for Agentic AI Safety</a:t>
            </a:r>
            <a:endParaRPr lang="en-US"/>
          </a:p>
        </p:txBody>
      </p:sp>
      <p:sp>
        <p:nvSpPr>
          <p:cNvPr id="3" name="Text Placeholder 2">
            <a:extLst>
              <a:ext uri="{FF2B5EF4-FFF2-40B4-BE49-F238E27FC236}">
                <a16:creationId xmlns:a16="http://schemas.microsoft.com/office/drawing/2014/main" id="{C6D28192-AABA-E846-2269-CB1EBA9C8D54}"/>
              </a:ext>
            </a:extLst>
          </p:cNvPr>
          <p:cNvSpPr>
            <a:spLocks noGrp="1"/>
          </p:cNvSpPr>
          <p:nvPr>
            <p:ph type="body" sz="quarter" idx="10"/>
          </p:nvPr>
        </p:nvSpPr>
        <p:spPr/>
        <p:txBody>
          <a:bodyPr lIns="91440" tIns="45720" rIns="91440" bIns="45720" anchor="t"/>
          <a:lstStyle/>
          <a:p>
            <a:r>
              <a:rPr lang="en-US">
                <a:latin typeface="NVIDIA Sans"/>
                <a:cs typeface="NVIDIA Sans"/>
              </a:rPr>
              <a:t>Make agentic AI production‑ready with integrated data privacy and model security</a:t>
            </a:r>
            <a:endParaRPr lang="en-US"/>
          </a:p>
        </p:txBody>
      </p:sp>
      <p:grpSp>
        <p:nvGrpSpPr>
          <p:cNvPr id="58" name="Group 57">
            <a:extLst>
              <a:ext uri="{FF2B5EF4-FFF2-40B4-BE49-F238E27FC236}">
                <a16:creationId xmlns:a16="http://schemas.microsoft.com/office/drawing/2014/main" id="{801CCE7F-54EE-5C5B-A033-0948053D7CD0}"/>
              </a:ext>
            </a:extLst>
          </p:cNvPr>
          <p:cNvGrpSpPr/>
          <p:nvPr/>
        </p:nvGrpSpPr>
        <p:grpSpPr>
          <a:xfrm rot="5400000" flipH="1">
            <a:off x="8247682" y="881137"/>
            <a:ext cx="2047042" cy="4677868"/>
            <a:chOff x="12591666" y="3512430"/>
            <a:chExt cx="15220781" cy="7131630"/>
          </a:xfrm>
        </p:grpSpPr>
        <p:grpSp>
          <p:nvGrpSpPr>
            <p:cNvPr id="51" name="Group 50">
              <a:extLst>
                <a:ext uri="{FF2B5EF4-FFF2-40B4-BE49-F238E27FC236}">
                  <a16:creationId xmlns:a16="http://schemas.microsoft.com/office/drawing/2014/main" id="{15C9952B-915F-03ED-636B-2F3B0C2C9C31}"/>
                </a:ext>
              </a:extLst>
            </p:cNvPr>
            <p:cNvGrpSpPr/>
            <p:nvPr/>
          </p:nvGrpSpPr>
          <p:grpSpPr>
            <a:xfrm>
              <a:off x="12591666" y="3515613"/>
              <a:ext cx="14970962" cy="1543235"/>
              <a:chOff x="6597559" y="7106530"/>
              <a:chExt cx="14970962" cy="1543235"/>
            </a:xfrm>
          </p:grpSpPr>
          <p:sp>
            <p:nvSpPr>
              <p:cNvPr id="55" name="Google Shape;464;p2">
                <a:extLst>
                  <a:ext uri="{FF2B5EF4-FFF2-40B4-BE49-F238E27FC236}">
                    <a16:creationId xmlns:a16="http://schemas.microsoft.com/office/drawing/2014/main" id="{321EF856-836A-C427-1559-B63A32FF301F}"/>
                  </a:ext>
                </a:extLst>
              </p:cNvPr>
              <p:cNvSpPr/>
              <p:nvPr/>
            </p:nvSpPr>
            <p:spPr>
              <a:xfrm>
                <a:off x="6811671" y="7106530"/>
                <a:ext cx="14756850" cy="537223"/>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56" name="Google Shape;461;p2">
                <a:extLst>
                  <a:ext uri="{FF2B5EF4-FFF2-40B4-BE49-F238E27FC236}">
                    <a16:creationId xmlns:a16="http://schemas.microsoft.com/office/drawing/2014/main" id="{86FCF3E4-F03F-4611-05A5-71A3074D4BF2}"/>
                  </a:ext>
                </a:extLst>
              </p:cNvPr>
              <p:cNvSpPr/>
              <p:nvPr/>
            </p:nvSpPr>
            <p:spPr>
              <a:xfrm rot="5400000" flipV="1">
                <a:off x="6613601" y="7356471"/>
                <a:ext cx="1277252" cy="1309335"/>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none" w="lg" len="lg"/>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57" name="Google Shape;544;p2">
                <a:extLst>
                  <a:ext uri="{FF2B5EF4-FFF2-40B4-BE49-F238E27FC236}">
                    <a16:creationId xmlns:a16="http://schemas.microsoft.com/office/drawing/2014/main" id="{FE85CF4E-FDAF-4527-06E3-24C938C3299D}"/>
                  </a:ext>
                </a:extLst>
              </p:cNvPr>
              <p:cNvSpPr/>
              <p:nvPr/>
            </p:nvSpPr>
            <p:spPr>
              <a:xfrm flipH="1">
                <a:off x="6612422" y="7120836"/>
                <a:ext cx="451531" cy="537223"/>
              </a:xfrm>
              <a:prstGeom prst="arc">
                <a:avLst>
                  <a:gd name="adj1" fmla="val 16200000"/>
                  <a:gd name="adj2" fmla="val 0"/>
                </a:avLst>
              </a:prstGeom>
              <a:noFill/>
              <a:ln w="6350" cap="flat" cmpd="sng">
                <a:solidFill>
                  <a:schemeClr val="accent4"/>
                </a:solidFill>
                <a:prstDash val="solid"/>
                <a:round/>
                <a:headEnd type="none" w="lg" len="lg"/>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grpSp>
        <p:grpSp>
          <p:nvGrpSpPr>
            <p:cNvPr id="52" name="Group 51">
              <a:extLst>
                <a:ext uri="{FF2B5EF4-FFF2-40B4-BE49-F238E27FC236}">
                  <a16:creationId xmlns:a16="http://schemas.microsoft.com/office/drawing/2014/main" id="{E8835716-FEDB-8E34-703F-E916F65596DA}"/>
                </a:ext>
              </a:extLst>
            </p:cNvPr>
            <p:cNvGrpSpPr/>
            <p:nvPr/>
          </p:nvGrpSpPr>
          <p:grpSpPr>
            <a:xfrm rot="5400000">
              <a:off x="23799311" y="6630924"/>
              <a:ext cx="7131630" cy="894642"/>
              <a:chOff x="14275882" y="6246741"/>
              <a:chExt cx="7131630" cy="894642"/>
            </a:xfrm>
          </p:grpSpPr>
          <p:sp>
            <p:nvSpPr>
              <p:cNvPr id="53" name="Google Shape;464;p2">
                <a:extLst>
                  <a:ext uri="{FF2B5EF4-FFF2-40B4-BE49-F238E27FC236}">
                    <a16:creationId xmlns:a16="http://schemas.microsoft.com/office/drawing/2014/main" id="{5AF20141-CBE4-216E-5C78-36247B7C52BD}"/>
                  </a:ext>
                </a:extLst>
              </p:cNvPr>
              <p:cNvSpPr/>
              <p:nvPr/>
            </p:nvSpPr>
            <p:spPr>
              <a:xfrm>
                <a:off x="14482640" y="6246741"/>
                <a:ext cx="6924872" cy="894642"/>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triangle" w="lg" len="lg"/>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54" name="Google Shape;544;p2">
                <a:extLst>
                  <a:ext uri="{FF2B5EF4-FFF2-40B4-BE49-F238E27FC236}">
                    <a16:creationId xmlns:a16="http://schemas.microsoft.com/office/drawing/2014/main" id="{1B5C5DA7-DC0F-BC5D-8560-A44419F1E13B}"/>
                  </a:ext>
                </a:extLst>
              </p:cNvPr>
              <p:cNvSpPr/>
              <p:nvPr/>
            </p:nvSpPr>
            <p:spPr>
              <a:xfrm flipH="1">
                <a:off x="14275882" y="6248122"/>
                <a:ext cx="451531" cy="537223"/>
              </a:xfrm>
              <a:prstGeom prst="arc">
                <a:avLst>
                  <a:gd name="adj1" fmla="val 16200000"/>
                  <a:gd name="adj2" fmla="val 0"/>
                </a:avLst>
              </a:prstGeom>
              <a:noFill/>
              <a:ln w="6350" cap="flat" cmpd="sng">
                <a:solidFill>
                  <a:schemeClr val="accent4"/>
                </a:solidFill>
                <a:prstDash val="solid"/>
                <a:round/>
                <a:headEnd type="none" w="lg" len="lg"/>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grpSp>
      </p:grpSp>
      <p:grpSp>
        <p:nvGrpSpPr>
          <p:cNvPr id="79" name="Group 78">
            <a:extLst>
              <a:ext uri="{FF2B5EF4-FFF2-40B4-BE49-F238E27FC236}">
                <a16:creationId xmlns:a16="http://schemas.microsoft.com/office/drawing/2014/main" id="{5F1A1E48-36EC-AD80-7088-B7394F7ADC18}"/>
              </a:ext>
            </a:extLst>
          </p:cNvPr>
          <p:cNvGrpSpPr/>
          <p:nvPr/>
        </p:nvGrpSpPr>
        <p:grpSpPr>
          <a:xfrm rot="-5400000" flipH="1">
            <a:off x="1683994" y="967368"/>
            <a:ext cx="2061356" cy="4594589"/>
            <a:chOff x="12591667" y="3512429"/>
            <a:chExt cx="15220776" cy="5878077"/>
          </a:xfrm>
        </p:grpSpPr>
        <p:grpSp>
          <p:nvGrpSpPr>
            <p:cNvPr id="72" name="Group 71">
              <a:extLst>
                <a:ext uri="{FF2B5EF4-FFF2-40B4-BE49-F238E27FC236}">
                  <a16:creationId xmlns:a16="http://schemas.microsoft.com/office/drawing/2014/main" id="{AFECC253-6611-17A7-6138-9A8C7EC98261}"/>
                </a:ext>
              </a:extLst>
            </p:cNvPr>
            <p:cNvGrpSpPr/>
            <p:nvPr/>
          </p:nvGrpSpPr>
          <p:grpSpPr>
            <a:xfrm>
              <a:off x="12591667" y="3515613"/>
              <a:ext cx="14970961" cy="5874893"/>
              <a:chOff x="6597560" y="7106530"/>
              <a:chExt cx="14970961" cy="5874893"/>
            </a:xfrm>
          </p:grpSpPr>
          <p:sp>
            <p:nvSpPr>
              <p:cNvPr id="76" name="Google Shape;464;p2">
                <a:extLst>
                  <a:ext uri="{FF2B5EF4-FFF2-40B4-BE49-F238E27FC236}">
                    <a16:creationId xmlns:a16="http://schemas.microsoft.com/office/drawing/2014/main" id="{3A2E51AF-A59C-F30D-01B4-84F7D23CAEA9}"/>
                  </a:ext>
                </a:extLst>
              </p:cNvPr>
              <p:cNvSpPr/>
              <p:nvPr/>
            </p:nvSpPr>
            <p:spPr>
              <a:xfrm>
                <a:off x="6811671" y="7106530"/>
                <a:ext cx="14756850" cy="537223"/>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77" name="Google Shape;461;p2">
                <a:extLst>
                  <a:ext uri="{FF2B5EF4-FFF2-40B4-BE49-F238E27FC236}">
                    <a16:creationId xmlns:a16="http://schemas.microsoft.com/office/drawing/2014/main" id="{85F2D28B-1234-BF2B-602A-DCA2D5B4B7E1}"/>
                  </a:ext>
                </a:extLst>
              </p:cNvPr>
              <p:cNvSpPr/>
              <p:nvPr/>
            </p:nvSpPr>
            <p:spPr>
              <a:xfrm rot="5400000" flipV="1">
                <a:off x="4018872" y="9951200"/>
                <a:ext cx="5608911" cy="451536"/>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none" w="lg" len="lg"/>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78" name="Google Shape;544;p2">
                <a:extLst>
                  <a:ext uri="{FF2B5EF4-FFF2-40B4-BE49-F238E27FC236}">
                    <a16:creationId xmlns:a16="http://schemas.microsoft.com/office/drawing/2014/main" id="{BCE72E67-6D49-AF0C-3895-323C7DB916DF}"/>
                  </a:ext>
                </a:extLst>
              </p:cNvPr>
              <p:cNvSpPr/>
              <p:nvPr/>
            </p:nvSpPr>
            <p:spPr>
              <a:xfrm flipH="1">
                <a:off x="6612422" y="7120836"/>
                <a:ext cx="451531" cy="537223"/>
              </a:xfrm>
              <a:prstGeom prst="arc">
                <a:avLst>
                  <a:gd name="adj1" fmla="val 16200000"/>
                  <a:gd name="adj2" fmla="val 0"/>
                </a:avLst>
              </a:prstGeom>
              <a:noFill/>
              <a:ln w="6350" cap="flat" cmpd="sng">
                <a:solidFill>
                  <a:schemeClr val="accent4"/>
                </a:solidFill>
                <a:prstDash val="solid"/>
                <a:round/>
                <a:headEnd type="none" w="lg" len="lg"/>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grpSp>
        <p:grpSp>
          <p:nvGrpSpPr>
            <p:cNvPr id="73" name="Group 72">
              <a:extLst>
                <a:ext uri="{FF2B5EF4-FFF2-40B4-BE49-F238E27FC236}">
                  <a16:creationId xmlns:a16="http://schemas.microsoft.com/office/drawing/2014/main" id="{8A40DC33-251D-5D38-2696-8C6DA93D0A7D}"/>
                </a:ext>
              </a:extLst>
            </p:cNvPr>
            <p:cNvGrpSpPr/>
            <p:nvPr/>
          </p:nvGrpSpPr>
          <p:grpSpPr>
            <a:xfrm rot="5400000">
              <a:off x="27013355" y="3772916"/>
              <a:ext cx="1059575" cy="538601"/>
              <a:chOff x="14275882" y="6246744"/>
              <a:chExt cx="1059575" cy="538601"/>
            </a:xfrm>
          </p:grpSpPr>
          <p:sp>
            <p:nvSpPr>
              <p:cNvPr id="74" name="Google Shape;464;p2">
                <a:extLst>
                  <a:ext uri="{FF2B5EF4-FFF2-40B4-BE49-F238E27FC236}">
                    <a16:creationId xmlns:a16="http://schemas.microsoft.com/office/drawing/2014/main" id="{FD29A610-A404-7CF2-42F2-3131D91DC4E1}"/>
                  </a:ext>
                </a:extLst>
              </p:cNvPr>
              <p:cNvSpPr/>
              <p:nvPr/>
            </p:nvSpPr>
            <p:spPr>
              <a:xfrm>
                <a:off x="14482640" y="6246744"/>
                <a:ext cx="852817" cy="537223"/>
              </a:xfrm>
              <a:custGeom>
                <a:avLst/>
                <a:gdLst/>
                <a:ahLst/>
                <a:cxnLst/>
                <a:rect l="l" t="t" r="r" b="b"/>
                <a:pathLst>
                  <a:path w="3285066" h="120000" extrusionOk="0">
                    <a:moveTo>
                      <a:pt x="0" y="0"/>
                    </a:moveTo>
                    <a:lnTo>
                      <a:pt x="3285066" y="0"/>
                    </a:lnTo>
                  </a:path>
                </a:pathLst>
              </a:custGeom>
              <a:noFill/>
              <a:ln w="6350" cap="flat" cmpd="sng">
                <a:solidFill>
                  <a:schemeClr val="accent4"/>
                </a:solidFill>
                <a:prstDash val="solid"/>
                <a:round/>
                <a:headEnd type="none" w="sm" len="sm"/>
                <a:tailEnd type="triangle" w="lg" len="lg"/>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sp>
            <p:nvSpPr>
              <p:cNvPr id="75" name="Google Shape;544;p2">
                <a:extLst>
                  <a:ext uri="{FF2B5EF4-FFF2-40B4-BE49-F238E27FC236}">
                    <a16:creationId xmlns:a16="http://schemas.microsoft.com/office/drawing/2014/main" id="{2BF63294-DD61-DF15-5A62-F74D8FF262B7}"/>
                  </a:ext>
                </a:extLst>
              </p:cNvPr>
              <p:cNvSpPr/>
              <p:nvPr/>
            </p:nvSpPr>
            <p:spPr>
              <a:xfrm flipH="1">
                <a:off x="14275882" y="6248122"/>
                <a:ext cx="451531" cy="537223"/>
              </a:xfrm>
              <a:prstGeom prst="arc">
                <a:avLst>
                  <a:gd name="adj1" fmla="val 16200000"/>
                  <a:gd name="adj2" fmla="val 0"/>
                </a:avLst>
              </a:prstGeom>
              <a:noFill/>
              <a:ln w="6350" cap="flat" cmpd="sng">
                <a:solidFill>
                  <a:schemeClr val="accent4"/>
                </a:solidFill>
                <a:prstDash val="solid"/>
                <a:round/>
                <a:headEnd type="none" w="lg" len="lg"/>
                <a:tailEnd type="none" w="sm" len="sm"/>
              </a:ln>
            </p:spPr>
            <p:txBody>
              <a:bodyPr spcFirstLastPara="1" wrap="square" lIns="30475" tIns="15233" rIns="30475" bIns="15233" anchor="ctr" anchorCtr="0">
                <a:noAutofit/>
              </a:bodyPr>
              <a:lstStyle/>
              <a:p>
                <a:pPr algn="ctr" defTabSz="152370">
                  <a:defRPr/>
                </a:pPr>
                <a:endParaRPr sz="600">
                  <a:solidFill>
                    <a:srgbClr val="CDCDCD"/>
                  </a:solidFill>
                  <a:latin typeface="NVIDIA Sans"/>
                  <a:ea typeface="NVIDIA Sans"/>
                  <a:cs typeface="NVIDIA Sans"/>
                  <a:sym typeface="NVIDIA Sans"/>
                </a:endParaRPr>
              </a:p>
            </p:txBody>
          </p:sp>
        </p:grpSp>
      </p:grpSp>
      <p:sp>
        <p:nvSpPr>
          <p:cNvPr id="89" name="TextBox 88">
            <a:extLst>
              <a:ext uri="{FF2B5EF4-FFF2-40B4-BE49-F238E27FC236}">
                <a16:creationId xmlns:a16="http://schemas.microsoft.com/office/drawing/2014/main" id="{698E7635-F28C-88EC-A327-491B7E862CBC}"/>
              </a:ext>
            </a:extLst>
          </p:cNvPr>
          <p:cNvSpPr txBox="1"/>
          <p:nvPr/>
        </p:nvSpPr>
        <p:spPr>
          <a:xfrm>
            <a:off x="11125415" y="3528936"/>
            <a:ext cx="1029230" cy="382247"/>
          </a:xfrm>
          <a:prstGeom prst="rect">
            <a:avLst/>
          </a:prstGeom>
          <a:solidFill>
            <a:schemeClr val="tx1"/>
          </a:solidFill>
        </p:spPr>
        <p:txBody>
          <a:bodyPr wrap="square" lIns="91440" tIns="45720" rIns="91440" bIns="45720" anchor="t">
            <a:spAutoFit/>
          </a:bodyPr>
          <a:lstStyle/>
          <a:p>
            <a:pPr algn="ctr">
              <a:lnSpc>
                <a:spcPct val="90000"/>
              </a:lnSpc>
            </a:pPr>
            <a:r>
              <a:rPr lang="en-US" sz="1000" b="1">
                <a:solidFill>
                  <a:schemeClr val="tx2"/>
                </a:solidFill>
                <a:latin typeface="NVIDIA Sans"/>
                <a:cs typeface="NVIDIA Sans"/>
              </a:rPr>
              <a:t>Specialized AI Agents</a:t>
            </a:r>
          </a:p>
        </p:txBody>
      </p:sp>
      <p:pic>
        <p:nvPicPr>
          <p:cNvPr id="91" name="Google Shape;1317;p17" descr="A green hexagon with black dots&#10;&#10;AI-generated content may be incorrect.">
            <a:extLst>
              <a:ext uri="{FF2B5EF4-FFF2-40B4-BE49-F238E27FC236}">
                <a16:creationId xmlns:a16="http://schemas.microsoft.com/office/drawing/2014/main" id="{F02644A9-CD9D-FD6C-9AF7-4A966EE46725}"/>
              </a:ext>
            </a:extLst>
          </p:cNvPr>
          <p:cNvPicPr preferRelativeResize="0">
            <a:picLocks noChangeAspect="1"/>
          </p:cNvPicPr>
          <p:nvPr/>
        </p:nvPicPr>
        <p:blipFill>
          <a:blip r:embed="rId4">
            <a:extLst>
              <a:ext uri="{28A0092B-C50C-407E-A947-70E740481C1C}">
                <a14:useLocalDpi xmlns:a14="http://schemas.microsoft.com/office/drawing/2010/main" val="0"/>
              </a:ext>
            </a:extLst>
          </a:blip>
          <a:srcRect/>
          <a:stretch/>
        </p:blipFill>
        <p:spPr>
          <a:xfrm>
            <a:off x="-35856" y="2544576"/>
            <a:ext cx="974230" cy="932431"/>
          </a:xfrm>
          <a:prstGeom prst="rect">
            <a:avLst/>
          </a:prstGeom>
          <a:noFill/>
          <a:ln>
            <a:noFill/>
          </a:ln>
        </p:spPr>
      </p:pic>
      <p:sp>
        <p:nvSpPr>
          <p:cNvPr id="93" name="TextBox 92">
            <a:extLst>
              <a:ext uri="{FF2B5EF4-FFF2-40B4-BE49-F238E27FC236}">
                <a16:creationId xmlns:a16="http://schemas.microsoft.com/office/drawing/2014/main" id="{E3C285D2-4C16-B417-CA3B-042170964522}"/>
              </a:ext>
            </a:extLst>
          </p:cNvPr>
          <p:cNvSpPr txBox="1"/>
          <p:nvPr/>
        </p:nvSpPr>
        <p:spPr>
          <a:xfrm>
            <a:off x="17489" y="3435801"/>
            <a:ext cx="861332" cy="230832"/>
          </a:xfrm>
          <a:prstGeom prst="rect">
            <a:avLst/>
          </a:prstGeom>
          <a:solidFill>
            <a:schemeClr val="tx1"/>
          </a:solidFill>
        </p:spPr>
        <p:txBody>
          <a:bodyPr wrap="square" lIns="91440" tIns="45720" rIns="91440" bIns="45720" anchor="t">
            <a:spAutoFit/>
          </a:bodyPr>
          <a:lstStyle/>
          <a:p>
            <a:pPr algn="ctr">
              <a:lnSpc>
                <a:spcPct val="90000"/>
              </a:lnSpc>
            </a:pPr>
            <a:r>
              <a:rPr lang="en-US" sz="1000" b="1" err="1">
                <a:solidFill>
                  <a:schemeClr val="tx2"/>
                </a:solidFill>
                <a:latin typeface="NVIDIA Sans"/>
                <a:cs typeface="NVIDIA Sans"/>
              </a:rPr>
              <a:t>Nemotron</a:t>
            </a:r>
            <a:endParaRPr lang="en-US" sz="1000" b="1">
              <a:solidFill>
                <a:schemeClr val="tx2"/>
              </a:solidFill>
              <a:latin typeface="NVIDIA Sans"/>
              <a:cs typeface="NVIDIA Sans"/>
            </a:endParaRPr>
          </a:p>
        </p:txBody>
      </p:sp>
      <p:pic>
        <p:nvPicPr>
          <p:cNvPr id="96" name="Picture 95" descr="A cartoon of a person with glasses&#10;&#10;AI-generated content may be incorrect.">
            <a:extLst>
              <a:ext uri="{FF2B5EF4-FFF2-40B4-BE49-F238E27FC236}">
                <a16:creationId xmlns:a16="http://schemas.microsoft.com/office/drawing/2014/main" id="{76569314-0EB5-6403-A41D-561C837C0E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31387" y="2323093"/>
            <a:ext cx="1213205" cy="1216605"/>
          </a:xfrm>
          <a:prstGeom prst="rect">
            <a:avLst/>
          </a:prstGeom>
        </p:spPr>
      </p:pic>
      <p:pic>
        <p:nvPicPr>
          <p:cNvPr id="124" name="Picture 123" descr="A computer diagram of a network&#10;&#10;AI-generated content may be incorrect.">
            <a:extLst>
              <a:ext uri="{FF2B5EF4-FFF2-40B4-BE49-F238E27FC236}">
                <a16:creationId xmlns:a16="http://schemas.microsoft.com/office/drawing/2014/main" id="{F6C986F1-B1B1-B5C1-A412-4639006161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93353" y="1242848"/>
            <a:ext cx="2874771" cy="1647269"/>
          </a:xfrm>
          <a:prstGeom prst="rect">
            <a:avLst/>
          </a:prstGeom>
        </p:spPr>
      </p:pic>
      <p:sp>
        <p:nvSpPr>
          <p:cNvPr id="125" name="TextBox 124">
            <a:extLst>
              <a:ext uri="{FF2B5EF4-FFF2-40B4-BE49-F238E27FC236}">
                <a16:creationId xmlns:a16="http://schemas.microsoft.com/office/drawing/2014/main" id="{0971BBC3-166A-E08B-679D-99C3B6BC4E33}"/>
              </a:ext>
            </a:extLst>
          </p:cNvPr>
          <p:cNvSpPr txBox="1"/>
          <p:nvPr/>
        </p:nvSpPr>
        <p:spPr>
          <a:xfrm>
            <a:off x="5551229" y="2643661"/>
            <a:ext cx="1088794" cy="369332"/>
          </a:xfrm>
          <a:prstGeom prst="rect">
            <a:avLst/>
          </a:prstGeom>
          <a:solidFill>
            <a:schemeClr val="tx1"/>
          </a:solidFill>
        </p:spPr>
        <p:txBody>
          <a:bodyPr wrap="square" lIns="91440" tIns="45720" rIns="91440" bIns="45720" anchor="t">
            <a:spAutoFit/>
          </a:bodyPr>
          <a:lstStyle/>
          <a:p>
            <a:pPr algn="ctr">
              <a:lnSpc>
                <a:spcPct val="90000"/>
              </a:lnSpc>
            </a:pPr>
            <a:r>
              <a:rPr lang="en-US" sz="1000" b="1">
                <a:solidFill>
                  <a:schemeClr val="tx2"/>
                </a:solidFill>
                <a:latin typeface="NVIDIA Sans"/>
                <a:cs typeface="NVIDIA Sans"/>
              </a:rPr>
              <a:t>Enterprise AI System</a:t>
            </a:r>
            <a:endParaRPr lang="en-US" b="1">
              <a:solidFill>
                <a:schemeClr val="tx2"/>
              </a:solidFill>
            </a:endParaRPr>
          </a:p>
        </p:txBody>
      </p:sp>
      <p:grpSp>
        <p:nvGrpSpPr>
          <p:cNvPr id="7" name="Group 6">
            <a:extLst>
              <a:ext uri="{FF2B5EF4-FFF2-40B4-BE49-F238E27FC236}">
                <a16:creationId xmlns:a16="http://schemas.microsoft.com/office/drawing/2014/main" id="{2AF413A5-F545-4E96-3F79-98DF8F812BEC}"/>
              </a:ext>
            </a:extLst>
          </p:cNvPr>
          <p:cNvGrpSpPr/>
          <p:nvPr/>
        </p:nvGrpSpPr>
        <p:grpSpPr>
          <a:xfrm>
            <a:off x="1543331" y="3791326"/>
            <a:ext cx="1472848" cy="359768"/>
            <a:chOff x="27765006" y="10413201"/>
            <a:chExt cx="4418544" cy="1079302"/>
          </a:xfrm>
        </p:grpSpPr>
        <p:sp>
          <p:nvSpPr>
            <p:cNvPr id="5" name="TextBox 4">
              <a:extLst>
                <a:ext uri="{FF2B5EF4-FFF2-40B4-BE49-F238E27FC236}">
                  <a16:creationId xmlns:a16="http://schemas.microsoft.com/office/drawing/2014/main" id="{70758E4A-4723-63DE-8241-91CCADBBA579}"/>
                </a:ext>
              </a:extLst>
            </p:cNvPr>
            <p:cNvSpPr txBox="1"/>
            <p:nvPr/>
          </p:nvSpPr>
          <p:spPr>
            <a:xfrm>
              <a:off x="28059327" y="10938506"/>
              <a:ext cx="3862971" cy="553997"/>
            </a:xfrm>
            <a:prstGeom prst="rect">
              <a:avLst/>
            </a:prstGeom>
            <a:noFill/>
          </p:spPr>
          <p:txBody>
            <a:bodyPr wrap="square" lIns="30480" tIns="15240" rIns="30480" bIns="15240" rtlCol="0" anchor="t">
              <a:spAutoFit/>
            </a:bodyPr>
            <a:lstStyle/>
            <a:p>
              <a:pPr algn="ctr" defTabSz="152324">
                <a:defRPr/>
              </a:pPr>
              <a:r>
                <a:rPr lang="en-US" sz="1000">
                  <a:solidFill>
                    <a:srgbClr val="000000">
                      <a:lumMod val="85000"/>
                      <a:lumOff val="15000"/>
                    </a:srgbClr>
                  </a:solidFill>
                  <a:latin typeface="NVIDIA Sans Medium"/>
                  <a:cs typeface="NVIDIA Sans Medium"/>
                  <a:sym typeface="NVIDIA Sans" panose="020B0503020203020204" pitchFamily="34" charset="0"/>
                </a:rPr>
                <a:t>INSTRUMENT</a:t>
              </a:r>
              <a:endPar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endParaRPr>
            </a:p>
          </p:txBody>
        </p:sp>
        <p:sp>
          <p:nvSpPr>
            <p:cNvPr id="6" name="TextBox 5">
              <a:extLst>
                <a:ext uri="{FF2B5EF4-FFF2-40B4-BE49-F238E27FC236}">
                  <a16:creationId xmlns:a16="http://schemas.microsoft.com/office/drawing/2014/main" id="{ED30B522-22BB-35FE-986B-07504D544E05}"/>
                </a:ext>
              </a:extLst>
            </p:cNvPr>
            <p:cNvSpPr txBox="1"/>
            <p:nvPr/>
          </p:nvSpPr>
          <p:spPr>
            <a:xfrm>
              <a:off x="27765006" y="10413201"/>
              <a:ext cx="4418544" cy="738662"/>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Agent Toolkit</a:t>
              </a:r>
              <a:endParaRPr lang="en-US" sz="1000">
                <a:solidFill>
                  <a:srgbClr val="76B900"/>
                </a:solidFill>
                <a:latin typeface="NVIDIA Sans Medium"/>
                <a:cs typeface="NVIDIA Sans Medium"/>
              </a:endParaRPr>
            </a:p>
          </p:txBody>
        </p:sp>
      </p:grpSp>
      <p:pic>
        <p:nvPicPr>
          <p:cNvPr id="9" name="Picture 8" descr="A black background with a black square&#10;&#10;AI-generated content may be incorrect.">
            <a:extLst>
              <a:ext uri="{FF2B5EF4-FFF2-40B4-BE49-F238E27FC236}">
                <a16:creationId xmlns:a16="http://schemas.microsoft.com/office/drawing/2014/main" id="{00438883-8384-01A8-7E55-947FC4732DC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35977" y="3743496"/>
            <a:ext cx="405826" cy="405826"/>
          </a:xfrm>
          <a:prstGeom prst="rect">
            <a:avLst/>
          </a:prstGeom>
        </p:spPr>
      </p:pic>
      <p:grpSp>
        <p:nvGrpSpPr>
          <p:cNvPr id="13" name="Group 12">
            <a:extLst>
              <a:ext uri="{FF2B5EF4-FFF2-40B4-BE49-F238E27FC236}">
                <a16:creationId xmlns:a16="http://schemas.microsoft.com/office/drawing/2014/main" id="{144CB099-94B4-6474-CEBD-9C820D4ADB1F}"/>
              </a:ext>
            </a:extLst>
          </p:cNvPr>
          <p:cNvGrpSpPr/>
          <p:nvPr/>
        </p:nvGrpSpPr>
        <p:grpSpPr>
          <a:xfrm>
            <a:off x="9669443" y="3693550"/>
            <a:ext cx="1348726" cy="436563"/>
            <a:chOff x="21402182" y="10260801"/>
            <a:chExt cx="4046178" cy="1309688"/>
          </a:xfrm>
        </p:grpSpPr>
        <p:sp>
          <p:nvSpPr>
            <p:cNvPr id="11" name="TextBox 10">
              <a:extLst>
                <a:ext uri="{FF2B5EF4-FFF2-40B4-BE49-F238E27FC236}">
                  <a16:creationId xmlns:a16="http://schemas.microsoft.com/office/drawing/2014/main" id="{5EC7FFAD-A1A1-0DE5-4227-E91045928114}"/>
                </a:ext>
              </a:extLst>
            </p:cNvPr>
            <p:cNvSpPr txBox="1"/>
            <p:nvPr/>
          </p:nvSpPr>
          <p:spPr>
            <a:xfrm>
              <a:off x="21402182" y="10831827"/>
              <a:ext cx="3896472" cy="738662"/>
            </a:xfrm>
            <a:prstGeom prst="rect">
              <a:avLst/>
            </a:prstGeom>
            <a:noFill/>
          </p:spPr>
          <p:txBody>
            <a:bodyPr wrap="square" lIns="91440" tIns="45720" rIns="91440" bIns="45720" rtlCol="0" anchor="t">
              <a:spAutoFit/>
            </a:bodyPr>
            <a:lstStyle/>
            <a:p>
              <a:pPr algn="ctr" defTabSz="152324">
                <a:defRPr/>
              </a:pPr>
              <a:r>
                <a:rPr lang="en-US" sz="1000">
                  <a:solidFill>
                    <a:srgbClr val="000000">
                      <a:lumMod val="85000"/>
                      <a:lumOff val="15000"/>
                    </a:srgbClr>
                  </a:solidFill>
                  <a:latin typeface="NVIDIA Sans Medium"/>
                  <a:cs typeface="NVIDIA Sans Medium"/>
                  <a:sym typeface="NVIDIA Sans" panose="020B0503020203020204" pitchFamily="34" charset="0"/>
                </a:rPr>
                <a:t>GUARDRAIL</a:t>
              </a:r>
              <a:endParaRPr lang="en-US" sz="1000">
                <a:solidFill>
                  <a:srgbClr val="000000">
                    <a:lumMod val="85000"/>
                    <a:lumOff val="15000"/>
                  </a:srgbClr>
                </a:solidFill>
                <a:latin typeface="NVIDIA Sans Medium"/>
                <a:cs typeface="NVIDIA Sans Medium"/>
              </a:endParaRPr>
            </a:p>
          </p:txBody>
        </p:sp>
        <p:sp>
          <p:nvSpPr>
            <p:cNvPr id="12" name="TextBox 11">
              <a:extLst>
                <a:ext uri="{FF2B5EF4-FFF2-40B4-BE49-F238E27FC236}">
                  <a16:creationId xmlns:a16="http://schemas.microsoft.com/office/drawing/2014/main" id="{21DD98C3-D452-C45F-AB3E-7FDF17DA6E5A}"/>
                </a:ext>
              </a:extLst>
            </p:cNvPr>
            <p:cNvSpPr txBox="1"/>
            <p:nvPr/>
          </p:nvSpPr>
          <p:spPr>
            <a:xfrm>
              <a:off x="21553058" y="10260801"/>
              <a:ext cx="3895302" cy="738662"/>
            </a:xfrm>
            <a:prstGeom prst="rect">
              <a:avLst/>
            </a:prstGeom>
            <a:noFill/>
          </p:spPr>
          <p:txBody>
            <a:bodyPr wrap="square" rtlCol="0">
              <a:spAutoFit/>
            </a:bodyPr>
            <a:lstStyle/>
            <a:p>
              <a:pPr algn="ctr" defTabSz="152324">
                <a:defRPr/>
              </a:pPr>
              <a:r>
                <a:rPr lang="en-US" sz="1000" err="1">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NeMo</a:t>
              </a:r>
              <a:r>
                <a:rPr lang="en-US" sz="1000">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 Guardrails</a:t>
              </a:r>
            </a:p>
          </p:txBody>
        </p:sp>
      </p:grpSp>
      <p:grpSp>
        <p:nvGrpSpPr>
          <p:cNvPr id="17" name="Group 16">
            <a:extLst>
              <a:ext uri="{FF2B5EF4-FFF2-40B4-BE49-F238E27FC236}">
                <a16:creationId xmlns:a16="http://schemas.microsoft.com/office/drawing/2014/main" id="{A28497B0-FC88-73B5-79B0-A1099419694C}"/>
              </a:ext>
            </a:extLst>
          </p:cNvPr>
          <p:cNvGrpSpPr/>
          <p:nvPr/>
        </p:nvGrpSpPr>
        <p:grpSpPr>
          <a:xfrm>
            <a:off x="7715889" y="3712842"/>
            <a:ext cx="1497532" cy="421087"/>
            <a:chOff x="10819550" y="10375101"/>
            <a:chExt cx="4492596" cy="1263261"/>
          </a:xfrm>
        </p:grpSpPr>
        <p:sp>
          <p:nvSpPr>
            <p:cNvPr id="15" name="TextBox 14">
              <a:extLst>
                <a:ext uri="{FF2B5EF4-FFF2-40B4-BE49-F238E27FC236}">
                  <a16:creationId xmlns:a16="http://schemas.microsoft.com/office/drawing/2014/main" id="{2B88383B-9C5E-9D8D-47F6-CCD8186370E5}"/>
                </a:ext>
              </a:extLst>
            </p:cNvPr>
            <p:cNvSpPr txBox="1"/>
            <p:nvPr/>
          </p:nvSpPr>
          <p:spPr>
            <a:xfrm>
              <a:off x="10819550" y="10899699"/>
              <a:ext cx="3708336" cy="738663"/>
            </a:xfrm>
            <a:prstGeom prst="rect">
              <a:avLst/>
            </a:prstGeom>
            <a:noFill/>
          </p:spPr>
          <p:txBody>
            <a:bodyPr wrap="square" rtlCol="0">
              <a:spAutoFit/>
            </a:bodyPr>
            <a:lstStyle/>
            <a:p>
              <a:pPr algn="ctr" defTabSz="152324">
                <a:defRPr/>
              </a:pPr>
              <a:r>
                <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rPr>
                <a:t>IMPROVE</a:t>
              </a:r>
            </a:p>
          </p:txBody>
        </p:sp>
        <p:sp>
          <p:nvSpPr>
            <p:cNvPr id="16" name="TextBox 15">
              <a:extLst>
                <a:ext uri="{FF2B5EF4-FFF2-40B4-BE49-F238E27FC236}">
                  <a16:creationId xmlns:a16="http://schemas.microsoft.com/office/drawing/2014/main" id="{2BF87DD7-CED9-B493-EE9F-2BA975C2577F}"/>
                </a:ext>
              </a:extLst>
            </p:cNvPr>
            <p:cNvSpPr txBox="1"/>
            <p:nvPr/>
          </p:nvSpPr>
          <p:spPr>
            <a:xfrm>
              <a:off x="10831874" y="10375101"/>
              <a:ext cx="4480272" cy="738663"/>
            </a:xfrm>
            <a:prstGeom prst="rect">
              <a:avLst/>
            </a:prstGeom>
            <a:noFill/>
          </p:spPr>
          <p:txBody>
            <a:bodyPr wrap="square" rtlCol="0">
              <a:spAutoFit/>
            </a:bodyPr>
            <a:lstStyle/>
            <a:p>
              <a:pPr algn="ctr" defTabSz="152324">
                <a:defRPr/>
              </a:pPr>
              <a:r>
                <a:rPr lang="en-US" sz="1000" err="1">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NeMo</a:t>
              </a:r>
              <a:r>
                <a:rPr lang="en-US" sz="1000">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 Customizer, RL</a:t>
              </a:r>
            </a:p>
          </p:txBody>
        </p:sp>
      </p:grpSp>
      <p:grpSp>
        <p:nvGrpSpPr>
          <p:cNvPr id="21" name="Group 20">
            <a:extLst>
              <a:ext uri="{FF2B5EF4-FFF2-40B4-BE49-F238E27FC236}">
                <a16:creationId xmlns:a16="http://schemas.microsoft.com/office/drawing/2014/main" id="{BC864359-15BD-0FC6-C11D-7177621217B9}"/>
              </a:ext>
            </a:extLst>
          </p:cNvPr>
          <p:cNvGrpSpPr/>
          <p:nvPr/>
        </p:nvGrpSpPr>
        <p:grpSpPr>
          <a:xfrm>
            <a:off x="7744753" y="4473495"/>
            <a:ext cx="1185804" cy="417192"/>
            <a:chOff x="14594516" y="10413201"/>
            <a:chExt cx="3557412" cy="1251576"/>
          </a:xfrm>
        </p:grpSpPr>
        <p:sp>
          <p:nvSpPr>
            <p:cNvPr id="19" name="TextBox 18">
              <a:extLst>
                <a:ext uri="{FF2B5EF4-FFF2-40B4-BE49-F238E27FC236}">
                  <a16:creationId xmlns:a16="http://schemas.microsoft.com/office/drawing/2014/main" id="{78E95CC9-8FF9-BD35-D2DF-0775DDE25FDF}"/>
                </a:ext>
              </a:extLst>
            </p:cNvPr>
            <p:cNvSpPr txBox="1"/>
            <p:nvPr/>
          </p:nvSpPr>
          <p:spPr>
            <a:xfrm>
              <a:off x="14617262" y="10926114"/>
              <a:ext cx="3511923" cy="738663"/>
            </a:xfrm>
            <a:prstGeom prst="rect">
              <a:avLst/>
            </a:prstGeom>
            <a:noFill/>
          </p:spPr>
          <p:txBody>
            <a:bodyPr wrap="square" rtlCol="0">
              <a:spAutoFit/>
            </a:bodyPr>
            <a:lstStyle/>
            <a:p>
              <a:pPr algn="ctr" defTabSz="152324">
                <a:defRPr/>
              </a:pPr>
              <a:r>
                <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rPr>
                <a:t>EVALUATE</a:t>
              </a:r>
            </a:p>
          </p:txBody>
        </p:sp>
        <p:sp>
          <p:nvSpPr>
            <p:cNvPr id="20" name="TextBox 19">
              <a:extLst>
                <a:ext uri="{FF2B5EF4-FFF2-40B4-BE49-F238E27FC236}">
                  <a16:creationId xmlns:a16="http://schemas.microsoft.com/office/drawing/2014/main" id="{5BD79A8F-FA01-2409-F03C-AB691F2C2B60}"/>
                </a:ext>
              </a:extLst>
            </p:cNvPr>
            <p:cNvSpPr txBox="1"/>
            <p:nvPr/>
          </p:nvSpPr>
          <p:spPr>
            <a:xfrm>
              <a:off x="14594516" y="10413201"/>
              <a:ext cx="3557412" cy="738663"/>
            </a:xfrm>
            <a:prstGeom prst="rect">
              <a:avLst/>
            </a:prstGeom>
            <a:noFill/>
          </p:spPr>
          <p:txBody>
            <a:bodyPr wrap="square" rtlCol="0">
              <a:spAutoFit/>
            </a:bodyPr>
            <a:lstStyle/>
            <a:p>
              <a:pPr algn="ctr" defTabSz="152324">
                <a:defRPr/>
              </a:pPr>
              <a:r>
                <a:rPr lang="en-US" sz="1000" err="1">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NeMo</a:t>
              </a:r>
              <a:r>
                <a:rPr lang="en-US" sz="1000">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 Evaluator</a:t>
              </a:r>
            </a:p>
          </p:txBody>
        </p:sp>
      </p:grpSp>
      <p:grpSp>
        <p:nvGrpSpPr>
          <p:cNvPr id="25" name="Group 24">
            <a:extLst>
              <a:ext uri="{FF2B5EF4-FFF2-40B4-BE49-F238E27FC236}">
                <a16:creationId xmlns:a16="http://schemas.microsoft.com/office/drawing/2014/main" id="{7C3BA689-1DFB-C2BF-5F8A-D938B46E6B11}"/>
              </a:ext>
            </a:extLst>
          </p:cNvPr>
          <p:cNvGrpSpPr/>
          <p:nvPr/>
        </p:nvGrpSpPr>
        <p:grpSpPr>
          <a:xfrm>
            <a:off x="1673437" y="4539512"/>
            <a:ext cx="1187236" cy="417359"/>
            <a:chOff x="18079396" y="10413201"/>
            <a:chExt cx="3561709" cy="1252077"/>
          </a:xfrm>
        </p:grpSpPr>
        <p:sp>
          <p:nvSpPr>
            <p:cNvPr id="23" name="TextBox 22">
              <a:extLst>
                <a:ext uri="{FF2B5EF4-FFF2-40B4-BE49-F238E27FC236}">
                  <a16:creationId xmlns:a16="http://schemas.microsoft.com/office/drawing/2014/main" id="{01105DCE-F49A-5CC2-DDD3-A1A2DC5DB7BD}"/>
                </a:ext>
              </a:extLst>
            </p:cNvPr>
            <p:cNvSpPr txBox="1"/>
            <p:nvPr/>
          </p:nvSpPr>
          <p:spPr>
            <a:xfrm>
              <a:off x="18079396" y="10413201"/>
              <a:ext cx="3511921" cy="738663"/>
            </a:xfrm>
            <a:prstGeom prst="rect">
              <a:avLst/>
            </a:prstGeom>
            <a:noFill/>
          </p:spPr>
          <p:txBody>
            <a:bodyPr wrap="square" rtlCol="0">
              <a:spAutoFit/>
            </a:bodyPr>
            <a:lstStyle/>
            <a:p>
              <a:pPr algn="ctr" defTabSz="152324">
                <a:defRPr/>
              </a:pPr>
              <a:r>
                <a:rPr lang="en-US" sz="1000" err="1">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NeMo</a:t>
              </a:r>
              <a:r>
                <a:rPr lang="en-US" sz="1000">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rPr>
                <a:t> Retriever</a:t>
              </a:r>
            </a:p>
          </p:txBody>
        </p:sp>
        <p:sp>
          <p:nvSpPr>
            <p:cNvPr id="24" name="TextBox 23">
              <a:extLst>
                <a:ext uri="{FF2B5EF4-FFF2-40B4-BE49-F238E27FC236}">
                  <a16:creationId xmlns:a16="http://schemas.microsoft.com/office/drawing/2014/main" id="{56BD930E-D530-D9B9-4CF2-81C8DFFA46C5}"/>
                </a:ext>
              </a:extLst>
            </p:cNvPr>
            <p:cNvSpPr txBox="1"/>
            <p:nvPr/>
          </p:nvSpPr>
          <p:spPr>
            <a:xfrm>
              <a:off x="18129184" y="10926615"/>
              <a:ext cx="3511921" cy="738663"/>
            </a:xfrm>
            <a:prstGeom prst="rect">
              <a:avLst/>
            </a:prstGeom>
            <a:noFill/>
          </p:spPr>
          <p:txBody>
            <a:bodyPr wrap="square" rtlCol="0">
              <a:spAutoFit/>
            </a:bodyPr>
            <a:lstStyle/>
            <a:p>
              <a:pPr algn="ctr" defTabSz="152324">
                <a:defRPr/>
              </a:pPr>
              <a:r>
                <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rPr>
                <a:t>LEARN</a:t>
              </a:r>
            </a:p>
          </p:txBody>
        </p:sp>
      </p:grpSp>
      <p:grpSp>
        <p:nvGrpSpPr>
          <p:cNvPr id="31" name="Group 30">
            <a:extLst>
              <a:ext uri="{FF2B5EF4-FFF2-40B4-BE49-F238E27FC236}">
                <a16:creationId xmlns:a16="http://schemas.microsoft.com/office/drawing/2014/main" id="{F32AF039-3A1B-468F-ADD5-FBCF834A2C85}"/>
              </a:ext>
            </a:extLst>
          </p:cNvPr>
          <p:cNvGrpSpPr/>
          <p:nvPr/>
        </p:nvGrpSpPr>
        <p:grpSpPr>
          <a:xfrm>
            <a:off x="3207211" y="4503037"/>
            <a:ext cx="1778859" cy="405826"/>
            <a:chOff x="18774421" y="8773620"/>
            <a:chExt cx="5336576" cy="1217478"/>
          </a:xfrm>
        </p:grpSpPr>
        <p:grpSp>
          <p:nvGrpSpPr>
            <p:cNvPr id="27" name="Group 26">
              <a:extLst>
                <a:ext uri="{FF2B5EF4-FFF2-40B4-BE49-F238E27FC236}">
                  <a16:creationId xmlns:a16="http://schemas.microsoft.com/office/drawing/2014/main" id="{763E28ED-20C4-DCB2-90A5-7421DC23346D}"/>
                </a:ext>
              </a:extLst>
            </p:cNvPr>
            <p:cNvGrpSpPr/>
            <p:nvPr/>
          </p:nvGrpSpPr>
          <p:grpSpPr>
            <a:xfrm>
              <a:off x="19685592" y="8821755"/>
              <a:ext cx="4425405" cy="1145152"/>
              <a:chOff x="3498211" y="10350139"/>
              <a:chExt cx="4425404" cy="1145152"/>
            </a:xfrm>
          </p:grpSpPr>
          <p:sp>
            <p:nvSpPr>
              <p:cNvPr id="29" name="TextBox 28">
                <a:extLst>
                  <a:ext uri="{FF2B5EF4-FFF2-40B4-BE49-F238E27FC236}">
                    <a16:creationId xmlns:a16="http://schemas.microsoft.com/office/drawing/2014/main" id="{540B3C2C-DB4B-049F-99DC-F51B6BA11963}"/>
                  </a:ext>
                </a:extLst>
              </p:cNvPr>
              <p:cNvSpPr txBox="1"/>
              <p:nvPr/>
            </p:nvSpPr>
            <p:spPr>
              <a:xfrm>
                <a:off x="3533890" y="10941293"/>
                <a:ext cx="4389725" cy="553998"/>
              </a:xfrm>
              <a:prstGeom prst="rect">
                <a:avLst/>
              </a:prstGeom>
              <a:noFill/>
            </p:spPr>
            <p:txBody>
              <a:bodyPr wrap="square" lIns="30480" tIns="15240" rIns="30480" bIns="15240" rtlCol="0" anchor="t">
                <a:spAutoFit/>
              </a:bodyPr>
              <a:lstStyle/>
              <a:p>
                <a:pPr algn="ctr" defTabSz="152324">
                  <a:defRPr/>
                </a:pPr>
                <a:r>
                  <a:rPr lang="en-US" sz="1000">
                    <a:solidFill>
                      <a:srgbClr val="000000">
                        <a:lumMod val="85000"/>
                        <a:lumOff val="15000"/>
                      </a:srgbClr>
                    </a:solidFill>
                    <a:latin typeface="NVIDIA Sans Medium"/>
                    <a:cs typeface="NVIDIA Sans Medium"/>
                    <a:sym typeface="NVIDIA Sans" panose="020B0503020203020204" pitchFamily="34" charset="0"/>
                  </a:rPr>
                  <a:t>GENERATE</a:t>
                </a:r>
                <a:endPar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endParaRPr>
              </a:p>
            </p:txBody>
          </p:sp>
          <p:sp>
            <p:nvSpPr>
              <p:cNvPr id="30" name="TextBox 29">
                <a:extLst>
                  <a:ext uri="{FF2B5EF4-FFF2-40B4-BE49-F238E27FC236}">
                    <a16:creationId xmlns:a16="http://schemas.microsoft.com/office/drawing/2014/main" id="{297D004C-061B-EB04-BA4B-C76BAEC245A3}"/>
                  </a:ext>
                </a:extLst>
              </p:cNvPr>
              <p:cNvSpPr txBox="1"/>
              <p:nvPr/>
            </p:nvSpPr>
            <p:spPr>
              <a:xfrm>
                <a:off x="3498211" y="10350139"/>
                <a:ext cx="4389725" cy="738664"/>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Data Designer</a:t>
                </a:r>
              </a:p>
            </p:txBody>
          </p:sp>
        </p:grpSp>
        <p:pic>
          <p:nvPicPr>
            <p:cNvPr id="28" name="Picture 27" descr="A black background with a black square&#10;&#10;AI-generated content may be incorrect.">
              <a:extLst>
                <a:ext uri="{FF2B5EF4-FFF2-40B4-BE49-F238E27FC236}">
                  <a16:creationId xmlns:a16="http://schemas.microsoft.com/office/drawing/2014/main" id="{A3B59B72-D5C0-2A13-C418-9E4D6E9E30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774421" y="8773620"/>
              <a:ext cx="1202550" cy="1217478"/>
            </a:xfrm>
            <a:prstGeom prst="rect">
              <a:avLst/>
            </a:prstGeom>
          </p:spPr>
        </p:pic>
      </p:grpSp>
      <p:pic>
        <p:nvPicPr>
          <p:cNvPr id="33" name="Picture 32" descr="A black background with a black square&#10;&#10;AI-generated content may be incorrect.">
            <a:extLst>
              <a:ext uri="{FF2B5EF4-FFF2-40B4-BE49-F238E27FC236}">
                <a16:creationId xmlns:a16="http://schemas.microsoft.com/office/drawing/2014/main" id="{1FBD0469-4770-7ADD-B39F-9A1CA64DAD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06577" y="3675127"/>
            <a:ext cx="405826" cy="405826"/>
          </a:xfrm>
          <a:prstGeom prst="rect">
            <a:avLst/>
          </a:prstGeom>
        </p:spPr>
      </p:pic>
      <p:grpSp>
        <p:nvGrpSpPr>
          <p:cNvPr id="42" name="Group 41">
            <a:extLst>
              <a:ext uri="{FF2B5EF4-FFF2-40B4-BE49-F238E27FC236}">
                <a16:creationId xmlns:a16="http://schemas.microsoft.com/office/drawing/2014/main" id="{31495BCF-AF85-9E9D-0EA8-CE606F359AF6}"/>
              </a:ext>
            </a:extLst>
          </p:cNvPr>
          <p:cNvGrpSpPr/>
          <p:nvPr/>
        </p:nvGrpSpPr>
        <p:grpSpPr>
          <a:xfrm>
            <a:off x="3222080" y="3740523"/>
            <a:ext cx="1644848" cy="430905"/>
            <a:chOff x="18934066" y="10903564"/>
            <a:chExt cx="4934544" cy="1292715"/>
          </a:xfrm>
        </p:grpSpPr>
        <p:grpSp>
          <p:nvGrpSpPr>
            <p:cNvPr id="35" name="Group 34">
              <a:extLst>
                <a:ext uri="{FF2B5EF4-FFF2-40B4-BE49-F238E27FC236}">
                  <a16:creationId xmlns:a16="http://schemas.microsoft.com/office/drawing/2014/main" id="{6503815D-B55F-6B36-9B2D-F489AA9FB5C3}"/>
                </a:ext>
              </a:extLst>
            </p:cNvPr>
            <p:cNvGrpSpPr/>
            <p:nvPr/>
          </p:nvGrpSpPr>
          <p:grpSpPr>
            <a:xfrm>
              <a:off x="19927972" y="10903564"/>
              <a:ext cx="3940638" cy="1292715"/>
              <a:chOff x="31275596" y="12627105"/>
              <a:chExt cx="3940637" cy="1292717"/>
            </a:xfrm>
          </p:grpSpPr>
          <p:sp>
            <p:nvSpPr>
              <p:cNvPr id="40" name="TextBox 39">
                <a:extLst>
                  <a:ext uri="{FF2B5EF4-FFF2-40B4-BE49-F238E27FC236}">
                    <a16:creationId xmlns:a16="http://schemas.microsoft.com/office/drawing/2014/main" id="{895C3D76-9FB8-3BF7-6814-E1AF387376C4}"/>
                  </a:ext>
                </a:extLst>
              </p:cNvPr>
              <p:cNvSpPr txBox="1"/>
              <p:nvPr/>
            </p:nvSpPr>
            <p:spPr>
              <a:xfrm>
                <a:off x="31298669" y="13181158"/>
                <a:ext cx="3917564" cy="738664"/>
              </a:xfrm>
              <a:prstGeom prst="rect">
                <a:avLst/>
              </a:prstGeom>
              <a:noFill/>
            </p:spPr>
            <p:txBody>
              <a:bodyPr wrap="square" rtlCol="0">
                <a:spAutoFit/>
              </a:bodyPr>
              <a:lstStyle/>
              <a:p>
                <a:pPr algn="ctr" defTabSz="152324">
                  <a:defRPr/>
                </a:pPr>
                <a:r>
                  <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rPr>
                  <a:t>PROCESS</a:t>
                </a:r>
              </a:p>
            </p:txBody>
          </p:sp>
          <p:sp>
            <p:nvSpPr>
              <p:cNvPr id="41" name="TextBox 40">
                <a:extLst>
                  <a:ext uri="{FF2B5EF4-FFF2-40B4-BE49-F238E27FC236}">
                    <a16:creationId xmlns:a16="http://schemas.microsoft.com/office/drawing/2014/main" id="{4CBC5A9D-1BDF-2FD1-FE82-9C77CF602C78}"/>
                  </a:ext>
                </a:extLst>
              </p:cNvPr>
              <p:cNvSpPr txBox="1"/>
              <p:nvPr/>
            </p:nvSpPr>
            <p:spPr>
              <a:xfrm>
                <a:off x="31275596" y="12627105"/>
                <a:ext cx="3917564" cy="738664"/>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Curator</a:t>
                </a:r>
              </a:p>
            </p:txBody>
          </p:sp>
        </p:grpSp>
        <p:grpSp>
          <p:nvGrpSpPr>
            <p:cNvPr id="36" name="Group 35">
              <a:extLst>
                <a:ext uri="{FF2B5EF4-FFF2-40B4-BE49-F238E27FC236}">
                  <a16:creationId xmlns:a16="http://schemas.microsoft.com/office/drawing/2014/main" id="{21408DD9-A173-2EC5-3C34-2C7D58B41192}"/>
                </a:ext>
              </a:extLst>
            </p:cNvPr>
            <p:cNvGrpSpPr/>
            <p:nvPr/>
          </p:nvGrpSpPr>
          <p:grpSpPr>
            <a:xfrm>
              <a:off x="18934066" y="10998552"/>
              <a:ext cx="883260" cy="918138"/>
              <a:chOff x="22623173" y="12546641"/>
              <a:chExt cx="733468" cy="762430"/>
            </a:xfrm>
          </p:grpSpPr>
          <p:sp>
            <p:nvSpPr>
              <p:cNvPr id="37" name="Arc 36">
                <a:extLst>
                  <a:ext uri="{FF2B5EF4-FFF2-40B4-BE49-F238E27FC236}">
                    <a16:creationId xmlns:a16="http://schemas.microsoft.com/office/drawing/2014/main" id="{C2396A55-5159-09CF-FFE8-044E7D71DA69}"/>
                  </a:ext>
                </a:extLst>
              </p:cNvPr>
              <p:cNvSpPr/>
              <p:nvPr/>
            </p:nvSpPr>
            <p:spPr>
              <a:xfrm rot="6181985">
                <a:off x="22625727" y="12578156"/>
                <a:ext cx="730914" cy="730915"/>
              </a:xfrm>
              <a:prstGeom prst="arc">
                <a:avLst>
                  <a:gd name="adj1" fmla="val 16200000"/>
                  <a:gd name="adj2" fmla="val 3871784"/>
                </a:avLst>
              </a:prstGeom>
              <a:ln w="158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defTabSz="50784">
                  <a:defRPr/>
                </a:pPr>
                <a:endParaRPr lang="en-US" sz="1000">
                  <a:solidFill>
                    <a:srgbClr val="FFFFFF"/>
                  </a:solidFill>
                  <a:latin typeface="NVIDIA Sans"/>
                  <a:sym typeface="Arial"/>
                </a:endParaRPr>
              </a:p>
            </p:txBody>
          </p:sp>
          <p:sp>
            <p:nvSpPr>
              <p:cNvPr id="38" name="Arc 37">
                <a:extLst>
                  <a:ext uri="{FF2B5EF4-FFF2-40B4-BE49-F238E27FC236}">
                    <a16:creationId xmlns:a16="http://schemas.microsoft.com/office/drawing/2014/main" id="{F34FDB11-8266-4969-71ED-DDECCDF7A60E}"/>
                  </a:ext>
                </a:extLst>
              </p:cNvPr>
              <p:cNvSpPr/>
              <p:nvPr/>
            </p:nvSpPr>
            <p:spPr>
              <a:xfrm rot="17175198">
                <a:off x="22623174" y="12546640"/>
                <a:ext cx="730914" cy="730915"/>
              </a:xfrm>
              <a:prstGeom prst="arc">
                <a:avLst>
                  <a:gd name="adj1" fmla="val 16200000"/>
                  <a:gd name="adj2" fmla="val 3871784"/>
                </a:avLst>
              </a:prstGeom>
              <a:ln w="158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defTabSz="50784">
                  <a:defRPr/>
                </a:pPr>
                <a:endParaRPr lang="en-US" sz="1000">
                  <a:solidFill>
                    <a:srgbClr val="FFFFFF"/>
                  </a:solidFill>
                  <a:latin typeface="NVIDIA Sans"/>
                  <a:sym typeface="Arial"/>
                </a:endParaRPr>
              </a:p>
            </p:txBody>
          </p:sp>
          <p:pic>
            <p:nvPicPr>
              <p:cNvPr id="39" name="Picture 38" descr="A black background with a black square&#10;&#10;AI-generated content may be incorrect.">
                <a:extLst>
                  <a:ext uri="{FF2B5EF4-FFF2-40B4-BE49-F238E27FC236}">
                    <a16:creationId xmlns:a16="http://schemas.microsoft.com/office/drawing/2014/main" id="{FA205803-8B08-2139-8379-956148AEAAE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673319" y="12616657"/>
                <a:ext cx="605101" cy="605102"/>
              </a:xfrm>
              <a:prstGeom prst="rect">
                <a:avLst/>
              </a:prstGeom>
            </p:spPr>
          </p:pic>
        </p:grpSp>
      </p:grpSp>
      <p:pic>
        <p:nvPicPr>
          <p:cNvPr id="44" name="Picture 43" descr="A black background with a black square&#10;&#10;AI-generated content may be incorrect.">
            <a:extLst>
              <a:ext uri="{FF2B5EF4-FFF2-40B4-BE49-F238E27FC236}">
                <a16:creationId xmlns:a16="http://schemas.microsoft.com/office/drawing/2014/main" id="{D499CF51-6880-DE3E-5E68-649BA53BFDF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17642" y="4485578"/>
            <a:ext cx="417099" cy="417100"/>
          </a:xfrm>
          <a:prstGeom prst="rect">
            <a:avLst/>
          </a:prstGeom>
        </p:spPr>
      </p:pic>
      <p:pic>
        <p:nvPicPr>
          <p:cNvPr id="46" name="Picture 45" descr="A black background with a black square&#10;&#10;AI-generated content may be incorrect.">
            <a:extLst>
              <a:ext uri="{FF2B5EF4-FFF2-40B4-BE49-F238E27FC236}">
                <a16:creationId xmlns:a16="http://schemas.microsoft.com/office/drawing/2014/main" id="{E7B3BD5B-CA88-604F-CF6C-D2C60D5BE8E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93877" y="4425556"/>
            <a:ext cx="405826" cy="405826"/>
          </a:xfrm>
          <a:prstGeom prst="rect">
            <a:avLst/>
          </a:prstGeom>
        </p:spPr>
      </p:pic>
      <p:pic>
        <p:nvPicPr>
          <p:cNvPr id="48" name="Picture 47" descr="A black background with a black square&#10;&#10;AI-generated content may be incorrect.">
            <a:extLst>
              <a:ext uri="{FF2B5EF4-FFF2-40B4-BE49-F238E27FC236}">
                <a16:creationId xmlns:a16="http://schemas.microsoft.com/office/drawing/2014/main" id="{D955E5DE-A2FB-0ADA-A2B8-52E0B85FA3A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4777" y="3661718"/>
            <a:ext cx="405826" cy="405825"/>
          </a:xfrm>
          <a:prstGeom prst="rect">
            <a:avLst/>
          </a:prstGeom>
        </p:spPr>
      </p:pic>
      <p:grpSp>
        <p:nvGrpSpPr>
          <p:cNvPr id="60" name="Group 59">
            <a:extLst>
              <a:ext uri="{FF2B5EF4-FFF2-40B4-BE49-F238E27FC236}">
                <a16:creationId xmlns:a16="http://schemas.microsoft.com/office/drawing/2014/main" id="{5B534C07-CD71-9C39-E8E0-E3E19FF41E07}"/>
              </a:ext>
            </a:extLst>
          </p:cNvPr>
          <p:cNvGrpSpPr/>
          <p:nvPr/>
        </p:nvGrpSpPr>
        <p:grpSpPr>
          <a:xfrm>
            <a:off x="5504835" y="4468282"/>
            <a:ext cx="1475135" cy="381717"/>
            <a:chOff x="3498211" y="10350139"/>
            <a:chExt cx="4425404" cy="1145152"/>
          </a:xfrm>
        </p:grpSpPr>
        <p:sp>
          <p:nvSpPr>
            <p:cNvPr id="50" name="TextBox 49">
              <a:extLst>
                <a:ext uri="{FF2B5EF4-FFF2-40B4-BE49-F238E27FC236}">
                  <a16:creationId xmlns:a16="http://schemas.microsoft.com/office/drawing/2014/main" id="{0DF5A020-FF27-23B2-CB3A-CC239B9C0D06}"/>
                </a:ext>
              </a:extLst>
            </p:cNvPr>
            <p:cNvSpPr txBox="1"/>
            <p:nvPr/>
          </p:nvSpPr>
          <p:spPr>
            <a:xfrm>
              <a:off x="3533890" y="10941293"/>
              <a:ext cx="4389725" cy="553998"/>
            </a:xfrm>
            <a:prstGeom prst="rect">
              <a:avLst/>
            </a:prstGeom>
            <a:noFill/>
          </p:spPr>
          <p:txBody>
            <a:bodyPr wrap="square" lIns="30480" tIns="15240" rIns="30480" bIns="15240" rtlCol="0" anchor="t">
              <a:spAutoFit/>
            </a:bodyPr>
            <a:lstStyle/>
            <a:p>
              <a:pPr algn="ctr" defTabSz="152324">
                <a:defRPr/>
              </a:pPr>
              <a:r>
                <a:rPr lang="en-US" sz="1000">
                  <a:solidFill>
                    <a:srgbClr val="000000">
                      <a:lumMod val="85000"/>
                      <a:lumOff val="15000"/>
                    </a:srgbClr>
                  </a:solidFill>
                  <a:latin typeface="NVIDIA Sans Medium"/>
                  <a:cs typeface="NVIDIA Sans Medium"/>
                </a:rPr>
                <a:t>DETECT</a:t>
              </a:r>
              <a:endParaRPr lang="en-US" sz="1000">
                <a:solidFill>
                  <a:srgbClr val="000000">
                    <a:lumMod val="85000"/>
                    <a:lumOff val="15000"/>
                  </a:srgbClr>
                </a:solidFill>
                <a:latin typeface="NVIDIA Sans Medium" panose="020B0503020203020204" pitchFamily="34" charset="0"/>
                <a:cs typeface="NVIDIA Sans Medium" panose="020B0503020203020204" pitchFamily="34" charset="0"/>
              </a:endParaRPr>
            </a:p>
          </p:txBody>
        </p:sp>
        <p:sp>
          <p:nvSpPr>
            <p:cNvPr id="59" name="TextBox 58">
              <a:extLst>
                <a:ext uri="{FF2B5EF4-FFF2-40B4-BE49-F238E27FC236}">
                  <a16:creationId xmlns:a16="http://schemas.microsoft.com/office/drawing/2014/main" id="{120C1FA7-F9EB-BDA7-425B-B1CAE3B2E8DE}"/>
                </a:ext>
              </a:extLst>
            </p:cNvPr>
            <p:cNvSpPr txBox="1"/>
            <p:nvPr/>
          </p:nvSpPr>
          <p:spPr>
            <a:xfrm>
              <a:off x="3498211" y="10350139"/>
              <a:ext cx="4389725" cy="738664"/>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Anonymizer</a:t>
              </a:r>
            </a:p>
          </p:txBody>
        </p:sp>
      </p:grpSp>
      <p:grpSp>
        <p:nvGrpSpPr>
          <p:cNvPr id="64" name="Group 63">
            <a:extLst>
              <a:ext uri="{FF2B5EF4-FFF2-40B4-BE49-F238E27FC236}">
                <a16:creationId xmlns:a16="http://schemas.microsoft.com/office/drawing/2014/main" id="{A7F0B5AE-6B35-9AF4-14E0-60210EF191F8}"/>
              </a:ext>
            </a:extLst>
          </p:cNvPr>
          <p:cNvGrpSpPr/>
          <p:nvPr/>
        </p:nvGrpSpPr>
        <p:grpSpPr>
          <a:xfrm>
            <a:off x="5534580" y="3702423"/>
            <a:ext cx="1636055" cy="443605"/>
            <a:chOff x="31275596" y="12589005"/>
            <a:chExt cx="4908164" cy="1330817"/>
          </a:xfrm>
        </p:grpSpPr>
        <p:sp>
          <p:nvSpPr>
            <p:cNvPr id="62" name="TextBox 61">
              <a:extLst>
                <a:ext uri="{FF2B5EF4-FFF2-40B4-BE49-F238E27FC236}">
                  <a16:creationId xmlns:a16="http://schemas.microsoft.com/office/drawing/2014/main" id="{48604543-49A6-DF42-D514-C09345E5A81A}"/>
                </a:ext>
              </a:extLst>
            </p:cNvPr>
            <p:cNvSpPr txBox="1"/>
            <p:nvPr/>
          </p:nvSpPr>
          <p:spPr>
            <a:xfrm>
              <a:off x="31298669" y="13181158"/>
              <a:ext cx="3917564" cy="738664"/>
            </a:xfrm>
            <a:prstGeom prst="rect">
              <a:avLst/>
            </a:prstGeom>
            <a:noFill/>
          </p:spPr>
          <p:txBody>
            <a:bodyPr wrap="square" lIns="91440" tIns="45720" rIns="91440" bIns="45720" rtlCol="0" anchor="t">
              <a:spAutoFit/>
            </a:bodyPr>
            <a:lstStyle/>
            <a:p>
              <a:pPr algn="ctr" defTabSz="152324">
                <a:defRPr/>
              </a:pPr>
              <a:r>
                <a:rPr lang="en-US" sz="1000">
                  <a:solidFill>
                    <a:srgbClr val="000000">
                      <a:lumMod val="85000"/>
                      <a:lumOff val="15000"/>
                    </a:srgbClr>
                  </a:solidFill>
                  <a:latin typeface="NVIDIA Sans Medium"/>
                  <a:cs typeface="NVIDIA Sans Medium"/>
                  <a:sym typeface="NVIDIA Sans" panose="020B0503020203020204" pitchFamily="34" charset="0"/>
                </a:rPr>
                <a:t>SYNTHESIZE</a:t>
              </a:r>
              <a:endParaRPr lang="en-US" sz="1000">
                <a:solidFill>
                  <a:srgbClr val="000000">
                    <a:lumMod val="85000"/>
                    <a:lumOff val="15000"/>
                  </a:srgbClr>
                </a:solidFill>
                <a:latin typeface="NVIDIA Sans Medium" panose="020B0503020203020204" pitchFamily="34" charset="0"/>
                <a:cs typeface="NVIDIA Sans Medium" panose="020B0503020203020204" pitchFamily="34" charset="0"/>
                <a:sym typeface="NVIDIA Sans" panose="020B0503020203020204" pitchFamily="34" charset="0"/>
              </a:endParaRPr>
            </a:p>
          </p:txBody>
        </p:sp>
        <p:sp>
          <p:nvSpPr>
            <p:cNvPr id="63" name="TextBox 62">
              <a:extLst>
                <a:ext uri="{FF2B5EF4-FFF2-40B4-BE49-F238E27FC236}">
                  <a16:creationId xmlns:a16="http://schemas.microsoft.com/office/drawing/2014/main" id="{12DF7C6F-68B4-DF69-3385-C35DF5345D2D}"/>
                </a:ext>
              </a:extLst>
            </p:cNvPr>
            <p:cNvSpPr txBox="1"/>
            <p:nvPr/>
          </p:nvSpPr>
          <p:spPr>
            <a:xfrm>
              <a:off x="31275596" y="12589005"/>
              <a:ext cx="4908164" cy="738664"/>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Safe Synthesizer</a:t>
              </a:r>
            </a:p>
          </p:txBody>
        </p:sp>
      </p:grpSp>
      <p:grpSp>
        <p:nvGrpSpPr>
          <p:cNvPr id="68" name="Group 67">
            <a:extLst>
              <a:ext uri="{FF2B5EF4-FFF2-40B4-BE49-F238E27FC236}">
                <a16:creationId xmlns:a16="http://schemas.microsoft.com/office/drawing/2014/main" id="{6A2EE538-6A57-BA5B-D5DE-0C1E968B7397}"/>
              </a:ext>
            </a:extLst>
          </p:cNvPr>
          <p:cNvGrpSpPr/>
          <p:nvPr/>
        </p:nvGrpSpPr>
        <p:grpSpPr>
          <a:xfrm>
            <a:off x="9621817" y="4411100"/>
            <a:ext cx="1348726" cy="436563"/>
            <a:chOff x="21402182" y="10260801"/>
            <a:chExt cx="4046178" cy="1309688"/>
          </a:xfrm>
        </p:grpSpPr>
        <p:sp>
          <p:nvSpPr>
            <p:cNvPr id="66" name="TextBox 65">
              <a:extLst>
                <a:ext uri="{FF2B5EF4-FFF2-40B4-BE49-F238E27FC236}">
                  <a16:creationId xmlns:a16="http://schemas.microsoft.com/office/drawing/2014/main" id="{FB176786-3A7C-C81A-F25D-442E372B6A28}"/>
                </a:ext>
              </a:extLst>
            </p:cNvPr>
            <p:cNvSpPr txBox="1"/>
            <p:nvPr/>
          </p:nvSpPr>
          <p:spPr>
            <a:xfrm>
              <a:off x="21402182" y="10831827"/>
              <a:ext cx="3896472" cy="738662"/>
            </a:xfrm>
            <a:prstGeom prst="rect">
              <a:avLst/>
            </a:prstGeom>
            <a:noFill/>
          </p:spPr>
          <p:txBody>
            <a:bodyPr wrap="square" lIns="91440" tIns="45720" rIns="91440" bIns="45720" rtlCol="0" anchor="t">
              <a:spAutoFit/>
            </a:bodyPr>
            <a:lstStyle/>
            <a:p>
              <a:pPr algn="ctr" defTabSz="152324">
                <a:defRPr/>
              </a:pPr>
              <a:r>
                <a:rPr lang="en-US" sz="1000">
                  <a:solidFill>
                    <a:srgbClr val="000000">
                      <a:lumMod val="85000"/>
                      <a:lumOff val="15000"/>
                    </a:srgbClr>
                  </a:solidFill>
                  <a:latin typeface="NVIDIA Sans Medium"/>
                  <a:cs typeface="NVIDIA Sans Medium"/>
                  <a:sym typeface="NVIDIA Sans" panose="020B0503020203020204" pitchFamily="34" charset="0"/>
                </a:rPr>
                <a:t>AUDIT</a:t>
              </a:r>
              <a:endParaRPr lang="en-US" sz="1000" err="1">
                <a:solidFill>
                  <a:srgbClr val="000000">
                    <a:lumMod val="85000"/>
                    <a:lumOff val="15000"/>
                  </a:srgbClr>
                </a:solidFill>
                <a:latin typeface="NVIDIA Sans Medium"/>
                <a:cs typeface="NVIDIA Sans Medium"/>
              </a:endParaRPr>
            </a:p>
          </p:txBody>
        </p:sp>
        <p:sp>
          <p:nvSpPr>
            <p:cNvPr id="67" name="TextBox 66">
              <a:extLst>
                <a:ext uri="{FF2B5EF4-FFF2-40B4-BE49-F238E27FC236}">
                  <a16:creationId xmlns:a16="http://schemas.microsoft.com/office/drawing/2014/main" id="{A268AAEF-0850-3BB0-1599-030717BFFD90}"/>
                </a:ext>
              </a:extLst>
            </p:cNvPr>
            <p:cNvSpPr txBox="1"/>
            <p:nvPr/>
          </p:nvSpPr>
          <p:spPr>
            <a:xfrm>
              <a:off x="21553058" y="10260801"/>
              <a:ext cx="3895302" cy="738662"/>
            </a:xfrm>
            <a:prstGeom prst="rect">
              <a:avLst/>
            </a:prstGeom>
            <a:noFill/>
          </p:spPr>
          <p:txBody>
            <a:bodyPr wrap="square" lIns="91440" tIns="45720" rIns="91440" bIns="45720" rtlCol="0" anchor="t">
              <a:spAutoFit/>
            </a:bodyPr>
            <a:lstStyle/>
            <a:p>
              <a:pPr algn="ctr" defTabSz="152324">
                <a:defRPr/>
              </a:pPr>
              <a:r>
                <a:rPr lang="en-US" sz="1000" err="1">
                  <a:solidFill>
                    <a:srgbClr val="76B900"/>
                  </a:solidFill>
                  <a:latin typeface="NVIDIA Sans Medium"/>
                  <a:cs typeface="NVIDIA Sans Medium"/>
                  <a:sym typeface="NVIDIA Sans" panose="020B0503020203020204" pitchFamily="34" charset="0"/>
                </a:rPr>
                <a:t>NeMo</a:t>
              </a:r>
              <a:r>
                <a:rPr lang="en-US" sz="1000">
                  <a:solidFill>
                    <a:srgbClr val="76B900"/>
                  </a:solidFill>
                  <a:latin typeface="NVIDIA Sans Medium"/>
                  <a:cs typeface="NVIDIA Sans Medium"/>
                  <a:sym typeface="NVIDIA Sans" panose="020B0503020203020204" pitchFamily="34" charset="0"/>
                </a:rPr>
                <a:t> Auditor</a:t>
              </a:r>
              <a:endParaRPr lang="en-US" sz="1000">
                <a:solidFill>
                  <a:srgbClr val="76B900"/>
                </a:solidFill>
                <a:latin typeface="NVIDIA Sans Medium" panose="020B0503020203020204" pitchFamily="34" charset="0"/>
                <a:cs typeface="NVIDIA Sans Medium" panose="020B0503020203020204" pitchFamily="34" charset="0"/>
                <a:sym typeface="NVIDIA Sans" panose="020B0503020203020204" pitchFamily="34" charset="0"/>
              </a:endParaRPr>
            </a:p>
          </p:txBody>
        </p:sp>
      </p:grpSp>
      <p:pic>
        <p:nvPicPr>
          <p:cNvPr id="70" name="Picture 69">
            <a:extLst>
              <a:ext uri="{FF2B5EF4-FFF2-40B4-BE49-F238E27FC236}">
                <a16:creationId xmlns:a16="http://schemas.microsoft.com/office/drawing/2014/main" id="{80415375-3AE0-821B-A628-EC2A246431A9}"/>
              </a:ext>
            </a:extLst>
          </p:cNvPr>
          <p:cNvPicPr>
            <a:picLocks noChangeAspect="1"/>
          </p:cNvPicPr>
          <p:nvPr/>
        </p:nvPicPr>
        <p:blipFill>
          <a:blip r:embed="rId14"/>
          <a:stretch>
            <a:fillRect/>
          </a:stretch>
        </p:blipFill>
        <p:spPr>
          <a:xfrm>
            <a:off x="9372600" y="4333875"/>
            <a:ext cx="485775" cy="495300"/>
          </a:xfrm>
          <a:prstGeom prst="rect">
            <a:avLst/>
          </a:prstGeom>
        </p:spPr>
      </p:pic>
      <p:pic>
        <p:nvPicPr>
          <p:cNvPr id="80" name="Picture 79">
            <a:extLst>
              <a:ext uri="{FF2B5EF4-FFF2-40B4-BE49-F238E27FC236}">
                <a16:creationId xmlns:a16="http://schemas.microsoft.com/office/drawing/2014/main" id="{AFDD96A7-E0B1-F2BE-01E9-921346C92011}"/>
              </a:ext>
            </a:extLst>
          </p:cNvPr>
          <p:cNvPicPr>
            <a:picLocks noChangeAspect="1"/>
          </p:cNvPicPr>
          <p:nvPr/>
        </p:nvPicPr>
        <p:blipFill>
          <a:blip r:embed="rId15"/>
          <a:stretch>
            <a:fillRect/>
          </a:stretch>
        </p:blipFill>
        <p:spPr>
          <a:xfrm>
            <a:off x="5200650" y="3676650"/>
            <a:ext cx="466725" cy="419100"/>
          </a:xfrm>
          <a:prstGeom prst="rect">
            <a:avLst/>
          </a:prstGeom>
        </p:spPr>
      </p:pic>
      <p:pic>
        <p:nvPicPr>
          <p:cNvPr id="82" name="Picture 81">
            <a:extLst>
              <a:ext uri="{FF2B5EF4-FFF2-40B4-BE49-F238E27FC236}">
                <a16:creationId xmlns:a16="http://schemas.microsoft.com/office/drawing/2014/main" id="{07564617-2434-6D95-192E-E29F60A8D4D3}"/>
              </a:ext>
            </a:extLst>
          </p:cNvPr>
          <p:cNvPicPr>
            <a:picLocks noChangeAspect="1"/>
          </p:cNvPicPr>
          <p:nvPr/>
        </p:nvPicPr>
        <p:blipFill>
          <a:blip r:embed="rId16"/>
          <a:stretch>
            <a:fillRect/>
          </a:stretch>
        </p:blipFill>
        <p:spPr>
          <a:xfrm>
            <a:off x="5219700" y="4448175"/>
            <a:ext cx="466725" cy="419100"/>
          </a:xfrm>
          <a:prstGeom prst="rect">
            <a:avLst/>
          </a:prstGeom>
        </p:spPr>
      </p:pic>
      <p:sp>
        <p:nvSpPr>
          <p:cNvPr id="4" name="Rectangle 3">
            <a:extLst>
              <a:ext uri="{FF2B5EF4-FFF2-40B4-BE49-F238E27FC236}">
                <a16:creationId xmlns:a16="http://schemas.microsoft.com/office/drawing/2014/main" id="{267439F8-2BBD-09C0-7D75-35650437E7CF}"/>
              </a:ext>
            </a:extLst>
          </p:cNvPr>
          <p:cNvSpPr/>
          <p:nvPr/>
        </p:nvSpPr>
        <p:spPr>
          <a:xfrm>
            <a:off x="5207479" y="4416724"/>
            <a:ext cx="1935192" cy="48308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8" name="Rectangle 7">
            <a:extLst>
              <a:ext uri="{FF2B5EF4-FFF2-40B4-BE49-F238E27FC236}">
                <a16:creationId xmlns:a16="http://schemas.microsoft.com/office/drawing/2014/main" id="{308044F0-C94D-A5B4-8332-916683F2B969}"/>
              </a:ext>
            </a:extLst>
          </p:cNvPr>
          <p:cNvSpPr/>
          <p:nvPr/>
        </p:nvSpPr>
        <p:spPr>
          <a:xfrm>
            <a:off x="5207478" y="3676289"/>
            <a:ext cx="1935192" cy="48308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10" name="Rectangle 9">
            <a:extLst>
              <a:ext uri="{FF2B5EF4-FFF2-40B4-BE49-F238E27FC236}">
                <a16:creationId xmlns:a16="http://schemas.microsoft.com/office/drawing/2014/main" id="{B7C1D46A-EA3B-F33C-5DDF-89F0FFB89E0E}"/>
              </a:ext>
            </a:extLst>
          </p:cNvPr>
          <p:cNvSpPr/>
          <p:nvPr/>
        </p:nvSpPr>
        <p:spPr>
          <a:xfrm>
            <a:off x="9254705" y="4352025"/>
            <a:ext cx="1935192" cy="48308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14" name="Rectangle 13">
            <a:extLst>
              <a:ext uri="{FF2B5EF4-FFF2-40B4-BE49-F238E27FC236}">
                <a16:creationId xmlns:a16="http://schemas.microsoft.com/office/drawing/2014/main" id="{67E1262E-46F6-EB97-7CC2-045D811AD761}"/>
              </a:ext>
            </a:extLst>
          </p:cNvPr>
          <p:cNvSpPr/>
          <p:nvPr/>
        </p:nvSpPr>
        <p:spPr>
          <a:xfrm>
            <a:off x="9254704" y="3611590"/>
            <a:ext cx="1935192" cy="483081"/>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717173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381F4-4A44-932E-0891-9DBB2C3F3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7C6A0-3A27-4A27-64FE-9C41C21BC805}"/>
              </a:ext>
            </a:extLst>
          </p:cNvPr>
          <p:cNvSpPr>
            <a:spLocks noGrp="1"/>
          </p:cNvSpPr>
          <p:nvPr>
            <p:ph type="title"/>
          </p:nvPr>
        </p:nvSpPr>
        <p:spPr/>
        <p:txBody>
          <a:bodyPr/>
          <a:lstStyle/>
          <a:p>
            <a:r>
              <a:rPr lang="en-US"/>
              <a:t>Primary Agentic AI Safety Challenges </a:t>
            </a:r>
          </a:p>
        </p:txBody>
      </p:sp>
      <p:sp>
        <p:nvSpPr>
          <p:cNvPr id="3" name="Text Placeholder 2">
            <a:extLst>
              <a:ext uri="{FF2B5EF4-FFF2-40B4-BE49-F238E27FC236}">
                <a16:creationId xmlns:a16="http://schemas.microsoft.com/office/drawing/2014/main" id="{BA011832-2830-D58D-FAC7-5954B7FF2303}"/>
              </a:ext>
            </a:extLst>
          </p:cNvPr>
          <p:cNvSpPr>
            <a:spLocks noGrp="1"/>
          </p:cNvSpPr>
          <p:nvPr>
            <p:ph type="body" idx="1"/>
          </p:nvPr>
        </p:nvSpPr>
        <p:spPr/>
        <p:txBody>
          <a:bodyPr/>
          <a:lstStyle/>
          <a:p>
            <a:pPr marL="608965" indent="-304165"/>
            <a:r>
              <a:rPr lang="en-US"/>
              <a:t>Data leaks and bypassed protections expose sensitive information and enable model exploitation</a:t>
            </a:r>
          </a:p>
          <a:p>
            <a:pPr marL="608965" indent="-304165"/>
            <a:endParaRPr lang="en-US"/>
          </a:p>
          <a:p>
            <a:pPr marL="608965" indent="-304165"/>
            <a:endParaRPr lang="en-US"/>
          </a:p>
        </p:txBody>
      </p:sp>
      <p:sp>
        <p:nvSpPr>
          <p:cNvPr id="13" name="Rectangle: Rounded Corners 12">
            <a:extLst>
              <a:ext uri="{FF2B5EF4-FFF2-40B4-BE49-F238E27FC236}">
                <a16:creationId xmlns:a16="http://schemas.microsoft.com/office/drawing/2014/main" id="{0B7DB73B-F580-AEF8-B3B2-B4F9EE04A5C1}"/>
              </a:ext>
            </a:extLst>
          </p:cNvPr>
          <p:cNvSpPr/>
          <p:nvPr/>
        </p:nvSpPr>
        <p:spPr>
          <a:xfrm>
            <a:off x="1750741" y="2214341"/>
            <a:ext cx="3849001" cy="1163889"/>
          </a:xfrm>
          <a:prstGeom prst="roundRect">
            <a:avLst/>
          </a:prstGeom>
          <a:solidFill>
            <a:schemeClr val="bg1">
              <a:lumMod val="85000"/>
              <a:lumOff val="15000"/>
            </a:schemeClr>
          </a:solidFill>
          <a:ln>
            <a:no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r>
              <a:rPr lang="en-US" sz="1600">
                <a:solidFill>
                  <a:schemeClr val="tx1"/>
                </a:solidFill>
                <a:latin typeface="NVIDIA Sans Medium"/>
                <a:cs typeface="NVIDIA Sans Medium"/>
              </a:rPr>
              <a:t>Data Security Exposure</a:t>
            </a:r>
          </a:p>
          <a:p>
            <a:pPr algn="ctr">
              <a:lnSpc>
                <a:spcPct val="90000"/>
              </a:lnSpc>
            </a:pPr>
            <a:endParaRPr lang="en-US" sz="1400" b="1" i="1">
              <a:solidFill>
                <a:schemeClr val="tx2"/>
              </a:solidFill>
              <a:latin typeface="NVIDIA Sans Regular"/>
            </a:endParaRPr>
          </a:p>
          <a:p>
            <a:pPr algn="ctr">
              <a:lnSpc>
                <a:spcPct val="90000"/>
              </a:lnSpc>
            </a:pPr>
            <a:r>
              <a:rPr lang="en-US" sz="1400" b="1" i="1">
                <a:solidFill>
                  <a:schemeClr val="tx2"/>
                </a:solidFill>
                <a:latin typeface="NVIDIA Sans Regular"/>
              </a:rPr>
              <a:t>"</a:t>
            </a:r>
            <a:r>
              <a:rPr lang="en-US" sz="1400" i="1">
                <a:solidFill>
                  <a:schemeClr val="tx2"/>
                </a:solidFill>
                <a:latin typeface="NVIDIA Sans Regular"/>
              </a:rPr>
              <a:t>52% of data breaches involve some form of customer PII." </a:t>
            </a:r>
            <a:r>
              <a:rPr lang="en-US" sz="1400" i="1">
                <a:solidFill>
                  <a:srgbClr val="76B900"/>
                </a:solidFill>
                <a:latin typeface="NVIDIA Sans Regular"/>
                <a:hlinkClick r:id="rId4">
                  <a:extLst>
                    <a:ext uri="{A12FA001-AC4F-418D-AE19-62706E023703}">
                      <ahyp:hlinkClr xmlns:ahyp="http://schemas.microsoft.com/office/drawing/2018/hyperlinkcolor" val="tx"/>
                    </a:ext>
                  </a:extLst>
                </a:hlinkClick>
              </a:rPr>
              <a:t>IBM Report</a:t>
            </a:r>
            <a:endParaRPr lang="en-US"/>
          </a:p>
        </p:txBody>
      </p:sp>
      <p:sp>
        <p:nvSpPr>
          <p:cNvPr id="19" name="Rectangle: Rounded Corners 18">
            <a:extLst>
              <a:ext uri="{FF2B5EF4-FFF2-40B4-BE49-F238E27FC236}">
                <a16:creationId xmlns:a16="http://schemas.microsoft.com/office/drawing/2014/main" id="{A8E4CD36-39A7-B142-C9EC-4F6412289FF2}"/>
              </a:ext>
            </a:extLst>
          </p:cNvPr>
          <p:cNvSpPr/>
          <p:nvPr/>
        </p:nvSpPr>
        <p:spPr>
          <a:xfrm>
            <a:off x="6695015" y="2214341"/>
            <a:ext cx="3849001" cy="1163889"/>
          </a:xfrm>
          <a:prstGeom prst="roundRect">
            <a:avLst/>
          </a:prstGeom>
          <a:solidFill>
            <a:schemeClr val="bg1">
              <a:lumMod val="85000"/>
              <a:lumOff val="15000"/>
            </a:schemeClr>
          </a:solidFill>
          <a:ln>
            <a:no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pPr>
            <a:r>
              <a:rPr lang="en-US" sz="1600">
                <a:solidFill>
                  <a:schemeClr val="tx1"/>
                </a:solidFill>
                <a:latin typeface="NVIDIA Sans Medium"/>
                <a:cs typeface="NVIDIA Sans Medium"/>
              </a:rPr>
              <a:t>Model Security Risks</a:t>
            </a:r>
          </a:p>
          <a:p>
            <a:pPr algn="ctr">
              <a:lnSpc>
                <a:spcPct val="90000"/>
              </a:lnSpc>
            </a:pPr>
            <a:endParaRPr lang="en-US" sz="1400" b="1" i="1">
              <a:solidFill>
                <a:schemeClr val="tx2"/>
              </a:solidFill>
              <a:latin typeface="NVIDIA Sans Regular"/>
            </a:endParaRPr>
          </a:p>
          <a:p>
            <a:pPr algn="ctr">
              <a:lnSpc>
                <a:spcPct val="90000"/>
              </a:lnSpc>
            </a:pPr>
            <a:r>
              <a:rPr lang="en-US" sz="1400" b="1" i="1">
                <a:solidFill>
                  <a:schemeClr val="tx2"/>
                </a:solidFill>
                <a:latin typeface="NVIDIA Sans Regular"/>
              </a:rPr>
              <a:t>"97</a:t>
            </a:r>
            <a:r>
              <a:rPr lang="en-US" sz="1400" i="1">
                <a:solidFill>
                  <a:schemeClr val="tx2"/>
                </a:solidFill>
                <a:latin typeface="NVIDIA Sans Regular"/>
              </a:rPr>
              <a:t>% of companies with AI breaches had no AI access controls in place." </a:t>
            </a:r>
            <a:r>
              <a:rPr lang="en-US" sz="1400" i="1">
                <a:solidFill>
                  <a:srgbClr val="76B900"/>
                </a:solidFill>
                <a:latin typeface="NVIDIA Sans Regular"/>
                <a:hlinkClick r:id="rId4">
                  <a:extLst>
                    <a:ext uri="{A12FA001-AC4F-418D-AE19-62706E023703}">
                      <ahyp:hlinkClr xmlns:ahyp="http://schemas.microsoft.com/office/drawing/2018/hyperlinkcolor" val="tx"/>
                    </a:ext>
                  </a:extLst>
                </a:hlinkClick>
              </a:rPr>
              <a:t>IBM Report</a:t>
            </a:r>
            <a:endParaRPr lang="en-US"/>
          </a:p>
        </p:txBody>
      </p:sp>
      <p:sp>
        <p:nvSpPr>
          <p:cNvPr id="6" name="TextBox 5">
            <a:extLst>
              <a:ext uri="{FF2B5EF4-FFF2-40B4-BE49-F238E27FC236}">
                <a16:creationId xmlns:a16="http://schemas.microsoft.com/office/drawing/2014/main" id="{6AC2825B-86D4-281B-B805-1227C1CDA185}"/>
              </a:ext>
            </a:extLst>
          </p:cNvPr>
          <p:cNvSpPr txBox="1"/>
          <p:nvPr/>
        </p:nvSpPr>
        <p:spPr>
          <a:xfrm>
            <a:off x="1363517" y="3507301"/>
            <a:ext cx="22433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err="1">
                <a:solidFill>
                  <a:srgbClr val="000000"/>
                </a:solidFill>
                <a:latin typeface="NVIDIA Sans Medium"/>
                <a:cs typeface="NVIDIA Sans"/>
              </a:rPr>
              <a:t>NeMo</a:t>
            </a:r>
            <a:r>
              <a:rPr lang="en-US" sz="1400">
                <a:solidFill>
                  <a:srgbClr val="000000"/>
                </a:solidFill>
                <a:latin typeface="NVIDIA Sans Medium"/>
                <a:cs typeface="NVIDIA Sans"/>
              </a:rPr>
              <a:t> Safe Synthesizer</a:t>
            </a:r>
            <a:endParaRPr lang="en-US" sz="1400">
              <a:solidFill>
                <a:srgbClr val="000000"/>
              </a:solidFill>
              <a:latin typeface="NVIDIA Sans Medium"/>
              <a:cs typeface="NVIDIA Sans" panose="020B0503020203020204" pitchFamily="34" charset="0"/>
            </a:endParaRPr>
          </a:p>
        </p:txBody>
      </p:sp>
      <p:sp>
        <p:nvSpPr>
          <p:cNvPr id="11" name="TextBox 10">
            <a:extLst>
              <a:ext uri="{FF2B5EF4-FFF2-40B4-BE49-F238E27FC236}">
                <a16:creationId xmlns:a16="http://schemas.microsoft.com/office/drawing/2014/main" id="{2B6D259A-84DC-156C-A9BE-F2EA5CC662F2}"/>
              </a:ext>
            </a:extLst>
          </p:cNvPr>
          <p:cNvSpPr txBox="1"/>
          <p:nvPr/>
        </p:nvSpPr>
        <p:spPr>
          <a:xfrm>
            <a:off x="3604639" y="3494568"/>
            <a:ext cx="22433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err="1">
                <a:solidFill>
                  <a:srgbClr val="000000"/>
                </a:solidFill>
                <a:latin typeface="NVIDIA Sans Medium"/>
                <a:cs typeface="NVIDIA Sans"/>
              </a:rPr>
              <a:t>NeMo</a:t>
            </a:r>
            <a:r>
              <a:rPr lang="en-US" sz="1400">
                <a:solidFill>
                  <a:srgbClr val="000000"/>
                </a:solidFill>
                <a:latin typeface="NVIDIA Sans Medium"/>
                <a:cs typeface="NVIDIA Sans"/>
              </a:rPr>
              <a:t> Anonymizer</a:t>
            </a:r>
            <a:endParaRPr lang="en-US" sz="1400" err="1">
              <a:solidFill>
                <a:srgbClr val="000000"/>
              </a:solidFill>
              <a:latin typeface="NVIDIA Sans Medium"/>
              <a:cs typeface="NVIDIA Sans" panose="020B0503020203020204" pitchFamily="34" charset="0"/>
            </a:endParaRPr>
          </a:p>
        </p:txBody>
      </p:sp>
      <p:sp>
        <p:nvSpPr>
          <p:cNvPr id="31" name="TextBox 30">
            <a:extLst>
              <a:ext uri="{FF2B5EF4-FFF2-40B4-BE49-F238E27FC236}">
                <a16:creationId xmlns:a16="http://schemas.microsoft.com/office/drawing/2014/main" id="{7ACAA418-76D2-0925-5848-38D55496E726}"/>
              </a:ext>
            </a:extLst>
          </p:cNvPr>
          <p:cNvSpPr txBox="1"/>
          <p:nvPr/>
        </p:nvSpPr>
        <p:spPr>
          <a:xfrm>
            <a:off x="3449228" y="1544905"/>
            <a:ext cx="294382" cy="657964"/>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r"/>
            <a:r>
              <a:rPr lang="en-US" sz="4000">
                <a:solidFill>
                  <a:srgbClr val="76B900"/>
                </a:solidFill>
                <a:latin typeface="NVIDIA Sans"/>
                <a:cs typeface="NVIDIA Sans"/>
              </a:rPr>
              <a:t>1</a:t>
            </a:r>
          </a:p>
        </p:txBody>
      </p:sp>
      <p:sp>
        <p:nvSpPr>
          <p:cNvPr id="41" name="TextBox 40">
            <a:extLst>
              <a:ext uri="{FF2B5EF4-FFF2-40B4-BE49-F238E27FC236}">
                <a16:creationId xmlns:a16="http://schemas.microsoft.com/office/drawing/2014/main" id="{DCEBA3D1-D83B-2C6A-4736-6D2780D7960E}"/>
              </a:ext>
            </a:extLst>
          </p:cNvPr>
          <p:cNvSpPr txBox="1"/>
          <p:nvPr/>
        </p:nvSpPr>
        <p:spPr>
          <a:xfrm>
            <a:off x="6660533" y="3550406"/>
            <a:ext cx="22433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err="1">
                <a:solidFill>
                  <a:srgbClr val="000000"/>
                </a:solidFill>
                <a:latin typeface="NVIDIA Sans Medium"/>
                <a:cs typeface="NVIDIA Sans"/>
              </a:rPr>
              <a:t>NeMo</a:t>
            </a:r>
            <a:r>
              <a:rPr lang="en-US" sz="1400">
                <a:solidFill>
                  <a:srgbClr val="000000"/>
                </a:solidFill>
                <a:latin typeface="NVIDIA Sans Medium"/>
                <a:cs typeface="NVIDIA Sans"/>
              </a:rPr>
              <a:t> Guardrails</a:t>
            </a:r>
            <a:endParaRPr lang="en-US" sz="1400">
              <a:solidFill>
                <a:srgbClr val="000000"/>
              </a:solidFill>
              <a:latin typeface="NVIDIA Sans Medium"/>
              <a:cs typeface="NVIDIA Sans" panose="020B0503020203020204" pitchFamily="34" charset="0"/>
            </a:endParaRPr>
          </a:p>
        </p:txBody>
      </p:sp>
      <p:sp>
        <p:nvSpPr>
          <p:cNvPr id="42" name="TextBox 41">
            <a:extLst>
              <a:ext uri="{FF2B5EF4-FFF2-40B4-BE49-F238E27FC236}">
                <a16:creationId xmlns:a16="http://schemas.microsoft.com/office/drawing/2014/main" id="{03745420-910E-B3B0-1FF3-4E7AA19B660F}"/>
              </a:ext>
            </a:extLst>
          </p:cNvPr>
          <p:cNvSpPr txBox="1"/>
          <p:nvPr/>
        </p:nvSpPr>
        <p:spPr>
          <a:xfrm>
            <a:off x="8533123" y="3573673"/>
            <a:ext cx="22433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err="1">
                <a:solidFill>
                  <a:srgbClr val="000000"/>
                </a:solidFill>
                <a:latin typeface="NVIDIA Sans Medium"/>
                <a:cs typeface="NVIDIA Sans"/>
              </a:rPr>
              <a:t>NeMo</a:t>
            </a:r>
            <a:r>
              <a:rPr lang="en-US" sz="1400">
                <a:solidFill>
                  <a:srgbClr val="000000"/>
                </a:solidFill>
                <a:latin typeface="NVIDIA Sans Medium"/>
                <a:cs typeface="NVIDIA Sans"/>
              </a:rPr>
              <a:t> Auditor</a:t>
            </a:r>
            <a:endParaRPr lang="en-US" sz="1400" err="1">
              <a:solidFill>
                <a:srgbClr val="000000"/>
              </a:solidFill>
              <a:latin typeface="NVIDIA Sans Medium"/>
              <a:cs typeface="NVIDIA Sans" panose="020B0503020203020204" pitchFamily="34" charset="0"/>
            </a:endParaRPr>
          </a:p>
        </p:txBody>
      </p:sp>
      <p:sp>
        <p:nvSpPr>
          <p:cNvPr id="45" name="TextBox 44">
            <a:extLst>
              <a:ext uri="{FF2B5EF4-FFF2-40B4-BE49-F238E27FC236}">
                <a16:creationId xmlns:a16="http://schemas.microsoft.com/office/drawing/2014/main" id="{9A3BBBFF-EFEC-2E1B-8D16-B09983441B61}"/>
              </a:ext>
            </a:extLst>
          </p:cNvPr>
          <p:cNvSpPr txBox="1"/>
          <p:nvPr/>
        </p:nvSpPr>
        <p:spPr>
          <a:xfrm>
            <a:off x="8428403" y="1544904"/>
            <a:ext cx="294382" cy="657964"/>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r"/>
            <a:r>
              <a:rPr lang="en-US" sz="4000">
                <a:solidFill>
                  <a:srgbClr val="76B900"/>
                </a:solidFill>
                <a:latin typeface="NVIDIA Sans"/>
                <a:cs typeface="NVIDIA Sans"/>
              </a:rPr>
              <a:t>2</a:t>
            </a:r>
          </a:p>
        </p:txBody>
      </p:sp>
      <p:pic>
        <p:nvPicPr>
          <p:cNvPr id="26" name="Picture 25" descr="A green and black logo&#10;&#10;AI-generated content may be incorrect.">
            <a:extLst>
              <a:ext uri="{FF2B5EF4-FFF2-40B4-BE49-F238E27FC236}">
                <a16:creationId xmlns:a16="http://schemas.microsoft.com/office/drawing/2014/main" id="{BA17D6FB-5C39-6B50-C7C8-8DD518DFB134}"/>
              </a:ext>
            </a:extLst>
          </p:cNvPr>
          <p:cNvPicPr>
            <a:picLocks noChangeAspect="1"/>
          </p:cNvPicPr>
          <p:nvPr/>
        </p:nvPicPr>
        <p:blipFill>
          <a:blip r:embed="rId5"/>
          <a:stretch>
            <a:fillRect/>
          </a:stretch>
        </p:blipFill>
        <p:spPr>
          <a:xfrm>
            <a:off x="7114673" y="3702285"/>
            <a:ext cx="1299412" cy="1299412"/>
          </a:xfrm>
          <a:prstGeom prst="rect">
            <a:avLst/>
          </a:prstGeom>
        </p:spPr>
      </p:pic>
      <p:pic>
        <p:nvPicPr>
          <p:cNvPr id="28" name="Picture 27" descr="A green outline of a paper and a stack of coins&#10;&#10;AI-generated content may be incorrect.">
            <a:extLst>
              <a:ext uri="{FF2B5EF4-FFF2-40B4-BE49-F238E27FC236}">
                <a16:creationId xmlns:a16="http://schemas.microsoft.com/office/drawing/2014/main" id="{07E46787-9409-2D81-DDF4-2CCC01CC7F50}"/>
              </a:ext>
            </a:extLst>
          </p:cNvPr>
          <p:cNvPicPr>
            <a:picLocks noChangeAspect="1"/>
          </p:cNvPicPr>
          <p:nvPr/>
        </p:nvPicPr>
        <p:blipFill>
          <a:blip r:embed="rId6"/>
          <a:stretch>
            <a:fillRect/>
          </a:stretch>
        </p:blipFill>
        <p:spPr>
          <a:xfrm>
            <a:off x="4096753" y="3756173"/>
            <a:ext cx="1299412" cy="1299412"/>
          </a:xfrm>
          <a:prstGeom prst="rect">
            <a:avLst/>
          </a:prstGeom>
        </p:spPr>
      </p:pic>
      <p:pic>
        <p:nvPicPr>
          <p:cNvPr id="30" name="Picture 29" descr="A green outline of a padlock on a black background&#10;&#10;AI-generated content may be incorrect.">
            <a:extLst>
              <a:ext uri="{FF2B5EF4-FFF2-40B4-BE49-F238E27FC236}">
                <a16:creationId xmlns:a16="http://schemas.microsoft.com/office/drawing/2014/main" id="{63CCF916-09AB-9F5D-E763-C630E2C343C7}"/>
              </a:ext>
            </a:extLst>
          </p:cNvPr>
          <p:cNvPicPr>
            <a:picLocks noChangeAspect="1"/>
          </p:cNvPicPr>
          <p:nvPr/>
        </p:nvPicPr>
        <p:blipFill>
          <a:blip r:embed="rId7"/>
          <a:stretch>
            <a:fillRect/>
          </a:stretch>
        </p:blipFill>
        <p:spPr>
          <a:xfrm>
            <a:off x="9009648" y="3764289"/>
            <a:ext cx="1299412" cy="1299412"/>
          </a:xfrm>
          <a:prstGeom prst="rect">
            <a:avLst/>
          </a:prstGeom>
        </p:spPr>
      </p:pic>
      <p:pic>
        <p:nvPicPr>
          <p:cNvPr id="34" name="Picture 33" descr="A green arrows pointing to a lock and a stack of coins&#10;&#10;AI-generated content may be incorrect.">
            <a:extLst>
              <a:ext uri="{FF2B5EF4-FFF2-40B4-BE49-F238E27FC236}">
                <a16:creationId xmlns:a16="http://schemas.microsoft.com/office/drawing/2014/main" id="{72591132-D31C-2169-EDA7-899998D4754F}"/>
              </a:ext>
            </a:extLst>
          </p:cNvPr>
          <p:cNvPicPr>
            <a:picLocks noChangeAspect="1"/>
          </p:cNvPicPr>
          <p:nvPr/>
        </p:nvPicPr>
        <p:blipFill>
          <a:blip r:embed="rId8"/>
          <a:stretch>
            <a:fillRect/>
          </a:stretch>
        </p:blipFill>
        <p:spPr>
          <a:xfrm>
            <a:off x="1820780" y="3750157"/>
            <a:ext cx="1299412" cy="1299412"/>
          </a:xfrm>
          <a:prstGeom prst="rect">
            <a:avLst/>
          </a:prstGeom>
        </p:spPr>
      </p:pic>
      <p:pic>
        <p:nvPicPr>
          <p:cNvPr id="5" name="Picture 4" descr="A green logo with a black background&#10;&#10;AI-generated content may be incorrect.">
            <a:extLst>
              <a:ext uri="{FF2B5EF4-FFF2-40B4-BE49-F238E27FC236}">
                <a16:creationId xmlns:a16="http://schemas.microsoft.com/office/drawing/2014/main" id="{79E9BA6D-0C9E-9C4B-D9B7-C46B70A80919}"/>
              </a:ext>
            </a:extLst>
          </p:cNvPr>
          <p:cNvPicPr>
            <a:picLocks noChangeAspect="1"/>
          </p:cNvPicPr>
          <p:nvPr/>
        </p:nvPicPr>
        <p:blipFill>
          <a:blip r:embed="rId9"/>
          <a:stretch>
            <a:fillRect/>
          </a:stretch>
        </p:blipFill>
        <p:spPr>
          <a:xfrm>
            <a:off x="7298494" y="5521388"/>
            <a:ext cx="962527" cy="962527"/>
          </a:xfrm>
          <a:prstGeom prst="rect">
            <a:avLst/>
          </a:prstGeom>
        </p:spPr>
      </p:pic>
      <p:cxnSp>
        <p:nvCxnSpPr>
          <p:cNvPr id="7" name="Straight Arrow Connector 6">
            <a:extLst>
              <a:ext uri="{FF2B5EF4-FFF2-40B4-BE49-F238E27FC236}">
                <a16:creationId xmlns:a16="http://schemas.microsoft.com/office/drawing/2014/main" id="{E63B8FF5-BE8C-2544-F2DD-7E669B28F24B}"/>
              </a:ext>
            </a:extLst>
          </p:cNvPr>
          <p:cNvCxnSpPr/>
          <p:nvPr/>
        </p:nvCxnSpPr>
        <p:spPr>
          <a:xfrm>
            <a:off x="7762800" y="4795800"/>
            <a:ext cx="2400" cy="326400"/>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A7916A1-9AA7-E29F-6570-73A05871AABB}"/>
              </a:ext>
            </a:extLst>
          </p:cNvPr>
          <p:cNvSpPr txBox="1"/>
          <p:nvPr/>
        </p:nvSpPr>
        <p:spPr>
          <a:xfrm>
            <a:off x="6582532" y="5104405"/>
            <a:ext cx="236936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err="1">
                <a:solidFill>
                  <a:srgbClr val="000000"/>
                </a:solidFill>
                <a:latin typeface="NVIDIA Sans Medium"/>
                <a:cs typeface="NVIDIA Sans"/>
              </a:rPr>
              <a:t>Nemotron</a:t>
            </a:r>
            <a:r>
              <a:rPr lang="en-US" sz="1400">
                <a:solidFill>
                  <a:srgbClr val="000000"/>
                </a:solidFill>
                <a:latin typeface="NVIDIA Sans Medium"/>
                <a:cs typeface="NVIDIA Sans"/>
              </a:rPr>
              <a:t> </a:t>
            </a:r>
            <a:endParaRPr lang="en-US" sz="1400">
              <a:solidFill>
                <a:srgbClr val="000000"/>
              </a:solidFill>
              <a:latin typeface="NVIDIA Sans Medium"/>
              <a:cs typeface="NVIDIA Sans" panose="020B0503020203020204" pitchFamily="34" charset="0"/>
            </a:endParaRPr>
          </a:p>
          <a:p>
            <a:pPr algn="ctr"/>
            <a:r>
              <a:rPr lang="en-US" sz="1400">
                <a:solidFill>
                  <a:srgbClr val="000000"/>
                </a:solidFill>
                <a:latin typeface="NVIDIA Sans Medium"/>
                <a:cs typeface="NVIDIA Sans"/>
              </a:rPr>
              <a:t>Safety Models</a:t>
            </a:r>
            <a:endParaRPr lang="en-US" sz="1400">
              <a:solidFill>
                <a:srgbClr val="000000"/>
              </a:solidFill>
              <a:latin typeface="NVIDIA Sans Medium"/>
              <a:cs typeface="NVIDIA Sans" panose="020B0503020203020204" pitchFamily="34" charset="0"/>
            </a:endParaRPr>
          </a:p>
        </p:txBody>
      </p:sp>
    </p:spTree>
    <p:extLst>
      <p:ext uri="{BB962C8B-B14F-4D97-AF65-F5344CB8AC3E}">
        <p14:creationId xmlns:p14="http://schemas.microsoft.com/office/powerpoint/2010/main" val="49547125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749C3-3B36-9D17-8C9B-E393BBA38A58}"/>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1B75B1B5-C37D-1956-03D4-A5AB0996CACA}"/>
              </a:ext>
            </a:extLst>
          </p:cNvPr>
          <p:cNvSpPr/>
          <p:nvPr/>
        </p:nvSpPr>
        <p:spPr>
          <a:xfrm>
            <a:off x="4732646" y="1797275"/>
            <a:ext cx="2608415" cy="3521241"/>
          </a:xfrm>
          <a:prstGeom prst="roundRect">
            <a:avLst/>
          </a:prstGeom>
          <a:solidFill>
            <a:schemeClr val="tx2"/>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33" name="Rectangle: Rounded Corners 32">
            <a:extLst>
              <a:ext uri="{FF2B5EF4-FFF2-40B4-BE49-F238E27FC236}">
                <a16:creationId xmlns:a16="http://schemas.microsoft.com/office/drawing/2014/main" id="{47907246-09E5-E014-B497-686164D951AF}"/>
              </a:ext>
            </a:extLst>
          </p:cNvPr>
          <p:cNvSpPr/>
          <p:nvPr/>
        </p:nvSpPr>
        <p:spPr>
          <a:xfrm>
            <a:off x="7620223" y="1797274"/>
            <a:ext cx="2608415" cy="3521241"/>
          </a:xfrm>
          <a:prstGeom prst="roundRect">
            <a:avLst/>
          </a:prstGeom>
          <a:solidFill>
            <a:schemeClr val="tx2"/>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31" name="Rectangle: Rounded Corners 30">
            <a:extLst>
              <a:ext uri="{FF2B5EF4-FFF2-40B4-BE49-F238E27FC236}">
                <a16:creationId xmlns:a16="http://schemas.microsoft.com/office/drawing/2014/main" id="{58B180B8-A935-CA62-8CD4-02D8D851D61F}"/>
              </a:ext>
            </a:extLst>
          </p:cNvPr>
          <p:cNvSpPr/>
          <p:nvPr/>
        </p:nvSpPr>
        <p:spPr>
          <a:xfrm>
            <a:off x="1861110" y="1797276"/>
            <a:ext cx="2608415" cy="3521241"/>
          </a:xfrm>
          <a:prstGeom prst="roundRect">
            <a:avLst/>
          </a:prstGeom>
          <a:solidFill>
            <a:schemeClr val="tx2"/>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11" name="Text Placeholder 4">
            <a:extLst>
              <a:ext uri="{FF2B5EF4-FFF2-40B4-BE49-F238E27FC236}">
                <a16:creationId xmlns:a16="http://schemas.microsoft.com/office/drawing/2014/main" id="{1556DF3D-230E-0F94-AD65-8C36A76A8B47}"/>
              </a:ext>
            </a:extLst>
          </p:cNvPr>
          <p:cNvSpPr>
            <a:spLocks noGrp="1"/>
          </p:cNvSpPr>
          <p:nvPr>
            <p:ph type="body" sz="quarter" idx="10"/>
          </p:nvPr>
        </p:nvSpPr>
        <p:spPr>
          <a:xfrm>
            <a:off x="838200" y="829056"/>
            <a:ext cx="10515600" cy="469392"/>
          </a:xfrm>
        </p:spPr>
        <p:txBody>
          <a:bodyPr lIns="91440" tIns="45720" rIns="91440" bIns="45720" anchor="t"/>
          <a:lstStyle/>
          <a:p>
            <a:r>
              <a:rPr lang="en-US">
                <a:latin typeface="NVIDIA Sans"/>
                <a:cs typeface="NVIDIA Sans"/>
              </a:rPr>
              <a:t>Open </a:t>
            </a:r>
            <a:r>
              <a:rPr lang="en-US" err="1">
                <a:latin typeface="NVIDIA Sans"/>
                <a:cs typeface="NVIDIA Sans"/>
              </a:rPr>
              <a:t>NeMo</a:t>
            </a:r>
            <a:r>
              <a:rPr lang="en-US">
                <a:latin typeface="NVIDIA Sans"/>
                <a:cs typeface="NVIDIA Sans"/>
              </a:rPr>
              <a:t> libraries built on open Nemotron models which are trained on open </a:t>
            </a:r>
            <a:r>
              <a:rPr lang="en-US" err="1">
                <a:latin typeface="NVIDIA Sans"/>
                <a:cs typeface="NVIDIA Sans"/>
              </a:rPr>
              <a:t>Nemotron</a:t>
            </a:r>
            <a:r>
              <a:rPr lang="en-US">
                <a:latin typeface="NVIDIA Sans"/>
                <a:cs typeface="NVIDIA Sans"/>
              </a:rPr>
              <a:t> datasets</a:t>
            </a:r>
            <a:endParaRPr lang="en-US"/>
          </a:p>
        </p:txBody>
      </p:sp>
      <p:sp>
        <p:nvSpPr>
          <p:cNvPr id="15" name="Title 6">
            <a:extLst>
              <a:ext uri="{FF2B5EF4-FFF2-40B4-BE49-F238E27FC236}">
                <a16:creationId xmlns:a16="http://schemas.microsoft.com/office/drawing/2014/main" id="{192E7237-976E-4503-C6D2-55121BC0B824}"/>
              </a:ext>
            </a:extLst>
          </p:cNvPr>
          <p:cNvSpPr>
            <a:spLocks noGrp="1"/>
          </p:cNvSpPr>
          <p:nvPr>
            <p:ph type="title"/>
          </p:nvPr>
        </p:nvSpPr>
        <p:spPr>
          <a:xfrm>
            <a:off x="838200" y="0"/>
            <a:ext cx="10515600" cy="838200"/>
          </a:xfrm>
        </p:spPr>
        <p:txBody>
          <a:bodyPr/>
          <a:lstStyle/>
          <a:p>
            <a:r>
              <a:rPr lang="en-US">
                <a:latin typeface="NVIDIA Sans"/>
                <a:cs typeface="NVIDIA Sans"/>
              </a:rPr>
              <a:t>Introducing the NVIDIA AI Safety Suite</a:t>
            </a:r>
            <a:endParaRPr lang="en-US"/>
          </a:p>
        </p:txBody>
      </p:sp>
      <p:sp>
        <p:nvSpPr>
          <p:cNvPr id="21" name="Rectangle: Rounded Corners 20">
            <a:extLst>
              <a:ext uri="{FF2B5EF4-FFF2-40B4-BE49-F238E27FC236}">
                <a16:creationId xmlns:a16="http://schemas.microsoft.com/office/drawing/2014/main" id="{6664F022-67F8-E0F7-2EC8-8645170ADB83}"/>
              </a:ext>
            </a:extLst>
          </p:cNvPr>
          <p:cNvSpPr/>
          <p:nvPr/>
        </p:nvSpPr>
        <p:spPr>
          <a:xfrm>
            <a:off x="1925279" y="1797277"/>
            <a:ext cx="2608415" cy="3449052"/>
          </a:xfrm>
          <a:prstGeom prst="roundRect">
            <a:avLst/>
          </a:prstGeom>
          <a:solidFill>
            <a:schemeClr val="tx1"/>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24" name="Rectangle: Rounded Corners 23">
            <a:extLst>
              <a:ext uri="{FF2B5EF4-FFF2-40B4-BE49-F238E27FC236}">
                <a16:creationId xmlns:a16="http://schemas.microsoft.com/office/drawing/2014/main" id="{0EFDE002-77A7-49AF-3F99-CF5905B1D347}"/>
              </a:ext>
            </a:extLst>
          </p:cNvPr>
          <p:cNvSpPr/>
          <p:nvPr/>
        </p:nvSpPr>
        <p:spPr>
          <a:xfrm>
            <a:off x="4796816" y="1797277"/>
            <a:ext cx="2608415" cy="3449052"/>
          </a:xfrm>
          <a:prstGeom prst="roundRect">
            <a:avLst/>
          </a:prstGeom>
          <a:solidFill>
            <a:schemeClr val="tx1"/>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25" name="Rectangle: Rounded Corners 24">
            <a:extLst>
              <a:ext uri="{FF2B5EF4-FFF2-40B4-BE49-F238E27FC236}">
                <a16:creationId xmlns:a16="http://schemas.microsoft.com/office/drawing/2014/main" id="{FD27981E-4458-E747-834F-28511FD8DF9A}"/>
              </a:ext>
            </a:extLst>
          </p:cNvPr>
          <p:cNvSpPr/>
          <p:nvPr/>
        </p:nvSpPr>
        <p:spPr>
          <a:xfrm>
            <a:off x="7668353" y="1797277"/>
            <a:ext cx="2608415" cy="3449052"/>
          </a:xfrm>
          <a:prstGeom prst="roundRect">
            <a:avLst/>
          </a:prstGeom>
          <a:solidFill>
            <a:schemeClr val="tx1"/>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65" name="TextBox 64">
            <a:extLst>
              <a:ext uri="{FF2B5EF4-FFF2-40B4-BE49-F238E27FC236}">
                <a16:creationId xmlns:a16="http://schemas.microsoft.com/office/drawing/2014/main" id="{78260766-81E4-858A-F98F-E767375EF425}"/>
              </a:ext>
            </a:extLst>
          </p:cNvPr>
          <p:cNvSpPr txBox="1"/>
          <p:nvPr/>
        </p:nvSpPr>
        <p:spPr>
          <a:xfrm>
            <a:off x="2196841" y="1957265"/>
            <a:ext cx="2085831" cy="276999"/>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600">
                <a:solidFill>
                  <a:srgbClr val="3F3F3F"/>
                </a:solidFill>
                <a:latin typeface="NVIDIA Sans Medium"/>
                <a:cs typeface="NVIDIA Sans Medium"/>
              </a:rPr>
              <a:t>Open Libraries</a:t>
            </a:r>
            <a:endParaRPr lang="en-US" sz="5399">
              <a:solidFill>
                <a:srgbClr val="3F3F3F"/>
              </a:solidFill>
            </a:endParaRPr>
          </a:p>
        </p:txBody>
      </p:sp>
      <p:pic>
        <p:nvPicPr>
          <p:cNvPr id="9" name="Picture 8" descr="A computer screen shot of a blue square with green dots and green circles&#10;&#10;AI-generated content may be incorrect.">
            <a:extLst>
              <a:ext uri="{FF2B5EF4-FFF2-40B4-BE49-F238E27FC236}">
                <a16:creationId xmlns:a16="http://schemas.microsoft.com/office/drawing/2014/main" id="{B87EEEAA-EC13-8519-D5E3-6B43B0254F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22463" y="2234513"/>
            <a:ext cx="1428386" cy="1153639"/>
          </a:xfrm>
          <a:prstGeom prst="rect">
            <a:avLst/>
          </a:prstGeom>
        </p:spPr>
      </p:pic>
      <p:pic>
        <p:nvPicPr>
          <p:cNvPr id="8" name="Picture 7" descr="A computer screen shot of a person working on a computer&#10;&#10;AI-generated content may be incorrect.">
            <a:extLst>
              <a:ext uri="{FF2B5EF4-FFF2-40B4-BE49-F238E27FC236}">
                <a16:creationId xmlns:a16="http://schemas.microsoft.com/office/drawing/2014/main" id="{D881E7B2-73EA-FF7C-DBE3-3FF7DDD1F36B}"/>
              </a:ext>
            </a:extLst>
          </p:cNvPr>
          <p:cNvPicPr>
            <a:picLocks noChangeAspect="1"/>
          </p:cNvPicPr>
          <p:nvPr/>
        </p:nvPicPr>
        <p:blipFill>
          <a:blip r:embed="rId5"/>
          <a:stretch>
            <a:fillRect/>
          </a:stretch>
        </p:blipFill>
        <p:spPr>
          <a:xfrm>
            <a:off x="8435769" y="2329330"/>
            <a:ext cx="1092869" cy="843715"/>
          </a:xfrm>
          <a:prstGeom prst="rect">
            <a:avLst/>
          </a:prstGeom>
        </p:spPr>
      </p:pic>
      <p:sp>
        <p:nvSpPr>
          <p:cNvPr id="26" name="TextBox 25">
            <a:extLst>
              <a:ext uri="{FF2B5EF4-FFF2-40B4-BE49-F238E27FC236}">
                <a16:creationId xmlns:a16="http://schemas.microsoft.com/office/drawing/2014/main" id="{73C73D7F-B12D-273F-59D8-49A11C673E07}"/>
              </a:ext>
            </a:extLst>
          </p:cNvPr>
          <p:cNvSpPr txBox="1"/>
          <p:nvPr/>
        </p:nvSpPr>
        <p:spPr>
          <a:xfrm>
            <a:off x="4833368" y="2024954"/>
            <a:ext cx="2541606" cy="276999"/>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600">
                <a:solidFill>
                  <a:srgbClr val="3F3F3F"/>
                </a:solidFill>
                <a:latin typeface="NVIDIA Sans Medium"/>
                <a:cs typeface="NVIDIA Sans Medium"/>
              </a:rPr>
              <a:t>Open Models</a:t>
            </a:r>
          </a:p>
        </p:txBody>
      </p:sp>
      <p:sp>
        <p:nvSpPr>
          <p:cNvPr id="27" name="TextBox 26">
            <a:extLst>
              <a:ext uri="{FF2B5EF4-FFF2-40B4-BE49-F238E27FC236}">
                <a16:creationId xmlns:a16="http://schemas.microsoft.com/office/drawing/2014/main" id="{EC3F11CC-A03D-A495-4F02-44482F2E755C}"/>
              </a:ext>
            </a:extLst>
          </p:cNvPr>
          <p:cNvSpPr txBox="1"/>
          <p:nvPr/>
        </p:nvSpPr>
        <p:spPr>
          <a:xfrm>
            <a:off x="7939913" y="2021431"/>
            <a:ext cx="2085831" cy="276999"/>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600">
                <a:solidFill>
                  <a:srgbClr val="3F3F3F"/>
                </a:solidFill>
                <a:latin typeface="NVIDIA Sans Medium"/>
                <a:cs typeface="NVIDIA Sans Medium"/>
              </a:rPr>
              <a:t>Open Datasets</a:t>
            </a:r>
          </a:p>
        </p:txBody>
      </p:sp>
      <p:grpSp>
        <p:nvGrpSpPr>
          <p:cNvPr id="28" name="Group 27">
            <a:extLst>
              <a:ext uri="{FF2B5EF4-FFF2-40B4-BE49-F238E27FC236}">
                <a16:creationId xmlns:a16="http://schemas.microsoft.com/office/drawing/2014/main" id="{F4AB191E-78CC-8BFF-4DB0-80CBFF9B5F2F}"/>
              </a:ext>
            </a:extLst>
          </p:cNvPr>
          <p:cNvGrpSpPr/>
          <p:nvPr/>
        </p:nvGrpSpPr>
        <p:grpSpPr>
          <a:xfrm>
            <a:off x="5829226" y="2370026"/>
            <a:ext cx="548640" cy="760121"/>
            <a:chOff x="7075938" y="5868854"/>
            <a:chExt cx="548640" cy="728037"/>
          </a:xfrm>
        </p:grpSpPr>
        <p:pic>
          <p:nvPicPr>
            <p:cNvPr id="29" name="Picture 28" descr="A black cube with green base&#10;&#10;Description automatically generated">
              <a:extLst>
                <a:ext uri="{FF2B5EF4-FFF2-40B4-BE49-F238E27FC236}">
                  <a16:creationId xmlns:a16="http://schemas.microsoft.com/office/drawing/2014/main" id="{96B4624C-3E7E-B831-4AED-30FB2799A273}"/>
                </a:ext>
              </a:extLst>
            </p:cNvPr>
            <p:cNvPicPr>
              <a:picLocks noChangeAspect="1"/>
            </p:cNvPicPr>
            <p:nvPr/>
          </p:nvPicPr>
          <p:blipFill>
            <a:blip r:embed="rId6"/>
            <a:stretch>
              <a:fillRect/>
            </a:stretch>
          </p:blipFill>
          <p:spPr>
            <a:xfrm>
              <a:off x="7075938" y="5868854"/>
              <a:ext cx="548640" cy="728037"/>
            </a:xfrm>
            <a:prstGeom prst="rect">
              <a:avLst/>
            </a:prstGeom>
          </p:spPr>
        </p:pic>
        <p:pic>
          <p:nvPicPr>
            <p:cNvPr id="30" name="Picture 29" descr="A white check mark in a white circle&#10;&#10;Description automatically generated">
              <a:extLst>
                <a:ext uri="{FF2B5EF4-FFF2-40B4-BE49-F238E27FC236}">
                  <a16:creationId xmlns:a16="http://schemas.microsoft.com/office/drawing/2014/main" id="{5D6C8F2E-9E74-4605-CBAE-9119F3A914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13098" y="6033058"/>
              <a:ext cx="274320" cy="274320"/>
            </a:xfrm>
            <a:prstGeom prst="rect">
              <a:avLst/>
            </a:prstGeom>
          </p:spPr>
        </p:pic>
      </p:grpSp>
      <p:sp>
        <p:nvSpPr>
          <p:cNvPr id="66" name="TextBox 65">
            <a:extLst>
              <a:ext uri="{FF2B5EF4-FFF2-40B4-BE49-F238E27FC236}">
                <a16:creationId xmlns:a16="http://schemas.microsoft.com/office/drawing/2014/main" id="{BE562120-21A8-4C13-3565-E1046ABB2132}"/>
              </a:ext>
            </a:extLst>
          </p:cNvPr>
          <p:cNvSpPr txBox="1"/>
          <p:nvPr/>
        </p:nvSpPr>
        <p:spPr>
          <a:xfrm>
            <a:off x="1934542" y="3339522"/>
            <a:ext cx="2612173" cy="1020216"/>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150000"/>
              </a:lnSpc>
            </a:pPr>
            <a:r>
              <a:rPr lang="en-US" sz="1100" err="1">
                <a:solidFill>
                  <a:schemeClr val="tx2"/>
                </a:solidFill>
                <a:cs typeface="NVIDIA Sans"/>
              </a:rPr>
              <a:t>NeMo</a:t>
            </a:r>
            <a:r>
              <a:rPr lang="en-US" sz="1100">
                <a:solidFill>
                  <a:schemeClr val="tx2"/>
                </a:solidFill>
                <a:cs typeface="NVIDIA Sans"/>
              </a:rPr>
              <a:t> Safe Synthesizer </a:t>
            </a:r>
          </a:p>
          <a:p>
            <a:pPr algn="ctr">
              <a:lnSpc>
                <a:spcPct val="150000"/>
              </a:lnSpc>
            </a:pPr>
            <a:r>
              <a:rPr lang="en-US" sz="1100" err="1">
                <a:solidFill>
                  <a:schemeClr val="tx2"/>
                </a:solidFill>
                <a:cs typeface="NVIDIA Sans"/>
              </a:rPr>
              <a:t>NeMo</a:t>
            </a:r>
            <a:r>
              <a:rPr lang="en-US" sz="1100">
                <a:solidFill>
                  <a:schemeClr val="tx2"/>
                </a:solidFill>
                <a:cs typeface="NVIDIA Sans"/>
              </a:rPr>
              <a:t> Anonymizer </a:t>
            </a:r>
          </a:p>
          <a:p>
            <a:pPr algn="ctr">
              <a:lnSpc>
                <a:spcPct val="150000"/>
              </a:lnSpc>
            </a:pPr>
            <a:r>
              <a:rPr lang="en-US" sz="1100" err="1">
                <a:solidFill>
                  <a:schemeClr val="tx2"/>
                </a:solidFill>
                <a:cs typeface="NVIDIA Sans"/>
              </a:rPr>
              <a:t>NeMo</a:t>
            </a:r>
            <a:r>
              <a:rPr lang="en-US" sz="1100">
                <a:solidFill>
                  <a:schemeClr val="tx2"/>
                </a:solidFill>
                <a:cs typeface="NVIDIA Sans"/>
              </a:rPr>
              <a:t> Guardrails </a:t>
            </a:r>
          </a:p>
          <a:p>
            <a:pPr algn="ctr">
              <a:lnSpc>
                <a:spcPct val="150000"/>
              </a:lnSpc>
            </a:pPr>
            <a:r>
              <a:rPr lang="en-US" sz="1100" err="1">
                <a:solidFill>
                  <a:schemeClr val="tx2"/>
                </a:solidFill>
                <a:cs typeface="NVIDIA Sans"/>
              </a:rPr>
              <a:t>NeMo</a:t>
            </a:r>
            <a:r>
              <a:rPr lang="en-US" sz="1100">
                <a:solidFill>
                  <a:schemeClr val="tx2"/>
                </a:solidFill>
                <a:cs typeface="NVIDIA Sans"/>
              </a:rPr>
              <a:t> Auditor </a:t>
            </a:r>
          </a:p>
        </p:txBody>
      </p:sp>
      <p:sp>
        <p:nvSpPr>
          <p:cNvPr id="23" name="TextBox 3">
            <a:extLst>
              <a:ext uri="{FF2B5EF4-FFF2-40B4-BE49-F238E27FC236}">
                <a16:creationId xmlns:a16="http://schemas.microsoft.com/office/drawing/2014/main" id="{02A5C03B-DE53-58DA-1B98-9B07BA806582}"/>
              </a:ext>
            </a:extLst>
          </p:cNvPr>
          <p:cNvSpPr txBox="1"/>
          <p:nvPr/>
        </p:nvSpPr>
        <p:spPr>
          <a:xfrm>
            <a:off x="4799903" y="3341331"/>
            <a:ext cx="2604524" cy="1528432"/>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150000"/>
              </a:lnSpc>
            </a:pPr>
            <a:r>
              <a:rPr lang="en-US" sz="1100" dirty="0" err="1">
                <a:solidFill>
                  <a:schemeClr val="tx2"/>
                </a:solidFill>
                <a:latin typeface="NVIDIA Sans"/>
                <a:cs typeface="NVIDIA Sans"/>
              </a:rPr>
              <a:t>Nemotron</a:t>
            </a:r>
            <a:r>
              <a:rPr lang="en-US" sz="1100" dirty="0">
                <a:solidFill>
                  <a:schemeClr val="tx2"/>
                </a:solidFill>
                <a:latin typeface="NVIDIA Sans"/>
                <a:cs typeface="NVIDIA Sans"/>
              </a:rPr>
              <a:t> 3 Content Safety</a:t>
            </a:r>
          </a:p>
          <a:p>
            <a:pPr algn="ctr">
              <a:lnSpc>
                <a:spcPct val="150000"/>
              </a:lnSpc>
            </a:pPr>
            <a:r>
              <a:rPr lang="en-US" sz="1100" dirty="0">
                <a:solidFill>
                  <a:schemeClr val="tx2"/>
                </a:solidFill>
                <a:latin typeface="NVIDIA Sans"/>
                <a:cs typeface="NVIDIA Sans"/>
              </a:rPr>
              <a:t>Llama </a:t>
            </a:r>
            <a:r>
              <a:rPr lang="en-US" sz="1100" dirty="0" err="1">
                <a:solidFill>
                  <a:schemeClr val="tx2"/>
                </a:solidFill>
                <a:latin typeface="NVIDIA Sans"/>
                <a:cs typeface="NVIDIA Sans"/>
              </a:rPr>
              <a:t>Nemotron</a:t>
            </a:r>
            <a:r>
              <a:rPr lang="en-US" sz="1100" dirty="0">
                <a:solidFill>
                  <a:schemeClr val="tx2"/>
                </a:solidFill>
                <a:latin typeface="NVIDIA Sans"/>
                <a:cs typeface="NVIDIA Sans"/>
              </a:rPr>
              <a:t> </a:t>
            </a:r>
            <a:r>
              <a:rPr lang="en-US" sz="1100" dirty="0">
                <a:solidFill>
                  <a:schemeClr val="tx2"/>
                </a:solidFill>
                <a:latin typeface="NVIDIA Sans"/>
                <a:ea typeface="+mn-lt"/>
                <a:cs typeface="NVIDIA Sans"/>
              </a:rPr>
              <a:t>Content Safety </a:t>
            </a:r>
            <a:endParaRPr lang="en-US" sz="1100" dirty="0">
              <a:solidFill>
                <a:schemeClr val="tx2"/>
              </a:solidFill>
              <a:latin typeface="NVIDIA Sans"/>
              <a:cs typeface="NVIDIA Sans"/>
            </a:endParaRPr>
          </a:p>
          <a:p>
            <a:pPr algn="ctr">
              <a:lnSpc>
                <a:spcPct val="150000"/>
              </a:lnSpc>
            </a:pPr>
            <a:r>
              <a:rPr lang="en-US" sz="1100" dirty="0" err="1">
                <a:solidFill>
                  <a:schemeClr val="tx2"/>
                </a:solidFill>
                <a:latin typeface="NVIDIA Sans"/>
                <a:ea typeface="+mn-lt"/>
                <a:cs typeface="NVIDIA Sans"/>
              </a:rPr>
              <a:t>Nemotron</a:t>
            </a:r>
            <a:r>
              <a:rPr lang="en-US" sz="1100" dirty="0">
                <a:solidFill>
                  <a:schemeClr val="tx2"/>
                </a:solidFill>
                <a:latin typeface="NVIDIA Sans"/>
                <a:ea typeface="+mn-lt"/>
                <a:cs typeface="NVIDIA Sans"/>
              </a:rPr>
              <a:t> Content Safety Reasoning </a:t>
            </a:r>
            <a:endParaRPr lang="en-US" sz="1100" dirty="0">
              <a:solidFill>
                <a:schemeClr val="tx2"/>
              </a:solidFill>
              <a:latin typeface="NVIDIA Sans"/>
              <a:cs typeface="NVIDIA Sans"/>
            </a:endParaRPr>
          </a:p>
          <a:p>
            <a:pPr algn="ctr">
              <a:lnSpc>
                <a:spcPct val="150000"/>
              </a:lnSpc>
            </a:pPr>
            <a:r>
              <a:rPr lang="en-US" sz="1100" dirty="0">
                <a:solidFill>
                  <a:schemeClr val="tx2"/>
                </a:solidFill>
                <a:latin typeface="NVIDIA Sans"/>
                <a:ea typeface="+mn-lt"/>
                <a:cs typeface="NVIDIA Sans"/>
              </a:rPr>
              <a:t>Llama </a:t>
            </a:r>
            <a:r>
              <a:rPr lang="en-US" sz="1100" dirty="0" err="1">
                <a:solidFill>
                  <a:schemeClr val="tx2"/>
                </a:solidFill>
                <a:latin typeface="NVIDIA Sans"/>
                <a:ea typeface="+mn-lt"/>
                <a:cs typeface="NVIDIA Sans"/>
              </a:rPr>
              <a:t>Nemotron</a:t>
            </a:r>
            <a:r>
              <a:rPr lang="en-US" sz="1100" dirty="0">
                <a:solidFill>
                  <a:schemeClr val="tx2"/>
                </a:solidFill>
                <a:latin typeface="NVIDIA Sans"/>
                <a:ea typeface="+mn-lt"/>
                <a:cs typeface="NVIDIA Sans"/>
              </a:rPr>
              <a:t> Topic Control </a:t>
            </a:r>
            <a:endParaRPr lang="en-US" sz="1100" dirty="0">
              <a:solidFill>
                <a:schemeClr val="tx2"/>
              </a:solidFill>
              <a:latin typeface="NVIDIA Sans"/>
              <a:cs typeface="NVIDIA Sans"/>
            </a:endParaRPr>
          </a:p>
          <a:p>
            <a:pPr algn="ctr">
              <a:lnSpc>
                <a:spcPct val="150000"/>
              </a:lnSpc>
            </a:pPr>
            <a:r>
              <a:rPr lang="en-US" sz="1100" dirty="0" err="1">
                <a:solidFill>
                  <a:schemeClr val="tx2"/>
                </a:solidFill>
                <a:latin typeface="NVIDIA Sans"/>
                <a:ea typeface="+mn-lt"/>
                <a:cs typeface="NVIDIA Sans"/>
              </a:rPr>
              <a:t>Nemotron</a:t>
            </a:r>
            <a:r>
              <a:rPr lang="en-US" sz="1100" dirty="0">
                <a:solidFill>
                  <a:schemeClr val="tx2"/>
                </a:solidFill>
                <a:latin typeface="NVIDIA Sans"/>
                <a:ea typeface="+mn-lt"/>
                <a:cs typeface="NVIDIA Sans"/>
              </a:rPr>
              <a:t> Jailbreak Detection</a:t>
            </a:r>
            <a:r>
              <a:rPr lang="en-US" sz="1100" dirty="0">
                <a:solidFill>
                  <a:schemeClr val="bg1"/>
                </a:solidFill>
                <a:latin typeface="NVIDIA Sans"/>
                <a:ea typeface="+mn-lt"/>
                <a:cs typeface="NVIDIA Sans"/>
              </a:rPr>
              <a:t> </a:t>
            </a:r>
            <a:endParaRPr lang="en-US" sz="1100" dirty="0">
              <a:solidFill>
                <a:schemeClr val="bg1"/>
              </a:solidFill>
              <a:latin typeface="NVIDIA Sans"/>
              <a:cs typeface="NVIDIA Sans"/>
            </a:endParaRPr>
          </a:p>
          <a:p>
            <a:pPr algn="ctr">
              <a:lnSpc>
                <a:spcPct val="150000"/>
              </a:lnSpc>
            </a:pPr>
            <a:r>
              <a:rPr lang="en-US" sz="1100" dirty="0" err="1">
                <a:solidFill>
                  <a:schemeClr val="tx2"/>
                </a:solidFill>
                <a:latin typeface="NVIDIA Sans"/>
                <a:cs typeface="NVIDIA Sans"/>
              </a:rPr>
              <a:t>GLiNER</a:t>
            </a:r>
            <a:r>
              <a:rPr lang="en-US" sz="1100" dirty="0">
                <a:solidFill>
                  <a:schemeClr val="tx2"/>
                </a:solidFill>
                <a:latin typeface="NVIDIA Sans"/>
                <a:cs typeface="NVIDIA Sans"/>
              </a:rPr>
              <a:t> PII</a:t>
            </a:r>
            <a:r>
              <a:rPr lang="en-US" sz="1100" dirty="0">
                <a:solidFill>
                  <a:schemeClr val="bg1"/>
                </a:solidFill>
                <a:latin typeface="NVIDIA Sans"/>
                <a:cs typeface="NVIDIA Sans"/>
              </a:rPr>
              <a:t> </a:t>
            </a:r>
            <a:endParaRPr lang="en-US" sz="1100" dirty="0">
              <a:solidFill>
                <a:schemeClr val="bg1"/>
              </a:solidFill>
              <a:cs typeface="NVIDIA Sans"/>
            </a:endParaRPr>
          </a:p>
        </p:txBody>
      </p:sp>
      <p:sp>
        <p:nvSpPr>
          <p:cNvPr id="17" name="TextBox 56">
            <a:extLst>
              <a:ext uri="{FF2B5EF4-FFF2-40B4-BE49-F238E27FC236}">
                <a16:creationId xmlns:a16="http://schemas.microsoft.com/office/drawing/2014/main" id="{48DF41A6-87A9-6EB4-AF28-78002E9DE39E}"/>
              </a:ext>
            </a:extLst>
          </p:cNvPr>
          <p:cNvSpPr txBox="1"/>
          <p:nvPr/>
        </p:nvSpPr>
        <p:spPr>
          <a:xfrm>
            <a:off x="7668604" y="3332633"/>
            <a:ext cx="2625719" cy="1274131"/>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150000"/>
              </a:lnSpc>
            </a:pPr>
            <a:r>
              <a:rPr lang="en-US" sz="1100" dirty="0" err="1">
                <a:solidFill>
                  <a:schemeClr val="tx2"/>
                </a:solidFill>
                <a:cs typeface="NVIDIA Sans Medium"/>
              </a:rPr>
              <a:t>Nemotron</a:t>
            </a:r>
            <a:r>
              <a:rPr lang="en-US" sz="1100" dirty="0">
                <a:solidFill>
                  <a:schemeClr val="tx2"/>
                </a:solidFill>
                <a:cs typeface="NVIDIA Sans Medium"/>
              </a:rPr>
              <a:t> Content Safety </a:t>
            </a:r>
            <a:endParaRPr lang="en-US" sz="1100" dirty="0">
              <a:solidFill>
                <a:schemeClr val="tx2"/>
              </a:solidFill>
              <a:cs typeface="NVIDIA Sans"/>
            </a:endParaRPr>
          </a:p>
          <a:p>
            <a:pPr algn="ctr">
              <a:lnSpc>
                <a:spcPct val="150000"/>
              </a:lnSpc>
            </a:pPr>
            <a:r>
              <a:rPr lang="en-US" sz="1100" dirty="0" err="1">
                <a:solidFill>
                  <a:schemeClr val="tx2"/>
                </a:solidFill>
                <a:cs typeface="NVIDIA Sans"/>
              </a:rPr>
              <a:t>Nemotron</a:t>
            </a:r>
            <a:r>
              <a:rPr lang="en-US" sz="1100" dirty="0">
                <a:solidFill>
                  <a:schemeClr val="tx2"/>
                </a:solidFill>
                <a:cs typeface="NVIDIA Sans"/>
              </a:rPr>
              <a:t> Content Safety Reasoning</a:t>
            </a:r>
            <a:endParaRPr lang="en-US" sz="1100" dirty="0">
              <a:solidFill>
                <a:schemeClr val="tx2"/>
              </a:solidFill>
              <a:cs typeface="NVIDIA Sans Medium"/>
            </a:endParaRPr>
          </a:p>
          <a:p>
            <a:pPr algn="ctr">
              <a:lnSpc>
                <a:spcPct val="150000"/>
              </a:lnSpc>
            </a:pPr>
            <a:r>
              <a:rPr lang="en-US" sz="1100" dirty="0" err="1">
                <a:solidFill>
                  <a:schemeClr val="tx2"/>
                </a:solidFill>
                <a:cs typeface="NVIDIA Sans"/>
              </a:rPr>
              <a:t>Nemotron</a:t>
            </a:r>
            <a:r>
              <a:rPr lang="en-US" sz="1100" dirty="0">
                <a:solidFill>
                  <a:schemeClr val="tx2"/>
                </a:solidFill>
                <a:cs typeface="NVIDIA Sans"/>
              </a:rPr>
              <a:t> Content Safety Audio </a:t>
            </a:r>
          </a:p>
          <a:p>
            <a:pPr algn="ctr">
              <a:lnSpc>
                <a:spcPct val="150000"/>
              </a:lnSpc>
            </a:pPr>
            <a:r>
              <a:rPr lang="en-US" sz="1100" dirty="0" err="1">
                <a:solidFill>
                  <a:schemeClr val="tx2"/>
                </a:solidFill>
                <a:cs typeface="NVIDIA Sans"/>
              </a:rPr>
              <a:t>Nemotron</a:t>
            </a:r>
            <a:r>
              <a:rPr lang="en-US" sz="1100" dirty="0">
                <a:solidFill>
                  <a:schemeClr val="tx2"/>
                </a:solidFill>
                <a:cs typeface="NVIDIA Sans"/>
              </a:rPr>
              <a:t> AIQ Agentic Safety </a:t>
            </a:r>
          </a:p>
          <a:p>
            <a:pPr algn="ctr">
              <a:lnSpc>
                <a:spcPct val="150000"/>
              </a:lnSpc>
            </a:pPr>
            <a:r>
              <a:rPr lang="en-US" sz="1100" dirty="0" err="1">
                <a:solidFill>
                  <a:schemeClr val="tx2"/>
                </a:solidFill>
                <a:cs typeface="NVIDIA Sans"/>
              </a:rPr>
              <a:t>Nemotron</a:t>
            </a:r>
            <a:r>
              <a:rPr lang="en-US" sz="1100" dirty="0">
                <a:solidFill>
                  <a:schemeClr val="tx2"/>
                </a:solidFill>
                <a:cs typeface="NVIDIA Sans"/>
              </a:rPr>
              <a:t> PII </a:t>
            </a:r>
          </a:p>
        </p:txBody>
      </p:sp>
    </p:spTree>
    <p:extLst>
      <p:ext uri="{BB962C8B-B14F-4D97-AF65-F5344CB8AC3E}">
        <p14:creationId xmlns:p14="http://schemas.microsoft.com/office/powerpoint/2010/main" val="10384654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6" name="Google Shape;1386;p152"/>
          <p:cNvSpPr txBox="1">
            <a:spLocks noGrp="1"/>
          </p:cNvSpPr>
          <p:nvPr>
            <p:ph type="title"/>
          </p:nvPr>
        </p:nvSpPr>
        <p:spPr>
          <a:xfrm>
            <a:off x="838200" y="0"/>
            <a:ext cx="10515600" cy="838400"/>
          </a:xfrm>
          <a:prstGeom prst="rect">
            <a:avLst/>
          </a:prstGeom>
          <a:noFill/>
          <a:ln>
            <a:noFill/>
          </a:ln>
        </p:spPr>
        <p:txBody>
          <a:bodyPr spcFirstLastPara="1" wrap="square" lIns="91433" tIns="45700" rIns="91433"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90000"/>
              </a:lnSpc>
            </a:pPr>
            <a:r>
              <a:rPr lang="en-US" sz="2400" b="1">
                <a:solidFill>
                  <a:schemeClr val="lt1"/>
                </a:solidFill>
                <a:latin typeface="NVIDIA Sans"/>
                <a:cs typeface="NVIDIA Sans"/>
              </a:rPr>
              <a:t>NVIDIA </a:t>
            </a:r>
            <a:r>
              <a:rPr lang="en-US" sz="2400" b="1" err="1">
                <a:solidFill>
                  <a:schemeClr val="lt1"/>
                </a:solidFill>
                <a:latin typeface="NVIDIA Sans"/>
                <a:cs typeface="NVIDIA Sans"/>
              </a:rPr>
              <a:t>NeMo</a:t>
            </a:r>
            <a:r>
              <a:rPr lang="en-US" sz="2400" b="1">
                <a:solidFill>
                  <a:schemeClr val="lt1"/>
                </a:solidFill>
                <a:latin typeface="NVIDIA Sans"/>
                <a:cs typeface="NVIDIA Sans"/>
              </a:rPr>
              <a:t> Guardrails</a:t>
            </a:r>
            <a:endParaRPr lang="en-US"/>
          </a:p>
        </p:txBody>
      </p:sp>
      <p:sp>
        <p:nvSpPr>
          <p:cNvPr id="1387" name="Google Shape;1387;p152"/>
          <p:cNvSpPr txBox="1">
            <a:spLocks noGrp="1"/>
          </p:cNvSpPr>
          <p:nvPr>
            <p:ph type="body" idx="1"/>
          </p:nvPr>
        </p:nvSpPr>
        <p:spPr>
          <a:xfrm>
            <a:off x="226690" y="857702"/>
            <a:ext cx="11781780" cy="463871"/>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lnSpc>
                <a:spcPct val="90000"/>
              </a:lnSpc>
            </a:pPr>
            <a:r>
              <a:rPr lang="en" sz="1600" kern="1200">
                <a:solidFill>
                  <a:schemeClr val="bg2"/>
                </a:solidFill>
                <a:ea typeface="+mn-ea"/>
              </a:rPr>
              <a:t>Build enterprise-grade AI agents with robust security and control – intercept policy violations with minimal performance impact</a:t>
            </a:r>
            <a:endParaRPr lang="en-US">
              <a:solidFill>
                <a:schemeClr val="bg2"/>
              </a:solidFill>
              <a:ea typeface="+mn-ea"/>
            </a:endParaRPr>
          </a:p>
        </p:txBody>
      </p:sp>
      <p:sp>
        <p:nvSpPr>
          <p:cNvPr id="6" name="TextBox 5">
            <a:extLst>
              <a:ext uri="{FF2B5EF4-FFF2-40B4-BE49-F238E27FC236}">
                <a16:creationId xmlns:a16="http://schemas.microsoft.com/office/drawing/2014/main" id="{22E06688-4559-45D8-4F9E-CB46980468B2}"/>
              </a:ext>
            </a:extLst>
          </p:cNvPr>
          <p:cNvSpPr txBox="1"/>
          <p:nvPr/>
        </p:nvSpPr>
        <p:spPr>
          <a:xfrm>
            <a:off x="1175071" y="6330008"/>
            <a:ext cx="10002931" cy="276999"/>
          </a:xfrm>
          <a:prstGeom prst="rect">
            <a:avLst/>
          </a:prstGeom>
          <a:noFill/>
        </p:spPr>
        <p:txBody>
          <a:bodyPr wrap="square" lIns="91440" tIns="45720" rIns="91440" bIns="45720" rtlCol="0" anchor="t">
            <a:spAutoFit/>
          </a:bodyPr>
          <a:lstStyle/>
          <a:p>
            <a:pPr algn="ctr"/>
            <a:r>
              <a:rPr lang="en-US" sz="1200" i="1">
                <a:solidFill>
                  <a:schemeClr val="bg1"/>
                </a:solidFill>
                <a:latin typeface="NVIDIA Sans"/>
                <a:cs typeface="NVIDIA Sans"/>
              </a:rPr>
              <a:t>Learn more about </a:t>
            </a:r>
            <a:r>
              <a:rPr lang="en-US" sz="1200" i="1" err="1">
                <a:solidFill>
                  <a:schemeClr val="bg1"/>
                </a:solidFill>
                <a:latin typeface="NVIDIA Sans"/>
                <a:cs typeface="NVIDIA Sans"/>
              </a:rPr>
              <a:t>NeMo</a:t>
            </a:r>
            <a:r>
              <a:rPr lang="en-US" sz="1200" i="1">
                <a:solidFill>
                  <a:schemeClr val="bg1"/>
                </a:solidFill>
                <a:latin typeface="NVIDIA Sans"/>
                <a:cs typeface="NVIDIA Sans"/>
              </a:rPr>
              <a:t> Guardrails on the </a:t>
            </a:r>
            <a:r>
              <a:rPr lang="en-US" sz="1200" b="1" i="1">
                <a:solidFill>
                  <a:schemeClr val="bg2"/>
                </a:solidFill>
                <a:latin typeface="NVIDIA Sans"/>
                <a:cs typeface="NVIDIA Sans"/>
                <a:hlinkClick r:id="rId4">
                  <a:extLst>
                    <a:ext uri="{A12FA001-AC4F-418D-AE19-62706E023703}">
                      <ahyp:hlinkClr xmlns:ahyp="http://schemas.microsoft.com/office/drawing/2018/hyperlinkcolor" val="tx"/>
                    </a:ext>
                  </a:extLst>
                </a:hlinkClick>
              </a:rPr>
              <a:t>product page</a:t>
            </a:r>
            <a:r>
              <a:rPr lang="en-US" sz="1200" i="1">
                <a:solidFill>
                  <a:schemeClr val="bg1"/>
                </a:solidFill>
                <a:latin typeface="NVIDIA Sans"/>
                <a:cs typeface="NVIDIA Sans"/>
              </a:rPr>
              <a:t>.</a:t>
            </a:r>
          </a:p>
        </p:txBody>
      </p:sp>
      <p:sp>
        <p:nvSpPr>
          <p:cNvPr id="4" name="Google Shape;3674;p382">
            <a:extLst>
              <a:ext uri="{FF2B5EF4-FFF2-40B4-BE49-F238E27FC236}">
                <a16:creationId xmlns:a16="http://schemas.microsoft.com/office/drawing/2014/main" id="{9E6087F4-A8BF-993A-CDA0-2EFF58FA88D5}"/>
              </a:ext>
            </a:extLst>
          </p:cNvPr>
          <p:cNvSpPr/>
          <p:nvPr/>
        </p:nvSpPr>
        <p:spPr>
          <a:xfrm>
            <a:off x="761723" y="1778800"/>
            <a:ext cx="3804224" cy="3856088"/>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9" name="Content Placeholder 3">
            <a:extLst>
              <a:ext uri="{FF2B5EF4-FFF2-40B4-BE49-F238E27FC236}">
                <a16:creationId xmlns:a16="http://schemas.microsoft.com/office/drawing/2014/main" id="{9CC6BC27-E523-62B4-5920-96AE76D1C881}"/>
              </a:ext>
            </a:extLst>
          </p:cNvPr>
          <p:cNvSpPr txBox="1">
            <a:spLocks/>
          </p:cNvSpPr>
          <p:nvPr/>
        </p:nvSpPr>
        <p:spPr>
          <a:xfrm>
            <a:off x="891196" y="1930861"/>
            <a:ext cx="2845477" cy="2774097"/>
          </a:xfrm>
          <a:prstGeom prst="rect">
            <a:avLst/>
          </a:prstGeom>
          <a:noFill/>
          <a:ln>
            <a:noFill/>
          </a:ln>
        </p:spPr>
        <p:txBody>
          <a:bodyPr spcFirstLastPara="1" wrap="square" lIns="91440" tIns="45720" rIns="91440" bIns="45720" anchor="t" anchorCtr="0">
            <a:noAutofit/>
          </a:bodyPr>
          <a:lstStyle>
            <a:defPPr marR="0" lvl="0" algn="l" rtl="0">
              <a:lnSpc>
                <a:spcPct val="100000"/>
              </a:lnSpc>
              <a:spcBef>
                <a:spcPts val="0"/>
              </a:spcBef>
              <a:spcAft>
                <a:spcPts val="0"/>
              </a:spcAft>
            </a:defPPr>
            <a:lvl1pPr marL="609585" marR="0" lvl="0" indent="-304792" algn="ctr" rtl="0">
              <a:lnSpc>
                <a:spcPct val="90000"/>
              </a:lnSpc>
              <a:spcBef>
                <a:spcPts val="0"/>
              </a:spcBef>
              <a:spcAft>
                <a:spcPts val="0"/>
              </a:spcAft>
              <a:buClr>
                <a:schemeClr val="dk2"/>
              </a:buClr>
              <a:buSzPts val="1200"/>
              <a:buFont typeface="NVIDIA Sans"/>
              <a:buNone/>
              <a:defRPr sz="1600" b="0" i="0" u="none" strike="noStrike" cap="none">
                <a:solidFill>
                  <a:schemeClr val="dk2"/>
                </a:solidFill>
                <a:latin typeface="NVIDIA Sans"/>
                <a:ea typeface="NVIDIA Sans"/>
                <a:cs typeface="NVIDIA Sans"/>
                <a:sym typeface="NVIDIA Sans"/>
              </a:defRPr>
            </a:lvl1pPr>
            <a:lvl2pPr marL="1219170" marR="0" lvl="1" indent="-304792"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2pPr>
            <a:lvl3pPr marL="1828754" marR="0" lvl="2" indent="-304792"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3pPr>
            <a:lvl4pPr marL="2438339" marR="0" lvl="3" indent="-304792"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4pPr>
            <a:lvl5pPr marL="3047924" marR="0" lvl="4" indent="-304792" algn="ctr" rtl="0">
              <a:lnSpc>
                <a:spcPct val="90000"/>
              </a:lnSpc>
              <a:spcBef>
                <a:spcPts val="533"/>
              </a:spcBef>
              <a:spcAft>
                <a:spcPts val="0"/>
              </a:spcAft>
              <a:buClr>
                <a:schemeClr val="dk1"/>
              </a:buClr>
              <a:buSzPts val="1100"/>
              <a:buFont typeface="NVIDIA Sans"/>
              <a:buNone/>
              <a:defRPr sz="1467" b="0" i="0" u="none" strike="noStrike" cap="none">
                <a:solidFill>
                  <a:schemeClr val="dk1"/>
                </a:solidFill>
                <a:latin typeface="NVIDIA Sans"/>
                <a:ea typeface="NVIDIA Sans"/>
                <a:cs typeface="NVIDIA Sans"/>
                <a:sym typeface="NVIDIA Sans"/>
              </a:defRPr>
            </a:lvl5pPr>
            <a:lvl6pPr marL="3657509" marR="0" lvl="5" indent="-423323" algn="l" rtl="0">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6pPr>
            <a:lvl7pPr marL="4267093" marR="0" lvl="6" indent="-423323" algn="l" rtl="0">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7pPr>
            <a:lvl8pPr marL="4876678" marR="0" lvl="7" indent="-423323" algn="l" rtl="0">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8pPr>
            <a:lvl9pPr marL="5486263" marR="0" lvl="8" indent="-423323" algn="l" rtl="0">
              <a:lnSpc>
                <a:spcPct val="90000"/>
              </a:lnSpc>
              <a:spcBef>
                <a:spcPts val="533"/>
              </a:spcBef>
              <a:spcAft>
                <a:spcPts val="0"/>
              </a:spcAft>
              <a:buClr>
                <a:schemeClr val="dk1"/>
              </a:buClr>
              <a:buSzPts val="1400"/>
              <a:buFont typeface="NVIDIA Sans"/>
              <a:buChar char="•"/>
              <a:defRPr sz="1867" b="0" i="0" u="none" strike="noStrike" cap="none">
                <a:solidFill>
                  <a:schemeClr val="dk1"/>
                </a:solidFill>
                <a:latin typeface="NVIDIA Sans"/>
                <a:ea typeface="NVIDIA Sans"/>
                <a:cs typeface="NVIDIA Sans"/>
                <a:sym typeface="NVIDIA Sans"/>
              </a:defRPr>
            </a:lvl9pPr>
          </a:lstStyle>
          <a:p>
            <a:pPr marL="151765" indent="-151765" algn="l"/>
            <a:r>
              <a:rPr lang="en-US" sz="1800" b="1" kern="0">
                <a:solidFill>
                  <a:schemeClr val="bg2"/>
                </a:solidFill>
              </a:rPr>
              <a:t>Key Features</a:t>
            </a:r>
            <a:endParaRPr lang="en-US" sz="1800" kern="0">
              <a:solidFill>
                <a:schemeClr val="bg2"/>
              </a:solidFill>
            </a:endParaRPr>
          </a:p>
          <a:p>
            <a:pPr marL="151765" indent="0">
              <a:lnSpc>
                <a:spcPct val="100000"/>
              </a:lnSpc>
            </a:pPr>
            <a:endParaRPr lang="en-US" sz="1100" b="1" kern="0">
              <a:solidFill>
                <a:schemeClr val="lt1"/>
              </a:solidFill>
            </a:endParaRPr>
          </a:p>
          <a:p>
            <a:pPr marL="0" indent="0">
              <a:lnSpc>
                <a:spcPct val="100000"/>
              </a:lnSpc>
            </a:pPr>
            <a:endParaRPr lang="en-US" sz="1300" kern="0">
              <a:solidFill>
                <a:srgbClr val="000000"/>
              </a:solidFill>
            </a:endParaRPr>
          </a:p>
          <a:p>
            <a:pPr marL="0" indent="0">
              <a:lnSpc>
                <a:spcPct val="100000"/>
              </a:lnSpc>
            </a:pPr>
            <a:endParaRPr lang="en-US" sz="1300" kern="0">
              <a:solidFill>
                <a:srgbClr val="FFFFFF"/>
              </a:solidFill>
            </a:endParaRPr>
          </a:p>
          <a:p>
            <a:pPr marL="0" indent="0">
              <a:lnSpc>
                <a:spcPct val="100000"/>
              </a:lnSpc>
            </a:pPr>
            <a:endParaRPr lang="en-US" sz="1300" b="1" kern="0">
              <a:solidFill>
                <a:srgbClr val="000000"/>
              </a:solidFill>
            </a:endParaRPr>
          </a:p>
        </p:txBody>
      </p:sp>
      <p:pic>
        <p:nvPicPr>
          <p:cNvPr id="14" name="Picture 13" descr="A green and black logo&#10;&#10;AI-generated content may be incorrect.">
            <a:extLst>
              <a:ext uri="{FF2B5EF4-FFF2-40B4-BE49-F238E27FC236}">
                <a16:creationId xmlns:a16="http://schemas.microsoft.com/office/drawing/2014/main" id="{C69EC009-DD4E-3B1D-90BD-793805771B5F}"/>
              </a:ext>
            </a:extLst>
          </p:cNvPr>
          <p:cNvPicPr>
            <a:picLocks noChangeAspect="1"/>
          </p:cNvPicPr>
          <p:nvPr/>
        </p:nvPicPr>
        <p:blipFill>
          <a:blip r:embed="rId5"/>
          <a:stretch>
            <a:fillRect/>
          </a:stretch>
        </p:blipFill>
        <p:spPr>
          <a:xfrm>
            <a:off x="857959" y="2177284"/>
            <a:ext cx="829118" cy="818083"/>
          </a:xfrm>
          <a:prstGeom prst="rect">
            <a:avLst/>
          </a:prstGeom>
        </p:spPr>
      </p:pic>
      <p:sp>
        <p:nvSpPr>
          <p:cNvPr id="20" name="Text Placeholder 2">
            <a:extLst>
              <a:ext uri="{FF2B5EF4-FFF2-40B4-BE49-F238E27FC236}">
                <a16:creationId xmlns:a16="http://schemas.microsoft.com/office/drawing/2014/main" id="{4A041F48-DF15-CBD7-C06C-67EBB724C4E4}"/>
              </a:ext>
            </a:extLst>
          </p:cNvPr>
          <p:cNvSpPr txBox="1">
            <a:spLocks/>
          </p:cNvSpPr>
          <p:nvPr/>
        </p:nvSpPr>
        <p:spPr>
          <a:xfrm>
            <a:off x="1681804" y="2299406"/>
            <a:ext cx="2719988" cy="3689963"/>
          </a:xfrm>
          <a:prstGeom prst="rect">
            <a:avLst/>
          </a:prstGeom>
        </p:spPr>
        <p:txBody>
          <a:bodyPr lIns="91440" tIns="45720" rIns="91440" bIns="45720" anchor="t"/>
          <a:lstStyle>
            <a:lvl1pPr marL="228577" indent="-228577" algn="l" defTabSz="914309" rtl="0" eaLnBrk="1" latinLnBrk="0" hangingPunct="1">
              <a:lnSpc>
                <a:spcPct val="90000"/>
              </a:lnSpc>
              <a:spcBef>
                <a:spcPts val="1000"/>
              </a:spcBef>
              <a:buFont typeface="NVIDIA Sans" panose="020B0503020203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NVIDIA Sans" panose="020B0503020203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NVIDIA Sans" panose="020B0503020203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0" indent="-227965">
              <a:lnSpc>
                <a:spcPct val="100000"/>
              </a:lnSpc>
              <a:spcBef>
                <a:spcPts val="500"/>
              </a:spcBef>
              <a:buNone/>
            </a:pPr>
            <a:r>
              <a:rPr lang="en-US" sz="1400" b="1">
                <a:solidFill>
                  <a:schemeClr val="bg1"/>
                </a:solidFill>
                <a:latin typeface="NVIDIA Sans"/>
                <a:ea typeface="+mn-lt"/>
                <a:cs typeface="+mn-lt"/>
              </a:rPr>
              <a:t>Customizable Use Cases</a:t>
            </a:r>
            <a:endParaRPr lang="en-US" sz="1400">
              <a:solidFill>
                <a:schemeClr val="bg1"/>
              </a:solidFill>
              <a:latin typeface="NVIDIA Sans"/>
              <a:ea typeface="+mn-lt"/>
              <a:cs typeface="+mn-lt"/>
            </a:endParaRPr>
          </a:p>
          <a:p>
            <a:pPr marL="0" indent="-227965">
              <a:lnSpc>
                <a:spcPct val="100000"/>
              </a:lnSpc>
              <a:spcBef>
                <a:spcPts val="500"/>
              </a:spcBef>
              <a:buNone/>
            </a:pPr>
            <a:r>
              <a:rPr lang="en-US" sz="1200">
                <a:solidFill>
                  <a:schemeClr val="bg1"/>
                </a:solidFill>
                <a:latin typeface="NVIDIA Sans"/>
                <a:ea typeface="+mn-lt"/>
                <a:cs typeface="+mn-lt"/>
              </a:rPr>
              <a:t>PII detection, content safety, jailbreak protection, topic control, RAG enforcement, etc.</a:t>
            </a:r>
          </a:p>
          <a:p>
            <a:pPr marL="0" indent="-227965">
              <a:lnSpc>
                <a:spcPct val="100000"/>
              </a:lnSpc>
              <a:spcBef>
                <a:spcPts val="500"/>
              </a:spcBef>
              <a:buNone/>
            </a:pPr>
            <a:endParaRPr lang="en-US" sz="800" b="1">
              <a:solidFill>
                <a:schemeClr val="bg1"/>
              </a:solidFill>
              <a:latin typeface="NVIDIA Sans"/>
              <a:ea typeface="+mn-lt"/>
              <a:cs typeface="+mn-lt"/>
            </a:endParaRPr>
          </a:p>
          <a:p>
            <a:pPr marL="0" indent="-227965">
              <a:lnSpc>
                <a:spcPct val="100000"/>
              </a:lnSpc>
              <a:spcBef>
                <a:spcPts val="500"/>
              </a:spcBef>
              <a:buNone/>
            </a:pPr>
            <a:r>
              <a:rPr lang="en-US" sz="1400" b="1">
                <a:solidFill>
                  <a:schemeClr val="bg1"/>
                </a:solidFill>
                <a:latin typeface="NVIDIA Sans"/>
                <a:ea typeface="+mn-lt"/>
                <a:cs typeface="+mn-lt"/>
              </a:rPr>
              <a:t>Performance-Optimized </a:t>
            </a:r>
            <a:endParaRPr lang="en-US" sz="1400" b="1">
              <a:solidFill>
                <a:schemeClr val="bg1"/>
              </a:solidFill>
              <a:latin typeface="NVIDIA Sans"/>
              <a:cs typeface="Arial"/>
            </a:endParaRPr>
          </a:p>
          <a:p>
            <a:pPr marL="0" indent="-227965">
              <a:lnSpc>
                <a:spcPct val="100000"/>
              </a:lnSpc>
              <a:spcBef>
                <a:spcPts val="500"/>
              </a:spcBef>
              <a:buNone/>
            </a:pPr>
            <a:r>
              <a:rPr lang="en-US" sz="1200">
                <a:solidFill>
                  <a:schemeClr val="bg1"/>
                </a:solidFill>
                <a:latin typeface="NVIDIA Sans"/>
                <a:ea typeface="+mn-lt"/>
                <a:cs typeface="+mn-lt"/>
              </a:rPr>
              <a:t>Parallel execution of multiple guardrails without performance overhead.</a:t>
            </a:r>
            <a:endParaRPr lang="en-US" sz="1200">
              <a:solidFill>
                <a:schemeClr val="bg1"/>
              </a:solidFill>
            </a:endParaRPr>
          </a:p>
          <a:p>
            <a:pPr marL="0" indent="-227965">
              <a:lnSpc>
                <a:spcPct val="100000"/>
              </a:lnSpc>
              <a:spcBef>
                <a:spcPts val="500"/>
              </a:spcBef>
              <a:buNone/>
            </a:pPr>
            <a:endParaRPr lang="en-US" sz="800">
              <a:solidFill>
                <a:schemeClr val="bg1"/>
              </a:solidFill>
              <a:latin typeface="NVIDIA Sans"/>
              <a:ea typeface="+mn-lt"/>
              <a:cs typeface="+mn-lt"/>
            </a:endParaRPr>
          </a:p>
          <a:p>
            <a:pPr marL="0" indent="-227965">
              <a:lnSpc>
                <a:spcPct val="100000"/>
              </a:lnSpc>
              <a:spcBef>
                <a:spcPts val="500"/>
              </a:spcBef>
              <a:buNone/>
            </a:pPr>
            <a:r>
              <a:rPr lang="en-US" sz="1400" b="1">
                <a:solidFill>
                  <a:schemeClr val="bg1"/>
                </a:solidFill>
                <a:latin typeface="NVIDIA Sans"/>
                <a:ea typeface="+mn-lt"/>
                <a:cs typeface="+mn-lt"/>
              </a:rPr>
              <a:t>Flexible Deployment </a:t>
            </a:r>
            <a:endParaRPr lang="en-US" sz="1400" b="1">
              <a:solidFill>
                <a:schemeClr val="bg1"/>
              </a:solidFill>
              <a:latin typeface="NVIDIA Sans"/>
              <a:cs typeface="Arial"/>
            </a:endParaRPr>
          </a:p>
          <a:p>
            <a:pPr marL="0" indent="-227965">
              <a:lnSpc>
                <a:spcPct val="100000"/>
              </a:lnSpc>
              <a:spcBef>
                <a:spcPts val="500"/>
              </a:spcBef>
              <a:buNone/>
            </a:pPr>
            <a:r>
              <a:rPr lang="en-US" sz="1200">
                <a:solidFill>
                  <a:schemeClr val="bg1"/>
                </a:solidFill>
                <a:latin typeface="NVIDIA Sans"/>
                <a:ea typeface="+mn-lt"/>
                <a:cs typeface="+mn-lt"/>
              </a:rPr>
              <a:t>Efficiently orchestrate and deploy anywhere.</a:t>
            </a:r>
            <a:endParaRPr lang="en-US" sz="1200">
              <a:solidFill>
                <a:schemeClr val="bg1"/>
              </a:solidFill>
              <a:latin typeface="NVIDIA Sans"/>
            </a:endParaRPr>
          </a:p>
        </p:txBody>
      </p:sp>
      <p:pic>
        <p:nvPicPr>
          <p:cNvPr id="30" name="Picture 29" descr="A green logo with a black background&#10;&#10;Description automatically generated">
            <a:extLst>
              <a:ext uri="{FF2B5EF4-FFF2-40B4-BE49-F238E27FC236}">
                <a16:creationId xmlns:a16="http://schemas.microsoft.com/office/drawing/2014/main" id="{00F820CF-B21A-0999-874F-6635AF474916}"/>
              </a:ext>
            </a:extLst>
          </p:cNvPr>
          <p:cNvPicPr>
            <a:picLocks noChangeAspect="1"/>
          </p:cNvPicPr>
          <p:nvPr/>
        </p:nvPicPr>
        <p:blipFill>
          <a:blip r:embed="rId6"/>
          <a:stretch>
            <a:fillRect/>
          </a:stretch>
        </p:blipFill>
        <p:spPr>
          <a:xfrm>
            <a:off x="888583" y="3034032"/>
            <a:ext cx="765510" cy="717742"/>
          </a:xfrm>
          <a:prstGeom prst="rect">
            <a:avLst/>
          </a:prstGeom>
        </p:spPr>
      </p:pic>
      <p:pic>
        <p:nvPicPr>
          <p:cNvPr id="32" name="Picture 31" descr="A computer screen with a cloud in the background&#10;&#10;AI-generated content may be incorrect.">
            <a:extLst>
              <a:ext uri="{FF2B5EF4-FFF2-40B4-BE49-F238E27FC236}">
                <a16:creationId xmlns:a16="http://schemas.microsoft.com/office/drawing/2014/main" id="{1FB29FB5-2EC4-4BEB-DA16-48928820C733}"/>
              </a:ext>
            </a:extLst>
          </p:cNvPr>
          <p:cNvPicPr>
            <a:picLocks noChangeAspect="1"/>
          </p:cNvPicPr>
          <p:nvPr/>
        </p:nvPicPr>
        <p:blipFill>
          <a:blip r:embed="rId7"/>
          <a:stretch>
            <a:fillRect/>
          </a:stretch>
        </p:blipFill>
        <p:spPr>
          <a:xfrm>
            <a:off x="905232" y="3896511"/>
            <a:ext cx="735646" cy="724187"/>
          </a:xfrm>
          <a:prstGeom prst="rect">
            <a:avLst/>
          </a:prstGeom>
        </p:spPr>
      </p:pic>
      <p:sp>
        <p:nvSpPr>
          <p:cNvPr id="11" name="Text Placeholder 3">
            <a:extLst>
              <a:ext uri="{FF2B5EF4-FFF2-40B4-BE49-F238E27FC236}">
                <a16:creationId xmlns:a16="http://schemas.microsoft.com/office/drawing/2014/main" id="{6F3F4520-BD9F-0FF7-3769-D47118400C7C}"/>
              </a:ext>
            </a:extLst>
          </p:cNvPr>
          <p:cNvSpPr txBox="1">
            <a:spLocks/>
          </p:cNvSpPr>
          <p:nvPr/>
        </p:nvSpPr>
        <p:spPr>
          <a:xfrm>
            <a:off x="4734569" y="2365505"/>
            <a:ext cx="1631547" cy="1091426"/>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ts val="100"/>
              </a:spcBef>
            </a:pPr>
            <a:r>
              <a:rPr lang="en-US" sz="900" i="1" kern="0">
                <a:latin typeface="NVIDIA Sans Light"/>
              </a:rPr>
              <a:t>Content Safety</a:t>
            </a:r>
          </a:p>
          <a:p>
            <a:pPr algn="ctr">
              <a:spcBef>
                <a:spcPts val="100"/>
              </a:spcBef>
            </a:pPr>
            <a:r>
              <a:rPr lang="en-US" sz="900" i="1" kern="0">
                <a:latin typeface="NVIDIA Sans Light"/>
              </a:rPr>
              <a:t>Jailbreak Protection</a:t>
            </a:r>
          </a:p>
          <a:p>
            <a:pPr algn="ctr">
              <a:spcBef>
                <a:spcPts val="100"/>
              </a:spcBef>
            </a:pPr>
            <a:r>
              <a:rPr lang="en-US" sz="900" i="1" kern="0">
                <a:latin typeface="NVIDIA Sans Light"/>
              </a:rPr>
              <a:t>Topic Control</a:t>
            </a:r>
          </a:p>
          <a:p>
            <a:pPr algn="ctr">
              <a:spcBef>
                <a:spcPts val="100"/>
              </a:spcBef>
            </a:pPr>
            <a:r>
              <a:rPr lang="en-US" sz="900" i="1" kern="0">
                <a:latin typeface="NVIDIA Sans Light"/>
              </a:rPr>
              <a:t>PII Detection</a:t>
            </a:r>
          </a:p>
          <a:p>
            <a:pPr algn="ctr">
              <a:spcBef>
                <a:spcPts val="100"/>
              </a:spcBef>
            </a:pPr>
            <a:r>
              <a:rPr lang="en-US" sz="900" i="1" kern="0">
                <a:latin typeface="NVIDIA Sans Light"/>
              </a:rPr>
              <a:t>Custom Rails</a:t>
            </a:r>
          </a:p>
        </p:txBody>
      </p:sp>
      <p:sp>
        <p:nvSpPr>
          <p:cNvPr id="21" name="Rectangle: Rounded Corners 20">
            <a:extLst>
              <a:ext uri="{FF2B5EF4-FFF2-40B4-BE49-F238E27FC236}">
                <a16:creationId xmlns:a16="http://schemas.microsoft.com/office/drawing/2014/main" id="{5647B95A-A066-5E69-A6F8-50221DEEC40C}"/>
              </a:ext>
            </a:extLst>
          </p:cNvPr>
          <p:cNvSpPr/>
          <p:nvPr/>
        </p:nvSpPr>
        <p:spPr>
          <a:xfrm>
            <a:off x="4842688" y="1486060"/>
            <a:ext cx="1426161" cy="845132"/>
          </a:xfrm>
          <a:prstGeom prst="roundRect">
            <a:avLst/>
          </a:prstGeom>
          <a:solidFill>
            <a:schemeClr val="tx1"/>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lumMod val="85000"/>
                    <a:lumOff val="15000"/>
                  </a:schemeClr>
                </a:solidFill>
                <a:latin typeface="NVIDIA Sans"/>
                <a:cs typeface="Arial"/>
              </a:rPr>
              <a:t>Input</a:t>
            </a:r>
          </a:p>
          <a:p>
            <a:pPr algn="ctr"/>
            <a:endParaRPr lang="en-US">
              <a:cs typeface="Arial"/>
            </a:endParaRPr>
          </a:p>
          <a:p>
            <a:pPr algn="ctr"/>
            <a:endParaRPr lang="en-US" sz="800">
              <a:cs typeface="Arial"/>
            </a:endParaRPr>
          </a:p>
        </p:txBody>
      </p:sp>
      <p:sp>
        <p:nvSpPr>
          <p:cNvPr id="24" name="Rectangle: Rounded Corners 23">
            <a:extLst>
              <a:ext uri="{FF2B5EF4-FFF2-40B4-BE49-F238E27FC236}">
                <a16:creationId xmlns:a16="http://schemas.microsoft.com/office/drawing/2014/main" id="{75816296-E0DD-92E6-1F86-28F871DACC6C}"/>
              </a:ext>
            </a:extLst>
          </p:cNvPr>
          <p:cNvSpPr/>
          <p:nvPr/>
        </p:nvSpPr>
        <p:spPr>
          <a:xfrm>
            <a:off x="6179868" y="2346605"/>
            <a:ext cx="1426161" cy="845132"/>
          </a:xfrm>
          <a:prstGeom prst="roundRect">
            <a:avLst/>
          </a:prstGeom>
          <a:solidFill>
            <a:schemeClr val="tx1"/>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lumMod val="85000"/>
                    <a:lumOff val="15000"/>
                  </a:schemeClr>
                </a:solidFill>
                <a:latin typeface="NVIDIA Sans"/>
                <a:cs typeface="Arial"/>
              </a:rPr>
              <a:t>Retrieval</a:t>
            </a:r>
          </a:p>
          <a:p>
            <a:pPr algn="ctr"/>
            <a:endParaRPr lang="en-US">
              <a:cs typeface="Arial"/>
            </a:endParaRPr>
          </a:p>
          <a:p>
            <a:pPr algn="ctr"/>
            <a:endParaRPr lang="en-US" sz="800">
              <a:cs typeface="Arial"/>
            </a:endParaRPr>
          </a:p>
        </p:txBody>
      </p:sp>
      <p:sp>
        <p:nvSpPr>
          <p:cNvPr id="26" name="Rectangle: Rounded Corners 25">
            <a:extLst>
              <a:ext uri="{FF2B5EF4-FFF2-40B4-BE49-F238E27FC236}">
                <a16:creationId xmlns:a16="http://schemas.microsoft.com/office/drawing/2014/main" id="{F8B37772-0229-BF9D-FD46-C6C6D3D10BA7}"/>
              </a:ext>
            </a:extLst>
          </p:cNvPr>
          <p:cNvSpPr/>
          <p:nvPr/>
        </p:nvSpPr>
        <p:spPr>
          <a:xfrm>
            <a:off x="7452877" y="3203953"/>
            <a:ext cx="1426161" cy="845132"/>
          </a:xfrm>
          <a:prstGeom prst="roundRect">
            <a:avLst/>
          </a:prstGeom>
          <a:solidFill>
            <a:schemeClr val="tx1"/>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lumMod val="85000"/>
                    <a:lumOff val="15000"/>
                  </a:schemeClr>
                </a:solidFill>
                <a:latin typeface="NVIDIA Sans"/>
                <a:cs typeface="Arial"/>
              </a:rPr>
              <a:t>Dialog</a:t>
            </a:r>
            <a:endParaRPr lang="en-US" b="1">
              <a:solidFill>
                <a:schemeClr val="bg1">
                  <a:lumMod val="85000"/>
                  <a:lumOff val="15000"/>
                </a:schemeClr>
              </a:solidFill>
              <a:cs typeface="Arial"/>
            </a:endParaRPr>
          </a:p>
          <a:p>
            <a:pPr algn="ctr"/>
            <a:endParaRPr lang="en-US">
              <a:cs typeface="Arial"/>
            </a:endParaRPr>
          </a:p>
          <a:p>
            <a:pPr algn="ctr"/>
            <a:endParaRPr lang="en-US" sz="800">
              <a:cs typeface="Arial"/>
            </a:endParaRPr>
          </a:p>
        </p:txBody>
      </p:sp>
      <p:sp>
        <p:nvSpPr>
          <p:cNvPr id="28" name="Rectangle: Rounded Corners 27">
            <a:extLst>
              <a:ext uri="{FF2B5EF4-FFF2-40B4-BE49-F238E27FC236}">
                <a16:creationId xmlns:a16="http://schemas.microsoft.com/office/drawing/2014/main" id="{382AA758-620A-2621-4234-B600A28F1657}"/>
              </a:ext>
            </a:extLst>
          </p:cNvPr>
          <p:cNvSpPr/>
          <p:nvPr/>
        </p:nvSpPr>
        <p:spPr>
          <a:xfrm>
            <a:off x="9846499" y="4988416"/>
            <a:ext cx="1426161" cy="845132"/>
          </a:xfrm>
          <a:prstGeom prst="roundRect">
            <a:avLst/>
          </a:prstGeom>
          <a:solidFill>
            <a:schemeClr val="tx1"/>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lumMod val="85000"/>
                    <a:lumOff val="15000"/>
                  </a:schemeClr>
                </a:solidFill>
                <a:latin typeface="NVIDIA Sans"/>
                <a:cs typeface="Arial"/>
              </a:rPr>
              <a:t>Output</a:t>
            </a:r>
          </a:p>
          <a:p>
            <a:pPr algn="ctr"/>
            <a:endParaRPr lang="en-US">
              <a:cs typeface="Arial"/>
            </a:endParaRPr>
          </a:p>
          <a:p>
            <a:pPr algn="ctr"/>
            <a:endParaRPr lang="en-US" sz="800">
              <a:cs typeface="Arial"/>
            </a:endParaRPr>
          </a:p>
        </p:txBody>
      </p:sp>
      <p:sp>
        <p:nvSpPr>
          <p:cNvPr id="31" name="Rectangle: Rounded Corners 30">
            <a:extLst>
              <a:ext uri="{FF2B5EF4-FFF2-40B4-BE49-F238E27FC236}">
                <a16:creationId xmlns:a16="http://schemas.microsoft.com/office/drawing/2014/main" id="{738B2E9E-97C3-336F-4BF8-75765362D414}"/>
              </a:ext>
            </a:extLst>
          </p:cNvPr>
          <p:cNvSpPr/>
          <p:nvPr/>
        </p:nvSpPr>
        <p:spPr>
          <a:xfrm>
            <a:off x="8605573" y="4103249"/>
            <a:ext cx="1426161" cy="845132"/>
          </a:xfrm>
          <a:prstGeom prst="roundRect">
            <a:avLst/>
          </a:prstGeom>
          <a:solidFill>
            <a:schemeClr val="tx1"/>
          </a:solidFill>
          <a:ln>
            <a:no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lumMod val="85000"/>
                    <a:lumOff val="15000"/>
                  </a:schemeClr>
                </a:solidFill>
                <a:latin typeface="NVIDIA Sans"/>
                <a:cs typeface="Arial"/>
              </a:rPr>
              <a:t>Execution</a:t>
            </a:r>
          </a:p>
          <a:p>
            <a:pPr algn="ctr"/>
            <a:endParaRPr lang="en-US">
              <a:cs typeface="Arial"/>
            </a:endParaRPr>
          </a:p>
          <a:p>
            <a:pPr algn="ctr"/>
            <a:endParaRPr lang="en-US" sz="800">
              <a:cs typeface="Arial"/>
            </a:endParaRPr>
          </a:p>
        </p:txBody>
      </p:sp>
      <p:sp>
        <p:nvSpPr>
          <p:cNvPr id="34" name="Text Placeholder 3">
            <a:extLst>
              <a:ext uri="{FF2B5EF4-FFF2-40B4-BE49-F238E27FC236}">
                <a16:creationId xmlns:a16="http://schemas.microsoft.com/office/drawing/2014/main" id="{8D72A1BE-A5F7-A1D3-ED02-6AFCA548C26E}"/>
              </a:ext>
            </a:extLst>
          </p:cNvPr>
          <p:cNvSpPr txBox="1">
            <a:spLocks/>
          </p:cNvSpPr>
          <p:nvPr/>
        </p:nvSpPr>
        <p:spPr>
          <a:xfrm>
            <a:off x="5943963" y="3224967"/>
            <a:ext cx="1825707" cy="6216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pPr marL="0" indent="0" algn="ctr">
              <a:lnSpc>
                <a:spcPct val="100000"/>
              </a:lnSpc>
              <a:spcBef>
                <a:spcPts val="100"/>
              </a:spcBef>
              <a:buNone/>
            </a:pPr>
            <a:r>
              <a:rPr lang="en-US" sz="900" i="1" kern="0">
                <a:latin typeface="NVIDIA Sans Light"/>
              </a:rPr>
              <a:t>PII Detection</a:t>
            </a:r>
            <a:endParaRPr lang="en-US" sz="900" i="1">
              <a:latin typeface="NVIDIA Sans Light"/>
            </a:endParaRPr>
          </a:p>
          <a:p>
            <a:pPr marL="0" indent="0" algn="ctr">
              <a:lnSpc>
                <a:spcPct val="100000"/>
              </a:lnSpc>
              <a:spcBef>
                <a:spcPts val="100"/>
              </a:spcBef>
              <a:buNone/>
            </a:pPr>
            <a:r>
              <a:rPr lang="en-US" sz="900" i="1" kern="0">
                <a:latin typeface="NVIDIA Sans Light"/>
              </a:rPr>
              <a:t>Knowledge Base/RAG</a:t>
            </a:r>
          </a:p>
          <a:p>
            <a:pPr marL="0" indent="0" algn="ctr">
              <a:lnSpc>
                <a:spcPct val="100000"/>
              </a:lnSpc>
              <a:spcBef>
                <a:spcPts val="100"/>
              </a:spcBef>
              <a:buNone/>
            </a:pPr>
            <a:r>
              <a:rPr lang="en-US" sz="900" i="1" kern="0">
                <a:latin typeface="NVIDIA Sans Light"/>
              </a:rPr>
              <a:t>Custom Rails</a:t>
            </a:r>
          </a:p>
        </p:txBody>
      </p:sp>
      <p:sp>
        <p:nvSpPr>
          <p:cNvPr id="36" name="Text Placeholder 3">
            <a:extLst>
              <a:ext uri="{FF2B5EF4-FFF2-40B4-BE49-F238E27FC236}">
                <a16:creationId xmlns:a16="http://schemas.microsoft.com/office/drawing/2014/main" id="{6DBF2845-6FDA-7F5A-EC6B-AA34514DE3C6}"/>
              </a:ext>
            </a:extLst>
          </p:cNvPr>
          <p:cNvSpPr txBox="1">
            <a:spLocks/>
          </p:cNvSpPr>
          <p:nvPr/>
        </p:nvSpPr>
        <p:spPr>
          <a:xfrm>
            <a:off x="7346880" y="4061753"/>
            <a:ext cx="1637276" cy="58724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pPr marL="0" indent="0" algn="ctr">
              <a:lnSpc>
                <a:spcPct val="100000"/>
              </a:lnSpc>
              <a:spcBef>
                <a:spcPts val="100"/>
              </a:spcBef>
              <a:buNone/>
            </a:pPr>
            <a:r>
              <a:rPr lang="en-US" sz="900" i="1" kern="0">
                <a:latin typeface="NVIDIA Sans Light"/>
              </a:rPr>
              <a:t>Topic Control</a:t>
            </a:r>
            <a:endParaRPr lang="en-US" sz="900" i="1">
              <a:latin typeface="NVIDIA Sans Light"/>
            </a:endParaRPr>
          </a:p>
          <a:p>
            <a:pPr marL="0" indent="0" algn="ctr">
              <a:lnSpc>
                <a:spcPct val="100000"/>
              </a:lnSpc>
              <a:spcBef>
                <a:spcPts val="100"/>
              </a:spcBef>
              <a:buNone/>
            </a:pPr>
            <a:r>
              <a:rPr lang="en-US" sz="900" i="1" kern="0">
                <a:latin typeface="NVIDIA Sans Light"/>
              </a:rPr>
              <a:t>Custom Rails</a:t>
            </a:r>
          </a:p>
          <a:p>
            <a:pPr marL="0" indent="0" algn="ctr">
              <a:lnSpc>
                <a:spcPct val="100000"/>
              </a:lnSpc>
              <a:spcBef>
                <a:spcPts val="100"/>
              </a:spcBef>
              <a:buNone/>
            </a:pPr>
            <a:endParaRPr lang="en-US" sz="900" i="1" kern="0">
              <a:latin typeface="NVIDIA Sans Light"/>
            </a:endParaRPr>
          </a:p>
        </p:txBody>
      </p:sp>
      <p:sp>
        <p:nvSpPr>
          <p:cNvPr id="38" name="Text Placeholder 3">
            <a:extLst>
              <a:ext uri="{FF2B5EF4-FFF2-40B4-BE49-F238E27FC236}">
                <a16:creationId xmlns:a16="http://schemas.microsoft.com/office/drawing/2014/main" id="{1CB68D6D-F55D-D907-08EB-214DF8B79FEB}"/>
              </a:ext>
            </a:extLst>
          </p:cNvPr>
          <p:cNvSpPr txBox="1">
            <a:spLocks/>
          </p:cNvSpPr>
          <p:nvPr/>
        </p:nvSpPr>
        <p:spPr>
          <a:xfrm>
            <a:off x="8551169" y="4942714"/>
            <a:ext cx="1602901" cy="5586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pPr marL="0" indent="0" algn="ctr">
              <a:lnSpc>
                <a:spcPct val="100000"/>
              </a:lnSpc>
              <a:spcBef>
                <a:spcPts val="100"/>
              </a:spcBef>
              <a:buNone/>
            </a:pPr>
            <a:r>
              <a:rPr lang="en-US" sz="900" i="1" kern="0">
                <a:latin typeface="NVIDIA Sans Light"/>
              </a:rPr>
              <a:t>Agentic Security</a:t>
            </a:r>
            <a:endParaRPr lang="en-US" sz="900" i="1">
              <a:latin typeface="NVIDIA Sans Light"/>
            </a:endParaRPr>
          </a:p>
          <a:p>
            <a:pPr marL="0" indent="0" algn="ctr">
              <a:lnSpc>
                <a:spcPct val="100000"/>
              </a:lnSpc>
              <a:spcBef>
                <a:spcPts val="100"/>
              </a:spcBef>
              <a:buNone/>
            </a:pPr>
            <a:r>
              <a:rPr lang="en-US" sz="900" i="1" kern="0">
                <a:latin typeface="NVIDIA Sans Light"/>
              </a:rPr>
              <a:t>Custom Rails</a:t>
            </a:r>
          </a:p>
        </p:txBody>
      </p:sp>
      <p:sp>
        <p:nvSpPr>
          <p:cNvPr id="40" name="Text Placeholder 3">
            <a:extLst>
              <a:ext uri="{FF2B5EF4-FFF2-40B4-BE49-F238E27FC236}">
                <a16:creationId xmlns:a16="http://schemas.microsoft.com/office/drawing/2014/main" id="{03D981EE-34E2-6DC0-99AF-0418DCD4D240}"/>
              </a:ext>
            </a:extLst>
          </p:cNvPr>
          <p:cNvSpPr txBox="1">
            <a:spLocks/>
          </p:cNvSpPr>
          <p:nvPr/>
        </p:nvSpPr>
        <p:spPr>
          <a:xfrm>
            <a:off x="9803518" y="5864262"/>
            <a:ext cx="1594688" cy="10914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52385" marR="0" lvl="0" indent="-169316" algn="l" rtl="0">
              <a:lnSpc>
                <a:spcPct val="90000"/>
              </a:lnSpc>
              <a:spcBef>
                <a:spcPts val="1000"/>
              </a:spcBef>
              <a:spcAft>
                <a:spcPts val="0"/>
              </a:spcAft>
              <a:buClr>
                <a:schemeClr val="dk2"/>
              </a:buClr>
              <a:buSzPts val="4400"/>
              <a:buFont typeface="NVIDIA Sans"/>
              <a:buChar char="•"/>
              <a:defRPr sz="1467" b="0" i="0" u="none" strike="noStrike" cap="none">
                <a:solidFill>
                  <a:schemeClr val="lt1"/>
                </a:solidFill>
                <a:latin typeface="NVIDIA Sans"/>
                <a:ea typeface="NVIDIA Sans"/>
                <a:cs typeface="NVIDIA Sans"/>
                <a:sym typeface="NVIDIA Sans"/>
              </a:defRPr>
            </a:lvl1pPr>
            <a:lvl2pPr marL="304770" marR="0" lvl="1" indent="-160851" algn="l" rtl="0">
              <a:lnSpc>
                <a:spcPct val="90000"/>
              </a:lnSpc>
              <a:spcBef>
                <a:spcPts val="500"/>
              </a:spcBef>
              <a:spcAft>
                <a:spcPts val="0"/>
              </a:spcAft>
              <a:buClr>
                <a:schemeClr val="dk2"/>
              </a:buClr>
              <a:buSzPts val="4000"/>
              <a:buFont typeface="NVIDIA Sans"/>
              <a:buChar char="•"/>
              <a:defRPr sz="1333" b="0" i="0" u="none" strike="noStrike" cap="none">
                <a:solidFill>
                  <a:schemeClr val="lt1"/>
                </a:solidFill>
                <a:latin typeface="NVIDIA Sans"/>
                <a:ea typeface="NVIDIA Sans"/>
                <a:cs typeface="NVIDIA Sans"/>
                <a:sym typeface="NVIDIA Sans"/>
              </a:defRPr>
            </a:lvl2pPr>
            <a:lvl3pPr marL="457154" marR="0" lvl="2" indent="-152385" algn="l" rtl="0">
              <a:lnSpc>
                <a:spcPct val="90000"/>
              </a:lnSpc>
              <a:spcBef>
                <a:spcPts val="500"/>
              </a:spcBef>
              <a:spcAft>
                <a:spcPts val="0"/>
              </a:spcAft>
              <a:buClr>
                <a:schemeClr val="dk2"/>
              </a:buClr>
              <a:buSzPts val="3600"/>
              <a:buFont typeface="NVIDIA Sans"/>
              <a:buChar char="•"/>
              <a:defRPr sz="1200" b="0" i="0" u="none" strike="noStrike" cap="none">
                <a:solidFill>
                  <a:schemeClr val="lt1"/>
                </a:solidFill>
                <a:latin typeface="NVIDIA Sans"/>
                <a:ea typeface="NVIDIA Sans"/>
                <a:cs typeface="NVIDIA Sans"/>
                <a:sym typeface="NVIDIA Sans"/>
              </a:defRPr>
            </a:lvl3pPr>
            <a:lvl4pPr marL="609539" marR="0" lvl="3" indent="-143919" algn="l" rtl="0">
              <a:lnSpc>
                <a:spcPct val="90000"/>
              </a:lnSpc>
              <a:spcBef>
                <a:spcPts val="500"/>
              </a:spcBef>
              <a:spcAft>
                <a:spcPts val="0"/>
              </a:spcAft>
              <a:buClr>
                <a:schemeClr val="dk2"/>
              </a:buClr>
              <a:buSzPts val="3200"/>
              <a:buFont typeface="NVIDIA Sans"/>
              <a:buChar char="•"/>
              <a:defRPr sz="1067" b="0" i="0" u="none" strike="noStrike" cap="none">
                <a:solidFill>
                  <a:schemeClr val="lt1"/>
                </a:solidFill>
                <a:latin typeface="NVIDIA Sans"/>
                <a:ea typeface="NVIDIA Sans"/>
                <a:cs typeface="NVIDIA Sans"/>
                <a:sym typeface="NVIDIA Sans"/>
              </a:defRPr>
            </a:lvl4pPr>
            <a:lvl5pPr marL="761924" marR="0" lvl="4" indent="-135453" algn="l" rtl="0">
              <a:lnSpc>
                <a:spcPct val="90000"/>
              </a:lnSpc>
              <a:spcBef>
                <a:spcPts val="500"/>
              </a:spcBef>
              <a:spcAft>
                <a:spcPts val="0"/>
              </a:spcAft>
              <a:buClr>
                <a:schemeClr val="dk2"/>
              </a:buClr>
              <a:buSzPts val="2800"/>
              <a:buFont typeface="NVIDIA Sans"/>
              <a:buChar char="•"/>
              <a:defRPr sz="933" b="0" i="0" u="none" strike="noStrike" cap="none">
                <a:solidFill>
                  <a:schemeClr val="lt1"/>
                </a:solidFill>
                <a:latin typeface="NVIDIA Sans"/>
                <a:ea typeface="NVIDIA Sans"/>
                <a:cs typeface="NVIDIA Sans"/>
                <a:sym typeface="NVIDIA Sans"/>
              </a:defRPr>
            </a:lvl5pPr>
            <a:lvl6pPr marL="914309" marR="0" lvl="5"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6pPr>
            <a:lvl7pPr marL="1066693" marR="0" lvl="6"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7pPr>
            <a:lvl8pPr marL="1219078" marR="0" lvl="7"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8pPr>
            <a:lvl9pPr marL="1371463" marR="0" lvl="8" indent="-190481" algn="l" rtl="0">
              <a:lnSpc>
                <a:spcPct val="90000"/>
              </a:lnSpc>
              <a:spcBef>
                <a:spcPts val="500"/>
              </a:spcBef>
              <a:spcAft>
                <a:spcPts val="0"/>
              </a:spcAft>
              <a:buClr>
                <a:schemeClr val="dk1"/>
              </a:buClr>
              <a:buSzPts val="5400"/>
              <a:buFont typeface="NVIDIA Sans"/>
              <a:buChar char="•"/>
              <a:defRPr sz="1800" b="0" i="0" u="none" strike="noStrike" cap="none">
                <a:solidFill>
                  <a:schemeClr val="dk1"/>
                </a:solidFill>
                <a:latin typeface="NVIDIA Sans"/>
                <a:ea typeface="NVIDIA Sans"/>
                <a:cs typeface="NVIDIA Sans"/>
                <a:sym typeface="NVIDIA Sans"/>
              </a:defRPr>
            </a:lvl9pPr>
          </a:lstStyle>
          <a:p>
            <a:pPr marL="0" indent="0" algn="ctr">
              <a:lnSpc>
                <a:spcPct val="100000"/>
              </a:lnSpc>
              <a:spcBef>
                <a:spcPts val="100"/>
              </a:spcBef>
              <a:buFont typeface="NVIDIA Sans"/>
              <a:buNone/>
            </a:pPr>
            <a:r>
              <a:rPr lang="en-US" sz="900" i="1" kern="0">
                <a:latin typeface="NVIDIA Sans Light"/>
              </a:rPr>
              <a:t>Content Safety</a:t>
            </a:r>
          </a:p>
          <a:p>
            <a:pPr marL="0" indent="0" algn="ctr">
              <a:lnSpc>
                <a:spcPct val="100000"/>
              </a:lnSpc>
              <a:spcBef>
                <a:spcPts val="100"/>
              </a:spcBef>
              <a:buNone/>
            </a:pPr>
            <a:r>
              <a:rPr lang="en-US" sz="900" i="1" kern="0">
                <a:latin typeface="NVIDIA Sans Light"/>
              </a:rPr>
              <a:t>PII Detection</a:t>
            </a:r>
          </a:p>
          <a:p>
            <a:pPr marL="0" indent="0" algn="ctr">
              <a:lnSpc>
                <a:spcPct val="100000"/>
              </a:lnSpc>
              <a:spcBef>
                <a:spcPts val="100"/>
              </a:spcBef>
              <a:buNone/>
            </a:pPr>
            <a:r>
              <a:rPr lang="en-US" sz="900" i="1" kern="0">
                <a:latin typeface="NVIDIA Sans Light"/>
              </a:rPr>
              <a:t>Knowledge Base/RAG</a:t>
            </a:r>
          </a:p>
          <a:p>
            <a:pPr marL="0" indent="0" algn="ctr">
              <a:lnSpc>
                <a:spcPct val="100000"/>
              </a:lnSpc>
              <a:spcBef>
                <a:spcPts val="100"/>
              </a:spcBef>
              <a:buNone/>
            </a:pPr>
            <a:r>
              <a:rPr lang="en-US" sz="900" i="1" kern="0">
                <a:latin typeface="NVIDIA Sans Light"/>
              </a:rPr>
              <a:t>Custom Rails</a:t>
            </a:r>
          </a:p>
        </p:txBody>
      </p:sp>
      <p:pic>
        <p:nvPicPr>
          <p:cNvPr id="42" name="Picture 41" descr="A green check mark in a circle&#10;&#10;AI-generated content may be incorrect.">
            <a:extLst>
              <a:ext uri="{FF2B5EF4-FFF2-40B4-BE49-F238E27FC236}">
                <a16:creationId xmlns:a16="http://schemas.microsoft.com/office/drawing/2014/main" id="{C4D50EC7-691F-0A85-F3ED-1186144DFB68}"/>
              </a:ext>
            </a:extLst>
          </p:cNvPr>
          <p:cNvPicPr>
            <a:picLocks noChangeAspect="1"/>
          </p:cNvPicPr>
          <p:nvPr/>
        </p:nvPicPr>
        <p:blipFill>
          <a:blip r:embed="rId8"/>
          <a:stretch>
            <a:fillRect/>
          </a:stretch>
        </p:blipFill>
        <p:spPr>
          <a:xfrm>
            <a:off x="10338183" y="5341937"/>
            <a:ext cx="430463" cy="442813"/>
          </a:xfrm>
          <a:prstGeom prst="rect">
            <a:avLst/>
          </a:prstGeom>
        </p:spPr>
      </p:pic>
      <p:pic>
        <p:nvPicPr>
          <p:cNvPr id="44" name="Picture 43" descr="A green and black logo&#10;&#10;AI-generated content may be incorrect.">
            <a:extLst>
              <a:ext uri="{FF2B5EF4-FFF2-40B4-BE49-F238E27FC236}">
                <a16:creationId xmlns:a16="http://schemas.microsoft.com/office/drawing/2014/main" id="{94F309CF-4CE4-531B-9855-0FC207594F14}"/>
              </a:ext>
            </a:extLst>
          </p:cNvPr>
          <p:cNvPicPr>
            <a:picLocks noChangeAspect="1"/>
          </p:cNvPicPr>
          <p:nvPr/>
        </p:nvPicPr>
        <p:blipFill>
          <a:blip r:embed="rId9"/>
          <a:stretch>
            <a:fillRect/>
          </a:stretch>
        </p:blipFill>
        <p:spPr>
          <a:xfrm>
            <a:off x="9095670" y="4415039"/>
            <a:ext cx="443579" cy="529964"/>
          </a:xfrm>
          <a:prstGeom prst="rect">
            <a:avLst/>
          </a:prstGeom>
        </p:spPr>
      </p:pic>
      <p:pic>
        <p:nvPicPr>
          <p:cNvPr id="46" name="Picture 45" descr="A green outline of a chat bubble&#10;&#10;AI-generated content may be incorrect.">
            <a:extLst>
              <a:ext uri="{FF2B5EF4-FFF2-40B4-BE49-F238E27FC236}">
                <a16:creationId xmlns:a16="http://schemas.microsoft.com/office/drawing/2014/main" id="{F316F6EC-F59A-94A5-1A1B-50E30DF947CA}"/>
              </a:ext>
            </a:extLst>
          </p:cNvPr>
          <p:cNvPicPr>
            <a:picLocks noChangeAspect="1"/>
          </p:cNvPicPr>
          <p:nvPr/>
        </p:nvPicPr>
        <p:blipFill>
          <a:blip r:embed="rId10"/>
          <a:stretch>
            <a:fillRect/>
          </a:stretch>
        </p:blipFill>
        <p:spPr>
          <a:xfrm>
            <a:off x="7903699" y="3511256"/>
            <a:ext cx="529709" cy="558101"/>
          </a:xfrm>
          <a:prstGeom prst="rect">
            <a:avLst/>
          </a:prstGeom>
        </p:spPr>
      </p:pic>
      <p:pic>
        <p:nvPicPr>
          <p:cNvPr id="48" name="Picture 47">
            <a:extLst>
              <a:ext uri="{FF2B5EF4-FFF2-40B4-BE49-F238E27FC236}">
                <a16:creationId xmlns:a16="http://schemas.microsoft.com/office/drawing/2014/main" id="{45B9F0E8-5C3F-8A08-B4C4-967117B06DDF}"/>
              </a:ext>
            </a:extLst>
          </p:cNvPr>
          <p:cNvPicPr>
            <a:picLocks noChangeAspect="1"/>
          </p:cNvPicPr>
          <p:nvPr/>
        </p:nvPicPr>
        <p:blipFill>
          <a:blip r:embed="rId11"/>
          <a:stretch>
            <a:fillRect/>
          </a:stretch>
        </p:blipFill>
        <p:spPr>
          <a:xfrm>
            <a:off x="6631060" y="2581907"/>
            <a:ext cx="527863" cy="598206"/>
          </a:xfrm>
          <a:prstGeom prst="rect">
            <a:avLst/>
          </a:prstGeom>
        </p:spPr>
      </p:pic>
      <p:sp>
        <p:nvSpPr>
          <p:cNvPr id="50" name="Arrow: Right 49">
            <a:extLst>
              <a:ext uri="{FF2B5EF4-FFF2-40B4-BE49-F238E27FC236}">
                <a16:creationId xmlns:a16="http://schemas.microsoft.com/office/drawing/2014/main" id="{5BF14446-FB0A-759C-B363-2CED21C215EB}"/>
              </a:ext>
            </a:extLst>
          </p:cNvPr>
          <p:cNvSpPr/>
          <p:nvPr/>
        </p:nvSpPr>
        <p:spPr>
          <a:xfrm>
            <a:off x="5400365" y="1938266"/>
            <a:ext cx="310965" cy="228097"/>
          </a:xfrm>
          <a:prstGeom prst="rightArrow">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73615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02F84-41B8-3A93-DDC7-07C765BB4605}"/>
              </a:ext>
            </a:extLst>
          </p:cNvPr>
          <p:cNvSpPr>
            <a:spLocks noGrp="1"/>
          </p:cNvSpPr>
          <p:nvPr>
            <p:ph type="title"/>
          </p:nvPr>
        </p:nvSpPr>
        <p:spPr/>
        <p:txBody>
          <a:bodyPr/>
          <a:lstStyle/>
          <a:p>
            <a:r>
              <a:rPr lang="en-US" err="1"/>
              <a:t>NeMo</a:t>
            </a:r>
            <a:r>
              <a:rPr lang="en-US"/>
              <a:t> Guardrails Available Rails</a:t>
            </a:r>
          </a:p>
        </p:txBody>
      </p:sp>
      <p:sp>
        <p:nvSpPr>
          <p:cNvPr id="3" name="Text Placeholder 2">
            <a:extLst>
              <a:ext uri="{FF2B5EF4-FFF2-40B4-BE49-F238E27FC236}">
                <a16:creationId xmlns:a16="http://schemas.microsoft.com/office/drawing/2014/main" id="{4421FB8F-CB47-01C0-7FE4-E34FA18FCA95}"/>
              </a:ext>
            </a:extLst>
          </p:cNvPr>
          <p:cNvSpPr>
            <a:spLocks noGrp="1"/>
          </p:cNvSpPr>
          <p:nvPr>
            <p:ph type="body" idx="1"/>
          </p:nvPr>
        </p:nvSpPr>
        <p:spPr/>
        <p:txBody>
          <a:bodyPr/>
          <a:lstStyle/>
          <a:p>
            <a:pPr marL="151765" indent="-75565"/>
            <a:r>
              <a:rPr lang="en-US"/>
              <a:t>Guardrails can be applied at different stages in the LLM flow.</a:t>
            </a:r>
          </a:p>
        </p:txBody>
      </p:sp>
      <p:pic>
        <p:nvPicPr>
          <p:cNvPr id="5" name="Picture 4" descr="A screenshot of a computer&#10;&#10;AI-generated content may be incorrect.">
            <a:extLst>
              <a:ext uri="{FF2B5EF4-FFF2-40B4-BE49-F238E27FC236}">
                <a16:creationId xmlns:a16="http://schemas.microsoft.com/office/drawing/2014/main" id="{89C4F4C8-F27F-D07B-4145-4209CA161583}"/>
              </a:ext>
            </a:extLst>
          </p:cNvPr>
          <p:cNvPicPr>
            <a:picLocks noChangeAspect="1"/>
          </p:cNvPicPr>
          <p:nvPr/>
        </p:nvPicPr>
        <p:blipFill>
          <a:blip r:embed="rId4"/>
          <a:stretch>
            <a:fillRect/>
          </a:stretch>
        </p:blipFill>
        <p:spPr>
          <a:xfrm>
            <a:off x="5216888" y="1185000"/>
            <a:ext cx="6504225" cy="5334000"/>
          </a:xfrm>
          <a:prstGeom prst="rect">
            <a:avLst/>
          </a:prstGeom>
        </p:spPr>
      </p:pic>
      <p:sp>
        <p:nvSpPr>
          <p:cNvPr id="23" name="Rectangle: Rounded Corners 22">
            <a:extLst>
              <a:ext uri="{FF2B5EF4-FFF2-40B4-BE49-F238E27FC236}">
                <a16:creationId xmlns:a16="http://schemas.microsoft.com/office/drawing/2014/main" id="{451D0975-6D8C-8A6F-D4E1-A322853B36D3}"/>
              </a:ext>
            </a:extLst>
          </p:cNvPr>
          <p:cNvSpPr/>
          <p:nvPr/>
        </p:nvSpPr>
        <p:spPr>
          <a:xfrm>
            <a:off x="846880" y="1483849"/>
            <a:ext cx="4271818" cy="4724510"/>
          </a:xfrm>
          <a:prstGeom prst="roundRect">
            <a:avLst/>
          </a:prstGeom>
          <a:solidFill>
            <a:schemeClr val="tx1"/>
          </a:solidFill>
          <a:ln w="6350">
            <a:solidFill>
              <a:schemeClr val="tx2"/>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Arial"/>
            </a:endParaRPr>
          </a:p>
        </p:txBody>
      </p:sp>
      <p:sp>
        <p:nvSpPr>
          <p:cNvPr id="34" name="TextBox 33">
            <a:extLst>
              <a:ext uri="{FF2B5EF4-FFF2-40B4-BE49-F238E27FC236}">
                <a16:creationId xmlns:a16="http://schemas.microsoft.com/office/drawing/2014/main" id="{91046421-9A1C-27D5-D2C8-45012924CD5A}"/>
              </a:ext>
            </a:extLst>
          </p:cNvPr>
          <p:cNvSpPr txBox="1"/>
          <p:nvPr/>
        </p:nvSpPr>
        <p:spPr>
          <a:xfrm>
            <a:off x="2016627" y="1659011"/>
            <a:ext cx="1936797" cy="276999"/>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b="1">
                <a:solidFill>
                  <a:schemeClr val="bg1">
                    <a:lumMod val="85000"/>
                    <a:lumOff val="15000"/>
                  </a:schemeClr>
                </a:solidFill>
                <a:latin typeface="NVIDIA Sans"/>
              </a:rPr>
              <a:t>NVIDIA Open Models</a:t>
            </a:r>
            <a:endParaRPr lang="en-US" b="1">
              <a:solidFill>
                <a:schemeClr val="bg1">
                  <a:lumMod val="85000"/>
                  <a:lumOff val="15000"/>
                </a:schemeClr>
              </a:solidFill>
              <a:cs typeface="Arial"/>
            </a:endParaRPr>
          </a:p>
        </p:txBody>
      </p:sp>
      <p:sp>
        <p:nvSpPr>
          <p:cNvPr id="36" name="TextBox 35">
            <a:extLst>
              <a:ext uri="{FF2B5EF4-FFF2-40B4-BE49-F238E27FC236}">
                <a16:creationId xmlns:a16="http://schemas.microsoft.com/office/drawing/2014/main" id="{D30F8FD2-067B-1486-A50C-CA4F45ED3199}"/>
              </a:ext>
            </a:extLst>
          </p:cNvPr>
          <p:cNvSpPr txBox="1"/>
          <p:nvPr/>
        </p:nvSpPr>
        <p:spPr>
          <a:xfrm>
            <a:off x="2213176" y="2772273"/>
            <a:ext cx="1549915" cy="276999"/>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b="1">
                <a:solidFill>
                  <a:schemeClr val="bg1">
                    <a:lumMod val="85000"/>
                    <a:lumOff val="15000"/>
                  </a:schemeClr>
                </a:solidFill>
                <a:latin typeface="NVIDIA Sans"/>
              </a:rPr>
              <a:t>Community Rails</a:t>
            </a:r>
            <a:endParaRPr lang="en-US">
              <a:cs typeface="Arial"/>
            </a:endParaRPr>
          </a:p>
        </p:txBody>
      </p:sp>
      <p:sp>
        <p:nvSpPr>
          <p:cNvPr id="38" name="TextBox 37">
            <a:extLst>
              <a:ext uri="{FF2B5EF4-FFF2-40B4-BE49-F238E27FC236}">
                <a16:creationId xmlns:a16="http://schemas.microsoft.com/office/drawing/2014/main" id="{6017ADD9-9F62-DC57-7BB0-96968E1C9128}"/>
              </a:ext>
            </a:extLst>
          </p:cNvPr>
          <p:cNvSpPr txBox="1"/>
          <p:nvPr/>
        </p:nvSpPr>
        <p:spPr>
          <a:xfrm>
            <a:off x="2144546" y="3726795"/>
            <a:ext cx="1661564" cy="276999"/>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b="1">
                <a:solidFill>
                  <a:schemeClr val="bg1">
                    <a:lumMod val="85000"/>
                    <a:lumOff val="15000"/>
                  </a:schemeClr>
                </a:solidFill>
                <a:latin typeface="NVIDIA Sans"/>
              </a:rPr>
              <a:t>3rd Party APIs</a:t>
            </a:r>
            <a:endParaRPr lang="en-US" b="1">
              <a:solidFill>
                <a:schemeClr val="bg1">
                  <a:lumMod val="85000"/>
                  <a:lumOff val="15000"/>
                </a:schemeClr>
              </a:solidFill>
              <a:cs typeface="NVIDIA Sans"/>
            </a:endParaRPr>
          </a:p>
        </p:txBody>
      </p:sp>
      <p:sp>
        <p:nvSpPr>
          <p:cNvPr id="25" name="TextBox 24">
            <a:extLst>
              <a:ext uri="{FF2B5EF4-FFF2-40B4-BE49-F238E27FC236}">
                <a16:creationId xmlns:a16="http://schemas.microsoft.com/office/drawing/2014/main" id="{5CA52C1B-4853-ACC9-9B0A-FA43935F0040}"/>
              </a:ext>
            </a:extLst>
          </p:cNvPr>
          <p:cNvSpPr txBox="1"/>
          <p:nvPr/>
        </p:nvSpPr>
        <p:spPr>
          <a:xfrm>
            <a:off x="1790144" y="1327139"/>
            <a:ext cx="2336523" cy="307777"/>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b="1">
                <a:solidFill>
                  <a:schemeClr val="bg2"/>
                </a:solidFill>
                <a:latin typeface="NVIDIA Sans"/>
              </a:rPr>
              <a:t>Pre-Built Rails Available</a:t>
            </a:r>
            <a:endParaRPr lang="en-US" sz="1400">
              <a:solidFill>
                <a:schemeClr val="bg2"/>
              </a:solidFill>
              <a:latin typeface="Arial"/>
              <a:cs typeface="Arial"/>
            </a:endParaRPr>
          </a:p>
        </p:txBody>
      </p:sp>
      <p:sp>
        <p:nvSpPr>
          <p:cNvPr id="43" name="TextBox 42">
            <a:extLst>
              <a:ext uri="{FF2B5EF4-FFF2-40B4-BE49-F238E27FC236}">
                <a16:creationId xmlns:a16="http://schemas.microsoft.com/office/drawing/2014/main" id="{178D68D0-42DA-302C-C07D-65990BC2771D}"/>
              </a:ext>
            </a:extLst>
          </p:cNvPr>
          <p:cNvSpPr txBox="1"/>
          <p:nvPr/>
        </p:nvSpPr>
        <p:spPr>
          <a:xfrm>
            <a:off x="2357680" y="5114538"/>
            <a:ext cx="1943492" cy="276999"/>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200" b="1">
                <a:solidFill>
                  <a:schemeClr val="bg1">
                    <a:lumMod val="85000"/>
                    <a:lumOff val="15000"/>
                  </a:schemeClr>
                </a:solidFill>
                <a:latin typeface="NVIDIA Sans"/>
              </a:rPr>
              <a:t>Custom Rails</a:t>
            </a:r>
            <a:endParaRPr lang="en-US"/>
          </a:p>
        </p:txBody>
      </p:sp>
      <p:sp>
        <p:nvSpPr>
          <p:cNvPr id="6" name="Rectangle: Rounded Corners 5">
            <a:extLst>
              <a:ext uri="{FF2B5EF4-FFF2-40B4-BE49-F238E27FC236}">
                <a16:creationId xmlns:a16="http://schemas.microsoft.com/office/drawing/2014/main" id="{F8C1FF33-83CA-20EA-522C-9679FE7DDFD8}"/>
              </a:ext>
            </a:extLst>
          </p:cNvPr>
          <p:cNvSpPr/>
          <p:nvPr/>
        </p:nvSpPr>
        <p:spPr>
          <a:xfrm>
            <a:off x="1239910" y="4972878"/>
            <a:ext cx="3485756" cy="922531"/>
          </a:xfrm>
          <a:prstGeom prst="rect">
            <a:avLst/>
          </a:prstGeom>
          <a:solidFill>
            <a:schemeClr val="tx1">
              <a:lumMod val="95000"/>
            </a:schemeClr>
          </a:solidFill>
          <a:ln w="6350">
            <a:solidFill>
              <a:schemeClr val="tx2"/>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92D050"/>
              </a:solidFill>
              <a:cs typeface="Arial"/>
            </a:endParaRPr>
          </a:p>
        </p:txBody>
      </p:sp>
      <p:sp>
        <p:nvSpPr>
          <p:cNvPr id="44" name="TextBox 43">
            <a:extLst>
              <a:ext uri="{FF2B5EF4-FFF2-40B4-BE49-F238E27FC236}">
                <a16:creationId xmlns:a16="http://schemas.microsoft.com/office/drawing/2014/main" id="{F7632C86-9A4B-C276-61AD-67701A561A61}"/>
              </a:ext>
            </a:extLst>
          </p:cNvPr>
          <p:cNvSpPr txBox="1"/>
          <p:nvPr/>
        </p:nvSpPr>
        <p:spPr>
          <a:xfrm>
            <a:off x="1405034" y="5239840"/>
            <a:ext cx="3106257" cy="6001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a:solidFill>
                  <a:schemeClr val="bg1"/>
                </a:solidFill>
                <a:latin typeface="NVIDIA Sans"/>
                <a:cs typeface="NVIDIA Sans"/>
              </a:rPr>
              <a:t>Bring your own guardrails models or build custom security rules tailored to your unique use case and custom policies. </a:t>
            </a:r>
            <a:endParaRPr lang="en-US"/>
          </a:p>
        </p:txBody>
      </p:sp>
      <p:sp>
        <p:nvSpPr>
          <p:cNvPr id="7" name="TextBox 6">
            <a:extLst>
              <a:ext uri="{FF2B5EF4-FFF2-40B4-BE49-F238E27FC236}">
                <a16:creationId xmlns:a16="http://schemas.microsoft.com/office/drawing/2014/main" id="{C2591AE6-00B3-1A7C-AEA2-DAB0BC13B30C}"/>
              </a:ext>
            </a:extLst>
          </p:cNvPr>
          <p:cNvSpPr txBox="1"/>
          <p:nvPr/>
        </p:nvSpPr>
        <p:spPr>
          <a:xfrm>
            <a:off x="2321009" y="5010375"/>
            <a:ext cx="1316659"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b="1">
                <a:solidFill>
                  <a:schemeClr val="bg2"/>
                </a:solidFill>
                <a:latin typeface="NVIDIA Sans"/>
              </a:rPr>
              <a:t>Custom Rails</a:t>
            </a:r>
            <a:endParaRPr lang="en-US" sz="1400" b="1">
              <a:solidFill>
                <a:schemeClr val="bg2"/>
              </a:solidFill>
              <a:cs typeface="NVIDIA Sans"/>
            </a:endParaRPr>
          </a:p>
        </p:txBody>
      </p:sp>
      <p:pic>
        <p:nvPicPr>
          <p:cNvPr id="10" name="Picture 9" descr="A green hexagons with text&#10;&#10;AI-generated content may be incorrect.">
            <a:extLst>
              <a:ext uri="{FF2B5EF4-FFF2-40B4-BE49-F238E27FC236}">
                <a16:creationId xmlns:a16="http://schemas.microsoft.com/office/drawing/2014/main" id="{463DB611-07B9-A4E8-433B-BD0ED36DC009}"/>
              </a:ext>
            </a:extLst>
          </p:cNvPr>
          <p:cNvPicPr>
            <a:picLocks noChangeAspect="1"/>
          </p:cNvPicPr>
          <p:nvPr/>
        </p:nvPicPr>
        <p:blipFill>
          <a:blip r:embed="rId5"/>
          <a:stretch>
            <a:fillRect/>
          </a:stretch>
        </p:blipFill>
        <p:spPr>
          <a:xfrm>
            <a:off x="2502505" y="3892388"/>
            <a:ext cx="962527" cy="962527"/>
          </a:xfrm>
          <a:prstGeom prst="rect">
            <a:avLst/>
          </a:prstGeom>
        </p:spPr>
      </p:pic>
      <p:pic>
        <p:nvPicPr>
          <p:cNvPr id="11" name="Picture 10" descr="A group of people with green outline&#10;&#10;AI-generated content may be incorrect.">
            <a:extLst>
              <a:ext uri="{FF2B5EF4-FFF2-40B4-BE49-F238E27FC236}">
                <a16:creationId xmlns:a16="http://schemas.microsoft.com/office/drawing/2014/main" id="{C388C670-3A3A-C798-FDB7-6D4578692C59}"/>
              </a:ext>
            </a:extLst>
          </p:cNvPr>
          <p:cNvPicPr>
            <a:picLocks noChangeAspect="1"/>
          </p:cNvPicPr>
          <p:nvPr/>
        </p:nvPicPr>
        <p:blipFill>
          <a:blip r:embed="rId6"/>
          <a:stretch>
            <a:fillRect/>
          </a:stretch>
        </p:blipFill>
        <p:spPr>
          <a:xfrm>
            <a:off x="2500563" y="2825920"/>
            <a:ext cx="962527" cy="962527"/>
          </a:xfrm>
          <a:prstGeom prst="rect">
            <a:avLst/>
          </a:prstGeom>
        </p:spPr>
      </p:pic>
      <p:pic>
        <p:nvPicPr>
          <p:cNvPr id="12" name="Picture 11" descr="A green logo with a black background&#10;&#10;AI-generated content may be incorrect.">
            <a:extLst>
              <a:ext uri="{FF2B5EF4-FFF2-40B4-BE49-F238E27FC236}">
                <a16:creationId xmlns:a16="http://schemas.microsoft.com/office/drawing/2014/main" id="{F8933D02-E594-9665-082D-A49BDEC0F99F}"/>
              </a:ext>
            </a:extLst>
          </p:cNvPr>
          <p:cNvPicPr>
            <a:picLocks noChangeAspect="1"/>
          </p:cNvPicPr>
          <p:nvPr/>
        </p:nvPicPr>
        <p:blipFill>
          <a:blip r:embed="rId7"/>
          <a:stretch>
            <a:fillRect/>
          </a:stretch>
        </p:blipFill>
        <p:spPr>
          <a:xfrm>
            <a:off x="2492494" y="1819388"/>
            <a:ext cx="962527" cy="962527"/>
          </a:xfrm>
          <a:prstGeom prst="rect">
            <a:avLst/>
          </a:prstGeom>
        </p:spPr>
      </p:pic>
    </p:spTree>
    <p:extLst>
      <p:ext uri="{BB962C8B-B14F-4D97-AF65-F5344CB8AC3E}">
        <p14:creationId xmlns:p14="http://schemas.microsoft.com/office/powerpoint/2010/main" val="351533997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DF62-0340-62FD-5481-548FADB1D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AF074-8FD7-98B8-9D0D-01751F3A0AC1}"/>
              </a:ext>
            </a:extLst>
          </p:cNvPr>
          <p:cNvSpPr>
            <a:spLocks noGrp="1"/>
          </p:cNvSpPr>
          <p:nvPr>
            <p:ph type="title"/>
          </p:nvPr>
        </p:nvSpPr>
        <p:spPr/>
        <p:txBody>
          <a:bodyPr/>
          <a:lstStyle/>
          <a:p>
            <a:r>
              <a:rPr lang="en-US" err="1"/>
              <a:t>NeMo</a:t>
            </a:r>
            <a:r>
              <a:rPr lang="en-US"/>
              <a:t> Guardrails Available Rails</a:t>
            </a:r>
          </a:p>
        </p:txBody>
      </p:sp>
      <p:sp>
        <p:nvSpPr>
          <p:cNvPr id="3" name="Text Placeholder 2">
            <a:extLst>
              <a:ext uri="{FF2B5EF4-FFF2-40B4-BE49-F238E27FC236}">
                <a16:creationId xmlns:a16="http://schemas.microsoft.com/office/drawing/2014/main" id="{40918C94-1899-896E-6363-A8ED410CD539}"/>
              </a:ext>
            </a:extLst>
          </p:cNvPr>
          <p:cNvSpPr>
            <a:spLocks noGrp="1"/>
          </p:cNvSpPr>
          <p:nvPr>
            <p:ph type="body" idx="1"/>
          </p:nvPr>
        </p:nvSpPr>
        <p:spPr/>
        <p:txBody>
          <a:bodyPr/>
          <a:lstStyle/>
          <a:p>
            <a:pPr marL="151765" indent="-75565"/>
            <a:r>
              <a:rPr lang="en-US"/>
              <a:t>Guardrails can be applied at different stages in the LLM flow.</a:t>
            </a:r>
          </a:p>
        </p:txBody>
      </p:sp>
      <p:sp>
        <p:nvSpPr>
          <p:cNvPr id="23" name="Rectangle: Rounded Corners 22">
            <a:extLst>
              <a:ext uri="{FF2B5EF4-FFF2-40B4-BE49-F238E27FC236}">
                <a16:creationId xmlns:a16="http://schemas.microsoft.com/office/drawing/2014/main" id="{AA9E5098-2EA0-AEC1-0F55-915C023373DF}"/>
              </a:ext>
            </a:extLst>
          </p:cNvPr>
          <p:cNvSpPr/>
          <p:nvPr/>
        </p:nvSpPr>
        <p:spPr>
          <a:xfrm>
            <a:off x="2860163" y="1572081"/>
            <a:ext cx="3541903" cy="4716489"/>
          </a:xfrm>
          <a:prstGeom prst="roundRect">
            <a:avLst/>
          </a:prstGeom>
          <a:solidFill>
            <a:schemeClr val="tx1"/>
          </a:solidFill>
          <a:ln w="6350">
            <a:solidFill>
              <a:schemeClr val="tx2"/>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Arial"/>
            </a:endParaRPr>
          </a:p>
        </p:txBody>
      </p:sp>
      <p:sp>
        <p:nvSpPr>
          <p:cNvPr id="28" name="TextBox 27">
            <a:extLst>
              <a:ext uri="{FF2B5EF4-FFF2-40B4-BE49-F238E27FC236}">
                <a16:creationId xmlns:a16="http://schemas.microsoft.com/office/drawing/2014/main" id="{8B93340F-18BE-F7CA-D812-2D91F325B8A3}"/>
              </a:ext>
            </a:extLst>
          </p:cNvPr>
          <p:cNvSpPr txBox="1"/>
          <p:nvPr/>
        </p:nvSpPr>
        <p:spPr>
          <a:xfrm>
            <a:off x="3162282" y="4861843"/>
            <a:ext cx="1489131" cy="113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i="1">
                <a:solidFill>
                  <a:srgbClr val="76B900"/>
                </a:solidFill>
                <a:latin typeface="NVIDIA Sans"/>
                <a:hlinkClick r:id="rId4"/>
              </a:rPr>
              <a:t>Alice </a:t>
            </a:r>
            <a:endParaRPr lang="en-US" sz="1100" i="1">
              <a:solidFill>
                <a:srgbClr val="FFFFFF"/>
              </a:solidFill>
              <a:latin typeface="NVIDIA Sans"/>
              <a:hlinkClick r:id="rId4">
                <a:extLst>
                  <a:ext uri="{A12FA001-AC4F-418D-AE19-62706E023703}">
                    <ahyp:hlinkClr xmlns:ahyp="http://schemas.microsoft.com/office/drawing/2018/hyperlinkcolor" val="tx"/>
                  </a:ext>
                </a:extLst>
              </a:hlinkClick>
            </a:endParaRPr>
          </a:p>
          <a:p>
            <a:r>
              <a:rPr lang="en-US" sz="1100" i="1">
                <a:solidFill>
                  <a:srgbClr val="76B900"/>
                </a:solidFill>
                <a:latin typeface="NVIDIA Sans"/>
                <a:hlinkClick r:id="rId4">
                  <a:extLst>
                    <a:ext uri="{A12FA001-AC4F-418D-AE19-62706E023703}">
                      <ahyp:hlinkClr xmlns:ahyp="http://schemas.microsoft.com/office/drawing/2018/hyperlinkcolor" val="tx"/>
                    </a:ext>
                  </a:extLst>
                </a:hlinkClick>
              </a:rPr>
              <a:t>AutoAlign</a:t>
            </a:r>
            <a:endParaRPr lang="en-US" sz="1100" i="1">
              <a:solidFill>
                <a:srgbClr val="FFFFFF"/>
              </a:solidFill>
              <a:latin typeface="NVIDIA Sans"/>
              <a:cs typeface="NVIDIA Sans"/>
            </a:endParaRPr>
          </a:p>
          <a:p>
            <a:r>
              <a:rPr lang="en-US" sz="1100" i="1">
                <a:solidFill>
                  <a:srgbClr val="76B900"/>
                </a:solidFill>
                <a:latin typeface="NVIDIA Sans"/>
                <a:hlinkClick r:id="rId5">
                  <a:extLst>
                    <a:ext uri="{A12FA001-AC4F-418D-AE19-62706E023703}">
                      <ahyp:hlinkClr xmlns:ahyp="http://schemas.microsoft.com/office/drawing/2018/hyperlinkcolor" val="tx"/>
                    </a:ext>
                  </a:extLst>
                </a:hlinkClick>
              </a:rPr>
              <a:t>Cisco AI </a:t>
            </a:r>
            <a:r>
              <a:rPr lang="en-US" sz="1100" i="1">
                <a:solidFill>
                  <a:srgbClr val="76B900"/>
                </a:solidFill>
                <a:latin typeface="NVIDIA Sans"/>
                <a:hlinkClick r:id="rId5"/>
              </a:rPr>
              <a:t>Defense</a:t>
            </a:r>
            <a:endParaRPr lang="en-US" sz="1100" i="1">
              <a:solidFill>
                <a:srgbClr val="FFFFFF"/>
              </a:solidFill>
              <a:latin typeface="NVIDIA Sans"/>
              <a:cs typeface="NVIDIA Sans"/>
            </a:endParaRPr>
          </a:p>
          <a:p>
            <a:r>
              <a:rPr lang="en-US" sz="1100" i="1">
                <a:solidFill>
                  <a:srgbClr val="76B900"/>
                </a:solidFill>
                <a:latin typeface="NVIDIA Sans"/>
                <a:hlinkClick r:id="rId5">
                  <a:extLst>
                    <a:ext uri="{A12FA001-AC4F-418D-AE19-62706E023703}">
                      <ahyp:hlinkClr xmlns:ahyp="http://schemas.microsoft.com/office/drawing/2018/hyperlinkcolor" val="tx"/>
                    </a:ext>
                  </a:extLst>
                </a:hlinkClick>
              </a:rPr>
              <a:t>Clavata</a:t>
            </a:r>
            <a:endParaRPr lang="en-US" sz="1100" i="1">
              <a:solidFill>
                <a:srgbClr val="FFFFFF"/>
              </a:solidFill>
              <a:latin typeface="NVIDIA Sans"/>
              <a:cs typeface="NVIDIA Sans"/>
            </a:endParaRPr>
          </a:p>
          <a:p>
            <a:r>
              <a:rPr lang="en-US" sz="1100" i="1">
                <a:solidFill>
                  <a:srgbClr val="76B900"/>
                </a:solidFill>
                <a:latin typeface="NVIDIA Sans"/>
                <a:hlinkClick r:id="rId5">
                  <a:extLst>
                    <a:ext uri="{A12FA001-AC4F-418D-AE19-62706E023703}">
                      <ahyp:hlinkClr xmlns:ahyp="http://schemas.microsoft.com/office/drawing/2018/hyperlinkcolor" val="tx"/>
                    </a:ext>
                  </a:extLst>
                </a:hlinkClick>
              </a:rPr>
              <a:t>Cleanlab</a:t>
            </a:r>
            <a:br>
              <a:rPr lang="en-US" sz="1100" i="1">
                <a:latin typeface="NVIDIA Sans"/>
              </a:rPr>
            </a:br>
            <a:r>
              <a:rPr lang="en-US" sz="1100" i="1">
                <a:solidFill>
                  <a:srgbClr val="76B900"/>
                </a:solidFill>
                <a:latin typeface="NVIDIA Sans"/>
                <a:hlinkClick r:id="rId6"/>
              </a:rPr>
              <a:t>Fiddler Guardrails</a:t>
            </a:r>
            <a:endParaRPr lang="en-US"/>
          </a:p>
        </p:txBody>
      </p:sp>
      <p:sp>
        <p:nvSpPr>
          <p:cNvPr id="30" name="TextBox 29">
            <a:extLst>
              <a:ext uri="{FF2B5EF4-FFF2-40B4-BE49-F238E27FC236}">
                <a16:creationId xmlns:a16="http://schemas.microsoft.com/office/drawing/2014/main" id="{44B69F7C-7BF8-1FC2-C418-15C6E2D5306C}"/>
              </a:ext>
            </a:extLst>
          </p:cNvPr>
          <p:cNvSpPr txBox="1"/>
          <p:nvPr/>
        </p:nvSpPr>
        <p:spPr>
          <a:xfrm>
            <a:off x="3119393" y="2201885"/>
            <a:ext cx="310625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i="1" u="sng">
                <a:solidFill>
                  <a:srgbClr val="76B900"/>
                </a:solidFill>
                <a:latin typeface="NVIDIA Sans"/>
              </a:rPr>
              <a:t>Llama </a:t>
            </a:r>
            <a:r>
              <a:rPr lang="en-US" sz="1100" i="1" u="sng" err="1">
                <a:solidFill>
                  <a:srgbClr val="76B900"/>
                </a:solidFill>
                <a:latin typeface="NVIDIA Sans"/>
              </a:rPr>
              <a:t>Nemotron</a:t>
            </a:r>
            <a:r>
              <a:rPr lang="en-US" sz="1100" i="1" u="sng">
                <a:solidFill>
                  <a:srgbClr val="76B900"/>
                </a:solidFill>
                <a:latin typeface="NVIDIA Sans"/>
              </a:rPr>
              <a:t> Content Safety 8B V3</a:t>
            </a:r>
            <a:endParaRPr lang="en-US" sz="1100" i="1" u="sng">
              <a:solidFill>
                <a:srgbClr val="76B900"/>
              </a:solidFill>
              <a:latin typeface="NVIDIA Sans"/>
              <a:cs typeface="NVIDIA Sans"/>
            </a:endParaRPr>
          </a:p>
          <a:p>
            <a:r>
              <a:rPr lang="en-US" sz="1100" i="1" u="sng">
                <a:solidFill>
                  <a:srgbClr val="76B900"/>
                </a:solidFill>
                <a:latin typeface="NVIDIA Sans"/>
                <a:hlinkClick r:id="rId7">
                  <a:extLst>
                    <a:ext uri="{A12FA001-AC4F-418D-AE19-62706E023703}">
                      <ahyp:hlinkClr xmlns:ahyp="http://schemas.microsoft.com/office/drawing/2018/hyperlinkcolor" val="tx"/>
                    </a:ext>
                  </a:extLst>
                </a:hlinkClick>
              </a:rPr>
              <a:t>Llama </a:t>
            </a:r>
            <a:r>
              <a:rPr lang="en-US" sz="1100" i="1" u="sng" err="1">
                <a:solidFill>
                  <a:srgbClr val="76B900"/>
                </a:solidFill>
                <a:latin typeface="NVIDIA Sans"/>
                <a:hlinkClick r:id="rId7"/>
              </a:rPr>
              <a:t>Nemotron</a:t>
            </a:r>
            <a:r>
              <a:rPr lang="en-US" sz="1100" i="1" u="sng">
                <a:solidFill>
                  <a:srgbClr val="76B900"/>
                </a:solidFill>
                <a:latin typeface="NVIDIA Sans"/>
                <a:hlinkClick r:id="rId7"/>
              </a:rPr>
              <a:t> Topic</a:t>
            </a:r>
            <a:r>
              <a:rPr lang="en-US" sz="1100" i="1" u="sng">
                <a:solidFill>
                  <a:srgbClr val="76B900"/>
                </a:solidFill>
                <a:latin typeface="NVIDIA Sans"/>
                <a:hlinkClick r:id="rId7">
                  <a:extLst>
                    <a:ext uri="{A12FA001-AC4F-418D-AE19-62706E023703}">
                      <ahyp:hlinkClr xmlns:ahyp="http://schemas.microsoft.com/office/drawing/2018/hyperlinkcolor" val="tx"/>
                    </a:ext>
                  </a:extLst>
                </a:hlinkClick>
              </a:rPr>
              <a:t> Control 8B</a:t>
            </a:r>
            <a:endParaRPr lang="en-US" sz="1100" i="1" u="sng">
              <a:solidFill>
                <a:srgbClr val="FFFFFF"/>
              </a:solidFill>
              <a:latin typeface="NVIDIA Sans"/>
              <a:cs typeface="NVIDIA Sans"/>
            </a:endParaRPr>
          </a:p>
          <a:p>
            <a:r>
              <a:rPr lang="en-US" sz="1100" i="1" u="sng" err="1">
                <a:solidFill>
                  <a:srgbClr val="76B900"/>
                </a:solidFill>
                <a:latin typeface="NVIDIA Sans"/>
                <a:hlinkClick r:id="rId7"/>
              </a:rPr>
              <a:t>Nemotron</a:t>
            </a:r>
            <a:r>
              <a:rPr lang="en-US" sz="1100" i="1" u="sng">
                <a:solidFill>
                  <a:srgbClr val="76B900"/>
                </a:solidFill>
                <a:latin typeface="NVIDIA Sans"/>
                <a:hlinkClick r:id="rId7"/>
              </a:rPr>
              <a:t> </a:t>
            </a:r>
            <a:r>
              <a:rPr lang="en-US" sz="1100" i="1" u="sng">
                <a:solidFill>
                  <a:srgbClr val="76B900"/>
                </a:solidFill>
                <a:latin typeface="NVIDIA Sans"/>
                <a:hlinkClick r:id="rId7">
                  <a:extLst>
                    <a:ext uri="{A12FA001-AC4F-418D-AE19-62706E023703}">
                      <ahyp:hlinkClr xmlns:ahyp="http://schemas.microsoft.com/office/drawing/2018/hyperlinkcolor" val="tx"/>
                    </a:ext>
                  </a:extLst>
                </a:hlinkClick>
              </a:rPr>
              <a:t>Jailbreak Detect</a:t>
            </a:r>
            <a:endParaRPr lang="en-US" sz="1100" i="1" u="sng">
              <a:latin typeface="NVIDIA Sans"/>
              <a:cs typeface="NVIDIA Sans"/>
              <a:hlinkClick r:id="" action="ppaction://noaction">
                <a:extLst>
                  <a:ext uri="{A12FA001-AC4F-418D-AE19-62706E023703}">
                    <ahyp:hlinkClr xmlns:ahyp="http://schemas.microsoft.com/office/drawing/2018/hyperlinkcolor" val="tx"/>
                  </a:ext>
                </a:extLst>
              </a:hlinkClick>
            </a:endParaRPr>
          </a:p>
          <a:p>
            <a:r>
              <a:rPr lang="en-US" sz="1100" i="1" u="sng" err="1">
                <a:solidFill>
                  <a:srgbClr val="76B900"/>
                </a:solidFill>
                <a:latin typeface="NVIDIA Sans"/>
                <a:hlinkClick r:id="rId8"/>
              </a:rPr>
              <a:t>Nemotron</a:t>
            </a:r>
            <a:r>
              <a:rPr lang="en-US" sz="1100" i="1" u="sng">
                <a:solidFill>
                  <a:srgbClr val="76B900"/>
                </a:solidFill>
                <a:latin typeface="NVIDIA Sans"/>
                <a:hlinkClick r:id="rId8"/>
              </a:rPr>
              <a:t> Content Safety Reasoning</a:t>
            </a:r>
            <a:r>
              <a:rPr lang="en-US" sz="1100" i="1" u="sng">
                <a:solidFill>
                  <a:srgbClr val="76B900"/>
                </a:solidFill>
                <a:latin typeface="NVIDIA Sans"/>
              </a:rPr>
              <a:t> 4B</a:t>
            </a:r>
            <a:endParaRPr lang="en-US" sz="1100" i="1" u="sng">
              <a:solidFill>
                <a:srgbClr val="76B900"/>
              </a:solidFill>
              <a:latin typeface="NVIDIA Sans"/>
              <a:cs typeface="NVIDIA Sans"/>
            </a:endParaRPr>
          </a:p>
          <a:p>
            <a:r>
              <a:rPr lang="en-US" sz="1100" i="1" u="sng">
                <a:solidFill>
                  <a:srgbClr val="76B900"/>
                </a:solidFill>
                <a:latin typeface="NVIDIA Sans"/>
                <a:cs typeface="NVIDIA Sans"/>
              </a:rPr>
              <a:t>GLiNER PII</a:t>
            </a:r>
          </a:p>
          <a:p>
            <a:r>
              <a:rPr lang="en-US" sz="1100" i="1" u="sng" err="1">
                <a:solidFill>
                  <a:srgbClr val="76B900"/>
                </a:solidFill>
                <a:latin typeface="NVIDIA Sans"/>
                <a:cs typeface="NVIDIA Sans"/>
              </a:rPr>
              <a:t>Nemotron</a:t>
            </a:r>
            <a:r>
              <a:rPr lang="en-US" sz="1100" i="1" u="sng">
                <a:solidFill>
                  <a:srgbClr val="76B900"/>
                </a:solidFill>
                <a:latin typeface="NVIDIA Sans"/>
                <a:cs typeface="NVIDIA Sans"/>
              </a:rPr>
              <a:t> Content Safety VL 4B</a:t>
            </a:r>
          </a:p>
        </p:txBody>
      </p:sp>
      <p:sp>
        <p:nvSpPr>
          <p:cNvPr id="32" name="TextBox 31">
            <a:extLst>
              <a:ext uri="{FF2B5EF4-FFF2-40B4-BE49-F238E27FC236}">
                <a16:creationId xmlns:a16="http://schemas.microsoft.com/office/drawing/2014/main" id="{44FD37E4-0F38-9482-0F37-5BE8308B107E}"/>
              </a:ext>
            </a:extLst>
          </p:cNvPr>
          <p:cNvSpPr txBox="1"/>
          <p:nvPr/>
        </p:nvSpPr>
        <p:spPr>
          <a:xfrm>
            <a:off x="3150456" y="3596558"/>
            <a:ext cx="2380031"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i="1">
                <a:solidFill>
                  <a:srgbClr val="76B900"/>
                </a:solidFill>
                <a:latin typeface="NVIDIA Sans"/>
                <a:hlinkClick r:id="rId9"/>
              </a:rPr>
              <a:t>Meta Llama Guard 3</a:t>
            </a:r>
            <a:endParaRPr lang="en-US" sz="1100" i="1">
              <a:latin typeface="NVIDIA Sans"/>
              <a:cs typeface="NVIDIA Sans"/>
            </a:endParaRPr>
          </a:p>
          <a:p>
            <a:r>
              <a:rPr lang="en-US" sz="1100" i="1">
                <a:solidFill>
                  <a:srgbClr val="76B900"/>
                </a:solidFill>
                <a:latin typeface="NVIDIA Sans"/>
                <a:hlinkClick r:id="rId10"/>
              </a:rPr>
              <a:t>Google ShieldGemma</a:t>
            </a:r>
            <a:endParaRPr lang="en-US" sz="1100" i="1">
              <a:latin typeface="NVIDIA Sans"/>
              <a:cs typeface="NVIDIA Sans"/>
            </a:endParaRPr>
          </a:p>
          <a:p>
            <a:r>
              <a:rPr lang="en-US" sz="1100" i="1">
                <a:solidFill>
                  <a:srgbClr val="76B900"/>
                </a:solidFill>
                <a:latin typeface="NVIDIA Sans"/>
                <a:hlinkClick r:id="rId11"/>
              </a:rPr>
              <a:t>Patronus Lynx</a:t>
            </a:r>
            <a:endParaRPr lang="en-US" sz="1100" i="1">
              <a:latin typeface="NVIDIA Sans"/>
              <a:cs typeface="NVIDIA Sans"/>
            </a:endParaRPr>
          </a:p>
          <a:p>
            <a:r>
              <a:rPr lang="en-US" sz="1100" i="1">
                <a:solidFill>
                  <a:srgbClr val="76B900"/>
                </a:solidFill>
                <a:latin typeface="NVIDIA Sans"/>
                <a:hlinkClick r:id="rId12"/>
              </a:rPr>
              <a:t>AlignScore</a:t>
            </a:r>
            <a:endParaRPr lang="en-US" sz="1100" i="1">
              <a:latin typeface="NVIDIA Sans"/>
              <a:cs typeface="NVIDIA Sans"/>
            </a:endParaRPr>
          </a:p>
          <a:p>
            <a:r>
              <a:rPr lang="en-US" sz="1100" i="1">
                <a:solidFill>
                  <a:srgbClr val="76B900"/>
                </a:solidFill>
                <a:latin typeface="NVIDIA Sans"/>
                <a:hlinkClick r:id="rId13"/>
              </a:rPr>
              <a:t>Microsoft Presidio</a:t>
            </a:r>
            <a:endParaRPr lang="en-US" sz="1100" i="1">
              <a:latin typeface="NVIDIA Sans"/>
              <a:cs typeface="NVIDIA Sans"/>
            </a:endParaRPr>
          </a:p>
        </p:txBody>
      </p:sp>
      <p:sp>
        <p:nvSpPr>
          <p:cNvPr id="34" name="TextBox 33">
            <a:extLst>
              <a:ext uri="{FF2B5EF4-FFF2-40B4-BE49-F238E27FC236}">
                <a16:creationId xmlns:a16="http://schemas.microsoft.com/office/drawing/2014/main" id="{CBBEB21E-610D-BE2D-8813-008795C15E8C}"/>
              </a:ext>
            </a:extLst>
          </p:cNvPr>
          <p:cNvSpPr txBox="1"/>
          <p:nvPr/>
        </p:nvSpPr>
        <p:spPr>
          <a:xfrm>
            <a:off x="3037322" y="1919096"/>
            <a:ext cx="3516943"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a:solidFill>
                  <a:schemeClr val="bg1">
                    <a:lumMod val="85000"/>
                    <a:lumOff val="15000"/>
                  </a:schemeClr>
                </a:solidFill>
                <a:latin typeface="NVIDIA Sans"/>
              </a:rPr>
              <a:t>NVIDIA Open Models</a:t>
            </a:r>
            <a:endParaRPr lang="en-US" b="1">
              <a:solidFill>
                <a:schemeClr val="bg1">
                  <a:lumMod val="85000"/>
                  <a:lumOff val="15000"/>
                </a:schemeClr>
              </a:solidFill>
              <a:cs typeface="Arial"/>
            </a:endParaRPr>
          </a:p>
        </p:txBody>
      </p:sp>
      <p:sp>
        <p:nvSpPr>
          <p:cNvPr id="36" name="TextBox 35">
            <a:extLst>
              <a:ext uri="{FF2B5EF4-FFF2-40B4-BE49-F238E27FC236}">
                <a16:creationId xmlns:a16="http://schemas.microsoft.com/office/drawing/2014/main" id="{CE10F600-59EF-381D-BE44-2D016CE42E8C}"/>
              </a:ext>
            </a:extLst>
          </p:cNvPr>
          <p:cNvSpPr txBox="1"/>
          <p:nvPr/>
        </p:nvSpPr>
        <p:spPr>
          <a:xfrm>
            <a:off x="3035177" y="3373694"/>
            <a:ext cx="3531114"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a:solidFill>
                  <a:schemeClr val="bg1">
                    <a:lumMod val="85000"/>
                    <a:lumOff val="15000"/>
                  </a:schemeClr>
                </a:solidFill>
                <a:latin typeface="NVIDIA Sans"/>
              </a:rPr>
              <a:t>Community Rails</a:t>
            </a:r>
            <a:endParaRPr lang="en-US"/>
          </a:p>
        </p:txBody>
      </p:sp>
      <p:sp>
        <p:nvSpPr>
          <p:cNvPr id="38" name="TextBox 37">
            <a:extLst>
              <a:ext uri="{FF2B5EF4-FFF2-40B4-BE49-F238E27FC236}">
                <a16:creationId xmlns:a16="http://schemas.microsoft.com/office/drawing/2014/main" id="{AF57BB64-2A54-FD50-B22D-82B6638BCCDE}"/>
              </a:ext>
            </a:extLst>
          </p:cNvPr>
          <p:cNvSpPr txBox="1"/>
          <p:nvPr/>
        </p:nvSpPr>
        <p:spPr>
          <a:xfrm>
            <a:off x="3058946" y="4640878"/>
            <a:ext cx="3506405"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a:solidFill>
                  <a:schemeClr val="bg1">
                    <a:lumMod val="85000"/>
                    <a:lumOff val="15000"/>
                  </a:schemeClr>
                </a:solidFill>
                <a:latin typeface="NVIDIA Sans"/>
              </a:rPr>
              <a:t>3rd Party APIs</a:t>
            </a:r>
            <a:endParaRPr lang="en-US" b="1">
              <a:solidFill>
                <a:schemeClr val="bg1">
                  <a:lumMod val="85000"/>
                  <a:lumOff val="15000"/>
                </a:schemeClr>
              </a:solidFill>
              <a:cs typeface="NVIDIA Sans"/>
            </a:endParaRPr>
          </a:p>
        </p:txBody>
      </p:sp>
      <p:sp>
        <p:nvSpPr>
          <p:cNvPr id="25" name="TextBox 24">
            <a:extLst>
              <a:ext uri="{FF2B5EF4-FFF2-40B4-BE49-F238E27FC236}">
                <a16:creationId xmlns:a16="http://schemas.microsoft.com/office/drawing/2014/main" id="{275272FB-013D-A1CB-361D-F19CB5EB2178}"/>
              </a:ext>
            </a:extLst>
          </p:cNvPr>
          <p:cNvSpPr txBox="1"/>
          <p:nvPr/>
        </p:nvSpPr>
        <p:spPr>
          <a:xfrm>
            <a:off x="3506648" y="1419380"/>
            <a:ext cx="2208186" cy="307777"/>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b="1">
                <a:solidFill>
                  <a:schemeClr val="bg2"/>
                </a:solidFill>
                <a:latin typeface="NVIDIA Sans Regular"/>
                <a:cs typeface="NVIDIA Sans Regular"/>
              </a:rPr>
              <a:t>Pre-Built Rails Available</a:t>
            </a:r>
            <a:endParaRPr lang="en-US" sz="1400">
              <a:solidFill>
                <a:schemeClr val="bg2"/>
              </a:solidFill>
              <a:latin typeface="NVIDIA Sans Regular"/>
              <a:cs typeface="NVIDIA Sans Regular"/>
            </a:endParaRPr>
          </a:p>
        </p:txBody>
      </p:sp>
      <p:sp>
        <p:nvSpPr>
          <p:cNvPr id="33" name="TextBox 32">
            <a:extLst>
              <a:ext uri="{FF2B5EF4-FFF2-40B4-BE49-F238E27FC236}">
                <a16:creationId xmlns:a16="http://schemas.microsoft.com/office/drawing/2014/main" id="{301BE809-A7B2-C732-251E-B5A0E6B472DF}"/>
              </a:ext>
            </a:extLst>
          </p:cNvPr>
          <p:cNvSpPr txBox="1"/>
          <p:nvPr/>
        </p:nvSpPr>
        <p:spPr>
          <a:xfrm>
            <a:off x="4562051" y="4853820"/>
            <a:ext cx="1687131"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i="1" u="sng">
                <a:solidFill>
                  <a:srgbClr val="76B900"/>
                </a:solidFill>
                <a:latin typeface="NVIDIA Sans"/>
                <a:hlinkClick r:id="rId14">
                  <a:extLst>
                    <a:ext uri="{A12FA001-AC4F-418D-AE19-62706E023703}">
                      <ahyp:hlinkClr xmlns:ahyp="http://schemas.microsoft.com/office/drawing/2018/hyperlinkcolor" val="tx"/>
                    </a:ext>
                  </a:extLst>
                </a:hlinkClick>
              </a:rPr>
              <a:t>GCP Text </a:t>
            </a:r>
            <a:r>
              <a:rPr lang="en-US" sz="1100" i="1" u="sng">
                <a:solidFill>
                  <a:srgbClr val="76B900"/>
                </a:solidFill>
                <a:latin typeface="NVIDIA Sans"/>
                <a:hlinkClick r:id="rId14"/>
              </a:rPr>
              <a:t>Moderation</a:t>
            </a:r>
            <a:endParaRPr lang="en-US" sz="1100" i="1" u="sng">
              <a:solidFill>
                <a:srgbClr val="FFFFFF"/>
              </a:solidFill>
              <a:latin typeface="NVIDIA Sans"/>
              <a:cs typeface="NVIDIA Sans"/>
            </a:endParaRPr>
          </a:p>
          <a:p>
            <a:r>
              <a:rPr lang="en-US" sz="1100" i="1" u="sng">
                <a:solidFill>
                  <a:srgbClr val="76B900"/>
                </a:solidFill>
                <a:latin typeface="NVIDIA Sans"/>
                <a:hlinkClick r:id="rId14">
                  <a:extLst>
                    <a:ext uri="{A12FA001-AC4F-418D-AE19-62706E023703}">
                      <ahyp:hlinkClr xmlns:ahyp="http://schemas.microsoft.com/office/drawing/2018/hyperlinkcolor" val="tx"/>
                    </a:ext>
                  </a:extLst>
                </a:hlinkClick>
              </a:rPr>
              <a:t>GuardrailsAI</a:t>
            </a:r>
            <a:endParaRPr lang="en-US" sz="1100" i="1" u="sng">
              <a:solidFill>
                <a:srgbClr val="FFFFFF"/>
              </a:solidFill>
              <a:latin typeface="NVIDIA Sans"/>
              <a:cs typeface="NVIDIA Sans"/>
            </a:endParaRPr>
          </a:p>
          <a:p>
            <a:r>
              <a:rPr lang="en-US" sz="1100" i="1" u="sng">
                <a:solidFill>
                  <a:srgbClr val="76B900"/>
                </a:solidFill>
                <a:latin typeface="NVIDIA Sans"/>
              </a:rPr>
              <a:t>CrowdStrike</a:t>
            </a:r>
            <a:endParaRPr lang="en-US" sz="1100" i="1" u="sng">
              <a:solidFill>
                <a:srgbClr val="FFFFFF"/>
              </a:solidFill>
              <a:latin typeface="NVIDIA Sans"/>
              <a:cs typeface="NVIDIA Sans"/>
            </a:endParaRPr>
          </a:p>
          <a:p>
            <a:r>
              <a:rPr lang="en-US" sz="1100" i="1" u="sng">
                <a:solidFill>
                  <a:srgbClr val="76B900"/>
                </a:solidFill>
                <a:latin typeface="NVIDIA Sans"/>
                <a:hlinkClick r:id="rId15">
                  <a:extLst>
                    <a:ext uri="{A12FA001-AC4F-418D-AE19-62706E023703}">
                      <ahyp:hlinkClr xmlns:ahyp="http://schemas.microsoft.com/office/drawing/2018/hyperlinkcolor" val="tx"/>
                    </a:ext>
                  </a:extLst>
                </a:hlinkClick>
              </a:rPr>
              <a:t>Private </a:t>
            </a:r>
            <a:r>
              <a:rPr lang="en-US" sz="1100" i="1" u="sng">
                <a:solidFill>
                  <a:srgbClr val="76B900"/>
                </a:solidFill>
                <a:latin typeface="NVIDIA Sans"/>
                <a:hlinkClick r:id="rId15"/>
              </a:rPr>
              <a:t>AI</a:t>
            </a:r>
            <a:endParaRPr lang="en-US" sz="1100" i="1" u="sng">
              <a:solidFill>
                <a:srgbClr val="FFFFFF"/>
              </a:solidFill>
              <a:latin typeface="NVIDIA Sans"/>
              <a:cs typeface="NVIDIA Sans"/>
            </a:endParaRPr>
          </a:p>
          <a:p>
            <a:r>
              <a:rPr lang="en-US" sz="1100" i="1" u="sng">
                <a:solidFill>
                  <a:srgbClr val="76B900"/>
                </a:solidFill>
                <a:latin typeface="NVIDIA Sans"/>
                <a:hlinkClick r:id="rId15"/>
              </a:rPr>
              <a:t>Prompt</a:t>
            </a:r>
            <a:r>
              <a:rPr lang="en-US" sz="1100" i="1" u="sng">
                <a:solidFill>
                  <a:srgbClr val="76B900"/>
                </a:solidFill>
                <a:latin typeface="NVIDIA Sans"/>
                <a:hlinkClick r:id="rId15">
                  <a:extLst>
                    <a:ext uri="{A12FA001-AC4F-418D-AE19-62706E023703}">
                      <ahyp:hlinkClr xmlns:ahyp="http://schemas.microsoft.com/office/drawing/2018/hyperlinkcolor" val="tx"/>
                    </a:ext>
                  </a:extLst>
                </a:hlinkClick>
              </a:rPr>
              <a:t> Security</a:t>
            </a:r>
            <a:endParaRPr lang="en-US" sz="1200" u="sng">
              <a:solidFill>
                <a:srgbClr val="FFFFFF"/>
              </a:solidFill>
              <a:latin typeface="Arial"/>
              <a:cs typeface="Arial"/>
            </a:endParaRPr>
          </a:p>
          <a:p>
            <a:r>
              <a:rPr lang="en-US" sz="1100" i="1" u="sng">
                <a:solidFill>
                  <a:srgbClr val="76B900"/>
                </a:solidFill>
                <a:latin typeface="NVIDIA Sans"/>
                <a:hlinkClick r:id="rId15"/>
              </a:rPr>
              <a:t>Trend Micro Vision One</a:t>
            </a:r>
            <a:endParaRPr lang="en-US" u="sng"/>
          </a:p>
        </p:txBody>
      </p:sp>
      <p:sp>
        <p:nvSpPr>
          <p:cNvPr id="4" name="Rectangle: Rounded Corners 3">
            <a:extLst>
              <a:ext uri="{FF2B5EF4-FFF2-40B4-BE49-F238E27FC236}">
                <a16:creationId xmlns:a16="http://schemas.microsoft.com/office/drawing/2014/main" id="{27286609-760E-C51D-6981-4689CE9C7E1E}"/>
              </a:ext>
            </a:extLst>
          </p:cNvPr>
          <p:cNvSpPr/>
          <p:nvPr/>
        </p:nvSpPr>
        <p:spPr>
          <a:xfrm>
            <a:off x="6646099" y="1572080"/>
            <a:ext cx="3493777" cy="4716489"/>
          </a:xfrm>
          <a:prstGeom prst="roundRect">
            <a:avLst/>
          </a:prstGeom>
          <a:solidFill>
            <a:schemeClr val="tx1"/>
          </a:solidFill>
          <a:ln w="6350">
            <a:solidFill>
              <a:schemeClr val="tx2"/>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cs typeface="Arial"/>
            </a:endParaRPr>
          </a:p>
        </p:txBody>
      </p:sp>
      <p:sp>
        <p:nvSpPr>
          <p:cNvPr id="6" name="TextBox 5">
            <a:extLst>
              <a:ext uri="{FF2B5EF4-FFF2-40B4-BE49-F238E27FC236}">
                <a16:creationId xmlns:a16="http://schemas.microsoft.com/office/drawing/2014/main" id="{54D735D7-1EE3-DD0B-94A0-EDFAB1ED3B8E}"/>
              </a:ext>
            </a:extLst>
          </p:cNvPr>
          <p:cNvSpPr txBox="1"/>
          <p:nvPr/>
        </p:nvSpPr>
        <p:spPr>
          <a:xfrm>
            <a:off x="7128587" y="2056846"/>
            <a:ext cx="2530761" cy="29700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bg1">
                    <a:lumMod val="85000"/>
                    <a:lumOff val="15000"/>
                  </a:schemeClr>
                </a:solidFill>
                <a:latin typeface="NVIDIA Sans"/>
                <a:cs typeface="NVIDIA Sans"/>
              </a:rPr>
              <a:t>Bring your own guardrails models or build custom security rules tailored to your unique use case and custom policies. </a:t>
            </a:r>
          </a:p>
          <a:p>
            <a:endParaRPr lang="en-US" sz="1100">
              <a:solidFill>
                <a:schemeClr val="bg1">
                  <a:lumMod val="85000"/>
                  <a:lumOff val="15000"/>
                </a:schemeClr>
              </a:solidFill>
              <a:latin typeface="NVIDIA Sans"/>
              <a:cs typeface="NVIDIA Sans"/>
            </a:endParaRPr>
          </a:p>
          <a:p>
            <a:endParaRPr lang="en-US" sz="1100">
              <a:solidFill>
                <a:schemeClr val="bg1">
                  <a:lumMod val="85000"/>
                  <a:lumOff val="15000"/>
                </a:schemeClr>
              </a:solidFill>
              <a:latin typeface="NVIDIA Sans"/>
              <a:cs typeface="NVIDIA Sans"/>
            </a:endParaRPr>
          </a:p>
          <a:p>
            <a:pPr marL="171450" indent="-171450">
              <a:buFont typeface="Arial"/>
              <a:buChar char="•"/>
            </a:pPr>
            <a:r>
              <a:rPr lang="en-US" sz="1100">
                <a:solidFill>
                  <a:schemeClr val="bg1">
                    <a:lumMod val="85000"/>
                    <a:lumOff val="15000"/>
                  </a:schemeClr>
                </a:solidFill>
                <a:latin typeface="NVIDIA Sans Regular"/>
                <a:ea typeface="+mn-lt"/>
                <a:cs typeface="+mn-lt"/>
              </a:rPr>
              <a:t>Hook in custom Python functions, Hugging Face models, or LangChain flows.</a:t>
            </a:r>
            <a:endParaRPr lang="en-US" sz="1100">
              <a:solidFill>
                <a:schemeClr val="bg1">
                  <a:lumMod val="85000"/>
                  <a:lumOff val="15000"/>
                </a:schemeClr>
              </a:solidFill>
              <a:latin typeface="NVIDIA Sans Regular"/>
              <a:cs typeface="NVIDIA Sans"/>
            </a:endParaRPr>
          </a:p>
          <a:p>
            <a:pPr marL="171450" indent="-171450">
              <a:buFont typeface="Arial"/>
              <a:buChar char="•"/>
            </a:pPr>
            <a:endParaRPr lang="en-US" sz="1100">
              <a:latin typeface="NVIDIA Sans Regular"/>
              <a:cs typeface="NVIDIA Sans Regular"/>
            </a:endParaRPr>
          </a:p>
          <a:p>
            <a:pPr marL="171450" indent="-171450">
              <a:buFont typeface="Arial"/>
              <a:buChar char="•"/>
            </a:pPr>
            <a:r>
              <a:rPr lang="en-US" sz="1100">
                <a:solidFill>
                  <a:schemeClr val="bg1">
                    <a:lumMod val="85000"/>
                    <a:lumOff val="15000"/>
                  </a:schemeClr>
                </a:solidFill>
                <a:latin typeface="NVIDIA Sans Regular"/>
                <a:ea typeface="+mn-lt"/>
                <a:cs typeface="+mn-lt"/>
              </a:rPr>
              <a:t>Use YARA rules to express custom security and compliance policies.</a:t>
            </a:r>
            <a:endParaRPr lang="en-US" sz="1100">
              <a:solidFill>
                <a:schemeClr val="bg1">
                  <a:lumMod val="85000"/>
                  <a:lumOff val="15000"/>
                </a:schemeClr>
              </a:solidFill>
              <a:latin typeface="NVIDIA Sans Regular"/>
              <a:cs typeface="NVIDIA Sans Regular"/>
            </a:endParaRPr>
          </a:p>
          <a:p>
            <a:pPr marL="171450" indent="-171450">
              <a:buFont typeface="Arial"/>
              <a:buChar char="•"/>
            </a:pPr>
            <a:endParaRPr lang="en-US" sz="1100">
              <a:solidFill>
                <a:schemeClr val="bg1">
                  <a:lumMod val="85000"/>
                  <a:lumOff val="15000"/>
                </a:schemeClr>
              </a:solidFill>
              <a:latin typeface="NVIDIA Sans Regular"/>
              <a:ea typeface="+mn-lt"/>
              <a:cs typeface="+mn-lt"/>
            </a:endParaRPr>
          </a:p>
          <a:p>
            <a:pPr marL="171450" indent="-171450">
              <a:buFont typeface="Arial"/>
              <a:buChar char="•"/>
            </a:pPr>
            <a:r>
              <a:rPr lang="en-US" sz="1100">
                <a:solidFill>
                  <a:schemeClr val="bg1">
                    <a:lumMod val="85000"/>
                    <a:lumOff val="15000"/>
                  </a:schemeClr>
                </a:solidFill>
                <a:latin typeface="NVIDIA Sans Regular"/>
                <a:ea typeface="+mn-lt"/>
                <a:cs typeface="+mn-lt"/>
              </a:rPr>
              <a:t>Use </a:t>
            </a:r>
            <a:r>
              <a:rPr lang="en-US" sz="1100" err="1">
                <a:solidFill>
                  <a:schemeClr val="bg1">
                    <a:lumMod val="85000"/>
                    <a:lumOff val="15000"/>
                  </a:schemeClr>
                </a:solidFill>
                <a:latin typeface="NVIDIA Sans Regular"/>
                <a:ea typeface="+mn-lt"/>
                <a:cs typeface="+mn-lt"/>
              </a:rPr>
              <a:t>Colang</a:t>
            </a:r>
            <a:r>
              <a:rPr lang="en-US" sz="1100">
                <a:solidFill>
                  <a:schemeClr val="bg1">
                    <a:lumMod val="85000"/>
                    <a:lumOff val="15000"/>
                  </a:schemeClr>
                </a:solidFill>
                <a:latin typeface="NVIDIA Sans Regular"/>
                <a:ea typeface="+mn-lt"/>
                <a:cs typeface="+mn-lt"/>
              </a:rPr>
              <a:t> to define custom dialogue rails and logical conversation flows.</a:t>
            </a:r>
            <a:endParaRPr lang="en-US" sz="1100">
              <a:solidFill>
                <a:schemeClr val="bg1">
                  <a:lumMod val="85000"/>
                  <a:lumOff val="15000"/>
                </a:schemeClr>
              </a:solidFill>
              <a:latin typeface="NVIDIA Sans Regular"/>
              <a:cs typeface="NVIDIA Sans Regular"/>
            </a:endParaRPr>
          </a:p>
        </p:txBody>
      </p:sp>
      <p:sp>
        <p:nvSpPr>
          <p:cNvPr id="7" name="TextBox 6">
            <a:extLst>
              <a:ext uri="{FF2B5EF4-FFF2-40B4-BE49-F238E27FC236}">
                <a16:creationId xmlns:a16="http://schemas.microsoft.com/office/drawing/2014/main" id="{8B36B412-1260-7034-7E26-B8E87BDC334B}"/>
              </a:ext>
            </a:extLst>
          </p:cNvPr>
          <p:cNvSpPr txBox="1"/>
          <p:nvPr/>
        </p:nvSpPr>
        <p:spPr>
          <a:xfrm>
            <a:off x="7260501" y="1443442"/>
            <a:ext cx="2208186" cy="307777"/>
          </a:xfrm>
          <a:prstGeom prst="rect">
            <a:avLst/>
          </a:prstGeom>
          <a:solidFill>
            <a:schemeClr val="tx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b="1">
                <a:solidFill>
                  <a:schemeClr val="bg2"/>
                </a:solidFill>
                <a:latin typeface="NVIDIA Sans Regular"/>
                <a:cs typeface="NVIDIA Sans Regular"/>
              </a:rPr>
              <a:t>Custom Rails Available</a:t>
            </a:r>
            <a:endParaRPr lang="en-US" sz="1400">
              <a:solidFill>
                <a:schemeClr val="bg2"/>
              </a:solidFill>
              <a:latin typeface="NVIDIA Sans Regular"/>
              <a:cs typeface="NVIDIA Sans Regular"/>
            </a:endParaRPr>
          </a:p>
        </p:txBody>
      </p:sp>
      <p:pic>
        <p:nvPicPr>
          <p:cNvPr id="5" name="Picture 4" descr="A green puzzle piece with black background&#10;&#10;AI-generated content may be incorrect.">
            <a:extLst>
              <a:ext uri="{FF2B5EF4-FFF2-40B4-BE49-F238E27FC236}">
                <a16:creationId xmlns:a16="http://schemas.microsoft.com/office/drawing/2014/main" id="{B22E6CB2-D461-4EA9-6E56-5C676CE68306}"/>
              </a:ext>
            </a:extLst>
          </p:cNvPr>
          <p:cNvPicPr>
            <a:picLocks noChangeAspect="1"/>
          </p:cNvPicPr>
          <p:nvPr/>
        </p:nvPicPr>
        <p:blipFill>
          <a:blip r:embed="rId16"/>
          <a:stretch>
            <a:fillRect/>
          </a:stretch>
        </p:blipFill>
        <p:spPr>
          <a:xfrm>
            <a:off x="7930129" y="5033995"/>
            <a:ext cx="861114" cy="930386"/>
          </a:xfrm>
          <a:prstGeom prst="rect">
            <a:avLst/>
          </a:prstGeom>
        </p:spPr>
      </p:pic>
    </p:spTree>
    <p:extLst>
      <p:ext uri="{BB962C8B-B14F-4D97-AF65-F5344CB8AC3E}">
        <p14:creationId xmlns:p14="http://schemas.microsoft.com/office/powerpoint/2010/main" val="426835316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D1046-8F14-F2FD-EC21-7C2AE79C38F1}"/>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39A63AD3-FE5A-5124-EE9D-BBD4FBD3D47A}"/>
              </a:ext>
            </a:extLst>
          </p:cNvPr>
          <p:cNvSpPr/>
          <p:nvPr/>
        </p:nvSpPr>
        <p:spPr>
          <a:xfrm>
            <a:off x="1165786" y="1875769"/>
            <a:ext cx="9653789" cy="2197963"/>
          </a:xfrm>
          <a:prstGeom prst="rect">
            <a:avLst/>
          </a:prstGeom>
          <a:solidFill>
            <a:schemeClr val="tx1"/>
          </a:solidFill>
          <a:ln>
            <a:solidFill>
              <a:schemeClr val="bg1">
                <a:lumMod val="95000"/>
                <a:lumOff val="5000"/>
              </a:schemeClr>
            </a:solidFill>
          </a:ln>
          <a:scene3d>
            <a:camera prst="orthographicFront"/>
            <a:lightRig rig="soft" dir="t">
              <a:rot lat="0" lon="0" rev="20400000"/>
            </a:lightRig>
          </a:scene3d>
          <a:sp3d prstMaterial="plastic">
            <a:bevelT w="0" h="0"/>
          </a:sp3d>
        </p:spPr>
        <p:style>
          <a:lnRef idx="2">
            <a:schemeClr val="accent1">
              <a:shade val="50000"/>
            </a:schemeClr>
          </a:lnRef>
          <a:fillRef idx="1">
            <a:schemeClr val="accent1"/>
          </a:fillRef>
          <a:effectRef idx="0">
            <a:schemeClr val="accent1"/>
          </a:effectRef>
          <a:fontRef idx="minor">
            <a:schemeClr val="lt1"/>
          </a:fontRef>
        </p:style>
        <p:txBody>
          <a:bodyPr lIns="45720" tIns="91440" rIns="45720" bIns="9144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1600">
              <a:solidFill>
                <a:schemeClr val="bg1"/>
              </a:solidFill>
            </a:endParaRPr>
          </a:p>
        </p:txBody>
      </p:sp>
      <p:sp>
        <p:nvSpPr>
          <p:cNvPr id="30" name="TextBox 29">
            <a:extLst>
              <a:ext uri="{FF2B5EF4-FFF2-40B4-BE49-F238E27FC236}">
                <a16:creationId xmlns:a16="http://schemas.microsoft.com/office/drawing/2014/main" id="{73B0E201-09CB-3638-D165-46C653D38A0C}"/>
              </a:ext>
            </a:extLst>
          </p:cNvPr>
          <p:cNvSpPr txBox="1"/>
          <p:nvPr/>
        </p:nvSpPr>
        <p:spPr>
          <a:xfrm>
            <a:off x="6514468" y="3342669"/>
            <a:ext cx="2511467"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Enforces Relevant </a:t>
            </a:r>
          </a:p>
          <a:p>
            <a:pPr algn="ctr"/>
            <a:r>
              <a:rPr lang="en-US" sz="1467">
                <a:solidFill>
                  <a:schemeClr val="tx2"/>
                </a:solidFill>
                <a:cs typeface="NVIDIA Sans"/>
              </a:rPr>
              <a:t>Dialogue</a:t>
            </a:r>
          </a:p>
        </p:txBody>
      </p:sp>
      <p:sp>
        <p:nvSpPr>
          <p:cNvPr id="29" name="TextBox 28">
            <a:extLst>
              <a:ext uri="{FF2B5EF4-FFF2-40B4-BE49-F238E27FC236}">
                <a16:creationId xmlns:a16="http://schemas.microsoft.com/office/drawing/2014/main" id="{CB833DFE-A730-570A-AE00-3B3888EF8D89}"/>
              </a:ext>
            </a:extLst>
          </p:cNvPr>
          <p:cNvSpPr txBox="1"/>
          <p:nvPr/>
        </p:nvSpPr>
        <p:spPr>
          <a:xfrm>
            <a:off x="1259606" y="3344338"/>
            <a:ext cx="2194671"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Blocks Harmful </a:t>
            </a:r>
          </a:p>
          <a:p>
            <a:pPr algn="ctr"/>
            <a:r>
              <a:rPr lang="en-US" sz="1467">
                <a:solidFill>
                  <a:schemeClr val="tx2"/>
                </a:solidFill>
                <a:cs typeface="NVIDIA Sans"/>
              </a:rPr>
              <a:t>Content</a:t>
            </a:r>
          </a:p>
        </p:txBody>
      </p:sp>
      <p:grpSp>
        <p:nvGrpSpPr>
          <p:cNvPr id="2" name="Group 1">
            <a:extLst>
              <a:ext uri="{FF2B5EF4-FFF2-40B4-BE49-F238E27FC236}">
                <a16:creationId xmlns:a16="http://schemas.microsoft.com/office/drawing/2014/main" id="{33056562-4AD9-EDDA-FA46-D0016F522634}"/>
              </a:ext>
            </a:extLst>
          </p:cNvPr>
          <p:cNvGrpSpPr/>
          <p:nvPr/>
        </p:nvGrpSpPr>
        <p:grpSpPr>
          <a:xfrm>
            <a:off x="2087359" y="2615833"/>
            <a:ext cx="548640" cy="728037"/>
            <a:chOff x="6241104" y="8182728"/>
            <a:chExt cx="1645920" cy="2184111"/>
          </a:xfrm>
        </p:grpSpPr>
        <p:pic>
          <p:nvPicPr>
            <p:cNvPr id="37" name="Picture 36" descr="A black cube with green base&#10;&#10;Description automatically generated">
              <a:extLst>
                <a:ext uri="{FF2B5EF4-FFF2-40B4-BE49-F238E27FC236}">
                  <a16:creationId xmlns:a16="http://schemas.microsoft.com/office/drawing/2014/main" id="{8D584697-B3D4-F981-B7BE-F1A8D817CB6A}"/>
                </a:ext>
              </a:extLst>
            </p:cNvPr>
            <p:cNvPicPr>
              <a:picLocks noChangeAspect="1"/>
            </p:cNvPicPr>
            <p:nvPr/>
          </p:nvPicPr>
          <p:blipFill>
            <a:blip r:embed="rId4"/>
            <a:stretch>
              <a:fillRect/>
            </a:stretch>
          </p:blipFill>
          <p:spPr>
            <a:xfrm>
              <a:off x="6241104" y="8182728"/>
              <a:ext cx="1645920" cy="2184111"/>
            </a:xfrm>
            <a:prstGeom prst="rect">
              <a:avLst/>
            </a:prstGeom>
          </p:spPr>
        </p:pic>
        <p:pic>
          <p:nvPicPr>
            <p:cNvPr id="38" name="Picture 37" descr="A white check mark in a white circle&#10;&#10;Description automatically generated">
              <a:extLst>
                <a:ext uri="{FF2B5EF4-FFF2-40B4-BE49-F238E27FC236}">
                  <a16:creationId xmlns:a16="http://schemas.microsoft.com/office/drawing/2014/main" id="{6DCBDDEF-1CEE-696C-26B0-0A5C1D8DC5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584" y="8696312"/>
              <a:ext cx="822960" cy="822960"/>
            </a:xfrm>
            <a:prstGeom prst="rect">
              <a:avLst/>
            </a:prstGeom>
          </p:spPr>
        </p:pic>
      </p:grpSp>
      <p:sp>
        <p:nvSpPr>
          <p:cNvPr id="36" name="TextBox 35">
            <a:extLst>
              <a:ext uri="{FF2B5EF4-FFF2-40B4-BE49-F238E27FC236}">
                <a16:creationId xmlns:a16="http://schemas.microsoft.com/office/drawing/2014/main" id="{FDB3ED30-1030-E123-0742-1707CBBEC57D}"/>
              </a:ext>
            </a:extLst>
          </p:cNvPr>
          <p:cNvSpPr txBox="1"/>
          <p:nvPr/>
        </p:nvSpPr>
        <p:spPr>
          <a:xfrm>
            <a:off x="8540961" y="3341831"/>
            <a:ext cx="2061300"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ea typeface="+mn-lt"/>
                <a:cs typeface="+mn-lt"/>
              </a:rPr>
              <a:t>Detects Adversarial </a:t>
            </a:r>
          </a:p>
          <a:p>
            <a:pPr algn="ctr"/>
            <a:r>
              <a:rPr lang="en-US" sz="1467">
                <a:solidFill>
                  <a:schemeClr val="tx2"/>
                </a:solidFill>
                <a:ea typeface="+mn-lt"/>
                <a:cs typeface="+mn-lt"/>
              </a:rPr>
              <a:t>or Jailbreak Prompts</a:t>
            </a:r>
            <a:endParaRPr lang="en-US" sz="1467">
              <a:solidFill>
                <a:schemeClr val="tx2"/>
              </a:solidFill>
              <a:cs typeface="NVIDIA Sans"/>
            </a:endParaRPr>
          </a:p>
        </p:txBody>
      </p:sp>
      <p:sp>
        <p:nvSpPr>
          <p:cNvPr id="22" name="TextBox 21">
            <a:extLst>
              <a:ext uri="{FF2B5EF4-FFF2-40B4-BE49-F238E27FC236}">
                <a16:creationId xmlns:a16="http://schemas.microsoft.com/office/drawing/2014/main" id="{58A96101-7B44-A507-6412-67E1EFD4FD6A}"/>
              </a:ext>
            </a:extLst>
          </p:cNvPr>
          <p:cNvSpPr txBox="1"/>
          <p:nvPr/>
        </p:nvSpPr>
        <p:spPr>
          <a:xfrm>
            <a:off x="4606642" y="3309225"/>
            <a:ext cx="2721698"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ea typeface="+mn-lt"/>
                <a:cs typeface="+mn-lt"/>
              </a:rPr>
              <a:t>Detects/Classifies </a:t>
            </a:r>
            <a:endParaRPr lang="en-US" sz="1467">
              <a:solidFill>
                <a:schemeClr val="tx2"/>
              </a:solidFill>
              <a:ea typeface="+mn-lt"/>
              <a:cs typeface="NVIDIA Sans" panose="020B0503020203020204" pitchFamily="34" charset="0"/>
            </a:endParaRPr>
          </a:p>
          <a:p>
            <a:pPr algn="ctr"/>
            <a:r>
              <a:rPr lang="en-US" sz="1467">
                <a:solidFill>
                  <a:schemeClr val="tx2"/>
                </a:solidFill>
                <a:ea typeface="+mn-lt"/>
                <a:cs typeface="+mn-lt"/>
              </a:rPr>
              <a:t>PII and PHI</a:t>
            </a:r>
            <a:endParaRPr lang="en-US" sz="1467">
              <a:solidFill>
                <a:schemeClr val="tx2"/>
              </a:solidFill>
              <a:cs typeface="NVIDIA Sans" panose="020B0503020203020204" pitchFamily="34" charset="0"/>
            </a:endParaRPr>
          </a:p>
        </p:txBody>
      </p:sp>
      <p:sp>
        <p:nvSpPr>
          <p:cNvPr id="33" name="TextBox 32">
            <a:extLst>
              <a:ext uri="{FF2B5EF4-FFF2-40B4-BE49-F238E27FC236}">
                <a16:creationId xmlns:a16="http://schemas.microsoft.com/office/drawing/2014/main" id="{50AA2698-19A1-D2EB-6A83-8E502EA0D8F2}"/>
              </a:ext>
            </a:extLst>
          </p:cNvPr>
          <p:cNvSpPr txBox="1"/>
          <p:nvPr/>
        </p:nvSpPr>
        <p:spPr>
          <a:xfrm>
            <a:off x="3064224" y="4311709"/>
            <a:ext cx="2306841" cy="803297"/>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r>
              <a:rPr lang="en-US" sz="2200" b="1" i="1">
                <a:solidFill>
                  <a:srgbClr val="0C0C0C"/>
                </a:solidFill>
                <a:latin typeface="NVIDIA Sans"/>
                <a:cs typeface="NVIDIA Sans"/>
              </a:rPr>
              <a:t>10x</a:t>
            </a:r>
          </a:p>
          <a:p>
            <a:pPr algn="ctr">
              <a:lnSpc>
                <a:spcPct val="90000"/>
              </a:lnSpc>
            </a:pPr>
            <a:r>
              <a:rPr lang="en-US" sz="1467" i="1">
                <a:solidFill>
                  <a:srgbClr val="0C0C0C"/>
                </a:solidFill>
                <a:latin typeface="NVIDIA Sans"/>
                <a:cs typeface="NVIDIA Sans"/>
              </a:rPr>
              <a:t>Faster Custom </a:t>
            </a:r>
          </a:p>
          <a:p>
            <a:pPr algn="ctr">
              <a:lnSpc>
                <a:spcPct val="90000"/>
              </a:lnSpc>
            </a:pPr>
            <a:r>
              <a:rPr lang="en-US" sz="1467" i="1">
                <a:solidFill>
                  <a:srgbClr val="0C0C0C"/>
                </a:solidFill>
                <a:latin typeface="NVIDIA Sans"/>
                <a:cs typeface="NVIDIA Sans"/>
              </a:rPr>
              <a:t>Policy Reasoning</a:t>
            </a:r>
          </a:p>
        </p:txBody>
      </p:sp>
      <p:sp>
        <p:nvSpPr>
          <p:cNvPr id="34" name="TextBox 33">
            <a:extLst>
              <a:ext uri="{FF2B5EF4-FFF2-40B4-BE49-F238E27FC236}">
                <a16:creationId xmlns:a16="http://schemas.microsoft.com/office/drawing/2014/main" id="{C30590C7-AFDA-7EF0-3EBC-2D06A8157752}"/>
              </a:ext>
            </a:extLst>
          </p:cNvPr>
          <p:cNvSpPr txBox="1"/>
          <p:nvPr/>
        </p:nvSpPr>
        <p:spPr>
          <a:xfrm>
            <a:off x="4814280" y="4267259"/>
            <a:ext cx="2306841" cy="803297"/>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r>
              <a:rPr lang="en-US" sz="2200" b="1" i="1">
                <a:solidFill>
                  <a:srgbClr val="0C0C0C"/>
                </a:solidFill>
                <a:latin typeface="NVIDIA Sans"/>
                <a:cs typeface="NVIDIA Sans"/>
              </a:rPr>
              <a:t>56%</a:t>
            </a:r>
            <a:endParaRPr lang="en-US" sz="2200" i="1">
              <a:solidFill>
                <a:srgbClr val="0C0C0C"/>
              </a:solidFill>
              <a:latin typeface="NVIDIA Sans"/>
              <a:cs typeface="NVIDIA Sans"/>
            </a:endParaRPr>
          </a:p>
          <a:p>
            <a:pPr algn="ctr">
              <a:lnSpc>
                <a:spcPct val="90000"/>
              </a:lnSpc>
            </a:pPr>
            <a:r>
              <a:rPr lang="en-US" sz="1467" i="1">
                <a:solidFill>
                  <a:srgbClr val="0C0C0C"/>
                </a:solidFill>
                <a:latin typeface="NVIDIA Sans"/>
                <a:cs typeface="NVIDIA Sans"/>
              </a:rPr>
              <a:t>Higher F1 Score;</a:t>
            </a:r>
          </a:p>
          <a:p>
            <a:pPr algn="ctr">
              <a:lnSpc>
                <a:spcPct val="90000"/>
              </a:lnSpc>
            </a:pPr>
            <a:r>
              <a:rPr lang="en-US" sz="1467" i="1">
                <a:solidFill>
                  <a:srgbClr val="0C0C0C"/>
                </a:solidFill>
                <a:latin typeface="NVIDIA Sans"/>
                <a:cs typeface="NVIDIA Sans"/>
              </a:rPr>
              <a:t>28% Higher Recall</a:t>
            </a:r>
          </a:p>
        </p:txBody>
      </p:sp>
      <p:sp>
        <p:nvSpPr>
          <p:cNvPr id="44" name="Arrow: Down 43">
            <a:extLst>
              <a:ext uri="{FF2B5EF4-FFF2-40B4-BE49-F238E27FC236}">
                <a16:creationId xmlns:a16="http://schemas.microsoft.com/office/drawing/2014/main" id="{E3E4F569-271F-93D6-5CF4-56B2E4DB38C6}"/>
              </a:ext>
            </a:extLst>
          </p:cNvPr>
          <p:cNvSpPr/>
          <p:nvPr/>
        </p:nvSpPr>
        <p:spPr>
          <a:xfrm>
            <a:off x="5880670" y="4077225"/>
            <a:ext cx="166798" cy="217745"/>
          </a:xfrm>
          <a:prstGeom prst="downArrow">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480" tIns="15240" rIns="30480" bIns="1524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4000" err="1">
              <a:solidFill>
                <a:schemeClr val="tx1"/>
              </a:solidFill>
              <a:latin typeface="Trebuchet MS" panose="020B0603020202020204" pitchFamily="34" charset="0"/>
            </a:endParaRPr>
          </a:p>
        </p:txBody>
      </p:sp>
      <p:sp>
        <p:nvSpPr>
          <p:cNvPr id="46" name="TextBox 45">
            <a:extLst>
              <a:ext uri="{FF2B5EF4-FFF2-40B4-BE49-F238E27FC236}">
                <a16:creationId xmlns:a16="http://schemas.microsoft.com/office/drawing/2014/main" id="{093F362A-BEF9-E8FB-2BB6-B74E5781131B}"/>
              </a:ext>
            </a:extLst>
          </p:cNvPr>
          <p:cNvSpPr txBox="1"/>
          <p:nvPr/>
        </p:nvSpPr>
        <p:spPr>
          <a:xfrm>
            <a:off x="4582021" y="1710889"/>
            <a:ext cx="2820313" cy="307777"/>
          </a:xfrm>
          <a:prstGeom prst="rect">
            <a:avLst/>
          </a:prstGeom>
          <a:solidFill>
            <a:schemeClr val="tx2"/>
          </a:solidFill>
          <a:ln>
            <a:solidFill>
              <a:schemeClr val="bg1">
                <a:lumMod val="85000"/>
                <a:lumOff val="15000"/>
              </a:schemeClr>
            </a:solidFill>
          </a:ln>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00">
                <a:cs typeface="NVIDIA Sans"/>
              </a:rPr>
              <a:t>Supported in </a:t>
            </a:r>
            <a:r>
              <a:rPr lang="en-US" sz="1400" err="1">
                <a:cs typeface="NVIDIA Sans"/>
              </a:rPr>
              <a:t>NeMo</a:t>
            </a:r>
            <a:r>
              <a:rPr lang="en-US" sz="1400">
                <a:cs typeface="NVIDIA Sans"/>
              </a:rPr>
              <a:t> Guardrails</a:t>
            </a:r>
            <a:endParaRPr lang="en-US" sz="5399">
              <a:cs typeface="NVIDIA Sans"/>
            </a:endParaRPr>
          </a:p>
        </p:txBody>
      </p:sp>
      <p:sp>
        <p:nvSpPr>
          <p:cNvPr id="8" name="TextBox 7">
            <a:extLst>
              <a:ext uri="{FF2B5EF4-FFF2-40B4-BE49-F238E27FC236}">
                <a16:creationId xmlns:a16="http://schemas.microsoft.com/office/drawing/2014/main" id="{B2CACC1E-5FF3-2B4C-2EC3-AD62F0707361}"/>
              </a:ext>
            </a:extLst>
          </p:cNvPr>
          <p:cNvSpPr txBox="1"/>
          <p:nvPr/>
        </p:nvSpPr>
        <p:spPr>
          <a:xfrm>
            <a:off x="3064230" y="3344338"/>
            <a:ext cx="2194671"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Domain-Specific Custom Policy</a:t>
            </a:r>
          </a:p>
        </p:txBody>
      </p:sp>
      <p:sp>
        <p:nvSpPr>
          <p:cNvPr id="11" name="Arrow: Down 10">
            <a:extLst>
              <a:ext uri="{FF2B5EF4-FFF2-40B4-BE49-F238E27FC236}">
                <a16:creationId xmlns:a16="http://schemas.microsoft.com/office/drawing/2014/main" id="{C2F0BC5A-A848-5D16-A635-41820685F977}"/>
              </a:ext>
            </a:extLst>
          </p:cNvPr>
          <p:cNvSpPr/>
          <p:nvPr/>
        </p:nvSpPr>
        <p:spPr>
          <a:xfrm>
            <a:off x="4077910" y="4077225"/>
            <a:ext cx="166798" cy="217745"/>
          </a:xfrm>
          <a:prstGeom prst="downArrow">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4000" err="1">
              <a:solidFill>
                <a:schemeClr val="tx1"/>
              </a:solidFill>
              <a:latin typeface="Trebuchet MS" panose="020B0603020202020204" pitchFamily="34" charset="0"/>
            </a:endParaRPr>
          </a:p>
        </p:txBody>
      </p:sp>
      <p:sp>
        <p:nvSpPr>
          <p:cNvPr id="12" name="Arrow: Down 11">
            <a:extLst>
              <a:ext uri="{FF2B5EF4-FFF2-40B4-BE49-F238E27FC236}">
                <a16:creationId xmlns:a16="http://schemas.microsoft.com/office/drawing/2014/main" id="{EC468CAE-A9D5-E930-161C-02F752137B93}"/>
              </a:ext>
            </a:extLst>
          </p:cNvPr>
          <p:cNvSpPr/>
          <p:nvPr/>
        </p:nvSpPr>
        <p:spPr>
          <a:xfrm>
            <a:off x="2273287" y="4075303"/>
            <a:ext cx="166798" cy="217745"/>
          </a:xfrm>
          <a:prstGeom prst="downArrow">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4000" err="1">
              <a:solidFill>
                <a:schemeClr val="tx1"/>
              </a:solidFill>
              <a:latin typeface="Trebuchet MS" panose="020B0603020202020204" pitchFamily="34" charset="0"/>
            </a:endParaRPr>
          </a:p>
        </p:txBody>
      </p:sp>
      <p:sp>
        <p:nvSpPr>
          <p:cNvPr id="14" name="TextBox 13">
            <a:extLst>
              <a:ext uri="{FF2B5EF4-FFF2-40B4-BE49-F238E27FC236}">
                <a16:creationId xmlns:a16="http://schemas.microsoft.com/office/drawing/2014/main" id="{FF863AFC-0CC0-C47E-AF46-BA743F8245EB}"/>
              </a:ext>
            </a:extLst>
          </p:cNvPr>
          <p:cNvSpPr txBox="1"/>
          <p:nvPr/>
        </p:nvSpPr>
        <p:spPr>
          <a:xfrm>
            <a:off x="1203674" y="4311709"/>
            <a:ext cx="2306841" cy="803297"/>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r>
              <a:rPr lang="en-US" sz="2200" b="1" i="1">
                <a:solidFill>
                  <a:srgbClr val="0C0C0C"/>
                </a:solidFill>
                <a:latin typeface="NVIDIA Sans"/>
                <a:cs typeface="NVIDIA Sans"/>
              </a:rPr>
              <a:t>85%</a:t>
            </a:r>
            <a:endParaRPr lang="en-US" sz="200"/>
          </a:p>
          <a:p>
            <a:pPr algn="ctr">
              <a:lnSpc>
                <a:spcPct val="90000"/>
              </a:lnSpc>
            </a:pPr>
            <a:r>
              <a:rPr lang="en-US" sz="1467" i="1">
                <a:solidFill>
                  <a:srgbClr val="0C0C0C"/>
                </a:solidFill>
                <a:latin typeface="NVIDIA Sans"/>
                <a:cs typeface="NVIDIA Sans"/>
              </a:rPr>
              <a:t>Harmful</a:t>
            </a:r>
            <a:r>
              <a:rPr lang="en-US" sz="1467">
                <a:solidFill>
                  <a:srgbClr val="0C0C0C"/>
                </a:solidFill>
                <a:ea typeface="+mn-lt"/>
                <a:cs typeface="+mn-lt"/>
              </a:rPr>
              <a:t> Content Classification Accuracy </a:t>
            </a:r>
            <a:endParaRPr lang="en-US" sz="200"/>
          </a:p>
        </p:txBody>
      </p:sp>
      <p:grpSp>
        <p:nvGrpSpPr>
          <p:cNvPr id="13" name="Group 12">
            <a:extLst>
              <a:ext uri="{FF2B5EF4-FFF2-40B4-BE49-F238E27FC236}">
                <a16:creationId xmlns:a16="http://schemas.microsoft.com/office/drawing/2014/main" id="{1F5F3CBB-D05C-34D4-F661-5D6A93FE6571}"/>
              </a:ext>
            </a:extLst>
          </p:cNvPr>
          <p:cNvGrpSpPr/>
          <p:nvPr/>
        </p:nvGrpSpPr>
        <p:grpSpPr>
          <a:xfrm>
            <a:off x="3890992" y="2615833"/>
            <a:ext cx="548640" cy="728037"/>
            <a:chOff x="6241104" y="8182728"/>
            <a:chExt cx="1645920" cy="2184111"/>
          </a:xfrm>
        </p:grpSpPr>
        <p:pic>
          <p:nvPicPr>
            <p:cNvPr id="15" name="Picture 14" descr="A black cube with green base&#10;&#10;Description automatically generated">
              <a:extLst>
                <a:ext uri="{FF2B5EF4-FFF2-40B4-BE49-F238E27FC236}">
                  <a16:creationId xmlns:a16="http://schemas.microsoft.com/office/drawing/2014/main" id="{CF72E62C-D4A7-A8E9-F641-2C15E4DB67BC}"/>
                </a:ext>
              </a:extLst>
            </p:cNvPr>
            <p:cNvPicPr>
              <a:picLocks noChangeAspect="1"/>
            </p:cNvPicPr>
            <p:nvPr/>
          </p:nvPicPr>
          <p:blipFill>
            <a:blip r:embed="rId4"/>
            <a:stretch>
              <a:fillRect/>
            </a:stretch>
          </p:blipFill>
          <p:spPr>
            <a:xfrm>
              <a:off x="6241104" y="8182728"/>
              <a:ext cx="1645920" cy="2184111"/>
            </a:xfrm>
            <a:prstGeom prst="rect">
              <a:avLst/>
            </a:prstGeom>
          </p:spPr>
        </p:pic>
        <p:pic>
          <p:nvPicPr>
            <p:cNvPr id="17" name="Picture 16" descr="A white check mark in a white circle&#10;&#10;Description automatically generated">
              <a:extLst>
                <a:ext uri="{FF2B5EF4-FFF2-40B4-BE49-F238E27FC236}">
                  <a16:creationId xmlns:a16="http://schemas.microsoft.com/office/drawing/2014/main" id="{F2B1A7FC-C596-C797-C9DD-319EDCEE17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584" y="8696312"/>
              <a:ext cx="822960" cy="822960"/>
            </a:xfrm>
            <a:prstGeom prst="rect">
              <a:avLst/>
            </a:prstGeom>
          </p:spPr>
        </p:pic>
      </p:grpSp>
      <p:grpSp>
        <p:nvGrpSpPr>
          <p:cNvPr id="32" name="Group 31">
            <a:extLst>
              <a:ext uri="{FF2B5EF4-FFF2-40B4-BE49-F238E27FC236}">
                <a16:creationId xmlns:a16="http://schemas.microsoft.com/office/drawing/2014/main" id="{A7A353BB-E893-4789-D5A0-6AFA6A3D2745}"/>
              </a:ext>
            </a:extLst>
          </p:cNvPr>
          <p:cNvGrpSpPr/>
          <p:nvPr/>
        </p:nvGrpSpPr>
        <p:grpSpPr>
          <a:xfrm>
            <a:off x="5694625" y="2580879"/>
            <a:ext cx="548640" cy="728037"/>
            <a:chOff x="6241104" y="8182728"/>
            <a:chExt cx="1645920" cy="2184111"/>
          </a:xfrm>
        </p:grpSpPr>
        <p:pic>
          <p:nvPicPr>
            <p:cNvPr id="35" name="Picture 34" descr="A black cube with green base&#10;&#10;Description automatically generated">
              <a:extLst>
                <a:ext uri="{FF2B5EF4-FFF2-40B4-BE49-F238E27FC236}">
                  <a16:creationId xmlns:a16="http://schemas.microsoft.com/office/drawing/2014/main" id="{BBABAFF5-506D-C766-2722-F96BEEBE5A88}"/>
                </a:ext>
              </a:extLst>
            </p:cNvPr>
            <p:cNvPicPr>
              <a:picLocks noChangeAspect="1"/>
            </p:cNvPicPr>
            <p:nvPr/>
          </p:nvPicPr>
          <p:blipFill>
            <a:blip r:embed="rId4"/>
            <a:stretch>
              <a:fillRect/>
            </a:stretch>
          </p:blipFill>
          <p:spPr>
            <a:xfrm>
              <a:off x="6241104" y="8182728"/>
              <a:ext cx="1645920" cy="2184111"/>
            </a:xfrm>
            <a:prstGeom prst="rect">
              <a:avLst/>
            </a:prstGeom>
          </p:spPr>
        </p:pic>
        <p:pic>
          <p:nvPicPr>
            <p:cNvPr id="42" name="Picture 41" descr="A white check mark in a white circle&#10;&#10;Description automatically generated">
              <a:extLst>
                <a:ext uri="{FF2B5EF4-FFF2-40B4-BE49-F238E27FC236}">
                  <a16:creationId xmlns:a16="http://schemas.microsoft.com/office/drawing/2014/main" id="{A4D7965D-146D-9D87-786E-B18B6C369B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584" y="8696312"/>
              <a:ext cx="822960" cy="822960"/>
            </a:xfrm>
            <a:prstGeom prst="rect">
              <a:avLst/>
            </a:prstGeom>
          </p:spPr>
        </p:pic>
      </p:grpSp>
      <p:grpSp>
        <p:nvGrpSpPr>
          <p:cNvPr id="43" name="Group 42">
            <a:extLst>
              <a:ext uri="{FF2B5EF4-FFF2-40B4-BE49-F238E27FC236}">
                <a16:creationId xmlns:a16="http://schemas.microsoft.com/office/drawing/2014/main" id="{3CFBDA26-2EB7-2999-237A-1187F7D52175}"/>
              </a:ext>
            </a:extLst>
          </p:cNvPr>
          <p:cNvGrpSpPr/>
          <p:nvPr/>
        </p:nvGrpSpPr>
        <p:grpSpPr>
          <a:xfrm>
            <a:off x="7498257" y="2615833"/>
            <a:ext cx="548640" cy="728037"/>
            <a:chOff x="6241104" y="8182728"/>
            <a:chExt cx="1645920" cy="2184111"/>
          </a:xfrm>
        </p:grpSpPr>
        <p:pic>
          <p:nvPicPr>
            <p:cNvPr id="45" name="Picture 44" descr="A black cube with green base&#10;&#10;Description automatically generated">
              <a:extLst>
                <a:ext uri="{FF2B5EF4-FFF2-40B4-BE49-F238E27FC236}">
                  <a16:creationId xmlns:a16="http://schemas.microsoft.com/office/drawing/2014/main" id="{54E2F000-3A5D-4F45-7B58-488BE4FBADB0}"/>
                </a:ext>
              </a:extLst>
            </p:cNvPr>
            <p:cNvPicPr>
              <a:picLocks noChangeAspect="1"/>
            </p:cNvPicPr>
            <p:nvPr/>
          </p:nvPicPr>
          <p:blipFill>
            <a:blip r:embed="rId4"/>
            <a:stretch>
              <a:fillRect/>
            </a:stretch>
          </p:blipFill>
          <p:spPr>
            <a:xfrm>
              <a:off x="6241104" y="8182728"/>
              <a:ext cx="1645920" cy="2184111"/>
            </a:xfrm>
            <a:prstGeom prst="rect">
              <a:avLst/>
            </a:prstGeom>
          </p:spPr>
        </p:pic>
        <p:pic>
          <p:nvPicPr>
            <p:cNvPr id="47" name="Picture 46" descr="A white check mark in a white circle&#10;&#10;Description automatically generated">
              <a:extLst>
                <a:ext uri="{FF2B5EF4-FFF2-40B4-BE49-F238E27FC236}">
                  <a16:creationId xmlns:a16="http://schemas.microsoft.com/office/drawing/2014/main" id="{9922373C-1597-8FA1-71FE-0C317C0DEB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584" y="8696312"/>
              <a:ext cx="822960" cy="822960"/>
            </a:xfrm>
            <a:prstGeom prst="rect">
              <a:avLst/>
            </a:prstGeom>
          </p:spPr>
        </p:pic>
      </p:grpSp>
      <p:grpSp>
        <p:nvGrpSpPr>
          <p:cNvPr id="48" name="Group 47">
            <a:extLst>
              <a:ext uri="{FF2B5EF4-FFF2-40B4-BE49-F238E27FC236}">
                <a16:creationId xmlns:a16="http://schemas.microsoft.com/office/drawing/2014/main" id="{53938283-D692-1762-84A3-139FCD2A898F}"/>
              </a:ext>
            </a:extLst>
          </p:cNvPr>
          <p:cNvGrpSpPr/>
          <p:nvPr/>
        </p:nvGrpSpPr>
        <p:grpSpPr>
          <a:xfrm>
            <a:off x="9301891" y="2580879"/>
            <a:ext cx="548640" cy="728037"/>
            <a:chOff x="6241104" y="8182728"/>
            <a:chExt cx="1645920" cy="2184111"/>
          </a:xfrm>
        </p:grpSpPr>
        <p:pic>
          <p:nvPicPr>
            <p:cNvPr id="49" name="Picture 48" descr="A black cube with green base&#10;&#10;Description automatically generated">
              <a:extLst>
                <a:ext uri="{FF2B5EF4-FFF2-40B4-BE49-F238E27FC236}">
                  <a16:creationId xmlns:a16="http://schemas.microsoft.com/office/drawing/2014/main" id="{8FB78197-BDE6-C4F8-1D79-915A91CB4850}"/>
                </a:ext>
              </a:extLst>
            </p:cNvPr>
            <p:cNvPicPr>
              <a:picLocks noChangeAspect="1"/>
            </p:cNvPicPr>
            <p:nvPr/>
          </p:nvPicPr>
          <p:blipFill>
            <a:blip r:embed="rId4"/>
            <a:stretch>
              <a:fillRect/>
            </a:stretch>
          </p:blipFill>
          <p:spPr>
            <a:xfrm>
              <a:off x="6241104" y="8182728"/>
              <a:ext cx="1645920" cy="2184111"/>
            </a:xfrm>
            <a:prstGeom prst="rect">
              <a:avLst/>
            </a:prstGeom>
          </p:spPr>
        </p:pic>
        <p:pic>
          <p:nvPicPr>
            <p:cNvPr id="50" name="Picture 49" descr="A white check mark in a white circle&#10;&#10;Description automatically generated">
              <a:extLst>
                <a:ext uri="{FF2B5EF4-FFF2-40B4-BE49-F238E27FC236}">
                  <a16:creationId xmlns:a16="http://schemas.microsoft.com/office/drawing/2014/main" id="{0DEC3425-CC8C-D479-A81D-E3CC8CA99C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2584" y="8696312"/>
              <a:ext cx="822960" cy="822960"/>
            </a:xfrm>
            <a:prstGeom prst="rect">
              <a:avLst/>
            </a:prstGeom>
          </p:spPr>
        </p:pic>
      </p:grpSp>
      <p:sp>
        <p:nvSpPr>
          <p:cNvPr id="51" name="TextBox 50">
            <a:extLst>
              <a:ext uri="{FF2B5EF4-FFF2-40B4-BE49-F238E27FC236}">
                <a16:creationId xmlns:a16="http://schemas.microsoft.com/office/drawing/2014/main" id="{CBCF8E0A-94DE-E5AD-B064-3C952CB1D7C0}"/>
              </a:ext>
            </a:extLst>
          </p:cNvPr>
          <p:cNvSpPr txBox="1"/>
          <p:nvPr/>
        </p:nvSpPr>
        <p:spPr>
          <a:xfrm>
            <a:off x="6514468" y="2294045"/>
            <a:ext cx="2511467" cy="318036"/>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Topic Control</a:t>
            </a:r>
            <a:endParaRPr lang="en-US" sz="200"/>
          </a:p>
        </p:txBody>
      </p:sp>
      <p:sp>
        <p:nvSpPr>
          <p:cNvPr id="52" name="TextBox 51">
            <a:extLst>
              <a:ext uri="{FF2B5EF4-FFF2-40B4-BE49-F238E27FC236}">
                <a16:creationId xmlns:a16="http://schemas.microsoft.com/office/drawing/2014/main" id="{9E625417-6BEE-B1A4-5085-9218FFEC02FD}"/>
              </a:ext>
            </a:extLst>
          </p:cNvPr>
          <p:cNvSpPr txBox="1"/>
          <p:nvPr/>
        </p:nvSpPr>
        <p:spPr>
          <a:xfrm>
            <a:off x="1259606" y="2099971"/>
            <a:ext cx="2194671"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Multilingual Content Safety</a:t>
            </a:r>
          </a:p>
        </p:txBody>
      </p:sp>
      <p:sp>
        <p:nvSpPr>
          <p:cNvPr id="53" name="TextBox 52">
            <a:extLst>
              <a:ext uri="{FF2B5EF4-FFF2-40B4-BE49-F238E27FC236}">
                <a16:creationId xmlns:a16="http://schemas.microsoft.com/office/drawing/2014/main" id="{9E6B6F56-DE58-A9A7-C9FB-518B295DF0C8}"/>
              </a:ext>
            </a:extLst>
          </p:cNvPr>
          <p:cNvSpPr txBox="1"/>
          <p:nvPr/>
        </p:nvSpPr>
        <p:spPr>
          <a:xfrm>
            <a:off x="8540961" y="2258253"/>
            <a:ext cx="2061300" cy="318036"/>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ea typeface="+mn-lt"/>
                <a:cs typeface="+mn-lt"/>
              </a:rPr>
              <a:t>Jailbreak Detection</a:t>
            </a:r>
            <a:endParaRPr lang="en-US" sz="200">
              <a:solidFill>
                <a:schemeClr val="tx2"/>
              </a:solidFill>
            </a:endParaRPr>
          </a:p>
        </p:txBody>
      </p:sp>
      <p:sp>
        <p:nvSpPr>
          <p:cNvPr id="54" name="TextBox 53">
            <a:extLst>
              <a:ext uri="{FF2B5EF4-FFF2-40B4-BE49-F238E27FC236}">
                <a16:creationId xmlns:a16="http://schemas.microsoft.com/office/drawing/2014/main" id="{6184AFAD-E87A-5ED6-FE0C-FBE5898E932A}"/>
              </a:ext>
            </a:extLst>
          </p:cNvPr>
          <p:cNvSpPr txBox="1"/>
          <p:nvPr/>
        </p:nvSpPr>
        <p:spPr>
          <a:xfrm>
            <a:off x="4585669" y="2260601"/>
            <a:ext cx="2721698" cy="318036"/>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PII</a:t>
            </a:r>
          </a:p>
        </p:txBody>
      </p:sp>
      <p:sp>
        <p:nvSpPr>
          <p:cNvPr id="55" name="TextBox 54">
            <a:extLst>
              <a:ext uri="{FF2B5EF4-FFF2-40B4-BE49-F238E27FC236}">
                <a16:creationId xmlns:a16="http://schemas.microsoft.com/office/drawing/2014/main" id="{362C8812-E406-1FBA-5DCD-FB8EE451C9CF}"/>
              </a:ext>
            </a:extLst>
          </p:cNvPr>
          <p:cNvSpPr txBox="1"/>
          <p:nvPr/>
        </p:nvSpPr>
        <p:spPr>
          <a:xfrm>
            <a:off x="3036266" y="2099971"/>
            <a:ext cx="2194671" cy="543739"/>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67">
                <a:solidFill>
                  <a:schemeClr val="tx2"/>
                </a:solidFill>
                <a:cs typeface="NVIDIA Sans"/>
              </a:rPr>
              <a:t>Content Safety Reasoning</a:t>
            </a:r>
          </a:p>
        </p:txBody>
      </p:sp>
      <p:sp>
        <p:nvSpPr>
          <p:cNvPr id="56" name="Arrow: Down 55">
            <a:extLst>
              <a:ext uri="{FF2B5EF4-FFF2-40B4-BE49-F238E27FC236}">
                <a16:creationId xmlns:a16="http://schemas.microsoft.com/office/drawing/2014/main" id="{CDCDDDD6-E4C5-3229-C21C-017D3DD9528F}"/>
              </a:ext>
            </a:extLst>
          </p:cNvPr>
          <p:cNvSpPr/>
          <p:nvPr/>
        </p:nvSpPr>
        <p:spPr>
          <a:xfrm>
            <a:off x="7684303" y="4077225"/>
            <a:ext cx="166798" cy="217745"/>
          </a:xfrm>
          <a:prstGeom prst="downArrow">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480" tIns="15240" rIns="30480" bIns="1524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4000" err="1">
              <a:solidFill>
                <a:schemeClr val="tx1"/>
              </a:solidFill>
              <a:latin typeface="Trebuchet MS" panose="020B0603020202020204" pitchFamily="34" charset="0"/>
            </a:endParaRPr>
          </a:p>
        </p:txBody>
      </p:sp>
      <p:sp>
        <p:nvSpPr>
          <p:cNvPr id="57" name="Arrow: Down 56">
            <a:extLst>
              <a:ext uri="{FF2B5EF4-FFF2-40B4-BE49-F238E27FC236}">
                <a16:creationId xmlns:a16="http://schemas.microsoft.com/office/drawing/2014/main" id="{38995492-A11C-E633-72C9-9056F7D4D00A}"/>
              </a:ext>
            </a:extLst>
          </p:cNvPr>
          <p:cNvSpPr/>
          <p:nvPr/>
        </p:nvSpPr>
        <p:spPr>
          <a:xfrm>
            <a:off x="9487936" y="4077225"/>
            <a:ext cx="166798" cy="217745"/>
          </a:xfrm>
          <a:prstGeom prst="downArrow">
            <a:avLst/>
          </a:prstGeom>
          <a:solidFill>
            <a:schemeClr val="bg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480" tIns="15240" rIns="30480" bIns="1524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endParaRPr lang="en-US" sz="4000" err="1">
              <a:solidFill>
                <a:schemeClr val="tx1"/>
              </a:solidFill>
              <a:latin typeface="Trebuchet MS" panose="020B0603020202020204" pitchFamily="34" charset="0"/>
            </a:endParaRPr>
          </a:p>
        </p:txBody>
      </p:sp>
      <p:sp>
        <p:nvSpPr>
          <p:cNvPr id="58" name="TextBox 57">
            <a:extLst>
              <a:ext uri="{FF2B5EF4-FFF2-40B4-BE49-F238E27FC236}">
                <a16:creationId xmlns:a16="http://schemas.microsoft.com/office/drawing/2014/main" id="{DCC0CBD0-7BEB-63A3-DCFE-B554D9F92436}"/>
              </a:ext>
            </a:extLst>
          </p:cNvPr>
          <p:cNvSpPr txBox="1"/>
          <p:nvPr/>
        </p:nvSpPr>
        <p:spPr>
          <a:xfrm>
            <a:off x="6692463" y="4290736"/>
            <a:ext cx="2306841" cy="803297"/>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r>
              <a:rPr lang="en-US" sz="2200" b="1" i="1">
                <a:solidFill>
                  <a:srgbClr val="0C0C0C"/>
                </a:solidFill>
                <a:latin typeface="NVIDIA Sans"/>
                <a:cs typeface="NVIDIA Sans"/>
              </a:rPr>
              <a:t>93%</a:t>
            </a:r>
            <a:endParaRPr lang="en-US" sz="200"/>
          </a:p>
          <a:p>
            <a:pPr algn="ctr">
              <a:lnSpc>
                <a:spcPct val="90000"/>
              </a:lnSpc>
            </a:pPr>
            <a:r>
              <a:rPr lang="en-US" sz="1467" i="1">
                <a:solidFill>
                  <a:srgbClr val="0C0C0C"/>
                </a:solidFill>
                <a:cs typeface="NVIDIA Sans"/>
              </a:rPr>
              <a:t>On-Topic </a:t>
            </a:r>
          </a:p>
          <a:p>
            <a:pPr algn="ctr">
              <a:lnSpc>
                <a:spcPct val="90000"/>
              </a:lnSpc>
            </a:pPr>
            <a:r>
              <a:rPr lang="en-US" sz="1467" i="1">
                <a:solidFill>
                  <a:srgbClr val="0C0C0C"/>
                </a:solidFill>
                <a:cs typeface="NVIDIA Sans"/>
              </a:rPr>
              <a:t>Avg. F1 Scores</a:t>
            </a:r>
            <a:endParaRPr lang="en-US" sz="200"/>
          </a:p>
        </p:txBody>
      </p:sp>
      <p:sp>
        <p:nvSpPr>
          <p:cNvPr id="59" name="TextBox 58">
            <a:extLst>
              <a:ext uri="{FF2B5EF4-FFF2-40B4-BE49-F238E27FC236}">
                <a16:creationId xmlns:a16="http://schemas.microsoft.com/office/drawing/2014/main" id="{5FCAE15F-BEA1-07EF-7851-8D6BDD9A9F77}"/>
              </a:ext>
            </a:extLst>
          </p:cNvPr>
          <p:cNvSpPr txBox="1"/>
          <p:nvPr/>
        </p:nvSpPr>
        <p:spPr>
          <a:xfrm>
            <a:off x="8498445" y="4295222"/>
            <a:ext cx="2306841" cy="803297"/>
          </a:xfrm>
          <a:prstGeom prst="rect">
            <a:avLst/>
          </a:prstGeom>
          <a:noFill/>
        </p:spPr>
        <p:txBody>
          <a:bodyPr wrap="square" lIns="91440" tIns="45720" rIns="91440" bIns="4572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90000"/>
              </a:lnSpc>
            </a:pPr>
            <a:r>
              <a:rPr lang="en-US" sz="2200" b="1" i="1">
                <a:solidFill>
                  <a:srgbClr val="0C0C0C"/>
                </a:solidFill>
                <a:latin typeface="NVIDIA Sans"/>
                <a:cs typeface="NVIDIA Sans"/>
              </a:rPr>
              <a:t>96%</a:t>
            </a:r>
            <a:endParaRPr lang="en-US" sz="2200" i="1">
              <a:solidFill>
                <a:srgbClr val="0C0C0C"/>
              </a:solidFill>
              <a:latin typeface="NVIDIA Sans"/>
              <a:cs typeface="NVIDIA Sans"/>
            </a:endParaRPr>
          </a:p>
          <a:p>
            <a:pPr algn="ctr">
              <a:lnSpc>
                <a:spcPct val="90000"/>
              </a:lnSpc>
            </a:pPr>
            <a:r>
              <a:rPr lang="en-US" sz="1467" i="1">
                <a:solidFill>
                  <a:srgbClr val="0C0C0C"/>
                </a:solidFill>
                <a:latin typeface="NVIDIA Sans"/>
                <a:cs typeface="NVIDIA Sans"/>
              </a:rPr>
              <a:t>Detection Accuracy</a:t>
            </a:r>
            <a:endParaRPr lang="en-US" sz="200">
              <a:solidFill>
                <a:srgbClr val="FFFFFF"/>
              </a:solidFill>
              <a:latin typeface="NVIDIA Sans"/>
              <a:cs typeface="NVIDIA Sans"/>
            </a:endParaRPr>
          </a:p>
          <a:p>
            <a:pPr algn="ctr">
              <a:lnSpc>
                <a:spcPct val="90000"/>
              </a:lnSpc>
            </a:pPr>
            <a:r>
              <a:rPr lang="en-US" sz="1467" i="1">
                <a:solidFill>
                  <a:srgbClr val="0C0C0C"/>
                </a:solidFill>
                <a:latin typeface="NVIDIA Sans"/>
                <a:cs typeface="NVIDIA Sans"/>
              </a:rPr>
              <a:t>Avg. F1 Score</a:t>
            </a:r>
            <a:endParaRPr lang="en-US" sz="200">
              <a:cs typeface="NVIDIA Sans"/>
            </a:endParaRPr>
          </a:p>
        </p:txBody>
      </p:sp>
      <p:sp>
        <p:nvSpPr>
          <p:cNvPr id="26" name="Text Placeholder 3">
            <a:extLst>
              <a:ext uri="{FF2B5EF4-FFF2-40B4-BE49-F238E27FC236}">
                <a16:creationId xmlns:a16="http://schemas.microsoft.com/office/drawing/2014/main" id="{545A1C3C-3C2C-3B21-9D28-1E24F01D9A81}"/>
              </a:ext>
            </a:extLst>
          </p:cNvPr>
          <p:cNvSpPr txBox="1">
            <a:spLocks/>
          </p:cNvSpPr>
          <p:nvPr/>
        </p:nvSpPr>
        <p:spPr>
          <a:xfrm>
            <a:off x="990600" y="832253"/>
            <a:ext cx="10515600" cy="469392"/>
          </a:xfrm>
          <a:prstGeom prst="rect">
            <a:avLst/>
          </a:prstGeom>
        </p:spPr>
        <p:txBody>
          <a:bodyPr lIns="91440" tIns="45720" rIns="91440" bIns="45720" anchor="t"/>
          <a:lstStyle>
            <a:lvl1pPr marL="0" indent="0" algn="ctr" defTabSz="914309" rtl="0" eaLnBrk="1" latinLnBrk="0" hangingPunct="1">
              <a:lnSpc>
                <a:spcPct val="90000"/>
              </a:lnSpc>
              <a:spcBef>
                <a:spcPts val="0"/>
              </a:spcBef>
              <a:buFontTx/>
              <a:buNone/>
              <a:defRPr sz="1600" kern="1200">
                <a:solidFill>
                  <a:schemeClr val="tx2"/>
                </a:solidFill>
                <a:latin typeface="NVIDIA Sans" panose="020B0503020203020204" pitchFamily="34" charset="0"/>
                <a:ea typeface="+mn-ea"/>
                <a:cs typeface="NVIDIA Sans" panose="020B0503020203020204" pitchFamily="34" charset="0"/>
              </a:defRPr>
            </a:lvl1pPr>
            <a:lvl2pPr marL="457108"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2pPr>
            <a:lvl3pPr marL="914218"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3pPr>
            <a:lvl4pPr marL="1371326"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4pPr>
            <a:lvl5pPr marL="1828434"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r>
              <a:rPr lang="en-US">
                <a:latin typeface="NVIDIA Sans"/>
                <a:cs typeface="NVIDIA Sans"/>
              </a:rPr>
              <a:t>Advanced GPU-accelerated multilingual, multimodal models with reasoning for a variety of use cases</a:t>
            </a:r>
            <a:endParaRPr lang="en-US"/>
          </a:p>
        </p:txBody>
      </p:sp>
      <p:sp>
        <p:nvSpPr>
          <p:cNvPr id="28" name="Title 14">
            <a:extLst>
              <a:ext uri="{FF2B5EF4-FFF2-40B4-BE49-F238E27FC236}">
                <a16:creationId xmlns:a16="http://schemas.microsoft.com/office/drawing/2014/main" id="{2BC70592-B3FB-D6A0-A66F-88FF1332DADA}"/>
              </a:ext>
            </a:extLst>
          </p:cNvPr>
          <p:cNvSpPr txBox="1">
            <a:spLocks/>
          </p:cNvSpPr>
          <p:nvPr/>
        </p:nvSpPr>
        <p:spPr>
          <a:xfrm>
            <a:off x="990600" y="-2131"/>
            <a:ext cx="10515600" cy="838200"/>
          </a:xfrm>
          <a:prstGeom prst="rect">
            <a:avLst/>
          </a:prstGeom>
        </p:spPr>
        <p:txBody>
          <a:bodyPr vert="horz" lIns="91440" tIns="45720" rIns="91440" bIns="45720" rtlCol="0" anchor="b">
            <a:normAutofit/>
          </a:bodyPr>
          <a:lstStyle>
            <a:lvl1pPr algn="ctr" defTabSz="914309" rtl="0" eaLnBrk="1" latinLnBrk="0" hangingPunct="1">
              <a:lnSpc>
                <a:spcPct val="90000"/>
              </a:lnSpc>
              <a:spcBef>
                <a:spcPct val="0"/>
              </a:spcBef>
              <a:buNone/>
              <a:defRPr sz="2400" b="1" kern="1200" cap="none" baseline="0">
                <a:solidFill>
                  <a:schemeClr val="bg1"/>
                </a:solidFill>
                <a:latin typeface="NVIDIA Sans" panose="020B0503020203020204" pitchFamily="34" charset="0"/>
                <a:ea typeface="+mj-ea"/>
                <a:cs typeface="NVIDIA Sans" panose="020B0503020203020204" pitchFamily="34" charset="0"/>
              </a:defRPr>
            </a:lvl1pPr>
          </a:lstStyle>
          <a:p>
            <a:r>
              <a:rPr lang="en-US">
                <a:latin typeface="NVIDIA Sans"/>
                <a:cs typeface="NVIDIA Sans"/>
              </a:rPr>
              <a:t>Open NVIDIA </a:t>
            </a:r>
            <a:r>
              <a:rPr lang="en-US" err="1">
                <a:latin typeface="NVIDIA Sans"/>
                <a:cs typeface="NVIDIA Sans"/>
              </a:rPr>
              <a:t>Nemotron</a:t>
            </a:r>
            <a:r>
              <a:rPr lang="en-US">
                <a:latin typeface="NVIDIA Sans"/>
                <a:cs typeface="NVIDIA Sans"/>
              </a:rPr>
              <a:t> Safety Models</a:t>
            </a:r>
            <a:endParaRPr lang="en-US"/>
          </a:p>
        </p:txBody>
      </p:sp>
      <p:sp>
        <p:nvSpPr>
          <p:cNvPr id="3" name="Arrow: Up 2">
            <a:extLst>
              <a:ext uri="{FF2B5EF4-FFF2-40B4-BE49-F238E27FC236}">
                <a16:creationId xmlns:a16="http://schemas.microsoft.com/office/drawing/2014/main" id="{C5BA6820-94E7-1E9C-35E8-48EF3CEE0132}"/>
              </a:ext>
            </a:extLst>
          </p:cNvPr>
          <p:cNvSpPr/>
          <p:nvPr/>
        </p:nvSpPr>
        <p:spPr>
          <a:xfrm>
            <a:off x="5530662" y="4357295"/>
            <a:ext cx="128481" cy="166713"/>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4" name="Arrow: Up 3">
            <a:extLst>
              <a:ext uri="{FF2B5EF4-FFF2-40B4-BE49-F238E27FC236}">
                <a16:creationId xmlns:a16="http://schemas.microsoft.com/office/drawing/2014/main" id="{DE7222DF-3561-DE83-0D4D-727B2CF3476D}"/>
              </a:ext>
            </a:extLst>
          </p:cNvPr>
          <p:cNvSpPr/>
          <p:nvPr/>
        </p:nvSpPr>
        <p:spPr>
          <a:xfrm>
            <a:off x="3849292" y="4398708"/>
            <a:ext cx="128481" cy="166713"/>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1888457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C0369-EBA2-90AA-E13E-3682168998C8}"/>
            </a:ext>
          </a:extLst>
        </p:cNvPr>
        <p:cNvGrpSpPr/>
        <p:nvPr/>
      </p:nvGrpSpPr>
      <p:grpSpPr>
        <a:xfrm>
          <a:off x="0" y="0"/>
          <a:ext cx="0" cy="0"/>
          <a:chOff x="0" y="0"/>
          <a:chExt cx="0" cy="0"/>
        </a:xfrm>
      </p:grpSpPr>
      <p:sp>
        <p:nvSpPr>
          <p:cNvPr id="8" name="Flowchart: Data 7">
            <a:extLst>
              <a:ext uri="{FF2B5EF4-FFF2-40B4-BE49-F238E27FC236}">
                <a16:creationId xmlns:a16="http://schemas.microsoft.com/office/drawing/2014/main" id="{D1825F6C-D4CD-899D-F558-7E065E2CD528}"/>
              </a:ext>
            </a:extLst>
          </p:cNvPr>
          <p:cNvSpPr/>
          <p:nvPr/>
        </p:nvSpPr>
        <p:spPr>
          <a:xfrm>
            <a:off x="1589023" y="1500736"/>
            <a:ext cx="1931560" cy="428596"/>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Guardrails OFF</a:t>
            </a:r>
            <a:endParaRPr lang="en-US" sz="1800">
              <a:latin typeface="NVIDIA Sans Medium"/>
              <a:cs typeface="NVIDIA Sans Medium"/>
            </a:endParaRPr>
          </a:p>
        </p:txBody>
      </p:sp>
      <p:sp>
        <p:nvSpPr>
          <p:cNvPr id="10" name="TextBox 9">
            <a:extLst>
              <a:ext uri="{FF2B5EF4-FFF2-40B4-BE49-F238E27FC236}">
                <a16:creationId xmlns:a16="http://schemas.microsoft.com/office/drawing/2014/main" id="{B08B60DF-6E59-E257-CC91-2AB8A14D6B92}"/>
              </a:ext>
            </a:extLst>
          </p:cNvPr>
          <p:cNvSpPr txBox="1"/>
          <p:nvPr/>
        </p:nvSpPr>
        <p:spPr>
          <a:xfrm>
            <a:off x="1588349" y="2047003"/>
            <a:ext cx="4447475" cy="353943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r>
              <a:rPr lang="en-US" sz="1600" b="1">
                <a:solidFill>
                  <a:schemeClr val="bg1"/>
                </a:solidFill>
                <a:latin typeface="NVIDIA Sans Medium"/>
                <a:cs typeface="Arial"/>
              </a:rPr>
              <a:t>User Prompt</a:t>
            </a:r>
          </a:p>
          <a:p>
            <a:r>
              <a:rPr lang="en-US" sz="1600">
                <a:solidFill>
                  <a:schemeClr val="bg1"/>
                </a:solidFill>
                <a:ea typeface="+mn-lt"/>
                <a:cs typeface="+mn-lt"/>
              </a:rPr>
              <a:t>Should I invest in tech stocks right now? What's your recommendation for diversifying my retirement portfolio?</a:t>
            </a:r>
            <a:endParaRPr lang="en-US">
              <a:solidFill>
                <a:schemeClr val="bg1"/>
              </a:solidFill>
            </a:endParaRPr>
          </a:p>
          <a:p>
            <a:endParaRPr lang="en-US" sz="1600">
              <a:solidFill>
                <a:srgbClr val="008080"/>
              </a:solidFill>
              <a:latin typeface="NVIDIA Sans Medium"/>
              <a:cs typeface="Arial"/>
            </a:endParaRPr>
          </a:p>
          <a:p>
            <a:r>
              <a:rPr lang="en-US" sz="1600" b="1">
                <a:solidFill>
                  <a:schemeClr val="bg1"/>
                </a:solidFill>
                <a:latin typeface="NVIDIA Sans Medium"/>
                <a:cs typeface="Arial"/>
              </a:rPr>
              <a:t>LLM Response</a:t>
            </a:r>
          </a:p>
          <a:p>
            <a:r>
              <a:rPr lang="en-US" sz="1600">
                <a:solidFill>
                  <a:schemeClr val="bg1"/>
                </a:solidFill>
                <a:ea typeface="+mn-lt"/>
                <a:cs typeface="+mn-lt"/>
              </a:rPr>
              <a:t>Based on current market conditions, tech stocks have shown strong performance, particularly in AI and cloud computing sectors. For retirement portfolio diversification, financial advisors typically recommend a mix of 60% stocks and 40% bonds for moderate risk tolerance...</a:t>
            </a:r>
            <a:endParaRPr lang="en-US">
              <a:solidFill>
                <a:schemeClr val="bg1"/>
              </a:solidFill>
            </a:endParaRPr>
          </a:p>
          <a:p>
            <a:endParaRPr lang="en-US" sz="1600">
              <a:solidFill>
                <a:schemeClr val="bg1"/>
              </a:solidFill>
              <a:latin typeface="NVIDIA Sans Medium"/>
              <a:cs typeface="Arial"/>
            </a:endParaRPr>
          </a:p>
        </p:txBody>
      </p:sp>
      <p:sp>
        <p:nvSpPr>
          <p:cNvPr id="12" name="TextBox 11">
            <a:extLst>
              <a:ext uri="{FF2B5EF4-FFF2-40B4-BE49-F238E27FC236}">
                <a16:creationId xmlns:a16="http://schemas.microsoft.com/office/drawing/2014/main" id="{B3777F0E-4210-F85C-2640-F142A5C51D70}"/>
              </a:ext>
            </a:extLst>
          </p:cNvPr>
          <p:cNvSpPr txBox="1"/>
          <p:nvPr/>
        </p:nvSpPr>
        <p:spPr>
          <a:xfrm>
            <a:off x="6849649" y="4856198"/>
            <a:ext cx="3468350" cy="584775"/>
          </a:xfrm>
          <a:prstGeom prst="rect">
            <a:avLst/>
          </a:prstGeom>
          <a:solidFill>
            <a:schemeClr val="tx1"/>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600">
                <a:solidFill>
                  <a:schemeClr val="bg1"/>
                </a:solidFill>
                <a:latin typeface="NVIDIA Sans Medium"/>
                <a:cs typeface="Arial"/>
              </a:rPr>
              <a:t>Identified as category </a:t>
            </a:r>
            <a:endParaRPr lang="en-US" sz="1600">
              <a:solidFill>
                <a:schemeClr val="bg1"/>
              </a:solidFill>
              <a:latin typeface="NVIDIA Sans Medium"/>
              <a:ea typeface="+mn-lt"/>
              <a:cs typeface="+mn-lt"/>
            </a:endParaRPr>
          </a:p>
          <a:p>
            <a:pPr algn="ctr"/>
            <a:r>
              <a:rPr lang="en-US" sz="1600" i="1">
                <a:solidFill>
                  <a:schemeClr val="bg1"/>
                </a:solidFill>
                <a:ea typeface="+mn-lt"/>
                <a:cs typeface="+mn-lt"/>
              </a:rPr>
              <a:t>Financial Advice, Investments</a:t>
            </a:r>
            <a:endParaRPr lang="en-US" i="1">
              <a:solidFill>
                <a:schemeClr val="bg1"/>
              </a:solidFill>
            </a:endParaRPr>
          </a:p>
        </p:txBody>
      </p:sp>
      <p:sp>
        <p:nvSpPr>
          <p:cNvPr id="16" name="TextBox 15">
            <a:extLst>
              <a:ext uri="{FF2B5EF4-FFF2-40B4-BE49-F238E27FC236}">
                <a16:creationId xmlns:a16="http://schemas.microsoft.com/office/drawing/2014/main" id="{2EF00ADA-000A-A7D1-DCC3-69DE870E1699}"/>
              </a:ext>
            </a:extLst>
          </p:cNvPr>
          <p:cNvSpPr txBox="1"/>
          <p:nvPr/>
        </p:nvSpPr>
        <p:spPr>
          <a:xfrm>
            <a:off x="6265534" y="2046140"/>
            <a:ext cx="4629874" cy="230832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r>
              <a:rPr lang="en-US" sz="1600" b="1">
                <a:solidFill>
                  <a:schemeClr val="bg1"/>
                </a:solidFill>
                <a:latin typeface="NVIDIA Sans Medium"/>
                <a:cs typeface="Arial"/>
              </a:rPr>
              <a:t>User Prompt</a:t>
            </a:r>
            <a:endParaRPr lang="en-US" sz="1600" b="1">
              <a:solidFill>
                <a:schemeClr val="bg1"/>
              </a:solidFill>
              <a:cs typeface="Arial"/>
            </a:endParaRPr>
          </a:p>
          <a:p>
            <a:r>
              <a:rPr lang="en-US" sz="1600">
                <a:solidFill>
                  <a:schemeClr val="bg1"/>
                </a:solidFill>
                <a:latin typeface="Arial"/>
                <a:cs typeface="Arial"/>
              </a:rPr>
              <a:t>Should I invest in tech stocks right now? What's your recommendation for diversifying my retirement portfolio?</a:t>
            </a:r>
            <a:endParaRPr lang="en-US">
              <a:solidFill>
                <a:schemeClr val="bg1"/>
              </a:solidFill>
            </a:endParaRPr>
          </a:p>
          <a:p>
            <a:endParaRPr lang="en-US" sz="1600">
              <a:solidFill>
                <a:schemeClr val="bg1"/>
              </a:solidFill>
              <a:latin typeface="NVIDIA Sans Medium"/>
              <a:cs typeface="Arial"/>
            </a:endParaRPr>
          </a:p>
          <a:p>
            <a:r>
              <a:rPr lang="en-US" sz="1600" b="1">
                <a:solidFill>
                  <a:schemeClr val="bg1"/>
                </a:solidFill>
                <a:latin typeface="NVIDIA Sans Medium"/>
                <a:cs typeface="NVIDIA Sans Medium"/>
              </a:rPr>
              <a:t>LLM Response</a:t>
            </a:r>
            <a:endParaRPr lang="en-US">
              <a:solidFill>
                <a:schemeClr val="bg1"/>
              </a:solidFill>
            </a:endParaRPr>
          </a:p>
          <a:p>
            <a:r>
              <a:rPr lang="en-US" sz="1600">
                <a:solidFill>
                  <a:schemeClr val="bg1"/>
                </a:solidFill>
                <a:ea typeface="+mn-lt"/>
                <a:cs typeface="+mn-lt"/>
              </a:rPr>
              <a:t>I cannot provide investment advice. I can help you with account information and banking services.</a:t>
            </a:r>
            <a:endParaRPr lang="en-US">
              <a:solidFill>
                <a:schemeClr val="bg1"/>
              </a:solidFill>
              <a:ea typeface="+mn-lt"/>
              <a:cs typeface="+mn-lt"/>
            </a:endParaRPr>
          </a:p>
        </p:txBody>
      </p:sp>
      <p:sp>
        <p:nvSpPr>
          <p:cNvPr id="4" name="Text Placeholder 3">
            <a:extLst>
              <a:ext uri="{FF2B5EF4-FFF2-40B4-BE49-F238E27FC236}">
                <a16:creationId xmlns:a16="http://schemas.microsoft.com/office/drawing/2014/main" id="{C34A516D-CC1D-C6DC-90D1-DB9960F5F0EC}"/>
              </a:ext>
            </a:extLst>
          </p:cNvPr>
          <p:cNvSpPr>
            <a:spLocks noGrp="1"/>
          </p:cNvSpPr>
          <p:nvPr>
            <p:ph type="body" idx="1"/>
          </p:nvPr>
        </p:nvSpPr>
        <p:spPr/>
        <p:txBody>
          <a:bodyPr/>
          <a:lstStyle/>
          <a:p>
            <a:pPr marL="151765" indent="-75565"/>
            <a:r>
              <a:rPr lang="en-US"/>
              <a:t>Example</a:t>
            </a:r>
          </a:p>
        </p:txBody>
      </p:sp>
      <p:sp>
        <p:nvSpPr>
          <p:cNvPr id="9" name="Title 8">
            <a:extLst>
              <a:ext uri="{FF2B5EF4-FFF2-40B4-BE49-F238E27FC236}">
                <a16:creationId xmlns:a16="http://schemas.microsoft.com/office/drawing/2014/main" id="{1E209C4E-F519-3673-5A2D-F5FF9BDC6F57}"/>
              </a:ext>
            </a:extLst>
          </p:cNvPr>
          <p:cNvSpPr>
            <a:spLocks noGrp="1"/>
          </p:cNvSpPr>
          <p:nvPr>
            <p:ph type="title"/>
          </p:nvPr>
        </p:nvSpPr>
        <p:spPr/>
        <p:txBody>
          <a:bodyPr/>
          <a:lstStyle/>
          <a:p>
            <a:r>
              <a:rPr lang="en-US" err="1"/>
              <a:t>NeMo</a:t>
            </a:r>
            <a:r>
              <a:rPr lang="en-US"/>
              <a:t> Guardrails-Off Vs. Guardrails-On</a:t>
            </a:r>
          </a:p>
        </p:txBody>
      </p:sp>
      <p:sp>
        <p:nvSpPr>
          <p:cNvPr id="11" name="Flowchart: Data 7">
            <a:extLst>
              <a:ext uri="{FF2B5EF4-FFF2-40B4-BE49-F238E27FC236}">
                <a16:creationId xmlns:a16="http://schemas.microsoft.com/office/drawing/2014/main" id="{87157AF2-6CC1-496F-A6C9-671FAFB4E0B4}"/>
              </a:ext>
            </a:extLst>
          </p:cNvPr>
          <p:cNvSpPr/>
          <p:nvPr/>
        </p:nvSpPr>
        <p:spPr>
          <a:xfrm>
            <a:off x="6269023" y="1500736"/>
            <a:ext cx="1931560" cy="4285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Guardrails On</a:t>
            </a:r>
            <a:endParaRPr lang="en-US" sz="1800">
              <a:latin typeface="NVIDIA Sans Medium"/>
              <a:cs typeface="NVIDIA Sans Medium"/>
            </a:endParaRPr>
          </a:p>
        </p:txBody>
      </p:sp>
      <p:sp>
        <p:nvSpPr>
          <p:cNvPr id="13" name="Arrow: Down 12">
            <a:extLst>
              <a:ext uri="{FF2B5EF4-FFF2-40B4-BE49-F238E27FC236}">
                <a16:creationId xmlns:a16="http://schemas.microsoft.com/office/drawing/2014/main" id="{3953B1B5-BB19-FF2B-6FD1-0591C7FB06BE}"/>
              </a:ext>
            </a:extLst>
          </p:cNvPr>
          <p:cNvSpPr/>
          <p:nvPr/>
        </p:nvSpPr>
        <p:spPr>
          <a:xfrm>
            <a:off x="8468225" y="4528379"/>
            <a:ext cx="224488" cy="316924"/>
          </a:xfrm>
          <a:prstGeom prst="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725774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29634-CC94-0E2C-06AF-B9B19BC344D6}"/>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25EED08F-2296-4DBD-37E7-4FE058BC17BC}"/>
              </a:ext>
            </a:extLst>
          </p:cNvPr>
          <p:cNvSpPr>
            <a:spLocks noGrp="1"/>
          </p:cNvSpPr>
          <p:nvPr>
            <p:ph type="body" idx="2"/>
          </p:nvPr>
        </p:nvSpPr>
        <p:spPr>
          <a:xfrm>
            <a:off x="394200" y="1959135"/>
            <a:ext cx="5539872" cy="2606349"/>
          </a:xfrm>
          <a:solidFill>
            <a:schemeClr val="tx1"/>
          </a:solidFill>
          <a:ln>
            <a:solidFill>
              <a:schemeClr val="bg1"/>
            </a:solidFill>
          </a:ln>
        </p:spPr>
        <p:txBody>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marL="285750" indent="-285750"/>
            <a:r>
              <a:rPr lang="en-US" sz="1400">
                <a:solidFill>
                  <a:schemeClr val="bg1"/>
                </a:solidFill>
              </a:rPr>
              <a:t>Provide personalized medical advice or diagnosis to individuals.</a:t>
            </a:r>
            <a:endParaRPr lang="en-US">
              <a:cs typeface="Arial"/>
            </a:endParaRPr>
          </a:p>
          <a:p>
            <a:pPr marL="285750" indent="-285750"/>
            <a:r>
              <a:rPr lang="en-US" sz="1400">
                <a:solidFill>
                  <a:schemeClr val="bg1"/>
                </a:solidFill>
              </a:rPr>
              <a:t>Encourage people to engage in medical activities or treatments that are not supported by scientific evidence.</a:t>
            </a:r>
            <a:endParaRPr lang="en-US" sz="1400">
              <a:solidFill>
                <a:schemeClr val="bg1"/>
              </a:solidFill>
              <a:cs typeface="Arial"/>
            </a:endParaRPr>
          </a:p>
          <a:p>
            <a:pPr marL="285750" indent="-285750"/>
            <a:r>
              <a:rPr lang="en-US" sz="1400">
                <a:solidFill>
                  <a:schemeClr val="bg1"/>
                </a:solidFill>
              </a:rPr>
              <a:t>Provide information that could be used to self-diagnose or self-treat medical conditions without consulting a qualified medical professional.</a:t>
            </a:r>
            <a:endParaRPr lang="en-US">
              <a:solidFill>
                <a:schemeClr val="bg1"/>
              </a:solidFill>
              <a:cs typeface="Arial"/>
            </a:endParaRPr>
          </a:p>
          <a:p>
            <a:pPr marL="285750" indent="-285750"/>
            <a:r>
              <a:rPr lang="en-US" sz="1400">
                <a:solidFill>
                  <a:schemeClr val="bg1"/>
                </a:solidFill>
              </a:rPr>
              <a:t>Contain false or misleading information about medical treatments, medications, or health conditions.</a:t>
            </a:r>
            <a:endParaRPr lang="en-US" sz="1400">
              <a:solidFill>
                <a:schemeClr val="bg1"/>
              </a:solidFill>
              <a:cs typeface="Arial"/>
            </a:endParaRPr>
          </a:p>
          <a:p>
            <a:pPr marL="285750" indent="-285750"/>
            <a:r>
              <a:rPr lang="en-US" sz="1400">
                <a:solidFill>
                  <a:schemeClr val="bg1"/>
                </a:solidFill>
              </a:rPr>
              <a:t>Encourage people to delay or forego medical treatment or advice from a qualified medical professional.</a:t>
            </a:r>
            <a:endParaRPr lang="en-US" sz="1400">
              <a:solidFill>
                <a:schemeClr val="bg1"/>
              </a:solidFill>
              <a:cs typeface="Arial"/>
            </a:endParaRPr>
          </a:p>
        </p:txBody>
      </p:sp>
      <p:sp>
        <p:nvSpPr>
          <p:cNvPr id="12" name="Text Placeholder 11">
            <a:extLst>
              <a:ext uri="{FF2B5EF4-FFF2-40B4-BE49-F238E27FC236}">
                <a16:creationId xmlns:a16="http://schemas.microsoft.com/office/drawing/2014/main" id="{C26A4928-9C3B-96DD-3D4C-9F2204851538}"/>
              </a:ext>
            </a:extLst>
          </p:cNvPr>
          <p:cNvSpPr>
            <a:spLocks noGrp="1"/>
          </p:cNvSpPr>
          <p:nvPr>
            <p:ph type="body" idx="3"/>
          </p:nvPr>
        </p:nvSpPr>
        <p:spPr>
          <a:xfrm>
            <a:off x="6064845" y="1959135"/>
            <a:ext cx="5946925" cy="2061122"/>
          </a:xfrm>
          <a:solidFill>
            <a:schemeClr val="tx1"/>
          </a:solidFill>
          <a:ln>
            <a:solidFill>
              <a:schemeClr val="bg1"/>
            </a:solidFill>
          </a:ln>
        </p:spPr>
        <p:txBody>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marL="285750" indent="-285750">
              <a:lnSpc>
                <a:spcPct val="100000"/>
              </a:lnSpc>
            </a:pPr>
            <a:r>
              <a:rPr lang="en-US" sz="1400">
                <a:solidFill>
                  <a:schemeClr val="bg1"/>
                </a:solidFill>
              </a:rPr>
              <a:t>Provide personalized financial advice or recommendations that are tailored to an individual’s specific financial situation or goals.</a:t>
            </a:r>
            <a:endParaRPr lang="en-US" sz="1400">
              <a:solidFill>
                <a:schemeClr val="bg1"/>
              </a:solidFill>
              <a:cs typeface="Arial"/>
            </a:endParaRPr>
          </a:p>
          <a:p>
            <a:pPr marL="285750" indent="-285750">
              <a:lnSpc>
                <a:spcPct val="100000"/>
              </a:lnSpc>
            </a:pPr>
            <a:r>
              <a:rPr lang="en-US" sz="1400">
                <a:solidFill>
                  <a:schemeClr val="bg1"/>
                </a:solidFill>
              </a:rPr>
              <a:t>Encourage or facilitate investment in high-risk or unregistered investment schemes.</a:t>
            </a:r>
            <a:endParaRPr lang="en-US" sz="1400">
              <a:solidFill>
                <a:schemeClr val="bg1"/>
              </a:solidFill>
              <a:cs typeface="Arial"/>
            </a:endParaRPr>
          </a:p>
          <a:p>
            <a:pPr marL="285750" indent="-285750">
              <a:lnSpc>
                <a:spcPct val="100000"/>
              </a:lnSpc>
            </a:pPr>
            <a:r>
              <a:rPr lang="en-US" sz="1400">
                <a:solidFill>
                  <a:schemeClr val="bg1"/>
                </a:solidFill>
              </a:rPr>
              <a:t>Provide false or misleading information about financial products or services.</a:t>
            </a:r>
            <a:endParaRPr lang="en-US" sz="1400">
              <a:solidFill>
                <a:schemeClr val="bg1"/>
              </a:solidFill>
              <a:cs typeface="Arial"/>
            </a:endParaRPr>
          </a:p>
          <a:p>
            <a:pPr marL="285750" indent="-285750">
              <a:lnSpc>
                <a:spcPct val="100000"/>
              </a:lnSpc>
            </a:pPr>
            <a:r>
              <a:rPr lang="en-US" sz="1400">
                <a:solidFill>
                  <a:schemeClr val="bg1"/>
                </a:solidFill>
              </a:rPr>
              <a:t>Engage in phishing or other scams to obtain sensitive financial info.</a:t>
            </a:r>
            <a:endParaRPr lang="en-US" sz="1400">
              <a:solidFill>
                <a:schemeClr val="bg1"/>
              </a:solidFill>
              <a:cs typeface="Arial"/>
            </a:endParaRPr>
          </a:p>
          <a:p>
            <a:pPr indent="0">
              <a:buNone/>
            </a:pPr>
            <a:endParaRPr lang="en-US" sz="1400">
              <a:solidFill>
                <a:schemeClr val="bg1"/>
              </a:solidFill>
              <a:cs typeface="Arial"/>
            </a:endParaRPr>
          </a:p>
        </p:txBody>
      </p:sp>
      <p:sp>
        <p:nvSpPr>
          <p:cNvPr id="5" name="Text Placeholder 4">
            <a:extLst>
              <a:ext uri="{FF2B5EF4-FFF2-40B4-BE49-F238E27FC236}">
                <a16:creationId xmlns:a16="http://schemas.microsoft.com/office/drawing/2014/main" id="{4FE8219E-C193-DD0B-C7D9-A82AB2B078C6}"/>
              </a:ext>
            </a:extLst>
          </p:cNvPr>
          <p:cNvSpPr>
            <a:spLocks noGrp="1"/>
          </p:cNvSpPr>
          <p:nvPr>
            <p:ph type="body" idx="1"/>
          </p:nvPr>
        </p:nvSpPr>
        <p:spPr/>
        <p:txBody>
          <a:bodyPr/>
          <a:lstStyle/>
          <a:p>
            <a:pPr marL="608965" indent="-304165"/>
            <a:r>
              <a:rPr lang="en-US"/>
              <a:t>Improve safety robustness with custom categories </a:t>
            </a:r>
          </a:p>
        </p:txBody>
      </p:sp>
      <p:sp>
        <p:nvSpPr>
          <p:cNvPr id="7" name="Title 6">
            <a:extLst>
              <a:ext uri="{FF2B5EF4-FFF2-40B4-BE49-F238E27FC236}">
                <a16:creationId xmlns:a16="http://schemas.microsoft.com/office/drawing/2014/main" id="{65B9C5F8-5D64-B6BB-6383-6431B4A41E2C}"/>
              </a:ext>
            </a:extLst>
          </p:cNvPr>
          <p:cNvSpPr>
            <a:spLocks noGrp="1"/>
          </p:cNvSpPr>
          <p:nvPr>
            <p:ph type="title"/>
          </p:nvPr>
        </p:nvSpPr>
        <p:spPr/>
        <p:txBody>
          <a:bodyPr/>
          <a:lstStyle/>
          <a:p>
            <a:r>
              <a:rPr lang="en-US" err="1"/>
              <a:t>NeMo</a:t>
            </a:r>
            <a:r>
              <a:rPr lang="en-US"/>
              <a:t> Guardrails: Use-Case Specific Enterprise Policies </a:t>
            </a:r>
          </a:p>
        </p:txBody>
      </p:sp>
      <p:sp>
        <p:nvSpPr>
          <p:cNvPr id="10" name="Flowchart: Data 7">
            <a:extLst>
              <a:ext uri="{FF2B5EF4-FFF2-40B4-BE49-F238E27FC236}">
                <a16:creationId xmlns:a16="http://schemas.microsoft.com/office/drawing/2014/main" id="{E403DB83-3603-D58F-AAD7-586791DB9DDB}"/>
              </a:ext>
            </a:extLst>
          </p:cNvPr>
          <p:cNvSpPr/>
          <p:nvPr/>
        </p:nvSpPr>
        <p:spPr>
          <a:xfrm>
            <a:off x="395023" y="1434736"/>
            <a:ext cx="3245560" cy="428596"/>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Medical Advice Should Not</a:t>
            </a:r>
            <a:endParaRPr lang="en-US"/>
          </a:p>
        </p:txBody>
      </p:sp>
      <p:sp>
        <p:nvSpPr>
          <p:cNvPr id="14" name="Flowchart: Data 7">
            <a:extLst>
              <a:ext uri="{FF2B5EF4-FFF2-40B4-BE49-F238E27FC236}">
                <a16:creationId xmlns:a16="http://schemas.microsoft.com/office/drawing/2014/main" id="{58C93F89-F115-2781-8B1C-145FF337EB90}"/>
              </a:ext>
            </a:extLst>
          </p:cNvPr>
          <p:cNvSpPr/>
          <p:nvPr/>
        </p:nvSpPr>
        <p:spPr>
          <a:xfrm>
            <a:off x="6041023" y="1434736"/>
            <a:ext cx="3245560" cy="428596"/>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Financial Advice Should Not</a:t>
            </a:r>
            <a:endParaRPr lang="en-US"/>
          </a:p>
        </p:txBody>
      </p:sp>
      <p:sp>
        <p:nvSpPr>
          <p:cNvPr id="18" name="Text Placeholder 8">
            <a:extLst>
              <a:ext uri="{FF2B5EF4-FFF2-40B4-BE49-F238E27FC236}">
                <a16:creationId xmlns:a16="http://schemas.microsoft.com/office/drawing/2014/main" id="{6B73B667-9754-916D-FFAB-37200978E16D}"/>
              </a:ext>
            </a:extLst>
          </p:cNvPr>
          <p:cNvSpPr txBox="1">
            <a:spLocks/>
          </p:cNvSpPr>
          <p:nvPr/>
        </p:nvSpPr>
        <p:spPr>
          <a:xfrm>
            <a:off x="396600" y="5137114"/>
            <a:ext cx="5533872" cy="1196664"/>
          </a:xfrm>
          <a:prstGeom prst="rect">
            <a:avLst/>
          </a:prstGeom>
          <a:solidFill>
            <a:schemeClr val="tx1"/>
          </a:solidFill>
          <a:ln>
            <a:solidFill>
              <a:schemeClr val="bg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RPr lang="en-US"/>
            </a:defPPr>
            <a:lvl1pPr marL="0" marR="0" lvl="0" indent="-397883" algn="l" defTabSz="152385" rtl="0" eaLnBrk="1" latinLnBrk="0" hangingPunct="1">
              <a:lnSpc>
                <a:spcPct val="90000"/>
              </a:lnSpc>
              <a:spcBef>
                <a:spcPts val="1000"/>
              </a:spcBef>
              <a:spcAft>
                <a:spcPts val="0"/>
              </a:spcAft>
              <a:buClr>
                <a:schemeClr val="dk2"/>
              </a:buClr>
              <a:buSzPts val="1100"/>
              <a:buFont typeface="Arial"/>
              <a:buChar char="•"/>
              <a:defRPr sz="600" b="0" i="0" u="none" strike="noStrike" kern="1200" cap="none">
                <a:solidFill>
                  <a:schemeClr val="tx1"/>
                </a:solidFill>
                <a:latin typeface="+mn-lt"/>
                <a:ea typeface="+mn-ea"/>
                <a:cs typeface="+mn-cs"/>
                <a:sym typeface="NVIDIA Sans"/>
              </a:defRPr>
            </a:lvl1pPr>
            <a:lvl2pPr marL="152385" marR="0" lvl="1" indent="-389418" algn="l" defTabSz="152385" rtl="0" eaLnBrk="1" latinLnBrk="0" hangingPunct="1">
              <a:lnSpc>
                <a:spcPct val="90000"/>
              </a:lnSpc>
              <a:spcBef>
                <a:spcPts val="500"/>
              </a:spcBef>
              <a:spcAft>
                <a:spcPts val="0"/>
              </a:spcAft>
              <a:buClr>
                <a:schemeClr val="dk2"/>
              </a:buClr>
              <a:buSzPts val="1000"/>
              <a:buFont typeface="Arial"/>
              <a:buChar char="•"/>
              <a:defRPr sz="600" b="0" i="0" u="none" strike="noStrike" kern="1200" cap="none">
                <a:solidFill>
                  <a:schemeClr val="tx1"/>
                </a:solidFill>
                <a:latin typeface="+mn-lt"/>
                <a:ea typeface="+mn-ea"/>
                <a:cs typeface="+mn-cs"/>
                <a:sym typeface="NVIDIA Sans"/>
              </a:defRPr>
            </a:lvl2pPr>
            <a:lvl3pPr marL="304770" marR="0" lvl="2" indent="-380952" algn="l" defTabSz="152385" rtl="0" eaLnBrk="1" latinLnBrk="0" hangingPunct="1">
              <a:lnSpc>
                <a:spcPct val="90000"/>
              </a:lnSpc>
              <a:spcBef>
                <a:spcPts val="500"/>
              </a:spcBef>
              <a:spcAft>
                <a:spcPts val="0"/>
              </a:spcAft>
              <a:buClr>
                <a:schemeClr val="dk2"/>
              </a:buClr>
              <a:buSzPts val="900"/>
              <a:buFont typeface="Arial"/>
              <a:buChar char="•"/>
              <a:defRPr sz="600" b="0" i="0" u="none" strike="noStrike" kern="1200" cap="none">
                <a:solidFill>
                  <a:schemeClr val="tx1"/>
                </a:solidFill>
                <a:latin typeface="+mn-lt"/>
                <a:ea typeface="+mn-ea"/>
                <a:cs typeface="+mn-cs"/>
                <a:sym typeface="NVIDIA Sans"/>
              </a:defRPr>
            </a:lvl3pPr>
            <a:lvl4pPr marL="457154" marR="0" lvl="3" indent="-372487" algn="l" defTabSz="152385" rtl="0" eaLnBrk="1" latinLnBrk="0" hangingPunct="1">
              <a:lnSpc>
                <a:spcPct val="90000"/>
              </a:lnSpc>
              <a:spcBef>
                <a:spcPts val="500"/>
              </a:spcBef>
              <a:spcAft>
                <a:spcPts val="0"/>
              </a:spcAft>
              <a:buClr>
                <a:schemeClr val="dk2"/>
              </a:buClr>
              <a:buSzPts val="800"/>
              <a:buFont typeface="Arial"/>
              <a:buChar char="•"/>
              <a:defRPr sz="600" b="0" i="0" u="none" strike="noStrike" kern="1200" cap="none">
                <a:solidFill>
                  <a:schemeClr val="tx1"/>
                </a:solidFill>
                <a:latin typeface="+mn-lt"/>
                <a:ea typeface="+mn-ea"/>
                <a:cs typeface="+mn-cs"/>
                <a:sym typeface="NVIDIA Sans"/>
              </a:defRPr>
            </a:lvl4pPr>
            <a:lvl5pPr marL="609539" marR="0" lvl="4" indent="-364022" algn="l" defTabSz="152385" rtl="0" eaLnBrk="1" latinLnBrk="0" hangingPunct="1">
              <a:lnSpc>
                <a:spcPct val="90000"/>
              </a:lnSpc>
              <a:spcBef>
                <a:spcPts val="500"/>
              </a:spcBef>
              <a:spcAft>
                <a:spcPts val="0"/>
              </a:spcAft>
              <a:buClr>
                <a:schemeClr val="dk2"/>
              </a:buClr>
              <a:buSzPts val="700"/>
              <a:buFont typeface="Arial"/>
              <a:buChar char="•"/>
              <a:defRPr sz="600" b="0" i="0" u="none" strike="noStrike" kern="1200" cap="none">
                <a:solidFill>
                  <a:schemeClr val="tx1"/>
                </a:solidFill>
                <a:latin typeface="+mn-lt"/>
                <a:ea typeface="+mn-ea"/>
                <a:cs typeface="+mn-cs"/>
                <a:sym typeface="NVIDIA Sans"/>
              </a:defRPr>
            </a:lvl5pPr>
            <a:lvl6pPr marL="761924" marR="0" lvl="5"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6pPr>
            <a:lvl7pPr marL="914309" marR="0" lvl="6"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7pPr>
            <a:lvl8pPr marL="1066693" marR="0" lvl="7"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8pPr>
            <a:lvl9pPr marL="1219078" marR="0" lvl="8"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9pPr>
          </a:lstStyle>
          <a:p>
            <a:pPr marL="285750" indent="-285750"/>
            <a:r>
              <a:rPr lang="en-US" sz="1400">
                <a:solidFill>
                  <a:schemeClr val="bg1"/>
                </a:solidFill>
              </a:rPr>
              <a:t>Provide general information about medical conditions, treatments, and medications</a:t>
            </a:r>
            <a:endParaRPr lang="en-US" sz="1400">
              <a:solidFill>
                <a:schemeClr val="bg1"/>
              </a:solidFill>
              <a:cs typeface="Arial"/>
            </a:endParaRPr>
          </a:p>
          <a:p>
            <a:pPr marL="285750" indent="-285750"/>
            <a:r>
              <a:rPr lang="en-US" sz="1400">
                <a:solidFill>
                  <a:schemeClr val="bg1"/>
                </a:solidFill>
              </a:rPr>
              <a:t>Discuss the latest medical research and findings in a neutral and informative way</a:t>
            </a:r>
            <a:endParaRPr lang="en-US" sz="1400">
              <a:solidFill>
                <a:schemeClr val="bg1"/>
              </a:solidFill>
              <a:cs typeface="Arial"/>
            </a:endParaRPr>
          </a:p>
        </p:txBody>
      </p:sp>
      <p:sp>
        <p:nvSpPr>
          <p:cNvPr id="20" name="Text Placeholder 11">
            <a:extLst>
              <a:ext uri="{FF2B5EF4-FFF2-40B4-BE49-F238E27FC236}">
                <a16:creationId xmlns:a16="http://schemas.microsoft.com/office/drawing/2014/main" id="{CB804767-580D-B2B0-FCAF-8C4F4A962D09}"/>
              </a:ext>
            </a:extLst>
          </p:cNvPr>
          <p:cNvSpPr txBox="1">
            <a:spLocks/>
          </p:cNvSpPr>
          <p:nvPr/>
        </p:nvSpPr>
        <p:spPr>
          <a:xfrm>
            <a:off x="6044328" y="4656347"/>
            <a:ext cx="5963571" cy="2089499"/>
          </a:xfrm>
          <a:prstGeom prst="rect">
            <a:avLst/>
          </a:prstGeom>
          <a:solidFill>
            <a:schemeClr val="tx1"/>
          </a:solidFill>
          <a:ln>
            <a:solidFill>
              <a:schemeClr val="bg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RPr lang="en-US"/>
            </a:defPPr>
            <a:lvl1pPr marL="0" marR="0" lvl="0" indent="-397883" algn="l" defTabSz="152385" rtl="0" eaLnBrk="1" latinLnBrk="0" hangingPunct="1">
              <a:lnSpc>
                <a:spcPct val="90000"/>
              </a:lnSpc>
              <a:spcBef>
                <a:spcPts val="1000"/>
              </a:spcBef>
              <a:spcAft>
                <a:spcPts val="0"/>
              </a:spcAft>
              <a:buClr>
                <a:schemeClr val="dk2"/>
              </a:buClr>
              <a:buSzPts val="1100"/>
              <a:buFont typeface="Arial"/>
              <a:buChar char="•"/>
              <a:defRPr sz="600" b="0" i="0" u="none" strike="noStrike" kern="1200" cap="none">
                <a:solidFill>
                  <a:schemeClr val="tx1"/>
                </a:solidFill>
                <a:latin typeface="+mn-lt"/>
                <a:ea typeface="+mn-ea"/>
                <a:cs typeface="+mn-cs"/>
                <a:sym typeface="NVIDIA Sans"/>
              </a:defRPr>
            </a:lvl1pPr>
            <a:lvl2pPr marL="152385" marR="0" lvl="1" indent="-389418" algn="l" defTabSz="152385" rtl="0" eaLnBrk="1" latinLnBrk="0" hangingPunct="1">
              <a:lnSpc>
                <a:spcPct val="90000"/>
              </a:lnSpc>
              <a:spcBef>
                <a:spcPts val="500"/>
              </a:spcBef>
              <a:spcAft>
                <a:spcPts val="0"/>
              </a:spcAft>
              <a:buClr>
                <a:schemeClr val="dk2"/>
              </a:buClr>
              <a:buSzPts val="1000"/>
              <a:buFont typeface="Arial"/>
              <a:buChar char="•"/>
              <a:defRPr sz="600" b="0" i="0" u="none" strike="noStrike" kern="1200" cap="none">
                <a:solidFill>
                  <a:schemeClr val="tx1"/>
                </a:solidFill>
                <a:latin typeface="+mn-lt"/>
                <a:ea typeface="+mn-ea"/>
                <a:cs typeface="+mn-cs"/>
                <a:sym typeface="NVIDIA Sans"/>
              </a:defRPr>
            </a:lvl2pPr>
            <a:lvl3pPr marL="304770" marR="0" lvl="2" indent="-380952" algn="l" defTabSz="152385" rtl="0" eaLnBrk="1" latinLnBrk="0" hangingPunct="1">
              <a:lnSpc>
                <a:spcPct val="90000"/>
              </a:lnSpc>
              <a:spcBef>
                <a:spcPts val="500"/>
              </a:spcBef>
              <a:spcAft>
                <a:spcPts val="0"/>
              </a:spcAft>
              <a:buClr>
                <a:schemeClr val="dk2"/>
              </a:buClr>
              <a:buSzPts val="900"/>
              <a:buFont typeface="Arial"/>
              <a:buChar char="•"/>
              <a:defRPr sz="600" b="0" i="0" u="none" strike="noStrike" kern="1200" cap="none">
                <a:solidFill>
                  <a:schemeClr val="tx1"/>
                </a:solidFill>
                <a:latin typeface="+mn-lt"/>
                <a:ea typeface="+mn-ea"/>
                <a:cs typeface="+mn-cs"/>
                <a:sym typeface="NVIDIA Sans"/>
              </a:defRPr>
            </a:lvl3pPr>
            <a:lvl4pPr marL="457154" marR="0" lvl="3" indent="-372487" algn="l" defTabSz="152385" rtl="0" eaLnBrk="1" latinLnBrk="0" hangingPunct="1">
              <a:lnSpc>
                <a:spcPct val="90000"/>
              </a:lnSpc>
              <a:spcBef>
                <a:spcPts val="500"/>
              </a:spcBef>
              <a:spcAft>
                <a:spcPts val="0"/>
              </a:spcAft>
              <a:buClr>
                <a:schemeClr val="dk2"/>
              </a:buClr>
              <a:buSzPts val="800"/>
              <a:buFont typeface="Arial"/>
              <a:buChar char="•"/>
              <a:defRPr sz="600" b="0" i="0" u="none" strike="noStrike" kern="1200" cap="none">
                <a:solidFill>
                  <a:schemeClr val="tx1"/>
                </a:solidFill>
                <a:latin typeface="+mn-lt"/>
                <a:ea typeface="+mn-ea"/>
                <a:cs typeface="+mn-cs"/>
                <a:sym typeface="NVIDIA Sans"/>
              </a:defRPr>
            </a:lvl4pPr>
            <a:lvl5pPr marL="609539" marR="0" lvl="4" indent="-364022" algn="l" defTabSz="152385" rtl="0" eaLnBrk="1" latinLnBrk="0" hangingPunct="1">
              <a:lnSpc>
                <a:spcPct val="90000"/>
              </a:lnSpc>
              <a:spcBef>
                <a:spcPts val="500"/>
              </a:spcBef>
              <a:spcAft>
                <a:spcPts val="0"/>
              </a:spcAft>
              <a:buClr>
                <a:schemeClr val="dk2"/>
              </a:buClr>
              <a:buSzPts val="700"/>
              <a:buFont typeface="Arial"/>
              <a:buChar char="•"/>
              <a:defRPr sz="600" b="0" i="0" u="none" strike="noStrike" kern="1200" cap="none">
                <a:solidFill>
                  <a:schemeClr val="tx1"/>
                </a:solidFill>
                <a:latin typeface="+mn-lt"/>
                <a:ea typeface="+mn-ea"/>
                <a:cs typeface="+mn-cs"/>
                <a:sym typeface="NVIDIA Sans"/>
              </a:defRPr>
            </a:lvl5pPr>
            <a:lvl6pPr marL="761924" marR="0" lvl="5"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6pPr>
            <a:lvl7pPr marL="914309" marR="0" lvl="6"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7pPr>
            <a:lvl8pPr marL="1066693" marR="0" lvl="7"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8pPr>
            <a:lvl9pPr marL="1219078" marR="0" lvl="8" indent="-419048" algn="l" defTabSz="152385" rtl="0" eaLnBrk="1" latinLnBrk="0" hangingPunct="1">
              <a:lnSpc>
                <a:spcPct val="90000"/>
              </a:lnSpc>
              <a:spcBef>
                <a:spcPts val="500"/>
              </a:spcBef>
              <a:spcAft>
                <a:spcPts val="0"/>
              </a:spcAft>
              <a:buClr>
                <a:schemeClr val="dk1"/>
              </a:buClr>
              <a:buSzPts val="1350"/>
              <a:buFont typeface="Arial"/>
              <a:buChar char="•"/>
              <a:defRPr sz="600" b="0" i="0" u="none" strike="noStrike" kern="1200" cap="none">
                <a:solidFill>
                  <a:schemeClr val="tx1"/>
                </a:solidFill>
                <a:latin typeface="+mn-lt"/>
                <a:ea typeface="+mn-ea"/>
                <a:cs typeface="+mn-cs"/>
                <a:sym typeface="NVIDIA Sans"/>
              </a:defRPr>
            </a:lvl9pPr>
          </a:lstStyle>
          <a:p>
            <a:pPr marL="285750" indent="-285750"/>
            <a:r>
              <a:rPr lang="en-US" sz="1400">
                <a:solidFill>
                  <a:schemeClr val="bg1"/>
                </a:solidFill>
                <a:ea typeface="+mn-lt"/>
                <a:cs typeface="+mn-lt"/>
              </a:rPr>
              <a:t>Provide general information about personal finance, investing and money management </a:t>
            </a:r>
            <a:endParaRPr lang="en-US">
              <a:solidFill>
                <a:schemeClr val="bg1"/>
              </a:solidFill>
              <a:ea typeface="+mn-lt"/>
              <a:cs typeface="+mn-lt"/>
            </a:endParaRPr>
          </a:p>
          <a:p>
            <a:pPr marL="285750" indent="-285750"/>
            <a:r>
              <a:rPr lang="en-US" sz="1400">
                <a:solidFill>
                  <a:schemeClr val="bg1"/>
                </a:solidFill>
                <a:ea typeface="+mn-lt"/>
                <a:cs typeface="+mn-lt"/>
              </a:rPr>
              <a:t>Discuss financial products and services in a general and neutral manner </a:t>
            </a:r>
            <a:endParaRPr lang="en-US">
              <a:solidFill>
                <a:schemeClr val="bg1"/>
              </a:solidFill>
              <a:ea typeface="+mn-lt"/>
              <a:cs typeface="+mn-lt"/>
            </a:endParaRPr>
          </a:p>
          <a:p>
            <a:pPr marL="285750" indent="-285750"/>
            <a:r>
              <a:rPr lang="en-US" sz="1400">
                <a:solidFill>
                  <a:schemeClr val="bg1"/>
                </a:solidFill>
                <a:ea typeface="+mn-lt"/>
                <a:cs typeface="+mn-lt"/>
              </a:rPr>
              <a:t>Offer educational resources or information on financial planning and literacy </a:t>
            </a:r>
            <a:endParaRPr lang="en-US">
              <a:solidFill>
                <a:schemeClr val="bg1"/>
              </a:solidFill>
              <a:ea typeface="+mn-lt"/>
              <a:cs typeface="+mn-lt"/>
            </a:endParaRPr>
          </a:p>
          <a:p>
            <a:pPr marL="285750" indent="-285750"/>
            <a:r>
              <a:rPr lang="en-US" sz="1400">
                <a:solidFill>
                  <a:schemeClr val="bg1"/>
                </a:solidFill>
                <a:ea typeface="+mn-lt"/>
                <a:cs typeface="+mn-lt"/>
              </a:rPr>
              <a:t>Provide information on how to report suspicious financial activity or seek help for financial difficulties</a:t>
            </a:r>
            <a:endParaRPr lang="en-US">
              <a:solidFill>
                <a:schemeClr val="bg1"/>
              </a:solidFill>
              <a:ea typeface="+mn-lt"/>
              <a:cs typeface="+mn-lt"/>
            </a:endParaRPr>
          </a:p>
        </p:txBody>
      </p:sp>
      <p:sp>
        <p:nvSpPr>
          <p:cNvPr id="21" name="Flowchart: Data 7">
            <a:extLst>
              <a:ext uri="{FF2B5EF4-FFF2-40B4-BE49-F238E27FC236}">
                <a16:creationId xmlns:a16="http://schemas.microsoft.com/office/drawing/2014/main" id="{A54ADD15-01E0-EEDA-D8DA-D935C87742A1}"/>
              </a:ext>
            </a:extLst>
          </p:cNvPr>
          <p:cNvSpPr/>
          <p:nvPr/>
        </p:nvSpPr>
        <p:spPr>
          <a:xfrm>
            <a:off x="395023" y="4640315"/>
            <a:ext cx="3245560" cy="4285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Medical Advice Can</a:t>
            </a:r>
            <a:endParaRPr lang="en-US"/>
          </a:p>
        </p:txBody>
      </p:sp>
      <p:sp>
        <p:nvSpPr>
          <p:cNvPr id="22" name="Flowchart: Data 7">
            <a:extLst>
              <a:ext uri="{FF2B5EF4-FFF2-40B4-BE49-F238E27FC236}">
                <a16:creationId xmlns:a16="http://schemas.microsoft.com/office/drawing/2014/main" id="{1F7E2623-BDC1-087F-117A-A6A7B3A24870}"/>
              </a:ext>
            </a:extLst>
          </p:cNvPr>
          <p:cNvSpPr/>
          <p:nvPr/>
        </p:nvSpPr>
        <p:spPr>
          <a:xfrm>
            <a:off x="6041023" y="4114525"/>
            <a:ext cx="3245560" cy="4285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800">
                <a:latin typeface="NVIDIA Sans Medium"/>
                <a:cs typeface="Arial"/>
              </a:rPr>
              <a:t>Financial Advice Can</a:t>
            </a:r>
            <a:endParaRPr lang="en-US"/>
          </a:p>
        </p:txBody>
      </p:sp>
    </p:spTree>
    <p:extLst>
      <p:ext uri="{BB962C8B-B14F-4D97-AF65-F5344CB8AC3E}">
        <p14:creationId xmlns:p14="http://schemas.microsoft.com/office/powerpoint/2010/main" val="343145707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9647E-6830-12D4-13B3-91A41D6648CC}"/>
            </a:ext>
          </a:extLst>
        </p:cNvPr>
        <p:cNvGrpSpPr/>
        <p:nvPr/>
      </p:nvGrpSpPr>
      <p:grpSpPr>
        <a:xfrm>
          <a:off x="0" y="0"/>
          <a:ext cx="0" cy="0"/>
          <a:chOff x="0" y="0"/>
          <a:chExt cx="0" cy="0"/>
        </a:xfrm>
      </p:grpSpPr>
      <p:sp>
        <p:nvSpPr>
          <p:cNvPr id="12" name="Google Shape;1386;p152">
            <a:extLst>
              <a:ext uri="{FF2B5EF4-FFF2-40B4-BE49-F238E27FC236}">
                <a16:creationId xmlns:a16="http://schemas.microsoft.com/office/drawing/2014/main" id="{76434CF7-FE1B-AD3C-4E7A-8E346196F665}"/>
              </a:ext>
            </a:extLst>
          </p:cNvPr>
          <p:cNvSpPr txBox="1">
            <a:spLocks noGrp="1"/>
          </p:cNvSpPr>
          <p:nvPr>
            <p:ph type="title"/>
          </p:nvPr>
        </p:nvSpPr>
        <p:spPr>
          <a:xfrm>
            <a:off x="838200" y="0"/>
            <a:ext cx="10515600" cy="838400"/>
          </a:xfrm>
          <a:prstGeom prst="rect">
            <a:avLst/>
          </a:prstGeom>
          <a:noFill/>
          <a:ln>
            <a:noFill/>
          </a:ln>
        </p:spPr>
        <p:txBody>
          <a:bodyPr spcFirstLastPara="1" wrap="square" lIns="91433" tIns="45700" rIns="91433"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90000"/>
              </a:lnSpc>
            </a:pPr>
            <a:r>
              <a:rPr lang="en-US" sz="2400" b="1">
                <a:solidFill>
                  <a:schemeClr val="lt1"/>
                </a:solidFill>
                <a:latin typeface="NVIDIA Sans"/>
                <a:cs typeface="NVIDIA Sans"/>
              </a:rPr>
              <a:t>NVIDIA </a:t>
            </a:r>
            <a:r>
              <a:rPr lang="en-US" sz="2400" b="1" err="1">
                <a:solidFill>
                  <a:schemeClr val="lt1"/>
                </a:solidFill>
                <a:latin typeface="NVIDIA Sans"/>
                <a:cs typeface="NVIDIA Sans"/>
              </a:rPr>
              <a:t>NeMo</a:t>
            </a:r>
            <a:r>
              <a:rPr lang="en-US" sz="2400" b="1">
                <a:solidFill>
                  <a:schemeClr val="lt1"/>
                </a:solidFill>
                <a:latin typeface="NVIDIA Sans"/>
                <a:cs typeface="NVIDIA Sans"/>
              </a:rPr>
              <a:t> Auditor</a:t>
            </a:r>
            <a:endParaRPr lang="en-US">
              <a:solidFill>
                <a:schemeClr val="lt1"/>
              </a:solidFill>
            </a:endParaRPr>
          </a:p>
        </p:txBody>
      </p:sp>
      <p:sp>
        <p:nvSpPr>
          <p:cNvPr id="14" name="Google Shape;1387;p152">
            <a:extLst>
              <a:ext uri="{FF2B5EF4-FFF2-40B4-BE49-F238E27FC236}">
                <a16:creationId xmlns:a16="http://schemas.microsoft.com/office/drawing/2014/main" id="{931D7003-54A5-1004-86C7-66A20DCF6EA8}"/>
              </a:ext>
            </a:extLst>
          </p:cNvPr>
          <p:cNvSpPr txBox="1">
            <a:spLocks/>
          </p:cNvSpPr>
          <p:nvPr/>
        </p:nvSpPr>
        <p:spPr>
          <a:xfrm>
            <a:off x="736600" y="829056"/>
            <a:ext cx="10515600" cy="469600"/>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RPr/>
            </a:defPPr>
            <a:lvl1pPr marL="152370" marR="0" lvl="0"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1pPr>
            <a:lvl2pPr marL="457108" marR="0" lvl="1"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2pPr>
            <a:lvl3pPr marL="761848" marR="0" lvl="2"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3pPr>
            <a:lvl4pPr marL="1066586" marR="0" lvl="3"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4pPr>
            <a:lvl5pPr marL="1351222" marR="0" lvl="4" indent="-132265"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5pPr>
            <a:lvl6pPr marL="2514349" marR="0" lvl="5"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6pPr>
            <a:lvl7pPr marL="2971503" marR="0" lvl="6"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7pPr>
            <a:lvl8pPr marL="3428657" marR="0" lvl="7"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8pPr>
            <a:lvl9pPr marL="3885811" marR="0" lvl="8"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9pPr>
          </a:lstStyle>
          <a:p>
            <a:pPr marL="0" indent="0" algn="ctr">
              <a:lnSpc>
                <a:spcPct val="90000"/>
              </a:lnSpc>
              <a:buNone/>
            </a:pPr>
            <a:r>
              <a:rPr lang="en" sz="1600">
                <a:solidFill>
                  <a:schemeClr val="tx2"/>
                </a:solidFill>
                <a:ea typeface="+mn-ea"/>
              </a:rPr>
              <a:t>Security and vulnerability scanning to protect against attacks on LLMs and LLM-containing systems</a:t>
            </a:r>
          </a:p>
        </p:txBody>
      </p:sp>
      <p:sp>
        <p:nvSpPr>
          <p:cNvPr id="51" name="Content Placeholder 3">
            <a:extLst>
              <a:ext uri="{FF2B5EF4-FFF2-40B4-BE49-F238E27FC236}">
                <a16:creationId xmlns:a16="http://schemas.microsoft.com/office/drawing/2014/main" id="{87010ABD-BD50-8943-082D-1E5E75F7E66F}"/>
              </a:ext>
            </a:extLst>
          </p:cNvPr>
          <p:cNvSpPr txBox="1">
            <a:spLocks/>
          </p:cNvSpPr>
          <p:nvPr/>
        </p:nvSpPr>
        <p:spPr>
          <a:xfrm>
            <a:off x="3852486" y="6214601"/>
            <a:ext cx="4490244" cy="316678"/>
          </a:xfrm>
          <a:prstGeom prst="rect">
            <a:avLst/>
          </a:prstGeom>
        </p:spPr>
        <p:txBody>
          <a:bodyPr lIns="91440" tIns="45720" rIns="91440" bIns="45720" anchor="t"/>
          <a:lstStyle>
            <a:lvl1pPr marL="152370" indent="-152370"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08" indent="-152370"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848" indent="-152370"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586" indent="-152370"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222" indent="-132265"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lgn="ctr">
              <a:buNone/>
            </a:pPr>
            <a:r>
              <a:rPr lang="en-US" sz="1100" i="1">
                <a:latin typeface="NVIDIA Sans"/>
                <a:cs typeface="NVIDIA Sans"/>
              </a:rPr>
              <a:t>Check out the open-source library: </a:t>
            </a:r>
            <a:r>
              <a:rPr lang="en-US" sz="1100" i="1">
                <a:solidFill>
                  <a:schemeClr val="tx2"/>
                </a:solidFill>
                <a:latin typeface="NVIDIA Sans"/>
                <a:cs typeface="NVIDIA Sans"/>
              </a:rPr>
              <a:t>github.com/NVIDIA/</a:t>
            </a:r>
            <a:r>
              <a:rPr lang="en-US" sz="1100" i="1" err="1">
                <a:solidFill>
                  <a:schemeClr val="tx2"/>
                </a:solidFill>
                <a:latin typeface="NVIDIA Sans"/>
                <a:cs typeface="NVIDIA Sans"/>
              </a:rPr>
              <a:t>garak</a:t>
            </a:r>
            <a:endParaRPr lang="en-US" i="1" err="1">
              <a:solidFill>
                <a:schemeClr val="tx2"/>
              </a:solidFill>
            </a:endParaRPr>
          </a:p>
          <a:p>
            <a:pPr marL="0" indent="0" algn="ctr">
              <a:lnSpc>
                <a:spcPct val="100000"/>
              </a:lnSpc>
              <a:spcBef>
                <a:spcPts val="0"/>
              </a:spcBef>
              <a:buNone/>
            </a:pPr>
            <a:endParaRPr lang="en-US" sz="1300" i="1">
              <a:solidFill>
                <a:srgbClr val="FFFFFF"/>
              </a:solidFill>
            </a:endParaRPr>
          </a:p>
          <a:p>
            <a:pPr marL="151765" indent="-151765" algn="ctr">
              <a:buFont typeface="NVIDIA Sans" panose="020B0503020203020204" pitchFamily="34" charset="0"/>
              <a:buNone/>
            </a:pPr>
            <a:endParaRPr lang="en-US" i="1">
              <a:solidFill>
                <a:srgbClr val="76B900"/>
              </a:solidFill>
            </a:endParaRPr>
          </a:p>
        </p:txBody>
      </p:sp>
      <p:sp>
        <p:nvSpPr>
          <p:cNvPr id="40" name="Content Placeholder 3">
            <a:extLst>
              <a:ext uri="{FF2B5EF4-FFF2-40B4-BE49-F238E27FC236}">
                <a16:creationId xmlns:a16="http://schemas.microsoft.com/office/drawing/2014/main" id="{63B49C25-C138-AA63-418D-4EBC8F29E4FB}"/>
              </a:ext>
            </a:extLst>
          </p:cNvPr>
          <p:cNvSpPr txBox="1">
            <a:spLocks/>
          </p:cNvSpPr>
          <p:nvPr/>
        </p:nvSpPr>
        <p:spPr>
          <a:xfrm>
            <a:off x="946196" y="1750347"/>
            <a:ext cx="3125068" cy="489241"/>
          </a:xfrm>
          <a:prstGeom prst="rect">
            <a:avLst/>
          </a:prstGeom>
        </p:spPr>
        <p:txBody>
          <a:bodyPr lIns="91440" tIns="45720" rIns="91440" bIns="45720" anchor="t"/>
          <a:lstStyle>
            <a:lvl1pPr marL="152370" indent="-152370"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08" indent="-152370"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848" indent="-152370"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586" indent="-152370"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222" indent="-132265"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buNone/>
            </a:pPr>
            <a:r>
              <a:rPr lang="en-US" sz="1800" b="1">
                <a:solidFill>
                  <a:schemeClr val="tx2"/>
                </a:solidFill>
                <a:latin typeface="NVIDIA Sans"/>
                <a:cs typeface="NVIDIA Sans"/>
              </a:rPr>
              <a:t>Key Benefits</a:t>
            </a:r>
            <a:endParaRPr lang="en-US" sz="1800">
              <a:solidFill>
                <a:schemeClr val="tx2"/>
              </a:solidFill>
              <a:latin typeface="NVIDIA Sans"/>
              <a:cs typeface="NVIDIA Sans"/>
            </a:endParaRPr>
          </a:p>
          <a:p>
            <a:pPr marL="151765" indent="0">
              <a:lnSpc>
                <a:spcPct val="100000"/>
              </a:lnSpc>
              <a:spcBef>
                <a:spcPts val="0"/>
              </a:spcBef>
              <a:buFont typeface="NVIDIA Sans" panose="020B0503020203020204" pitchFamily="34" charset="0"/>
              <a:buNone/>
            </a:pPr>
            <a:endParaRPr lang="en-US" sz="1100" b="1">
              <a:solidFill>
                <a:schemeClr val="lt1"/>
              </a:solidFill>
              <a:latin typeface="NVIDIA Sans"/>
              <a:cs typeface="NVIDIA Sans"/>
            </a:endParaRPr>
          </a:p>
          <a:p>
            <a:pPr marL="0" indent="0">
              <a:lnSpc>
                <a:spcPct val="100000"/>
              </a:lnSpc>
              <a:spcBef>
                <a:spcPts val="0"/>
              </a:spcBef>
              <a:buFont typeface="NVIDIA Sans" panose="020B0503020203020204" pitchFamily="34" charset="0"/>
              <a:buNone/>
            </a:pPr>
            <a:endParaRPr lang="en-US" sz="1300">
              <a:solidFill>
                <a:srgbClr val="000000"/>
              </a:solidFill>
            </a:endParaRPr>
          </a:p>
          <a:p>
            <a:pPr marL="0" indent="0">
              <a:lnSpc>
                <a:spcPct val="100000"/>
              </a:lnSpc>
              <a:spcBef>
                <a:spcPts val="0"/>
              </a:spcBef>
              <a:buFont typeface="NVIDIA Sans" panose="020B0503020203020204" pitchFamily="34" charset="0"/>
              <a:buNone/>
            </a:pPr>
            <a:endParaRPr lang="en-US" sz="1300">
              <a:solidFill>
                <a:srgbClr val="FFFFFF"/>
              </a:solidFill>
              <a:latin typeface="NVIDIA Sans"/>
              <a:cs typeface="NVIDIA Sans"/>
            </a:endParaRPr>
          </a:p>
          <a:p>
            <a:pPr marL="0" indent="0">
              <a:lnSpc>
                <a:spcPct val="100000"/>
              </a:lnSpc>
              <a:spcBef>
                <a:spcPts val="0"/>
              </a:spcBef>
              <a:buFont typeface="NVIDIA Sans" panose="020B0503020203020204" pitchFamily="34" charset="0"/>
              <a:buNone/>
            </a:pPr>
            <a:endParaRPr lang="en-US" sz="1300" b="1">
              <a:solidFill>
                <a:srgbClr val="000000"/>
              </a:solidFill>
              <a:latin typeface="NVIDIA Sans"/>
              <a:cs typeface="NVIDIA Sans"/>
            </a:endParaRPr>
          </a:p>
        </p:txBody>
      </p:sp>
      <p:pic>
        <p:nvPicPr>
          <p:cNvPr id="55" name="Picture 54" descr="A green logo with a black background&#10;&#10;AI-generated content may be incorrect.">
            <a:extLst>
              <a:ext uri="{FF2B5EF4-FFF2-40B4-BE49-F238E27FC236}">
                <a16:creationId xmlns:a16="http://schemas.microsoft.com/office/drawing/2014/main" id="{A6BC5505-5B41-393F-1A09-46136A71C7C6}"/>
              </a:ext>
            </a:extLst>
          </p:cNvPr>
          <p:cNvPicPr>
            <a:picLocks noChangeAspect="1"/>
          </p:cNvPicPr>
          <p:nvPr/>
        </p:nvPicPr>
        <p:blipFill>
          <a:blip r:embed="rId4"/>
          <a:stretch>
            <a:fillRect/>
          </a:stretch>
        </p:blipFill>
        <p:spPr>
          <a:xfrm>
            <a:off x="998977" y="2886534"/>
            <a:ext cx="720314" cy="700996"/>
          </a:xfrm>
          <a:prstGeom prst="rect">
            <a:avLst/>
          </a:prstGeom>
        </p:spPr>
      </p:pic>
      <p:sp>
        <p:nvSpPr>
          <p:cNvPr id="57" name="Text Placeholder 2">
            <a:extLst>
              <a:ext uri="{FF2B5EF4-FFF2-40B4-BE49-F238E27FC236}">
                <a16:creationId xmlns:a16="http://schemas.microsoft.com/office/drawing/2014/main" id="{E7A90059-CCA5-910C-E572-9D0B70CC2B16}"/>
              </a:ext>
            </a:extLst>
          </p:cNvPr>
          <p:cNvSpPr txBox="1">
            <a:spLocks/>
          </p:cNvSpPr>
          <p:nvPr/>
        </p:nvSpPr>
        <p:spPr>
          <a:xfrm>
            <a:off x="1724201" y="2247540"/>
            <a:ext cx="3118073" cy="3560168"/>
          </a:xfrm>
          <a:prstGeom prst="rect">
            <a:avLst/>
          </a:prstGeom>
        </p:spPr>
        <p:txBody>
          <a:bodyPr lIns="91440" tIns="45720" rIns="91440" bIns="45720" anchor="t"/>
          <a:lstStyle>
            <a:lvl1pPr marL="228577" indent="-228577" algn="l" defTabSz="914309" rtl="0" eaLnBrk="1" latinLnBrk="0" hangingPunct="1">
              <a:lnSpc>
                <a:spcPct val="90000"/>
              </a:lnSpc>
              <a:spcBef>
                <a:spcPts val="1000"/>
              </a:spcBef>
              <a:buFont typeface="NVIDIA Sans" panose="020B0503020203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NVIDIA Sans" panose="020B0503020203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NVIDIA Sans" panose="020B0503020203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0" indent="-227965">
              <a:lnSpc>
                <a:spcPct val="100000"/>
              </a:lnSpc>
              <a:spcBef>
                <a:spcPts val="500"/>
              </a:spcBef>
              <a:buNone/>
            </a:pPr>
            <a:r>
              <a:rPr lang="en-US" sz="1200" b="1">
                <a:solidFill>
                  <a:schemeClr val="bg1"/>
                </a:solidFill>
                <a:ea typeface="+mn-lt"/>
                <a:cs typeface="+mn-lt"/>
              </a:rPr>
              <a:t>Comprehensive Testing</a:t>
            </a:r>
            <a:endParaRPr lang="en-US" sz="1200">
              <a:solidFill>
                <a:schemeClr val="bg1"/>
              </a:solidFill>
              <a:ea typeface="+mn-lt"/>
              <a:cs typeface="+mn-lt"/>
            </a:endParaRPr>
          </a:p>
          <a:p>
            <a:pPr marL="0" indent="-227965">
              <a:lnSpc>
                <a:spcPct val="100000"/>
              </a:lnSpc>
              <a:spcBef>
                <a:spcPts val="500"/>
              </a:spcBef>
              <a:buNone/>
            </a:pPr>
            <a:r>
              <a:rPr lang="en-US" sz="1200">
                <a:solidFill>
                  <a:schemeClr val="bg1"/>
                </a:solidFill>
                <a:ea typeface="+mn-lt"/>
                <a:cs typeface="+mn-lt"/>
              </a:rPr>
              <a:t>160+ attack categories using adaptive and static probing techniques.</a:t>
            </a:r>
            <a:endParaRPr lang="en-US">
              <a:solidFill>
                <a:schemeClr val="bg1"/>
              </a:solidFill>
              <a:ea typeface="+mn-lt"/>
              <a:cs typeface="+mn-lt"/>
            </a:endParaRPr>
          </a:p>
          <a:p>
            <a:pPr marL="0" indent="-227965">
              <a:lnSpc>
                <a:spcPct val="100000"/>
              </a:lnSpc>
              <a:spcBef>
                <a:spcPts val="500"/>
              </a:spcBef>
              <a:buNone/>
            </a:pPr>
            <a:r>
              <a:rPr lang="en-US" sz="1200" b="1">
                <a:solidFill>
                  <a:schemeClr val="bg1"/>
                </a:solidFill>
                <a:ea typeface="+mn-lt"/>
                <a:cs typeface="+mn-lt"/>
              </a:rPr>
              <a:t>Multi-Platform / Enterprise-Grade</a:t>
            </a:r>
            <a:endParaRPr lang="en-US">
              <a:solidFill>
                <a:schemeClr val="bg1"/>
              </a:solidFill>
              <a:cs typeface="NVIDIA Sans"/>
            </a:endParaRPr>
          </a:p>
          <a:p>
            <a:pPr marL="0" indent="-227965">
              <a:lnSpc>
                <a:spcPct val="100000"/>
              </a:lnSpc>
              <a:spcBef>
                <a:spcPts val="500"/>
              </a:spcBef>
              <a:buNone/>
            </a:pPr>
            <a:r>
              <a:rPr lang="en-US" sz="1200">
                <a:solidFill>
                  <a:schemeClr val="bg1"/>
                </a:solidFill>
                <a:ea typeface="+mn-lt"/>
                <a:cs typeface="+mn-lt"/>
              </a:rPr>
              <a:t>Flexible APIs with local and cloud deployment support. </a:t>
            </a:r>
          </a:p>
          <a:p>
            <a:pPr marL="0" indent="-227965">
              <a:lnSpc>
                <a:spcPct val="100000"/>
              </a:lnSpc>
              <a:spcBef>
                <a:spcPts val="500"/>
              </a:spcBef>
              <a:buNone/>
            </a:pPr>
            <a:endParaRPr lang="en-US" sz="1200" b="1">
              <a:solidFill>
                <a:schemeClr val="bg1"/>
              </a:solidFill>
              <a:ea typeface="+mn-lt"/>
              <a:cs typeface="+mn-lt"/>
            </a:endParaRPr>
          </a:p>
          <a:p>
            <a:pPr marL="0" indent="-227965">
              <a:lnSpc>
                <a:spcPct val="100000"/>
              </a:lnSpc>
              <a:spcBef>
                <a:spcPts val="500"/>
              </a:spcBef>
              <a:buNone/>
            </a:pPr>
            <a:endParaRPr lang="en-US" sz="1200">
              <a:solidFill>
                <a:schemeClr val="bg1"/>
              </a:solidFill>
              <a:cs typeface="NVIDIA Sans"/>
            </a:endParaRPr>
          </a:p>
          <a:p>
            <a:pPr marL="0" indent="-227965">
              <a:lnSpc>
                <a:spcPct val="100000"/>
              </a:lnSpc>
              <a:spcBef>
                <a:spcPts val="500"/>
              </a:spcBef>
              <a:buNone/>
            </a:pPr>
            <a:endParaRPr lang="en-US" sz="1200" b="1">
              <a:solidFill>
                <a:schemeClr val="bg1"/>
              </a:solidFill>
              <a:cs typeface="NVIDIA Sans"/>
            </a:endParaRPr>
          </a:p>
        </p:txBody>
      </p:sp>
      <p:pic>
        <p:nvPicPr>
          <p:cNvPr id="65" name="Picture 64" descr="A green light bulb and a paper&#10;&#10;AI-generated content may be incorrect.">
            <a:extLst>
              <a:ext uri="{FF2B5EF4-FFF2-40B4-BE49-F238E27FC236}">
                <a16:creationId xmlns:a16="http://schemas.microsoft.com/office/drawing/2014/main" id="{1B22F306-D6C5-F752-E4B1-BD6281B17C45}"/>
              </a:ext>
            </a:extLst>
          </p:cNvPr>
          <p:cNvPicPr>
            <a:picLocks noChangeAspect="1"/>
          </p:cNvPicPr>
          <p:nvPr/>
        </p:nvPicPr>
        <p:blipFill>
          <a:blip r:embed="rId5"/>
          <a:stretch>
            <a:fillRect/>
          </a:stretch>
        </p:blipFill>
        <p:spPr>
          <a:xfrm>
            <a:off x="969401" y="2139630"/>
            <a:ext cx="782627" cy="742522"/>
          </a:xfrm>
          <a:prstGeom prst="rect">
            <a:avLst/>
          </a:prstGeom>
        </p:spPr>
      </p:pic>
      <p:graphicFrame>
        <p:nvGraphicFramePr>
          <p:cNvPr id="67" name="Table 66">
            <a:extLst>
              <a:ext uri="{FF2B5EF4-FFF2-40B4-BE49-F238E27FC236}">
                <a16:creationId xmlns:a16="http://schemas.microsoft.com/office/drawing/2014/main" id="{71B0A823-422C-66CB-8AAD-A36559EF641D}"/>
              </a:ext>
            </a:extLst>
          </p:cNvPr>
          <p:cNvGraphicFramePr>
            <a:graphicFrameLocks noGrp="1"/>
          </p:cNvGraphicFramePr>
          <p:nvPr>
            <p:extLst>
              <p:ext uri="{D42A27DB-BD31-4B8C-83A1-F6EECF244321}">
                <p14:modId xmlns:p14="http://schemas.microsoft.com/office/powerpoint/2010/main" val="1054887364"/>
              </p:ext>
            </p:extLst>
          </p:nvPr>
        </p:nvGraphicFramePr>
        <p:xfrm>
          <a:off x="5227982" y="1789043"/>
          <a:ext cx="6437478" cy="3446690"/>
        </p:xfrm>
        <a:graphic>
          <a:graphicData uri="http://schemas.openxmlformats.org/drawingml/2006/table">
            <a:tbl>
              <a:tblPr bandRow="1">
                <a:tableStyleId>{5C22544A-7EE6-4342-B048-85BDC9FD1C3A}</a:tableStyleId>
              </a:tblPr>
              <a:tblGrid>
                <a:gridCol w="1752027">
                  <a:extLst>
                    <a:ext uri="{9D8B030D-6E8A-4147-A177-3AD203B41FA5}">
                      <a16:colId xmlns:a16="http://schemas.microsoft.com/office/drawing/2014/main" val="4130649321"/>
                    </a:ext>
                  </a:extLst>
                </a:gridCol>
                <a:gridCol w="4685451">
                  <a:extLst>
                    <a:ext uri="{9D8B030D-6E8A-4147-A177-3AD203B41FA5}">
                      <a16:colId xmlns:a16="http://schemas.microsoft.com/office/drawing/2014/main" val="2721711284"/>
                    </a:ext>
                  </a:extLst>
                </a:gridCol>
              </a:tblGrid>
              <a:tr h="325200">
                <a:tc>
                  <a:txBody>
                    <a:bodyPr/>
                    <a:lstStyle/>
                    <a:p>
                      <a:pPr lvl="0" algn="l">
                        <a:lnSpc>
                          <a:spcPts val="1200"/>
                        </a:lnSpc>
                        <a:buNone/>
                      </a:pPr>
                      <a:r>
                        <a:rPr lang="en-US" sz="1100" b="1" i="0">
                          <a:solidFill>
                            <a:schemeClr val="tx1"/>
                          </a:solidFill>
                          <a:effectLst/>
                          <a:latin typeface="NVIDIA Sans"/>
                        </a:rPr>
                        <a:t>Probe Type</a:t>
                      </a:r>
                    </a:p>
                  </a:txBody>
                  <a:tcPr marL="95249" marR="95249" marT="95249" marB="95249" anchor="ctr">
                    <a:lnL w="11916">
                      <a:solidFill>
                        <a:srgbClr val="9E9E9E"/>
                      </a:solidFill>
                    </a:lnL>
                    <a:lnR w="11916" cap="flat" cmpd="sng" algn="ctr">
                      <a:solidFill>
                        <a:srgbClr val="9E9E9E"/>
                      </a:solidFill>
                      <a:prstDash val="solid"/>
                      <a:round/>
                      <a:headEnd type="none" w="med" len="med"/>
                      <a:tailEnd type="none" w="med" len="med"/>
                    </a:lnR>
                    <a:lnT w="11916">
                      <a:solidFill>
                        <a:srgbClr val="9E9E9E"/>
                      </a:solidFill>
                    </a:lnT>
                    <a:lnB w="11916">
                      <a:solidFill>
                        <a:srgbClr val="9E9E9E"/>
                      </a:solidFill>
                    </a:lnB>
                    <a:solidFill>
                      <a:schemeClr val="bg1">
                        <a:lumMod val="75000"/>
                        <a:lumOff val="25000"/>
                      </a:schemeClr>
                    </a:solidFill>
                  </a:tcPr>
                </a:tc>
                <a:tc>
                  <a:txBody>
                    <a:bodyPr/>
                    <a:lstStyle/>
                    <a:p>
                      <a:pPr lvl="0" algn="l">
                        <a:lnSpc>
                          <a:spcPts val="1200"/>
                        </a:lnSpc>
                        <a:buNone/>
                      </a:pPr>
                      <a:r>
                        <a:rPr lang="en-US" sz="1100" b="1" i="0">
                          <a:solidFill>
                            <a:schemeClr val="tx1"/>
                          </a:solidFill>
                          <a:effectLst/>
                          <a:latin typeface="NVIDIA Sans"/>
                        </a:rPr>
                        <a:t>Description</a:t>
                      </a:r>
                    </a:p>
                  </a:txBody>
                  <a:tcPr marL="95249" marR="95249" marT="95249" marB="95249"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a:solidFill>
                        <a:srgbClr val="9E9E9E"/>
                      </a:solidFill>
                    </a:lnT>
                    <a:lnB w="11916">
                      <a:solidFill>
                        <a:srgbClr val="9E9E9E"/>
                      </a:solidFill>
                    </a:lnB>
                    <a:solidFill>
                      <a:schemeClr val="bg1">
                        <a:lumMod val="75000"/>
                        <a:lumOff val="25000"/>
                      </a:schemeClr>
                    </a:solidFill>
                  </a:tcPr>
                </a:tc>
                <a:extLst>
                  <a:ext uri="{0D108BD9-81ED-4DB2-BD59-A6C34878D82A}">
                    <a16:rowId xmlns:a16="http://schemas.microsoft.com/office/drawing/2014/main" val="2566254317"/>
                  </a:ext>
                </a:extLst>
              </a:tr>
              <a:tr h="325200">
                <a:tc>
                  <a:txBody>
                    <a:bodyPr/>
                    <a:lstStyle/>
                    <a:p>
                      <a:pPr algn="l" fontAlgn="base">
                        <a:lnSpc>
                          <a:spcPts val="1200"/>
                        </a:lnSpc>
                        <a:buNone/>
                      </a:pPr>
                      <a:r>
                        <a:rPr lang="en-US" sz="1100" b="1" i="0">
                          <a:solidFill>
                            <a:srgbClr val="000000"/>
                          </a:solidFill>
                          <a:effectLst/>
                          <a:latin typeface="NVIDIA Sans"/>
                        </a:rPr>
                        <a:t>DAN</a:t>
                      </a:r>
                      <a:endParaRPr lang="en-US" sz="1100" b="1"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tc>
                  <a:txBody>
                    <a:bodyPr/>
                    <a:lstStyle/>
                    <a:p>
                      <a:pPr algn="l" fontAlgn="base">
                        <a:lnSpc>
                          <a:spcPts val="1200"/>
                        </a:lnSpc>
                        <a:buNone/>
                      </a:pPr>
                      <a:r>
                        <a:rPr lang="en-US" sz="1100" b="0" i="0">
                          <a:solidFill>
                            <a:srgbClr val="000000"/>
                          </a:solidFill>
                          <a:effectLst/>
                          <a:latin typeface="NVIDIA Sans"/>
                        </a:rPr>
                        <a:t>Jailbreaks shown to be effective in the wild</a:t>
                      </a:r>
                      <a:endParaRPr lang="en-US" sz="1100" b="0"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496820432"/>
                  </a:ext>
                </a:extLst>
              </a:tr>
              <a:tr h="325200">
                <a:tc>
                  <a:txBody>
                    <a:bodyPr/>
                    <a:lstStyle/>
                    <a:p>
                      <a:pPr algn="l" fontAlgn="base">
                        <a:lnSpc>
                          <a:spcPts val="1200"/>
                        </a:lnSpc>
                        <a:buNone/>
                      </a:pPr>
                      <a:r>
                        <a:rPr lang="en-US" sz="1100" b="1" i="0">
                          <a:solidFill>
                            <a:srgbClr val="000000"/>
                          </a:solidFill>
                          <a:effectLst/>
                          <a:latin typeface="NVIDIA Sans"/>
                        </a:rPr>
                        <a:t>Exploitation</a:t>
                      </a:r>
                      <a:endParaRPr lang="en-US" sz="1100" b="1"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tc>
                  <a:txBody>
                    <a:bodyPr/>
                    <a:lstStyle/>
                    <a:p>
                      <a:pPr algn="l" fontAlgn="base">
                        <a:lnSpc>
                          <a:spcPts val="1200"/>
                        </a:lnSpc>
                        <a:buNone/>
                      </a:pPr>
                      <a:r>
                        <a:rPr lang="en-US" sz="1100" b="0" i="0">
                          <a:solidFill>
                            <a:srgbClr val="000000"/>
                          </a:solidFill>
                          <a:effectLst/>
                          <a:latin typeface="NVIDIA Sans"/>
                        </a:rPr>
                        <a:t>Generate SQL injection or malicious Jinja templates</a:t>
                      </a:r>
                      <a:endParaRPr lang="en-US" sz="1100" b="0"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227585012"/>
                  </a:ext>
                </a:extLst>
              </a:tr>
              <a:tr h="469734">
                <a:tc>
                  <a:txBody>
                    <a:bodyPr/>
                    <a:lstStyle/>
                    <a:p>
                      <a:pPr algn="l" fontAlgn="base">
                        <a:lnSpc>
                          <a:spcPts val="1200"/>
                        </a:lnSpc>
                        <a:buNone/>
                      </a:pPr>
                      <a:r>
                        <a:rPr lang="en-US" sz="1100" b="1" i="0">
                          <a:solidFill>
                            <a:srgbClr val="000000"/>
                          </a:solidFill>
                          <a:effectLst/>
                          <a:latin typeface="NVIDIA Sans"/>
                        </a:rPr>
                        <a:t>Grandma</a:t>
                      </a:r>
                      <a:endParaRPr lang="en-US" sz="1100" b="1"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tc>
                  <a:txBody>
                    <a:bodyPr/>
                    <a:lstStyle/>
                    <a:p>
                      <a:pPr algn="l" fontAlgn="base">
                        <a:lnSpc>
                          <a:spcPts val="1200"/>
                        </a:lnSpc>
                        <a:buNone/>
                      </a:pPr>
                      <a:r>
                        <a:rPr lang="en-US" sz="1100" b="0" i="0">
                          <a:solidFill>
                            <a:srgbClr val="000000"/>
                          </a:solidFill>
                          <a:effectLst/>
                          <a:latin typeface="NVIDIA Sans"/>
                        </a:rPr>
                        <a:t>Jailbreaks like “Pretend you’re my grandma who used to tell me stories about &lt;X&gt;”</a:t>
                      </a:r>
                      <a:endParaRPr lang="en-US" sz="1100" b="0"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37512472"/>
                  </a:ext>
                </a:extLst>
              </a:tr>
              <a:tr h="325200">
                <a:tc>
                  <a:txBody>
                    <a:bodyPr/>
                    <a:lstStyle/>
                    <a:p>
                      <a:pPr algn="l" fontAlgn="base">
                        <a:lnSpc>
                          <a:spcPts val="1200"/>
                        </a:lnSpc>
                        <a:buNone/>
                      </a:pPr>
                      <a:r>
                        <a:rPr lang="en-US" sz="1100" b="1" i="0">
                          <a:solidFill>
                            <a:srgbClr val="000000"/>
                          </a:solidFill>
                          <a:effectLst/>
                          <a:latin typeface="NVIDIA Sans"/>
                        </a:rPr>
                        <a:t>Leak Replay</a:t>
                      </a:r>
                      <a:endParaRPr lang="en-US" sz="1100" b="1"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tc>
                  <a:txBody>
                    <a:bodyPr/>
                    <a:lstStyle/>
                    <a:p>
                      <a:pPr algn="l" fontAlgn="base">
                        <a:lnSpc>
                          <a:spcPts val="1200"/>
                        </a:lnSpc>
                        <a:buNone/>
                      </a:pPr>
                      <a:r>
                        <a:rPr lang="en-US" sz="1100" b="0" i="0">
                          <a:solidFill>
                            <a:srgbClr val="000000"/>
                          </a:solidFill>
                          <a:effectLst/>
                          <a:latin typeface="NVIDIA Sans"/>
                        </a:rPr>
                        <a:t>Targeted Copyright data reproduction</a:t>
                      </a:r>
                      <a:endParaRPr lang="en-US" sz="1100" b="0" i="0">
                        <a:solidFill>
                          <a:srgbClr val="FFFFFF"/>
                        </a:solidFill>
                        <a:effectLst/>
                        <a:latin typeface="NVIDIA Sans"/>
                      </a:endParaRPr>
                    </a:p>
                  </a:txBody>
                  <a:tcPr marL="95250" marR="95250" marT="95250" marB="95250" anchor="ctr">
                    <a:lnL w="11916" cap="flat" cmpd="sng" algn="ctr">
                      <a:solidFill>
                        <a:srgbClr val="9E9E9E"/>
                      </a:solidFill>
                      <a:prstDash val="solid"/>
                      <a:round/>
                      <a:headEnd type="none" w="med" len="med"/>
                      <a:tailEnd type="none" w="med" len="med"/>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883908555"/>
                  </a:ext>
                </a:extLst>
              </a:tr>
              <a:tr h="469734">
                <a:tc>
                  <a:txBody>
                    <a:bodyPr/>
                    <a:lstStyle/>
                    <a:p>
                      <a:pPr lvl="0" algn="l">
                        <a:lnSpc>
                          <a:spcPts val="1200"/>
                        </a:lnSpc>
                        <a:buNone/>
                      </a:pPr>
                      <a:r>
                        <a:rPr lang="en-US" sz="1100" b="1" i="0" u="none" strike="noStrike" noProof="0">
                          <a:solidFill>
                            <a:srgbClr val="000000"/>
                          </a:solidFill>
                          <a:effectLst/>
                          <a:latin typeface="NVIDIA Sans"/>
                        </a:rPr>
                        <a:t>Malware Gen</a:t>
                      </a:r>
                      <a:endParaRPr lang="en-US"/>
                    </a:p>
                  </a:txBody>
                  <a:tcPr marL="95249" marR="95249" marT="95249" marB="95249" anchor="ctr">
                    <a:lnL w="11916">
                      <a:solidFill>
                        <a:srgbClr val="9E9E9E"/>
                      </a:solidFill>
                    </a:lnL>
                    <a:lnR w="11916">
                      <a:solidFill>
                        <a:srgbClr val="9E9E9E"/>
                      </a:solidFill>
                    </a:lnR>
                    <a:lnT w="11916">
                      <a:solidFill>
                        <a:srgbClr val="9E9E9E"/>
                      </a:solidFill>
                    </a:lnT>
                    <a:lnB w="11916">
                      <a:solidFill>
                        <a:srgbClr val="9E9E9E"/>
                      </a:solidFill>
                    </a:lnB>
                    <a:noFill/>
                  </a:tcPr>
                </a:tc>
                <a:tc>
                  <a:txBody>
                    <a:bodyPr/>
                    <a:lstStyle/>
                    <a:p>
                      <a:pPr lvl="0" algn="l">
                        <a:lnSpc>
                          <a:spcPts val="1200"/>
                        </a:lnSpc>
                        <a:buNone/>
                      </a:pPr>
                      <a:r>
                        <a:rPr lang="en-US" sz="1100" b="0" i="0" u="none" strike="noStrike" noProof="0">
                          <a:solidFill>
                            <a:srgbClr val="000000"/>
                          </a:solidFill>
                          <a:effectLst/>
                          <a:latin typeface="NVIDIA Sans"/>
                        </a:rPr>
                        <a:t>Generate malware, malware components, or other tools that disrupt a device </a:t>
                      </a:r>
                      <a:endParaRPr lang="en-US"/>
                    </a:p>
                  </a:txBody>
                  <a:tcPr marL="95249" marR="95249" marT="95249" marB="95249" anchor="ctr">
                    <a:lnL w="11916">
                      <a:solidFill>
                        <a:srgbClr val="9E9E9E"/>
                      </a:solidFill>
                    </a:lnL>
                    <a:lnR w="11916">
                      <a:solidFill>
                        <a:srgbClr val="9E9E9E"/>
                      </a:solidFill>
                    </a:lnR>
                    <a:lnT w="11916">
                      <a:solidFill>
                        <a:srgbClr val="9E9E9E"/>
                      </a:solidFill>
                    </a:lnT>
                    <a:lnB w="11916">
                      <a:solidFill>
                        <a:srgbClr val="9E9E9E"/>
                      </a:solidFill>
                    </a:lnB>
                    <a:noFill/>
                  </a:tcPr>
                </a:tc>
                <a:extLst>
                  <a:ext uri="{0D108BD9-81ED-4DB2-BD59-A6C34878D82A}">
                    <a16:rowId xmlns:a16="http://schemas.microsoft.com/office/drawing/2014/main" val="586527589"/>
                  </a:ext>
                </a:extLst>
              </a:tr>
              <a:tr h="421556">
                <a:tc>
                  <a:txBody>
                    <a:bodyPr/>
                    <a:lstStyle/>
                    <a:p>
                      <a:pPr lvl="0" algn="l">
                        <a:lnSpc>
                          <a:spcPts val="1200"/>
                        </a:lnSpc>
                        <a:buNone/>
                      </a:pPr>
                      <a:r>
                        <a:rPr lang="en-US" sz="1100" b="1" i="0" u="none" strike="noStrike" noProof="0">
                          <a:solidFill>
                            <a:srgbClr val="000000"/>
                          </a:solidFill>
                          <a:effectLst/>
                          <a:latin typeface="NVIDIA Sans"/>
                        </a:rPr>
                        <a:t>Web Injection</a:t>
                      </a:r>
                      <a:endParaRPr lang="en-US"/>
                    </a:p>
                  </a:txBody>
                  <a:tcPr marL="95249" marR="95249" marT="95249" marB="95249" anchor="ctr">
                    <a:lnL w="11916">
                      <a:solidFill>
                        <a:srgbClr val="9E9E9E"/>
                      </a:solidFill>
                    </a:lnL>
                    <a:lnR w="11916" cap="flat" cmpd="sng" algn="ctr">
                      <a:solidFill>
                        <a:srgbClr val="9E9E9E"/>
                      </a:solidFill>
                      <a:prstDash val="solid"/>
                      <a:round/>
                      <a:headEnd type="none" w="med" len="med"/>
                      <a:tailEnd type="none" w="med" len="med"/>
                    </a:lnR>
                    <a:lnT w="11916" cap="flat" cmpd="sng" algn="ctr">
                      <a:solidFill>
                        <a:srgbClr val="9E9E9E"/>
                      </a:solidFill>
                      <a:prstDash val="solid"/>
                      <a:round/>
                      <a:headEnd type="none" w="med" len="med"/>
                      <a:tailEnd type="none" w="med" len="med"/>
                    </a:lnT>
                    <a:lnB w="11916">
                      <a:solidFill>
                        <a:srgbClr val="9E9E9E"/>
                      </a:solidFill>
                    </a:lnB>
                    <a:noFill/>
                  </a:tcPr>
                </a:tc>
                <a:tc>
                  <a:txBody>
                    <a:bodyPr/>
                    <a:lstStyle/>
                    <a:p>
                      <a:pPr lvl="0" algn="l">
                        <a:lnSpc>
                          <a:spcPts val="1200"/>
                        </a:lnSpc>
                        <a:buNone/>
                      </a:pPr>
                      <a:r>
                        <a:rPr lang="en-US" sz="1100" b="0" i="0" u="none" strike="noStrike" noProof="0">
                          <a:solidFill>
                            <a:srgbClr val="000000"/>
                          </a:solidFill>
                          <a:effectLst/>
                          <a:latin typeface="NVIDIA Sans"/>
                        </a:rPr>
                        <a:t>Permit or enact cross-site attacks, such as private data exfiltration </a:t>
                      </a:r>
                      <a:endParaRPr lang="en-US"/>
                    </a:p>
                  </a:txBody>
                  <a:tcPr marL="95249" marR="95249" marT="95249" marB="95249" anchor="ctr">
                    <a:lnL w="11916" cap="flat" cmpd="sng" algn="ctr">
                      <a:solidFill>
                        <a:srgbClr val="9E9E9E"/>
                      </a:solidFill>
                      <a:prstDash val="solid"/>
                      <a:round/>
                      <a:headEnd type="none" w="med" len="med"/>
                      <a:tailEnd type="none" w="med" len="med"/>
                    </a:lnL>
                    <a:lnR w="11916">
                      <a:solidFill>
                        <a:srgbClr val="9E9E9E"/>
                      </a:solidFill>
                    </a:lnR>
                    <a:lnT w="11916" cap="flat" cmpd="sng" algn="ctr">
                      <a:solidFill>
                        <a:srgbClr val="9E9E9E"/>
                      </a:solidFill>
                      <a:prstDash val="solid"/>
                      <a:round/>
                      <a:headEnd type="none" w="med" len="med"/>
                      <a:tailEnd type="none" w="med" len="med"/>
                    </a:lnT>
                    <a:lnB w="11916">
                      <a:solidFill>
                        <a:srgbClr val="9E9E9E"/>
                      </a:solidFill>
                    </a:lnB>
                    <a:noFill/>
                  </a:tcPr>
                </a:tc>
                <a:extLst>
                  <a:ext uri="{0D108BD9-81ED-4DB2-BD59-A6C34878D82A}">
                    <a16:rowId xmlns:a16="http://schemas.microsoft.com/office/drawing/2014/main" val="2607451114"/>
                  </a:ext>
                </a:extLst>
              </a:tr>
              <a:tr h="626311">
                <a:tc>
                  <a:txBody>
                    <a:bodyPr/>
                    <a:lstStyle/>
                    <a:p>
                      <a:pPr lvl="0" algn="l">
                        <a:lnSpc>
                          <a:spcPct val="100000"/>
                        </a:lnSpc>
                        <a:spcBef>
                          <a:spcPts val="0"/>
                        </a:spcBef>
                        <a:spcAft>
                          <a:spcPts val="0"/>
                        </a:spcAft>
                        <a:buNone/>
                      </a:pPr>
                      <a:r>
                        <a:rPr lang="en-US" sz="1100" b="1" i="0" u="none" strike="noStrike" noProof="0">
                          <a:solidFill>
                            <a:srgbClr val="000000"/>
                          </a:solidFill>
                          <a:effectLst/>
                          <a:latin typeface="NVIDIA Sans"/>
                        </a:rPr>
                        <a:t>Package Hallucination</a:t>
                      </a:r>
                      <a:endParaRPr lang="en-US" sz="1100" b="0" i="0" u="none" strike="noStrike" noProof="0">
                        <a:solidFill>
                          <a:srgbClr val="FFFFFF"/>
                        </a:solidFill>
                        <a:effectLst/>
                        <a:latin typeface="NVIDIA Sans"/>
                      </a:endParaRPr>
                    </a:p>
                    <a:p>
                      <a:pPr lvl="0" algn="l">
                        <a:lnSpc>
                          <a:spcPts val="1200"/>
                        </a:lnSpc>
                        <a:buNone/>
                      </a:pPr>
                      <a:endParaRPr lang="en-US" sz="1100" b="0" i="0" u="none" strike="noStrike" noProof="0">
                        <a:solidFill>
                          <a:srgbClr val="FFFFFF"/>
                        </a:solidFill>
                        <a:effectLst/>
                        <a:latin typeface="NVIDIA Sans"/>
                      </a:endParaRPr>
                    </a:p>
                    <a:p>
                      <a:pPr lvl="0" algn="l">
                        <a:lnSpc>
                          <a:spcPts val="1200"/>
                        </a:lnSpc>
                        <a:buNone/>
                      </a:pPr>
                      <a:endParaRPr lang="en-US" sz="1100" b="1" i="0">
                        <a:solidFill>
                          <a:srgbClr val="000000"/>
                        </a:solidFill>
                        <a:effectLst/>
                        <a:latin typeface="NVIDIA Sans"/>
                      </a:endParaRPr>
                    </a:p>
                  </a:txBody>
                  <a:tcPr marL="95249" marR="95249" marT="95249" marB="95249" anchor="ctr">
                    <a:lnL w="11916">
                      <a:solidFill>
                        <a:srgbClr val="9E9E9E"/>
                      </a:solidFill>
                    </a:lnL>
                    <a:lnR w="11916">
                      <a:solidFill>
                        <a:srgbClr val="9E9E9E"/>
                      </a:solidFill>
                    </a:lnR>
                    <a:lnT w="11916">
                      <a:solidFill>
                        <a:srgbClr val="9E9E9E"/>
                      </a:solidFill>
                    </a:lnT>
                    <a:lnB w="11916">
                      <a:solidFill>
                        <a:srgbClr val="9E9E9E"/>
                      </a:solidFill>
                    </a:lnB>
                    <a:noFill/>
                  </a:tcPr>
                </a:tc>
                <a:tc>
                  <a:txBody>
                    <a:bodyPr/>
                    <a:lstStyle/>
                    <a:p>
                      <a:pPr lvl="0" algn="l">
                        <a:lnSpc>
                          <a:spcPts val="1200"/>
                        </a:lnSpc>
                        <a:buNone/>
                      </a:pPr>
                      <a:r>
                        <a:rPr lang="en-US" sz="1100" b="0" i="0" u="none" strike="noStrike" noProof="0">
                          <a:solidFill>
                            <a:srgbClr val="000000"/>
                          </a:solidFill>
                          <a:effectLst/>
                          <a:latin typeface="NVIDIA Sans"/>
                        </a:rPr>
                        <a:t>Code generations that specify non-existent, and therefore, insecure packages</a:t>
                      </a:r>
                      <a:endParaRPr lang="en-US"/>
                    </a:p>
                  </a:txBody>
                  <a:tcPr marL="95249" marR="95249" marT="95249" marB="95249" anchor="ctr">
                    <a:lnL w="11916">
                      <a:solidFill>
                        <a:srgbClr val="9E9E9E"/>
                      </a:solidFill>
                    </a:lnL>
                    <a:lnR w="11916">
                      <a:solidFill>
                        <a:srgbClr val="9E9E9E"/>
                      </a:solidFill>
                    </a:lnR>
                    <a:lnT w="11916">
                      <a:solidFill>
                        <a:srgbClr val="9E9E9E"/>
                      </a:solidFill>
                    </a:lnT>
                    <a:lnB w="11916">
                      <a:solidFill>
                        <a:srgbClr val="9E9E9E"/>
                      </a:solidFill>
                    </a:lnB>
                    <a:noFill/>
                  </a:tcPr>
                </a:tc>
                <a:extLst>
                  <a:ext uri="{0D108BD9-81ED-4DB2-BD59-A6C34878D82A}">
                    <a16:rowId xmlns:a16="http://schemas.microsoft.com/office/drawing/2014/main" val="2322434140"/>
                  </a:ext>
                </a:extLst>
              </a:tr>
            </a:tbl>
          </a:graphicData>
        </a:graphic>
      </p:graphicFrame>
      <p:sp>
        <p:nvSpPr>
          <p:cNvPr id="8" name="Google Shape;3674;p382">
            <a:extLst>
              <a:ext uri="{FF2B5EF4-FFF2-40B4-BE49-F238E27FC236}">
                <a16:creationId xmlns:a16="http://schemas.microsoft.com/office/drawing/2014/main" id="{A9C471A0-12A1-CFEB-22B5-556D3873293B}"/>
              </a:ext>
            </a:extLst>
          </p:cNvPr>
          <p:cNvSpPr/>
          <p:nvPr/>
        </p:nvSpPr>
        <p:spPr>
          <a:xfrm>
            <a:off x="825889" y="1605775"/>
            <a:ext cx="4044857" cy="4217398"/>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10" name="Google Shape;3674;p382">
            <a:extLst>
              <a:ext uri="{FF2B5EF4-FFF2-40B4-BE49-F238E27FC236}">
                <a16:creationId xmlns:a16="http://schemas.microsoft.com/office/drawing/2014/main" id="{3E711EB5-CFFA-E9EC-BB2C-35628E90A33C}"/>
              </a:ext>
            </a:extLst>
          </p:cNvPr>
          <p:cNvSpPr/>
          <p:nvPr/>
        </p:nvSpPr>
        <p:spPr>
          <a:xfrm>
            <a:off x="5042689" y="1607499"/>
            <a:ext cx="6806128" cy="4217398"/>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3" name="Content Placeholder 3">
            <a:extLst>
              <a:ext uri="{FF2B5EF4-FFF2-40B4-BE49-F238E27FC236}">
                <a16:creationId xmlns:a16="http://schemas.microsoft.com/office/drawing/2014/main" id="{7A5FB7CF-8EC3-1BA8-6844-00A63BDD5023}"/>
              </a:ext>
            </a:extLst>
          </p:cNvPr>
          <p:cNvSpPr txBox="1">
            <a:spLocks/>
          </p:cNvSpPr>
          <p:nvPr/>
        </p:nvSpPr>
        <p:spPr>
          <a:xfrm>
            <a:off x="975242" y="4025781"/>
            <a:ext cx="3867125" cy="1692172"/>
          </a:xfrm>
          <a:prstGeom prst="rect">
            <a:avLst/>
          </a:prstGeom>
          <a:noFill/>
          <a:ln>
            <a:noFill/>
          </a:ln>
        </p:spPr>
        <p:txBody>
          <a:bodyPr spcFirstLastPara="1" wrap="square" lIns="91440" tIns="45720" rIns="91440" bIns="45720" anchor="t" anchorCtr="0">
            <a:noAutofit/>
          </a:bodyPr>
          <a:lstStyle>
            <a:defPPr marR="0" lvl="0" algn="l" rtl="0">
              <a:lnSpc>
                <a:spcPct val="100000"/>
              </a:lnSpc>
              <a:spcBef>
                <a:spcPts val="0"/>
              </a:spcBef>
              <a:spcAft>
                <a:spcPts val="0"/>
              </a:spcAft>
              <a:defRPr lang="en-US"/>
            </a:defPPr>
            <a:lvl1pPr marL="609585" marR="0" lvl="0" indent="-304792" algn="ctr" defTabSz="914400" rtl="0" eaLnBrk="1" latinLnBrk="0" hangingPunct="1">
              <a:lnSpc>
                <a:spcPct val="90000"/>
              </a:lnSpc>
              <a:spcBef>
                <a:spcPts val="0"/>
              </a:spcBef>
              <a:spcAft>
                <a:spcPts val="0"/>
              </a:spcAft>
              <a:buClr>
                <a:schemeClr val="dk2"/>
              </a:buClr>
              <a:buSzPts val="1200"/>
              <a:buFont typeface="NVIDIA Sans"/>
              <a:buNone/>
              <a:defRPr sz="1600" b="0" i="0" u="none" strike="noStrike" kern="1200" cap="none">
                <a:solidFill>
                  <a:schemeClr val="dk2"/>
                </a:solidFill>
                <a:latin typeface="NVIDIA Sans"/>
                <a:ea typeface="NVIDIA Sans"/>
                <a:cs typeface="NVIDIA Sans"/>
                <a:sym typeface="NVIDIA Sans"/>
              </a:defRPr>
            </a:lvl1pPr>
            <a:lvl2pPr marL="1219170" marR="0" lvl="1" indent="-304792" algn="ctr" defTabSz="914400" rtl="0" eaLnBrk="1" latinLnBrk="0" hangingPunct="1">
              <a:lnSpc>
                <a:spcPct val="90000"/>
              </a:lnSpc>
              <a:spcBef>
                <a:spcPts val="533"/>
              </a:spcBef>
              <a:spcAft>
                <a:spcPts val="0"/>
              </a:spcAft>
              <a:buClr>
                <a:schemeClr val="dk1"/>
              </a:buClr>
              <a:buSzPts val="1100"/>
              <a:buFont typeface="NVIDIA Sans"/>
              <a:buNone/>
              <a:defRPr sz="1467" b="0" i="0" u="none" strike="noStrike" kern="1200" cap="none">
                <a:solidFill>
                  <a:schemeClr val="dk1"/>
                </a:solidFill>
                <a:latin typeface="NVIDIA Sans"/>
                <a:ea typeface="NVIDIA Sans"/>
                <a:cs typeface="NVIDIA Sans"/>
                <a:sym typeface="NVIDIA Sans"/>
              </a:defRPr>
            </a:lvl2pPr>
            <a:lvl3pPr marL="1828754" marR="0" lvl="2" indent="-304792" algn="ctr" defTabSz="914400" rtl="0" eaLnBrk="1" latinLnBrk="0" hangingPunct="1">
              <a:lnSpc>
                <a:spcPct val="90000"/>
              </a:lnSpc>
              <a:spcBef>
                <a:spcPts val="533"/>
              </a:spcBef>
              <a:spcAft>
                <a:spcPts val="0"/>
              </a:spcAft>
              <a:buClr>
                <a:schemeClr val="dk1"/>
              </a:buClr>
              <a:buSzPts val="1100"/>
              <a:buFont typeface="NVIDIA Sans"/>
              <a:buNone/>
              <a:defRPr sz="1467" b="0" i="0" u="none" strike="noStrike" kern="1200" cap="none">
                <a:solidFill>
                  <a:schemeClr val="dk1"/>
                </a:solidFill>
                <a:latin typeface="NVIDIA Sans"/>
                <a:ea typeface="NVIDIA Sans"/>
                <a:cs typeface="NVIDIA Sans"/>
                <a:sym typeface="NVIDIA Sans"/>
              </a:defRPr>
            </a:lvl3pPr>
            <a:lvl4pPr marL="2438339" marR="0" lvl="3" indent="-304792" algn="ctr" defTabSz="914400" rtl="0" eaLnBrk="1" latinLnBrk="0" hangingPunct="1">
              <a:lnSpc>
                <a:spcPct val="90000"/>
              </a:lnSpc>
              <a:spcBef>
                <a:spcPts val="533"/>
              </a:spcBef>
              <a:spcAft>
                <a:spcPts val="0"/>
              </a:spcAft>
              <a:buClr>
                <a:schemeClr val="dk1"/>
              </a:buClr>
              <a:buSzPts val="1100"/>
              <a:buFont typeface="NVIDIA Sans"/>
              <a:buNone/>
              <a:defRPr sz="1467" b="0" i="0" u="none" strike="noStrike" kern="1200" cap="none">
                <a:solidFill>
                  <a:schemeClr val="dk1"/>
                </a:solidFill>
                <a:latin typeface="NVIDIA Sans"/>
                <a:ea typeface="NVIDIA Sans"/>
                <a:cs typeface="NVIDIA Sans"/>
                <a:sym typeface="NVIDIA Sans"/>
              </a:defRPr>
            </a:lvl4pPr>
            <a:lvl5pPr marL="3047924" marR="0" lvl="4" indent="-304792" algn="ctr" defTabSz="914400" rtl="0" eaLnBrk="1" latinLnBrk="0" hangingPunct="1">
              <a:lnSpc>
                <a:spcPct val="90000"/>
              </a:lnSpc>
              <a:spcBef>
                <a:spcPts val="533"/>
              </a:spcBef>
              <a:spcAft>
                <a:spcPts val="0"/>
              </a:spcAft>
              <a:buClr>
                <a:schemeClr val="dk1"/>
              </a:buClr>
              <a:buSzPts val="1100"/>
              <a:buFont typeface="NVIDIA Sans"/>
              <a:buNone/>
              <a:defRPr sz="1467" b="0" i="0" u="none" strike="noStrike" kern="1200" cap="none">
                <a:solidFill>
                  <a:schemeClr val="dk1"/>
                </a:solidFill>
                <a:latin typeface="NVIDIA Sans"/>
                <a:ea typeface="NVIDIA Sans"/>
                <a:cs typeface="NVIDIA Sans"/>
                <a:sym typeface="NVIDIA Sans"/>
              </a:defRPr>
            </a:lvl5pPr>
            <a:lvl6pPr marL="3657509" marR="0" lvl="5" indent="-423323" algn="l" defTabSz="914400" rtl="0" eaLnBrk="1" latinLnBrk="0" hangingPunct="1">
              <a:lnSpc>
                <a:spcPct val="90000"/>
              </a:lnSpc>
              <a:spcBef>
                <a:spcPts val="533"/>
              </a:spcBef>
              <a:spcAft>
                <a:spcPts val="0"/>
              </a:spcAft>
              <a:buClr>
                <a:schemeClr val="dk1"/>
              </a:buClr>
              <a:buSzPts val="1400"/>
              <a:buFont typeface="NVIDIA Sans"/>
              <a:buChar char="•"/>
              <a:defRPr sz="1867" b="0" i="0" u="none" strike="noStrike" kern="1200" cap="none">
                <a:solidFill>
                  <a:schemeClr val="dk1"/>
                </a:solidFill>
                <a:latin typeface="NVIDIA Sans"/>
                <a:ea typeface="NVIDIA Sans"/>
                <a:cs typeface="NVIDIA Sans"/>
                <a:sym typeface="NVIDIA Sans"/>
              </a:defRPr>
            </a:lvl6pPr>
            <a:lvl7pPr marL="4267093" marR="0" lvl="6" indent="-423323" algn="l" defTabSz="914400" rtl="0" eaLnBrk="1" latinLnBrk="0" hangingPunct="1">
              <a:lnSpc>
                <a:spcPct val="90000"/>
              </a:lnSpc>
              <a:spcBef>
                <a:spcPts val="533"/>
              </a:spcBef>
              <a:spcAft>
                <a:spcPts val="0"/>
              </a:spcAft>
              <a:buClr>
                <a:schemeClr val="dk1"/>
              </a:buClr>
              <a:buSzPts val="1400"/>
              <a:buFont typeface="NVIDIA Sans"/>
              <a:buChar char="•"/>
              <a:defRPr sz="1867" b="0" i="0" u="none" strike="noStrike" kern="1200" cap="none">
                <a:solidFill>
                  <a:schemeClr val="dk1"/>
                </a:solidFill>
                <a:latin typeface="NVIDIA Sans"/>
                <a:ea typeface="NVIDIA Sans"/>
                <a:cs typeface="NVIDIA Sans"/>
                <a:sym typeface="NVIDIA Sans"/>
              </a:defRPr>
            </a:lvl7pPr>
            <a:lvl8pPr marL="4876678" marR="0" lvl="7" indent="-423323" algn="l" defTabSz="914400" rtl="0" eaLnBrk="1" latinLnBrk="0" hangingPunct="1">
              <a:lnSpc>
                <a:spcPct val="90000"/>
              </a:lnSpc>
              <a:spcBef>
                <a:spcPts val="533"/>
              </a:spcBef>
              <a:spcAft>
                <a:spcPts val="0"/>
              </a:spcAft>
              <a:buClr>
                <a:schemeClr val="dk1"/>
              </a:buClr>
              <a:buSzPts val="1400"/>
              <a:buFont typeface="NVIDIA Sans"/>
              <a:buChar char="•"/>
              <a:defRPr sz="1867" b="0" i="0" u="none" strike="noStrike" kern="1200" cap="none">
                <a:solidFill>
                  <a:schemeClr val="dk1"/>
                </a:solidFill>
                <a:latin typeface="NVIDIA Sans"/>
                <a:ea typeface="NVIDIA Sans"/>
                <a:cs typeface="NVIDIA Sans"/>
                <a:sym typeface="NVIDIA Sans"/>
              </a:defRPr>
            </a:lvl8pPr>
            <a:lvl9pPr marL="5486263" marR="0" lvl="8" indent="-423323" algn="l" defTabSz="914400" rtl="0" eaLnBrk="1" latinLnBrk="0" hangingPunct="1">
              <a:lnSpc>
                <a:spcPct val="90000"/>
              </a:lnSpc>
              <a:spcBef>
                <a:spcPts val="533"/>
              </a:spcBef>
              <a:spcAft>
                <a:spcPts val="0"/>
              </a:spcAft>
              <a:buClr>
                <a:schemeClr val="dk1"/>
              </a:buClr>
              <a:buSzPts val="1400"/>
              <a:buFont typeface="NVIDIA Sans"/>
              <a:buChar char="•"/>
              <a:defRPr sz="1867" b="0" i="0" u="none" strike="noStrike" kern="1200" cap="none">
                <a:solidFill>
                  <a:schemeClr val="dk1"/>
                </a:solidFill>
                <a:latin typeface="NVIDIA Sans"/>
                <a:ea typeface="NVIDIA Sans"/>
                <a:cs typeface="NVIDIA Sans"/>
                <a:sym typeface="NVIDIA Sans"/>
              </a:defRPr>
            </a:lvl9pPr>
          </a:lstStyle>
          <a:p>
            <a:pPr marL="151765" indent="-151765" algn="l"/>
            <a:r>
              <a:rPr lang="en-US" b="1" kern="0">
                <a:solidFill>
                  <a:schemeClr val="tx2"/>
                </a:solidFill>
              </a:rPr>
              <a:t>A Typical Auditor Workflow</a:t>
            </a:r>
            <a:endParaRPr lang="en-US" kern="0">
              <a:solidFill>
                <a:schemeClr val="tx2"/>
              </a:solidFill>
            </a:endParaRPr>
          </a:p>
          <a:p>
            <a:pPr marL="151765" indent="-151765" algn="l"/>
            <a:endParaRPr lang="en-US" sz="800" b="1" kern="0">
              <a:solidFill>
                <a:schemeClr val="tx2"/>
              </a:solidFill>
            </a:endParaRPr>
          </a:p>
          <a:p>
            <a:pPr marL="342900" indent="-342900" algn="l">
              <a:lnSpc>
                <a:spcPct val="100000"/>
              </a:lnSpc>
              <a:buClr>
                <a:srgbClr val="76B900"/>
              </a:buClr>
              <a:buSzPts val="1200"/>
              <a:buAutoNum type="arabicPeriod"/>
            </a:pPr>
            <a:r>
              <a:rPr lang="en" sz="1200" kern="0">
                <a:solidFill>
                  <a:schemeClr val="lt1"/>
                </a:solidFill>
              </a:rPr>
              <a:t>Create an audit </a:t>
            </a:r>
            <a:r>
              <a:rPr lang="en" sz="1200" b="1" kern="0">
                <a:solidFill>
                  <a:schemeClr val="lt1"/>
                </a:solidFill>
              </a:rPr>
              <a:t>target </a:t>
            </a:r>
            <a:r>
              <a:rPr lang="en" sz="1200" kern="0">
                <a:solidFill>
                  <a:schemeClr val="lt1"/>
                </a:solidFill>
              </a:rPr>
              <a:t>for a base model.</a:t>
            </a:r>
          </a:p>
          <a:p>
            <a:pPr marL="342900" indent="-342900" algn="l">
              <a:lnSpc>
                <a:spcPct val="100000"/>
              </a:lnSpc>
              <a:buClr>
                <a:srgbClr val="76B900"/>
              </a:buClr>
              <a:buSzPts val="1200"/>
              <a:buAutoNum type="arabicPeriod"/>
            </a:pPr>
            <a:r>
              <a:rPr lang="en" sz="1200" kern="0">
                <a:solidFill>
                  <a:schemeClr val="lt1"/>
                </a:solidFill>
              </a:rPr>
              <a:t>Create an audit </a:t>
            </a:r>
            <a:r>
              <a:rPr lang="en" sz="1200" b="1" kern="0">
                <a:solidFill>
                  <a:schemeClr val="lt1"/>
                </a:solidFill>
              </a:rPr>
              <a:t>configuration</a:t>
            </a:r>
            <a:r>
              <a:rPr lang="en" sz="1200" kern="0">
                <a:solidFill>
                  <a:schemeClr val="lt1"/>
                </a:solidFill>
              </a:rPr>
              <a:t>.</a:t>
            </a:r>
          </a:p>
          <a:p>
            <a:pPr marL="342900" indent="-342900" algn="l">
              <a:lnSpc>
                <a:spcPct val="100000"/>
              </a:lnSpc>
              <a:buClr>
                <a:srgbClr val="76B900"/>
              </a:buClr>
              <a:buSzPts val="1200"/>
              <a:buAutoNum type="arabicPeriod"/>
            </a:pPr>
            <a:r>
              <a:rPr lang="en" sz="1200" kern="0">
                <a:solidFill>
                  <a:schemeClr val="lt1"/>
                </a:solidFill>
              </a:rPr>
              <a:t>Run an audit </a:t>
            </a:r>
            <a:r>
              <a:rPr lang="en" sz="1200" b="1" kern="0">
                <a:solidFill>
                  <a:schemeClr val="lt1"/>
                </a:solidFill>
              </a:rPr>
              <a:t>job</a:t>
            </a:r>
            <a:r>
              <a:rPr lang="en" sz="1200" kern="0">
                <a:solidFill>
                  <a:schemeClr val="lt1"/>
                </a:solidFill>
              </a:rPr>
              <a:t>.</a:t>
            </a:r>
          </a:p>
          <a:p>
            <a:pPr marL="342900" indent="-342900" algn="l">
              <a:lnSpc>
                <a:spcPct val="100000"/>
              </a:lnSpc>
              <a:buClr>
                <a:srgbClr val="76B900"/>
              </a:buClr>
              <a:buSzPts val="1200"/>
              <a:buAutoNum type="arabicPeriod"/>
            </a:pPr>
            <a:r>
              <a:rPr lang="en" sz="1200" kern="0">
                <a:solidFill>
                  <a:schemeClr val="lt1"/>
                </a:solidFill>
              </a:rPr>
              <a:t>View the audit </a:t>
            </a:r>
            <a:r>
              <a:rPr lang="en" sz="1200" b="1" kern="0">
                <a:solidFill>
                  <a:schemeClr val="lt1"/>
                </a:solidFill>
              </a:rPr>
              <a:t>results</a:t>
            </a:r>
            <a:r>
              <a:rPr lang="en" sz="1200" kern="0">
                <a:solidFill>
                  <a:schemeClr val="lt1"/>
                </a:solidFill>
              </a:rPr>
              <a:t>. </a:t>
            </a:r>
          </a:p>
          <a:p>
            <a:pPr marL="0" indent="0" algn="l">
              <a:lnSpc>
                <a:spcPct val="100000"/>
              </a:lnSpc>
            </a:pPr>
            <a:endParaRPr lang="en-US" sz="1300" kern="0">
              <a:solidFill>
                <a:srgbClr val="FFFFFF"/>
              </a:solidFill>
            </a:endParaRPr>
          </a:p>
          <a:p>
            <a:pPr marL="151765" indent="-151765" algn="l"/>
            <a:endParaRPr lang="en-US" kern="0">
              <a:solidFill>
                <a:srgbClr val="76B900"/>
              </a:solidFill>
            </a:endParaRPr>
          </a:p>
        </p:txBody>
      </p:sp>
    </p:spTree>
    <p:extLst>
      <p:ext uri="{BB962C8B-B14F-4D97-AF65-F5344CB8AC3E}">
        <p14:creationId xmlns:p14="http://schemas.microsoft.com/office/powerpoint/2010/main" val="11430808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E6B9-8ADB-C09C-75EA-2BADA0DA867E}"/>
            </a:ext>
          </a:extLst>
        </p:cNvPr>
        <p:cNvGrpSpPr/>
        <p:nvPr/>
      </p:nvGrpSpPr>
      <p:grpSpPr>
        <a:xfrm>
          <a:off x="0" y="0"/>
          <a:ext cx="0" cy="0"/>
          <a:chOff x="0" y="0"/>
          <a:chExt cx="0" cy="0"/>
        </a:xfrm>
      </p:grpSpPr>
      <p:sp>
        <p:nvSpPr>
          <p:cNvPr id="6" name="Google Shape;1386;p152">
            <a:extLst>
              <a:ext uri="{FF2B5EF4-FFF2-40B4-BE49-F238E27FC236}">
                <a16:creationId xmlns:a16="http://schemas.microsoft.com/office/drawing/2014/main" id="{19941EFE-76B3-B07F-59D5-CE3442B1A62C}"/>
              </a:ext>
            </a:extLst>
          </p:cNvPr>
          <p:cNvSpPr txBox="1">
            <a:spLocks noGrp="1"/>
          </p:cNvSpPr>
          <p:nvPr>
            <p:ph type="title"/>
          </p:nvPr>
        </p:nvSpPr>
        <p:spPr>
          <a:xfrm>
            <a:off x="838200" y="0"/>
            <a:ext cx="10515600" cy="838400"/>
          </a:xfrm>
          <a:prstGeom prst="rect">
            <a:avLst/>
          </a:prstGeom>
          <a:noFill/>
          <a:ln>
            <a:noFill/>
          </a:ln>
        </p:spPr>
        <p:txBody>
          <a:bodyPr spcFirstLastPara="1" wrap="square" lIns="91433" tIns="45700" rIns="91433"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90000"/>
              </a:lnSpc>
            </a:pPr>
            <a:r>
              <a:rPr lang="en-US" sz="2400" b="1">
                <a:solidFill>
                  <a:schemeClr val="lt1"/>
                </a:solidFill>
              </a:rPr>
              <a:t>Scalable, Enterprise-Grade Solution for AI Security Assessments</a:t>
            </a:r>
          </a:p>
        </p:txBody>
      </p:sp>
      <p:sp>
        <p:nvSpPr>
          <p:cNvPr id="9" name="Google Shape;1387;p152">
            <a:extLst>
              <a:ext uri="{FF2B5EF4-FFF2-40B4-BE49-F238E27FC236}">
                <a16:creationId xmlns:a16="http://schemas.microsoft.com/office/drawing/2014/main" id="{E9A4889F-46AC-A8D1-51C3-33C767E125FA}"/>
              </a:ext>
            </a:extLst>
          </p:cNvPr>
          <p:cNvSpPr txBox="1">
            <a:spLocks/>
          </p:cNvSpPr>
          <p:nvPr/>
        </p:nvSpPr>
        <p:spPr>
          <a:xfrm>
            <a:off x="736600" y="829056"/>
            <a:ext cx="10515600" cy="469600"/>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RPr/>
            </a:defPPr>
            <a:lvl1pPr marL="152370" marR="0" lvl="0"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1pPr>
            <a:lvl2pPr marL="457108" marR="0" lvl="1"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2pPr>
            <a:lvl3pPr marL="761848" marR="0" lvl="2"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3pPr>
            <a:lvl4pPr marL="1066586" marR="0" lvl="3"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4pPr>
            <a:lvl5pPr marL="1351222" marR="0" lvl="4" indent="-132265"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5pPr>
            <a:lvl6pPr marL="2514349" marR="0" lvl="5"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6pPr>
            <a:lvl7pPr marL="2971503" marR="0" lvl="6"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7pPr>
            <a:lvl8pPr marL="3428657" marR="0" lvl="7"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8pPr>
            <a:lvl9pPr marL="3885811" marR="0" lvl="8"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9pPr>
          </a:lstStyle>
          <a:p>
            <a:pPr marL="0" indent="0" algn="ctr">
              <a:lnSpc>
                <a:spcPct val="90000"/>
              </a:lnSpc>
              <a:buNone/>
            </a:pPr>
            <a:r>
              <a:rPr lang="en" sz="1600">
                <a:solidFill>
                  <a:schemeClr val="tx2"/>
                </a:solidFill>
                <a:ea typeface="+mn-ea"/>
              </a:rPr>
              <a:t>LLM Security is about making models behave how we want, and not how malicious actors want</a:t>
            </a:r>
          </a:p>
        </p:txBody>
      </p:sp>
      <p:pic>
        <p:nvPicPr>
          <p:cNvPr id="13" name="Picture 12" descr="A diagram of a software company&#10;&#10;AI-generated content may be incorrect.">
            <a:extLst>
              <a:ext uri="{FF2B5EF4-FFF2-40B4-BE49-F238E27FC236}">
                <a16:creationId xmlns:a16="http://schemas.microsoft.com/office/drawing/2014/main" id="{517DA81B-6ED6-EA1C-1285-02E4E0E772CC}"/>
              </a:ext>
            </a:extLst>
          </p:cNvPr>
          <p:cNvPicPr>
            <a:picLocks noChangeAspect="1"/>
          </p:cNvPicPr>
          <p:nvPr/>
        </p:nvPicPr>
        <p:blipFill>
          <a:blip r:embed="rId4"/>
          <a:stretch>
            <a:fillRect/>
          </a:stretch>
        </p:blipFill>
        <p:spPr>
          <a:xfrm>
            <a:off x="3280568" y="1520675"/>
            <a:ext cx="8486265" cy="4884200"/>
          </a:xfrm>
          <a:prstGeom prst="rect">
            <a:avLst/>
          </a:prstGeom>
        </p:spPr>
      </p:pic>
      <p:sp>
        <p:nvSpPr>
          <p:cNvPr id="16" name="Google Shape;3674;p382">
            <a:extLst>
              <a:ext uri="{FF2B5EF4-FFF2-40B4-BE49-F238E27FC236}">
                <a16:creationId xmlns:a16="http://schemas.microsoft.com/office/drawing/2014/main" id="{E09D904F-9DA1-A95A-D572-6C6C684C98A9}"/>
              </a:ext>
            </a:extLst>
          </p:cNvPr>
          <p:cNvSpPr/>
          <p:nvPr/>
        </p:nvSpPr>
        <p:spPr>
          <a:xfrm>
            <a:off x="882887" y="4890288"/>
            <a:ext cx="1993705" cy="1644561"/>
          </a:xfrm>
          <a:prstGeom prst="rect">
            <a:avLst/>
          </a:prstGeom>
          <a:solidFill>
            <a:schemeClr val="tx1"/>
          </a:solid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18" name="Google Shape;3674;p382">
            <a:extLst>
              <a:ext uri="{FF2B5EF4-FFF2-40B4-BE49-F238E27FC236}">
                <a16:creationId xmlns:a16="http://schemas.microsoft.com/office/drawing/2014/main" id="{D5445A21-D24A-8F63-3643-1D2C63078F5A}"/>
              </a:ext>
            </a:extLst>
          </p:cNvPr>
          <p:cNvSpPr/>
          <p:nvPr/>
        </p:nvSpPr>
        <p:spPr>
          <a:xfrm>
            <a:off x="879115" y="3097095"/>
            <a:ext cx="1982244" cy="1644561"/>
          </a:xfrm>
          <a:prstGeom prst="rect">
            <a:avLst/>
          </a:prstGeom>
          <a:solidFill>
            <a:schemeClr val="tx1"/>
          </a:solid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20" name="Google Shape;3674;p382">
            <a:extLst>
              <a:ext uri="{FF2B5EF4-FFF2-40B4-BE49-F238E27FC236}">
                <a16:creationId xmlns:a16="http://schemas.microsoft.com/office/drawing/2014/main" id="{6CFDC37B-18ED-5F11-EAF1-D758C1A214A1}"/>
              </a:ext>
            </a:extLst>
          </p:cNvPr>
          <p:cNvSpPr/>
          <p:nvPr/>
        </p:nvSpPr>
        <p:spPr>
          <a:xfrm>
            <a:off x="875566" y="1409267"/>
            <a:ext cx="1982244" cy="1552894"/>
          </a:xfrm>
          <a:prstGeom prst="rect">
            <a:avLst/>
          </a:prstGeom>
          <a:solidFill>
            <a:schemeClr val="tx1"/>
          </a:solid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22" name="Content Placeholder 3">
            <a:extLst>
              <a:ext uri="{FF2B5EF4-FFF2-40B4-BE49-F238E27FC236}">
                <a16:creationId xmlns:a16="http://schemas.microsoft.com/office/drawing/2014/main" id="{D00DE5D4-BDC4-8776-A44D-567D6E98ABFD}"/>
              </a:ext>
            </a:extLst>
          </p:cNvPr>
          <p:cNvSpPr txBox="1">
            <a:spLocks/>
          </p:cNvSpPr>
          <p:nvPr/>
        </p:nvSpPr>
        <p:spPr>
          <a:xfrm>
            <a:off x="992178" y="1952897"/>
            <a:ext cx="1785884" cy="263808"/>
          </a:xfrm>
          <a:prstGeom prst="rect">
            <a:avLst/>
          </a:prstGeom>
        </p:spPr>
        <p:txBody>
          <a:bodyPr lIns="91440" tIns="45720" rIns="91440" bIns="45720" anchor="t"/>
          <a:lstStyle>
            <a:lvl1pPr marL="152370" indent="-152370"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08" indent="-152370"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848" indent="-152370"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586" indent="-152370"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222" indent="-132265"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lgn="ctr">
              <a:buNone/>
            </a:pPr>
            <a:r>
              <a:rPr lang="en-US" sz="1600" b="1">
                <a:solidFill>
                  <a:srgbClr val="000000"/>
                </a:solidFill>
                <a:latin typeface="NVIDIA Sans"/>
                <a:cs typeface="NVIDIA Sans"/>
              </a:rPr>
              <a:t>Step 1</a:t>
            </a:r>
            <a:endParaRPr lang="en-US"/>
          </a:p>
          <a:p>
            <a:pPr marL="151765" indent="-151765" algn="ctr">
              <a:buNone/>
            </a:pPr>
            <a:endParaRPr lang="en-US" sz="1600" b="1">
              <a:solidFill>
                <a:srgbClr val="000000"/>
              </a:solidFill>
              <a:latin typeface="NVIDIA Sans"/>
              <a:cs typeface="NVIDIA Sans"/>
            </a:endParaRPr>
          </a:p>
        </p:txBody>
      </p:sp>
      <p:sp>
        <p:nvSpPr>
          <p:cNvPr id="24" name="Google Shape;3674;p382">
            <a:extLst>
              <a:ext uri="{FF2B5EF4-FFF2-40B4-BE49-F238E27FC236}">
                <a16:creationId xmlns:a16="http://schemas.microsoft.com/office/drawing/2014/main" id="{41939A5C-D6C4-5B47-B770-C857149520D5}"/>
              </a:ext>
            </a:extLst>
          </p:cNvPr>
          <p:cNvSpPr/>
          <p:nvPr/>
        </p:nvSpPr>
        <p:spPr>
          <a:xfrm>
            <a:off x="979040" y="2293996"/>
            <a:ext cx="1769300" cy="313581"/>
          </a:xfrm>
          <a:prstGeom prst="rect">
            <a:avLst/>
          </a:prstGeom>
          <a:solidFill>
            <a:schemeClr val="tx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300">
                <a:cs typeface="NVIDIA Sans"/>
              </a:rPr>
              <a:t>PROBE</a:t>
            </a:r>
            <a:endParaRPr lang="en-US"/>
          </a:p>
        </p:txBody>
      </p:sp>
      <p:sp>
        <p:nvSpPr>
          <p:cNvPr id="26" name="Google Shape;3674;p382">
            <a:extLst>
              <a:ext uri="{FF2B5EF4-FFF2-40B4-BE49-F238E27FC236}">
                <a16:creationId xmlns:a16="http://schemas.microsoft.com/office/drawing/2014/main" id="{B2DEB5CA-0901-3D68-E21B-702269EBB4D9}"/>
              </a:ext>
            </a:extLst>
          </p:cNvPr>
          <p:cNvSpPr/>
          <p:nvPr/>
        </p:nvSpPr>
        <p:spPr>
          <a:xfrm>
            <a:off x="984279" y="2608065"/>
            <a:ext cx="1769300" cy="270799"/>
          </a:xfrm>
          <a:prstGeom prst="rect">
            <a:avLst/>
          </a:prstGeom>
          <a:solidFill>
            <a:srgbClr val="DCE2E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100">
                <a:solidFill>
                  <a:srgbClr val="000000"/>
                </a:solidFill>
                <a:ea typeface="+mn-lt"/>
                <a:cs typeface="+mn-lt"/>
              </a:rPr>
              <a:t>Generate Attack Prompts </a:t>
            </a:r>
            <a:endParaRPr lang="en-US" sz="1100"/>
          </a:p>
        </p:txBody>
      </p:sp>
      <p:sp>
        <p:nvSpPr>
          <p:cNvPr id="28" name="Content Placeholder 3">
            <a:extLst>
              <a:ext uri="{FF2B5EF4-FFF2-40B4-BE49-F238E27FC236}">
                <a16:creationId xmlns:a16="http://schemas.microsoft.com/office/drawing/2014/main" id="{D7F0752C-68B6-379E-B38E-D6804CBC639D}"/>
              </a:ext>
            </a:extLst>
          </p:cNvPr>
          <p:cNvSpPr txBox="1">
            <a:spLocks/>
          </p:cNvSpPr>
          <p:nvPr/>
        </p:nvSpPr>
        <p:spPr>
          <a:xfrm>
            <a:off x="1001259" y="3742510"/>
            <a:ext cx="1771507" cy="767230"/>
          </a:xfrm>
          <a:prstGeom prst="rect">
            <a:avLst/>
          </a:prstGeom>
        </p:spPr>
        <p:txBody>
          <a:bodyPr lIns="91440" tIns="45720" rIns="91440" bIns="45720" anchor="t"/>
          <a:lstStyle>
            <a:lvl1pPr marL="152370" indent="-152370"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08" indent="-152370"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848" indent="-152370"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586" indent="-152370"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222" indent="-132265"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lgn="ctr">
              <a:buNone/>
            </a:pPr>
            <a:r>
              <a:rPr lang="en-US" sz="1600" b="1">
                <a:solidFill>
                  <a:srgbClr val="000000"/>
                </a:solidFill>
                <a:latin typeface="NVIDIA Sans"/>
                <a:cs typeface="NVIDIA Sans"/>
              </a:rPr>
              <a:t>Step 2</a:t>
            </a:r>
            <a:endParaRPr lang="en-US">
              <a:solidFill>
                <a:srgbClr val="000000"/>
              </a:solidFill>
            </a:endParaRPr>
          </a:p>
        </p:txBody>
      </p:sp>
      <p:sp>
        <p:nvSpPr>
          <p:cNvPr id="30" name="Content Placeholder 3">
            <a:extLst>
              <a:ext uri="{FF2B5EF4-FFF2-40B4-BE49-F238E27FC236}">
                <a16:creationId xmlns:a16="http://schemas.microsoft.com/office/drawing/2014/main" id="{28726CA7-87F0-6D34-9C87-B399905EF369}"/>
              </a:ext>
            </a:extLst>
          </p:cNvPr>
          <p:cNvSpPr txBox="1">
            <a:spLocks/>
          </p:cNvSpPr>
          <p:nvPr/>
        </p:nvSpPr>
        <p:spPr>
          <a:xfrm>
            <a:off x="1016688" y="5541007"/>
            <a:ext cx="1771507" cy="767230"/>
          </a:xfrm>
          <a:prstGeom prst="rect">
            <a:avLst/>
          </a:prstGeom>
        </p:spPr>
        <p:txBody>
          <a:bodyPr lIns="91440" tIns="45720" rIns="91440" bIns="45720" anchor="t"/>
          <a:lstStyle>
            <a:lvl1pPr marL="152370" indent="-152370"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08" indent="-152370"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848" indent="-152370"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586" indent="-152370"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222" indent="-132265"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lgn="ctr">
              <a:buNone/>
            </a:pPr>
            <a:r>
              <a:rPr lang="en-US" sz="1600" b="1">
                <a:solidFill>
                  <a:srgbClr val="000000"/>
                </a:solidFill>
                <a:latin typeface="NVIDIA Sans"/>
                <a:cs typeface="NVIDIA Sans"/>
              </a:rPr>
              <a:t>Step 3</a:t>
            </a:r>
            <a:endParaRPr lang="en-US" sz="1600" b="1"/>
          </a:p>
        </p:txBody>
      </p:sp>
      <p:pic>
        <p:nvPicPr>
          <p:cNvPr id="32" name="Picture 31" descr="A green and black logo&#10;&#10;AI-generated content may be incorrect.">
            <a:extLst>
              <a:ext uri="{FF2B5EF4-FFF2-40B4-BE49-F238E27FC236}">
                <a16:creationId xmlns:a16="http://schemas.microsoft.com/office/drawing/2014/main" id="{A9F1D695-D583-9FFA-AC44-26E97755277B}"/>
              </a:ext>
            </a:extLst>
          </p:cNvPr>
          <p:cNvPicPr>
            <a:picLocks noChangeAspect="1"/>
          </p:cNvPicPr>
          <p:nvPr/>
        </p:nvPicPr>
        <p:blipFill>
          <a:blip r:embed="rId5"/>
          <a:stretch>
            <a:fillRect/>
          </a:stretch>
        </p:blipFill>
        <p:spPr>
          <a:xfrm flipH="1">
            <a:off x="1477734" y="4891636"/>
            <a:ext cx="791043" cy="785878"/>
          </a:xfrm>
          <a:prstGeom prst="rect">
            <a:avLst/>
          </a:prstGeom>
        </p:spPr>
      </p:pic>
      <p:pic>
        <p:nvPicPr>
          <p:cNvPr id="34" name="Picture 33" descr="A green and black logo&#10;&#10;AI-generated content may be incorrect.">
            <a:extLst>
              <a:ext uri="{FF2B5EF4-FFF2-40B4-BE49-F238E27FC236}">
                <a16:creationId xmlns:a16="http://schemas.microsoft.com/office/drawing/2014/main" id="{3C08B6F6-6FB9-2A60-C73E-3074F1EE8CEA}"/>
              </a:ext>
            </a:extLst>
          </p:cNvPr>
          <p:cNvPicPr>
            <a:picLocks noChangeAspect="1"/>
          </p:cNvPicPr>
          <p:nvPr/>
        </p:nvPicPr>
        <p:blipFill>
          <a:blip r:embed="rId6"/>
          <a:stretch>
            <a:fillRect/>
          </a:stretch>
        </p:blipFill>
        <p:spPr>
          <a:xfrm flipH="1">
            <a:off x="1477904" y="3094909"/>
            <a:ext cx="784586" cy="792336"/>
          </a:xfrm>
          <a:prstGeom prst="rect">
            <a:avLst/>
          </a:prstGeom>
        </p:spPr>
      </p:pic>
      <p:pic>
        <p:nvPicPr>
          <p:cNvPr id="36" name="Picture 35" descr="A green triangle with a exclamation mark&#10;&#10;AI-generated content may be incorrect.">
            <a:extLst>
              <a:ext uri="{FF2B5EF4-FFF2-40B4-BE49-F238E27FC236}">
                <a16:creationId xmlns:a16="http://schemas.microsoft.com/office/drawing/2014/main" id="{58407391-1F1C-C926-F5F9-9F70BB3E68D9}"/>
              </a:ext>
            </a:extLst>
          </p:cNvPr>
          <p:cNvPicPr>
            <a:picLocks noChangeAspect="1"/>
          </p:cNvPicPr>
          <p:nvPr/>
        </p:nvPicPr>
        <p:blipFill>
          <a:blip r:embed="rId7"/>
          <a:stretch>
            <a:fillRect/>
          </a:stretch>
        </p:blipFill>
        <p:spPr>
          <a:xfrm>
            <a:off x="1519018" y="1404465"/>
            <a:ext cx="701108" cy="681218"/>
          </a:xfrm>
          <a:prstGeom prst="rect">
            <a:avLst/>
          </a:prstGeom>
        </p:spPr>
      </p:pic>
      <p:sp>
        <p:nvSpPr>
          <p:cNvPr id="38" name="Google Shape;3674;p382">
            <a:extLst>
              <a:ext uri="{FF2B5EF4-FFF2-40B4-BE49-F238E27FC236}">
                <a16:creationId xmlns:a16="http://schemas.microsoft.com/office/drawing/2014/main" id="{36C27640-DFF5-6043-E2B1-AD6CF98310E2}"/>
              </a:ext>
            </a:extLst>
          </p:cNvPr>
          <p:cNvSpPr/>
          <p:nvPr/>
        </p:nvSpPr>
        <p:spPr>
          <a:xfrm>
            <a:off x="964368" y="4068282"/>
            <a:ext cx="1769300" cy="313580"/>
          </a:xfrm>
          <a:prstGeom prst="rect">
            <a:avLst/>
          </a:prstGeom>
          <a:solidFill>
            <a:schemeClr val="tx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300">
                <a:cs typeface="NVIDIA Sans"/>
              </a:rPr>
              <a:t>GENERATOR</a:t>
            </a:r>
            <a:endParaRPr lang="en-US"/>
          </a:p>
        </p:txBody>
      </p:sp>
      <p:sp>
        <p:nvSpPr>
          <p:cNvPr id="41" name="Google Shape;3674;p382">
            <a:extLst>
              <a:ext uri="{FF2B5EF4-FFF2-40B4-BE49-F238E27FC236}">
                <a16:creationId xmlns:a16="http://schemas.microsoft.com/office/drawing/2014/main" id="{F12A90E0-8A96-C724-414F-16396AB2AD6E}"/>
              </a:ext>
            </a:extLst>
          </p:cNvPr>
          <p:cNvSpPr/>
          <p:nvPr/>
        </p:nvSpPr>
        <p:spPr>
          <a:xfrm>
            <a:off x="963877" y="4386530"/>
            <a:ext cx="1769300" cy="270799"/>
          </a:xfrm>
          <a:prstGeom prst="rect">
            <a:avLst/>
          </a:prstGeom>
          <a:solidFill>
            <a:srgbClr val="DCE2E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100">
                <a:solidFill>
                  <a:srgbClr val="000000"/>
                </a:solidFill>
                <a:cs typeface="NVIDIA Sans"/>
              </a:rPr>
              <a:t>Execute</a:t>
            </a:r>
            <a:r>
              <a:rPr lang="en-US" sz="1100">
                <a:solidFill>
                  <a:srgbClr val="000000"/>
                </a:solidFill>
                <a:ea typeface="+mn-lt"/>
                <a:cs typeface="+mn-lt"/>
              </a:rPr>
              <a:t> Against Target </a:t>
            </a:r>
            <a:endParaRPr lang="en-US" sz="1100">
              <a:cs typeface="NVIDIA Sans"/>
            </a:endParaRPr>
          </a:p>
        </p:txBody>
      </p:sp>
      <p:sp>
        <p:nvSpPr>
          <p:cNvPr id="43" name="Google Shape;3674;p382">
            <a:extLst>
              <a:ext uri="{FF2B5EF4-FFF2-40B4-BE49-F238E27FC236}">
                <a16:creationId xmlns:a16="http://schemas.microsoft.com/office/drawing/2014/main" id="{8F34C8DA-B90B-990E-B22C-6B01F7AB47DA}"/>
              </a:ext>
            </a:extLst>
          </p:cNvPr>
          <p:cNvSpPr/>
          <p:nvPr/>
        </p:nvSpPr>
        <p:spPr>
          <a:xfrm>
            <a:off x="998335" y="5845317"/>
            <a:ext cx="1769300" cy="325040"/>
          </a:xfrm>
          <a:prstGeom prst="rect">
            <a:avLst/>
          </a:prstGeom>
          <a:solidFill>
            <a:schemeClr val="tx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300">
                <a:cs typeface="NVIDIA Sans"/>
              </a:rPr>
              <a:t>DETECTOR</a:t>
            </a:r>
            <a:endParaRPr lang="en-US"/>
          </a:p>
        </p:txBody>
      </p:sp>
      <p:sp>
        <p:nvSpPr>
          <p:cNvPr id="2" name="Google Shape;3674;p382">
            <a:extLst>
              <a:ext uri="{FF2B5EF4-FFF2-40B4-BE49-F238E27FC236}">
                <a16:creationId xmlns:a16="http://schemas.microsoft.com/office/drawing/2014/main" id="{832D2B6E-1F20-32CA-898F-4A5559AE7263}"/>
              </a:ext>
            </a:extLst>
          </p:cNvPr>
          <p:cNvSpPr/>
          <p:nvPr/>
        </p:nvSpPr>
        <p:spPr>
          <a:xfrm>
            <a:off x="1003982" y="6171214"/>
            <a:ext cx="1769300" cy="270799"/>
          </a:xfrm>
          <a:prstGeom prst="rect">
            <a:avLst/>
          </a:prstGeom>
          <a:solidFill>
            <a:srgbClr val="DCE2E2"/>
          </a:solidFill>
          <a:ln w="3175" cap="flat" cmpd="sng">
            <a:noFill/>
            <a:prstDash val="solid"/>
            <a:round/>
            <a:headEnd type="none" w="sm" len="sm"/>
            <a:tailEnd type="none" w="sm" len="sm"/>
          </a:ln>
          <a:effectLst/>
        </p:spPr>
        <p:txBody>
          <a:bodyPr spcFirstLastPara="1" wrap="square" lIns="30467" tIns="15233" rIns="30467" bIns="15233" anchor="ctr" anchorCtr="0">
            <a:noAutofit/>
          </a:bodyPr>
          <a:lstStyle/>
          <a:p>
            <a:pPr algn="ctr">
              <a:lnSpc>
                <a:spcPct val="90000"/>
              </a:lnSpc>
            </a:pPr>
            <a:r>
              <a:rPr lang="en-US" sz="1100">
                <a:solidFill>
                  <a:srgbClr val="000000"/>
                </a:solidFill>
                <a:cs typeface="NVIDIA Sans"/>
              </a:rPr>
              <a:t>Measure Resilience</a:t>
            </a:r>
            <a:endParaRPr lang="en-US"/>
          </a:p>
        </p:txBody>
      </p:sp>
    </p:spTree>
    <p:extLst>
      <p:ext uri="{BB962C8B-B14F-4D97-AF65-F5344CB8AC3E}">
        <p14:creationId xmlns:p14="http://schemas.microsoft.com/office/powerpoint/2010/main" val="112622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2950-0042-E81E-4BED-A632668CE0AC}"/>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BE1BE8BF-A2A5-B2B3-E5FE-BD61A8A43414}"/>
              </a:ext>
            </a:extLst>
          </p:cNvPr>
          <p:cNvSpPr/>
          <p:nvPr/>
        </p:nvSpPr>
        <p:spPr>
          <a:xfrm>
            <a:off x="6522755" y="3955457"/>
            <a:ext cx="3271616" cy="2395671"/>
          </a:xfrm>
          <a:prstGeom prst="roundRect">
            <a:avLst/>
          </a:prstGeom>
          <a:solidFill>
            <a:schemeClr val="tx1"/>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32" name="Oval 31">
            <a:extLst>
              <a:ext uri="{FF2B5EF4-FFF2-40B4-BE49-F238E27FC236}">
                <a16:creationId xmlns:a16="http://schemas.microsoft.com/office/drawing/2014/main" id="{411DFC05-300A-BD0E-EEB7-60F2A6BC6F99}"/>
              </a:ext>
            </a:extLst>
          </p:cNvPr>
          <p:cNvSpPr/>
          <p:nvPr/>
        </p:nvSpPr>
        <p:spPr>
          <a:xfrm>
            <a:off x="8530128" y="4602622"/>
            <a:ext cx="957128" cy="957128"/>
          </a:xfrm>
          <a:prstGeom prst="ellipse">
            <a:avLst/>
          </a:prstGeom>
          <a:solidFill>
            <a:schemeClr val="tx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12" name="Google Shape;1386;p152">
            <a:extLst>
              <a:ext uri="{FF2B5EF4-FFF2-40B4-BE49-F238E27FC236}">
                <a16:creationId xmlns:a16="http://schemas.microsoft.com/office/drawing/2014/main" id="{4C7A3C8B-0F3C-7CF5-CAFE-B01AB901C2D5}"/>
              </a:ext>
            </a:extLst>
          </p:cNvPr>
          <p:cNvSpPr txBox="1">
            <a:spLocks noGrp="1"/>
          </p:cNvSpPr>
          <p:nvPr>
            <p:ph type="title"/>
          </p:nvPr>
        </p:nvSpPr>
        <p:spPr>
          <a:xfrm>
            <a:off x="838200" y="0"/>
            <a:ext cx="10515600" cy="838400"/>
          </a:xfrm>
          <a:prstGeom prst="rect">
            <a:avLst/>
          </a:prstGeom>
          <a:noFill/>
          <a:ln>
            <a:noFill/>
          </a:ln>
        </p:spPr>
        <p:txBody>
          <a:bodyPr spcFirstLastPara="1" wrap="square" lIns="91433" tIns="45700" rIns="91433"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lnSpc>
                <a:spcPct val="90000"/>
              </a:lnSpc>
            </a:pPr>
            <a:r>
              <a:rPr lang="en-US" sz="2400" b="1">
                <a:solidFill>
                  <a:schemeClr val="lt1"/>
                </a:solidFill>
                <a:latin typeface="NVIDIA Sans"/>
                <a:cs typeface="NVIDIA Sans"/>
              </a:rPr>
              <a:t>Protect AI Agents: </a:t>
            </a:r>
            <a:r>
              <a:rPr lang="en-US" sz="2400" b="1" err="1">
                <a:solidFill>
                  <a:schemeClr val="lt1"/>
                </a:solidFill>
                <a:latin typeface="NVIDIA Sans"/>
                <a:cs typeface="NVIDIA Sans"/>
              </a:rPr>
              <a:t>NeMo</a:t>
            </a:r>
            <a:r>
              <a:rPr lang="en-US" sz="2400" b="1">
                <a:solidFill>
                  <a:schemeClr val="lt1"/>
                </a:solidFill>
                <a:latin typeface="NVIDIA Sans"/>
                <a:cs typeface="NVIDIA Sans"/>
              </a:rPr>
              <a:t> Auditor + </a:t>
            </a:r>
            <a:r>
              <a:rPr lang="en-US" sz="2400" b="1" err="1">
                <a:solidFill>
                  <a:schemeClr val="lt1"/>
                </a:solidFill>
                <a:latin typeface="NVIDIA Sans"/>
                <a:cs typeface="NVIDIA Sans"/>
              </a:rPr>
              <a:t>NeMo</a:t>
            </a:r>
            <a:r>
              <a:rPr lang="en-US" sz="2400" b="1">
                <a:solidFill>
                  <a:schemeClr val="lt1"/>
                </a:solidFill>
                <a:latin typeface="NVIDIA Sans"/>
                <a:cs typeface="NVIDIA Sans"/>
              </a:rPr>
              <a:t> Guardrails</a:t>
            </a:r>
          </a:p>
        </p:txBody>
      </p:sp>
      <p:sp>
        <p:nvSpPr>
          <p:cNvPr id="14" name="Google Shape;1387;p152">
            <a:extLst>
              <a:ext uri="{FF2B5EF4-FFF2-40B4-BE49-F238E27FC236}">
                <a16:creationId xmlns:a16="http://schemas.microsoft.com/office/drawing/2014/main" id="{E15C676F-606B-8D52-00F8-A2B8B6B8F88B}"/>
              </a:ext>
            </a:extLst>
          </p:cNvPr>
          <p:cNvSpPr txBox="1">
            <a:spLocks/>
          </p:cNvSpPr>
          <p:nvPr/>
        </p:nvSpPr>
        <p:spPr>
          <a:xfrm>
            <a:off x="736600" y="829056"/>
            <a:ext cx="10515600" cy="469600"/>
          </a:xfrm>
          <a:prstGeom prst="rect">
            <a:avLst/>
          </a:prstGeom>
          <a:noFill/>
          <a:ln>
            <a:noFill/>
          </a:ln>
        </p:spPr>
        <p:txBody>
          <a:bodyPr spcFirstLastPara="1" wrap="square" lIns="91433" tIns="45700" rIns="91433" bIns="45700" anchor="t" anchorCtr="0">
            <a:noAutofit/>
          </a:bodyPr>
          <a:lstStyle>
            <a:defPPr marR="0" lvl="0" algn="l" rtl="0">
              <a:lnSpc>
                <a:spcPct val="100000"/>
              </a:lnSpc>
              <a:spcBef>
                <a:spcPts val="0"/>
              </a:spcBef>
              <a:spcAft>
                <a:spcPts val="0"/>
              </a:spcAft>
              <a:defRPr/>
            </a:defPPr>
            <a:lvl1pPr marL="152370" marR="0" lvl="0"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1pPr>
            <a:lvl2pPr marL="457108" marR="0" lvl="1"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2pPr>
            <a:lvl3pPr marL="761848" marR="0" lvl="2"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3pPr>
            <a:lvl4pPr marL="1066586" marR="0" lvl="3" indent="-152370"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4pPr>
            <a:lvl5pPr marL="1351222" marR="0" lvl="4" indent="-132265"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5pPr>
            <a:lvl6pPr marL="2514349" marR="0" lvl="5"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6pPr>
            <a:lvl7pPr marL="2971503" marR="0" lvl="6"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7pPr>
            <a:lvl8pPr marL="3428657" marR="0" lvl="7"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8pPr>
            <a:lvl9pPr marL="3885811" marR="0" lvl="8" indent="-228577" algn="l" defTabSz="914309" rtl="0" eaLnBrk="1" latinLnBrk="0" hangingPunct="1">
              <a:lnSpc>
                <a:spcPct val="100000"/>
              </a:lnSpc>
              <a:spcBef>
                <a:spcPts val="0"/>
              </a:spcBef>
              <a:spcAft>
                <a:spcPts val="0"/>
              </a:spcAft>
              <a:buClr>
                <a:srgbClr val="000000"/>
              </a:buClr>
              <a:buFont typeface="Arial"/>
              <a:buChar char="•"/>
              <a:defRPr sz="1867" b="0" i="0" u="none" strike="noStrike" kern="1200" cap="none">
                <a:solidFill>
                  <a:srgbClr val="000000"/>
                </a:solidFill>
                <a:latin typeface="Arial"/>
                <a:ea typeface="Arial"/>
                <a:cs typeface="Arial"/>
                <a:sym typeface="Arial"/>
              </a:defRPr>
            </a:lvl9pPr>
          </a:lstStyle>
          <a:p>
            <a:pPr marL="0" indent="0" algn="ctr">
              <a:lnSpc>
                <a:spcPct val="90000"/>
              </a:lnSpc>
              <a:buNone/>
            </a:pPr>
            <a:r>
              <a:rPr lang="en" sz="1600">
                <a:solidFill>
                  <a:schemeClr val="tx2"/>
                </a:solidFill>
                <a:ea typeface="+mn-ea"/>
              </a:rPr>
              <a:t>Add two layers of defense against AI agent risks</a:t>
            </a:r>
            <a:endParaRPr lang="en-US">
              <a:solidFill>
                <a:schemeClr val="tx2"/>
              </a:solidFill>
              <a:ea typeface="+mn-ea"/>
            </a:endParaRPr>
          </a:p>
        </p:txBody>
      </p:sp>
      <p:sp>
        <p:nvSpPr>
          <p:cNvPr id="2" name="TextBox 1">
            <a:extLst>
              <a:ext uri="{FF2B5EF4-FFF2-40B4-BE49-F238E27FC236}">
                <a16:creationId xmlns:a16="http://schemas.microsoft.com/office/drawing/2014/main" id="{F1C9B163-BA67-F95A-16AF-F6AA8378DE39}"/>
              </a:ext>
            </a:extLst>
          </p:cNvPr>
          <p:cNvSpPr txBox="1"/>
          <p:nvPr/>
        </p:nvSpPr>
        <p:spPr>
          <a:xfrm>
            <a:off x="6251438" y="1687337"/>
            <a:ext cx="4489411" cy="1908215"/>
          </a:xfrm>
          <a:prstGeom prst="rect">
            <a:avLst/>
          </a:prstGeom>
          <a:solidFill>
            <a:schemeClr val="tx1"/>
          </a:solidFill>
          <a:ln>
            <a:solidFill>
              <a:schemeClr val="bg1">
                <a:lumMod val="75000"/>
                <a:lumOff val="25000"/>
              </a:schemeClr>
            </a:solidFill>
          </a:ln>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err="1">
                <a:solidFill>
                  <a:schemeClr val="tx2"/>
                </a:solidFill>
                <a:ea typeface="+mn-lt"/>
                <a:cs typeface="+mn-lt"/>
              </a:rPr>
              <a:t>NeMo</a:t>
            </a:r>
            <a:r>
              <a:rPr lang="en-US" sz="1400" b="1">
                <a:solidFill>
                  <a:schemeClr val="tx2"/>
                </a:solidFill>
                <a:ea typeface="+mn-lt"/>
                <a:cs typeface="+mn-lt"/>
              </a:rPr>
              <a:t> Guardrails</a:t>
            </a:r>
            <a:endParaRPr lang="en-US" sz="1400" b="1">
              <a:solidFill>
                <a:schemeClr val="tx2"/>
              </a:solidFill>
              <a:cs typeface="NVIDIA Sans"/>
            </a:endParaRPr>
          </a:p>
          <a:p>
            <a:r>
              <a:rPr lang="en-US" sz="1400" i="1">
                <a:solidFill>
                  <a:schemeClr val="bg1"/>
                </a:solidFill>
                <a:ea typeface="+mn-lt"/>
                <a:cs typeface="+mn-lt"/>
              </a:rPr>
              <a:t>Real-time Protection for Every Agent Interaction</a:t>
            </a:r>
            <a:endParaRPr lang="en-US" sz="1400" i="1">
              <a:solidFill>
                <a:schemeClr val="bg1"/>
              </a:solidFill>
              <a:cs typeface="NVIDIA Sans"/>
            </a:endParaRPr>
          </a:p>
          <a:p>
            <a:endParaRPr lang="en-US" sz="1400">
              <a:cs typeface="NVIDIA Sans"/>
            </a:endParaRPr>
          </a:p>
          <a:p>
            <a:pPr marL="285750" indent="-285750">
              <a:buFont typeface="Arial"/>
              <a:buChar char="•"/>
            </a:pPr>
            <a:r>
              <a:rPr lang="en-US" sz="1200">
                <a:solidFill>
                  <a:schemeClr val="bg1"/>
                </a:solidFill>
                <a:ea typeface="+mn-lt"/>
                <a:cs typeface="+mn-lt"/>
              </a:rPr>
              <a:t>Blocks harmful or toxic outputs before they reach users</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Detects and prevents jailbreak attempts</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Stops sensitive data leaks (PII, proprietary info)</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Keeps agents on-topic and within boundaries</a:t>
            </a:r>
            <a:endParaRPr lang="en-US" sz="1200">
              <a:solidFill>
                <a:schemeClr val="bg1"/>
              </a:solidFill>
              <a:cs typeface="NVIDIA Sans"/>
            </a:endParaRPr>
          </a:p>
          <a:p>
            <a:endParaRPr lang="en-US" sz="1400">
              <a:solidFill>
                <a:schemeClr val="bg1"/>
              </a:solidFill>
              <a:latin typeface="NVIDIA Sans" panose="020B0503020203020204" pitchFamily="34" charset="0"/>
              <a:cs typeface="NVIDIA Sans" panose="020B0503020203020204" pitchFamily="34" charset="0"/>
            </a:endParaRPr>
          </a:p>
          <a:p>
            <a:endParaRPr lang="en-US" sz="1400">
              <a:solidFill>
                <a:schemeClr val="bg1"/>
              </a:solidFill>
              <a:latin typeface="NVIDIA Sans" panose="020B0503020203020204" pitchFamily="34" charset="0"/>
              <a:cs typeface="NVIDIA Sans" panose="020B0503020203020204" pitchFamily="34" charset="0"/>
            </a:endParaRPr>
          </a:p>
        </p:txBody>
      </p:sp>
      <p:sp>
        <p:nvSpPr>
          <p:cNvPr id="3" name="TextBox 2">
            <a:extLst>
              <a:ext uri="{FF2B5EF4-FFF2-40B4-BE49-F238E27FC236}">
                <a16:creationId xmlns:a16="http://schemas.microsoft.com/office/drawing/2014/main" id="{FEB43FD9-6212-2FA6-4FA4-4D9BEE79FB13}"/>
              </a:ext>
            </a:extLst>
          </p:cNvPr>
          <p:cNvSpPr txBox="1"/>
          <p:nvPr/>
        </p:nvSpPr>
        <p:spPr>
          <a:xfrm>
            <a:off x="1203686" y="1687336"/>
            <a:ext cx="4482291" cy="1877437"/>
          </a:xfrm>
          <a:prstGeom prst="rect">
            <a:avLst/>
          </a:prstGeom>
          <a:solidFill>
            <a:schemeClr val="tx1"/>
          </a:solidFill>
          <a:ln>
            <a:solidFill>
              <a:schemeClr val="bg1">
                <a:lumMod val="75000"/>
                <a:lumOff val="25000"/>
              </a:schemeClr>
            </a:solidFill>
          </a:ln>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err="1">
                <a:solidFill>
                  <a:schemeClr val="tx2"/>
                </a:solidFill>
                <a:ea typeface="+mn-lt"/>
                <a:cs typeface="+mn-lt"/>
              </a:rPr>
              <a:t>NeMo</a:t>
            </a:r>
            <a:r>
              <a:rPr lang="en-US" sz="1400" b="1">
                <a:solidFill>
                  <a:schemeClr val="tx2"/>
                </a:solidFill>
                <a:ea typeface="+mn-lt"/>
                <a:cs typeface="+mn-lt"/>
              </a:rPr>
              <a:t> Auditor</a:t>
            </a:r>
            <a:endParaRPr lang="en-US" sz="1400" b="1">
              <a:solidFill>
                <a:schemeClr val="tx2"/>
              </a:solidFill>
              <a:cs typeface="NVIDIA Sans"/>
            </a:endParaRPr>
          </a:p>
          <a:p>
            <a:r>
              <a:rPr lang="en-US" sz="1400" i="1">
                <a:solidFill>
                  <a:schemeClr val="bg1"/>
                </a:solidFill>
                <a:ea typeface="+mn-lt"/>
                <a:cs typeface="+mn-lt"/>
              </a:rPr>
              <a:t>On-Demand Security Audits Across Your Agent Fleet</a:t>
            </a:r>
            <a:endParaRPr lang="en-US" i="1">
              <a:solidFill>
                <a:schemeClr val="bg1"/>
              </a:solidFill>
            </a:endParaRPr>
          </a:p>
          <a:p>
            <a:endParaRPr lang="en-US" sz="1400">
              <a:cs typeface="NVIDIA Sans"/>
            </a:endParaRPr>
          </a:p>
          <a:p>
            <a:pPr marL="285750" indent="-285750">
              <a:buFont typeface="Arial"/>
              <a:buChar char="•"/>
            </a:pPr>
            <a:r>
              <a:rPr lang="en-US" sz="1200">
                <a:solidFill>
                  <a:schemeClr val="bg1"/>
                </a:solidFill>
                <a:ea typeface="+mn-lt"/>
                <a:cs typeface="+mn-lt"/>
              </a:rPr>
              <a:t>Scans agents for security vulnerabilities</a:t>
            </a:r>
          </a:p>
          <a:p>
            <a:pPr marL="285750" indent="-285750">
              <a:buFont typeface="Arial"/>
              <a:buChar char="•"/>
            </a:pPr>
            <a:r>
              <a:rPr lang="en-US" sz="1200">
                <a:solidFill>
                  <a:schemeClr val="bg1"/>
                </a:solidFill>
                <a:ea typeface="+mn-lt"/>
                <a:cs typeface="+mn-lt"/>
              </a:rPr>
              <a:t>Identifies risks before threat actors exploit them</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Provides audit trail for regulatory compliance</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Tests complex multi-turn agent interactions</a:t>
            </a:r>
            <a:endParaRPr lang="en-US" sz="1200">
              <a:solidFill>
                <a:schemeClr val="bg1"/>
              </a:solidFill>
              <a:cs typeface="NVIDIA Sans"/>
            </a:endParaRPr>
          </a:p>
          <a:p>
            <a:pPr marL="285750" indent="-285750">
              <a:buFont typeface="Arial"/>
              <a:buChar char="•"/>
            </a:pPr>
            <a:r>
              <a:rPr lang="en-US" sz="1200">
                <a:solidFill>
                  <a:schemeClr val="bg1"/>
                </a:solidFill>
                <a:ea typeface="+mn-lt"/>
                <a:cs typeface="+mn-lt"/>
              </a:rPr>
              <a:t>Measures safety posture against industry benchmarks</a:t>
            </a:r>
            <a:endParaRPr lang="en-US" sz="1200">
              <a:solidFill>
                <a:schemeClr val="bg1"/>
              </a:solidFill>
              <a:cs typeface="NVIDIA Sans"/>
            </a:endParaRPr>
          </a:p>
        </p:txBody>
      </p:sp>
      <p:pic>
        <p:nvPicPr>
          <p:cNvPr id="11" name="Picture 10" descr="A green outline of hands shaking&#10;&#10;AI-generated content may be incorrect.">
            <a:extLst>
              <a:ext uri="{FF2B5EF4-FFF2-40B4-BE49-F238E27FC236}">
                <a16:creationId xmlns:a16="http://schemas.microsoft.com/office/drawing/2014/main" id="{E2DE037C-39D8-9CDE-2B3A-C20C106369B2}"/>
              </a:ext>
            </a:extLst>
          </p:cNvPr>
          <p:cNvPicPr>
            <a:picLocks noChangeAspect="1"/>
          </p:cNvPicPr>
          <p:nvPr/>
        </p:nvPicPr>
        <p:blipFill>
          <a:blip r:embed="rId3"/>
          <a:stretch>
            <a:fillRect/>
          </a:stretch>
        </p:blipFill>
        <p:spPr>
          <a:xfrm>
            <a:off x="5556481" y="2296526"/>
            <a:ext cx="830451" cy="830451"/>
          </a:xfrm>
          <a:prstGeom prst="rect">
            <a:avLst/>
          </a:prstGeom>
        </p:spPr>
      </p:pic>
      <p:pic>
        <p:nvPicPr>
          <p:cNvPr id="18" name="Picture 17" descr="A cartoon of a person with glasses&#10;&#10;AI-generated content may be incorrect.">
            <a:extLst>
              <a:ext uri="{FF2B5EF4-FFF2-40B4-BE49-F238E27FC236}">
                <a16:creationId xmlns:a16="http://schemas.microsoft.com/office/drawing/2014/main" id="{3D6EC5DA-A8B5-B316-165C-DD924C48FB78}"/>
              </a:ext>
            </a:extLst>
          </p:cNvPr>
          <p:cNvPicPr>
            <a:picLocks noChangeAspect="1"/>
          </p:cNvPicPr>
          <p:nvPr/>
        </p:nvPicPr>
        <p:blipFill>
          <a:blip r:embed="rId4"/>
          <a:stretch>
            <a:fillRect/>
          </a:stretch>
        </p:blipFill>
        <p:spPr>
          <a:xfrm>
            <a:off x="8453035" y="4497002"/>
            <a:ext cx="1097068" cy="1104276"/>
          </a:xfrm>
          <a:prstGeom prst="rect">
            <a:avLst/>
          </a:prstGeom>
        </p:spPr>
      </p:pic>
      <p:pic>
        <p:nvPicPr>
          <p:cNvPr id="19" name="Picture 18" descr="A group of people with green text&#10;&#10;AI-generated content may be incorrect.">
            <a:extLst>
              <a:ext uri="{FF2B5EF4-FFF2-40B4-BE49-F238E27FC236}">
                <a16:creationId xmlns:a16="http://schemas.microsoft.com/office/drawing/2014/main" id="{9A55CD4A-83D4-D8F6-44FD-5346F691C223}"/>
              </a:ext>
            </a:extLst>
          </p:cNvPr>
          <p:cNvPicPr>
            <a:picLocks noChangeAspect="1"/>
          </p:cNvPicPr>
          <p:nvPr/>
        </p:nvPicPr>
        <p:blipFill>
          <a:blip r:embed="rId5"/>
          <a:stretch>
            <a:fillRect/>
          </a:stretch>
        </p:blipFill>
        <p:spPr>
          <a:xfrm>
            <a:off x="8457130" y="5596783"/>
            <a:ext cx="1110242" cy="656602"/>
          </a:xfrm>
          <a:prstGeom prst="rect">
            <a:avLst/>
          </a:prstGeom>
        </p:spPr>
      </p:pic>
      <p:pic>
        <p:nvPicPr>
          <p:cNvPr id="20" name="Picture 19" descr="A green clipboard with check marks&#10;&#10;AI-generated content may be incorrect.">
            <a:extLst>
              <a:ext uri="{FF2B5EF4-FFF2-40B4-BE49-F238E27FC236}">
                <a16:creationId xmlns:a16="http://schemas.microsoft.com/office/drawing/2014/main" id="{1BAEE3A5-73D3-E07A-AE50-9DEB00C07046}"/>
              </a:ext>
            </a:extLst>
          </p:cNvPr>
          <p:cNvPicPr>
            <a:picLocks noChangeAspect="1"/>
          </p:cNvPicPr>
          <p:nvPr/>
        </p:nvPicPr>
        <p:blipFill>
          <a:blip r:embed="rId6"/>
          <a:stretch>
            <a:fillRect/>
          </a:stretch>
        </p:blipFill>
        <p:spPr>
          <a:xfrm>
            <a:off x="2415166" y="4605026"/>
            <a:ext cx="902472" cy="902472"/>
          </a:xfrm>
          <a:prstGeom prst="rect">
            <a:avLst/>
          </a:prstGeom>
        </p:spPr>
      </p:pic>
      <p:pic>
        <p:nvPicPr>
          <p:cNvPr id="21" name="Picture 20" descr="A white and green sign with a magnifying glass&#10;&#10;AI-generated content may be incorrect.">
            <a:extLst>
              <a:ext uri="{FF2B5EF4-FFF2-40B4-BE49-F238E27FC236}">
                <a16:creationId xmlns:a16="http://schemas.microsoft.com/office/drawing/2014/main" id="{2D140AE0-7A1A-5B20-55D3-BFC540059F3C}"/>
              </a:ext>
            </a:extLst>
          </p:cNvPr>
          <p:cNvPicPr>
            <a:picLocks noChangeAspect="1"/>
          </p:cNvPicPr>
          <p:nvPr/>
        </p:nvPicPr>
        <p:blipFill>
          <a:blip r:embed="rId7"/>
          <a:stretch>
            <a:fillRect/>
          </a:stretch>
        </p:blipFill>
        <p:spPr>
          <a:xfrm>
            <a:off x="4476572" y="4643926"/>
            <a:ext cx="796183" cy="789062"/>
          </a:xfrm>
          <a:prstGeom prst="rect">
            <a:avLst/>
          </a:prstGeom>
          <a:ln w="28575">
            <a:solidFill>
              <a:schemeClr val="tx2"/>
            </a:solidFill>
          </a:ln>
        </p:spPr>
      </p:pic>
      <p:pic>
        <p:nvPicPr>
          <p:cNvPr id="22" name="Picture 21" descr="A green and white check mark in a circle&#10;&#10;AI-generated content may be incorrect.">
            <a:extLst>
              <a:ext uri="{FF2B5EF4-FFF2-40B4-BE49-F238E27FC236}">
                <a16:creationId xmlns:a16="http://schemas.microsoft.com/office/drawing/2014/main" id="{403DC343-3A21-4B6A-3413-D349266E4F4F}"/>
              </a:ext>
            </a:extLst>
          </p:cNvPr>
          <p:cNvPicPr>
            <a:picLocks noChangeAspect="1"/>
          </p:cNvPicPr>
          <p:nvPr/>
        </p:nvPicPr>
        <p:blipFill>
          <a:blip r:embed="rId8"/>
          <a:stretch>
            <a:fillRect/>
          </a:stretch>
        </p:blipFill>
        <p:spPr>
          <a:xfrm>
            <a:off x="6716683" y="4643171"/>
            <a:ext cx="795383" cy="790575"/>
          </a:xfrm>
          <a:prstGeom prst="rect">
            <a:avLst/>
          </a:prstGeom>
          <a:ln w="28575">
            <a:solidFill>
              <a:schemeClr val="tx2"/>
            </a:solidFill>
          </a:ln>
        </p:spPr>
      </p:pic>
      <p:cxnSp>
        <p:nvCxnSpPr>
          <p:cNvPr id="25" name="Straight Arrow Connector 24">
            <a:extLst>
              <a:ext uri="{FF2B5EF4-FFF2-40B4-BE49-F238E27FC236}">
                <a16:creationId xmlns:a16="http://schemas.microsoft.com/office/drawing/2014/main" id="{78EE15C6-6096-A78D-E0FC-DFDD724514B2}"/>
              </a:ext>
            </a:extLst>
          </p:cNvPr>
          <p:cNvCxnSpPr/>
          <p:nvPr/>
        </p:nvCxnSpPr>
        <p:spPr>
          <a:xfrm flipV="1">
            <a:off x="3217936" y="5075935"/>
            <a:ext cx="1163650" cy="11393"/>
          </a:xfrm>
          <a:prstGeom prst="straightConnector1">
            <a:avLst/>
          </a:prstGeom>
          <a:ln w="158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E594EDA-0B98-FD6E-67A8-1AC388A49145}"/>
              </a:ext>
            </a:extLst>
          </p:cNvPr>
          <p:cNvCxnSpPr>
            <a:cxnSpLocks/>
          </p:cNvCxnSpPr>
          <p:nvPr/>
        </p:nvCxnSpPr>
        <p:spPr>
          <a:xfrm flipV="1">
            <a:off x="5418479" y="5075934"/>
            <a:ext cx="1106679" cy="4272"/>
          </a:xfrm>
          <a:prstGeom prst="straightConnector1">
            <a:avLst/>
          </a:prstGeom>
          <a:ln w="158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FD761E3-85C7-78F3-F126-476B0D4FF4DA}"/>
              </a:ext>
            </a:extLst>
          </p:cNvPr>
          <p:cNvCxnSpPr/>
          <p:nvPr/>
        </p:nvCxnSpPr>
        <p:spPr>
          <a:xfrm>
            <a:off x="7662196" y="5073531"/>
            <a:ext cx="793335" cy="2849"/>
          </a:xfrm>
          <a:prstGeom prst="straightConnector1">
            <a:avLst/>
          </a:prstGeom>
          <a:ln w="158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C76C901-0582-E155-7AA1-2DF6541A1CE1}"/>
              </a:ext>
            </a:extLst>
          </p:cNvPr>
          <p:cNvSpPr txBox="1"/>
          <p:nvPr/>
        </p:nvSpPr>
        <p:spPr>
          <a:xfrm>
            <a:off x="7191815" y="4025534"/>
            <a:ext cx="19530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err="1">
                <a:solidFill>
                  <a:schemeClr val="tx2"/>
                </a:solidFill>
                <a:latin typeface="NVIDIA Sans"/>
                <a:cs typeface="NVIDIA Sans"/>
              </a:rPr>
              <a:t>NeMo</a:t>
            </a:r>
            <a:r>
              <a:rPr lang="en-US" sz="1200" b="1">
                <a:solidFill>
                  <a:schemeClr val="tx2"/>
                </a:solidFill>
                <a:latin typeface="NVIDIA Sans"/>
                <a:cs typeface="NVIDIA Sans"/>
              </a:rPr>
              <a:t> Guardrails</a:t>
            </a:r>
            <a:endParaRPr lang="en-US" b="1">
              <a:solidFill>
                <a:schemeClr val="tx2"/>
              </a:solidFill>
              <a:cs typeface="NVIDIA Sans"/>
            </a:endParaRPr>
          </a:p>
          <a:p>
            <a:pPr algn="ctr"/>
            <a:r>
              <a:rPr lang="en-US" sz="1200" i="1">
                <a:solidFill>
                  <a:schemeClr val="bg1">
                    <a:lumMod val="76000"/>
                    <a:lumOff val="24000"/>
                  </a:schemeClr>
                </a:solidFill>
                <a:latin typeface="NVIDIA Sans"/>
                <a:cs typeface="NVIDIA Sans"/>
              </a:rPr>
              <a:t>Keep Agents on Track</a:t>
            </a:r>
            <a:endParaRPr lang="en-US" sz="1200" i="1">
              <a:solidFill>
                <a:schemeClr val="bg1">
                  <a:lumMod val="76000"/>
                  <a:lumOff val="24000"/>
                </a:schemeClr>
              </a:solidFill>
              <a:latin typeface="NVIDIA Sans" panose="020B0503020203020204" pitchFamily="34" charset="0"/>
              <a:cs typeface="NVIDIA Sans" panose="020B0503020203020204" pitchFamily="34" charset="0"/>
            </a:endParaRPr>
          </a:p>
        </p:txBody>
      </p:sp>
      <p:sp>
        <p:nvSpPr>
          <p:cNvPr id="34" name="TextBox 33">
            <a:extLst>
              <a:ext uri="{FF2B5EF4-FFF2-40B4-BE49-F238E27FC236}">
                <a16:creationId xmlns:a16="http://schemas.microsoft.com/office/drawing/2014/main" id="{43EDFE6B-8C2B-C6EB-A2B5-7138BA48AB24}"/>
              </a:ext>
            </a:extLst>
          </p:cNvPr>
          <p:cNvSpPr txBox="1"/>
          <p:nvPr/>
        </p:nvSpPr>
        <p:spPr>
          <a:xfrm>
            <a:off x="3196658" y="4032657"/>
            <a:ext cx="25655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err="1">
                <a:solidFill>
                  <a:schemeClr val="tx2"/>
                </a:solidFill>
                <a:latin typeface="NVIDIA Sans"/>
                <a:cs typeface="NVIDIA Sans"/>
              </a:rPr>
              <a:t>NeMo</a:t>
            </a:r>
            <a:r>
              <a:rPr lang="en-US" sz="1200" b="1">
                <a:solidFill>
                  <a:schemeClr val="tx2"/>
                </a:solidFill>
                <a:latin typeface="NVIDIA Sans"/>
                <a:cs typeface="NVIDIA Sans"/>
              </a:rPr>
              <a:t> Auditor</a:t>
            </a:r>
            <a:endParaRPr lang="en-US" b="1">
              <a:solidFill>
                <a:schemeClr val="tx2"/>
              </a:solidFill>
              <a:cs typeface="NVIDIA Sans"/>
            </a:endParaRPr>
          </a:p>
          <a:p>
            <a:pPr algn="ctr"/>
            <a:r>
              <a:rPr lang="en-US" sz="1200" i="1">
                <a:solidFill>
                  <a:schemeClr val="bg1">
                    <a:lumMod val="76000"/>
                    <a:lumOff val="24000"/>
                  </a:schemeClr>
                </a:solidFill>
                <a:latin typeface="NVIDIA Sans"/>
                <a:cs typeface="NVIDIA Sans"/>
              </a:rPr>
              <a:t>Evaluate Agent Risk</a:t>
            </a:r>
            <a:endParaRPr lang="en-US" sz="1200" i="1">
              <a:solidFill>
                <a:schemeClr val="bg1">
                  <a:lumMod val="76000"/>
                  <a:lumOff val="24000"/>
                </a:schemeClr>
              </a:solidFill>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717596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36C0B-D6DB-42F7-3EDD-D78A5BFF0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6089C-A43B-4416-2FDA-3E922B2A2EE2}"/>
              </a:ext>
            </a:extLst>
          </p:cNvPr>
          <p:cNvSpPr>
            <a:spLocks noGrp="1"/>
          </p:cNvSpPr>
          <p:nvPr>
            <p:ph type="title"/>
          </p:nvPr>
        </p:nvSpPr>
        <p:spPr/>
        <p:txBody>
          <a:bodyPr/>
          <a:lstStyle/>
          <a:p>
            <a:r>
              <a:rPr lang="en-US">
                <a:latin typeface="NVIDIA Sans"/>
                <a:cs typeface="NVIDIA Sans"/>
              </a:rPr>
              <a:t>NVIDIA </a:t>
            </a:r>
            <a:r>
              <a:rPr lang="en-US" err="1">
                <a:latin typeface="NVIDIA Sans"/>
                <a:cs typeface="NVIDIA Sans"/>
              </a:rPr>
              <a:t>NeMo</a:t>
            </a:r>
            <a:r>
              <a:rPr lang="en-US">
                <a:latin typeface="NVIDIA Sans"/>
                <a:cs typeface="NVIDIA Sans"/>
              </a:rPr>
              <a:t> Safe Synthesizer</a:t>
            </a:r>
            <a:endParaRPr lang="en-US" b="0">
              <a:latin typeface="NVIDIA Sans"/>
              <a:cs typeface="NVIDIA Sans"/>
            </a:endParaRPr>
          </a:p>
        </p:txBody>
      </p:sp>
      <p:sp>
        <p:nvSpPr>
          <p:cNvPr id="3" name="Text Placeholder 2">
            <a:extLst>
              <a:ext uri="{FF2B5EF4-FFF2-40B4-BE49-F238E27FC236}">
                <a16:creationId xmlns:a16="http://schemas.microsoft.com/office/drawing/2014/main" id="{73C12595-27F5-62AC-72D8-F68B472EBA06}"/>
              </a:ext>
            </a:extLst>
          </p:cNvPr>
          <p:cNvSpPr>
            <a:spLocks noGrp="1"/>
          </p:cNvSpPr>
          <p:nvPr>
            <p:ph type="body" sz="quarter" idx="10"/>
          </p:nvPr>
        </p:nvSpPr>
        <p:spPr/>
        <p:txBody>
          <a:bodyPr lIns="91440" tIns="45720" rIns="91440" bIns="45720" anchor="t"/>
          <a:lstStyle/>
          <a:p>
            <a:r>
              <a:rPr lang="en-US">
                <a:latin typeface="NVIDIA Sans"/>
                <a:cs typeface="NVIDIA Sans"/>
              </a:rPr>
              <a:t>Generate safe, synthetic versions of your sensitive datasets with no one-to-one mapping to original records.</a:t>
            </a:r>
            <a:endParaRPr lang="en-US">
              <a:solidFill>
                <a:srgbClr val="000000"/>
              </a:solidFill>
              <a:latin typeface="NVIDIA Sans"/>
              <a:cs typeface="NVIDIA Sans"/>
            </a:endParaRPr>
          </a:p>
          <a:p>
            <a:endParaRPr lang="en-US"/>
          </a:p>
        </p:txBody>
      </p:sp>
      <p:sp>
        <p:nvSpPr>
          <p:cNvPr id="4" name="Content Placeholder 3">
            <a:extLst>
              <a:ext uri="{FF2B5EF4-FFF2-40B4-BE49-F238E27FC236}">
                <a16:creationId xmlns:a16="http://schemas.microsoft.com/office/drawing/2014/main" id="{DFEFD328-317D-98A5-C4DD-FBD8E397AE7E}"/>
              </a:ext>
            </a:extLst>
          </p:cNvPr>
          <p:cNvSpPr>
            <a:spLocks noGrp="1"/>
          </p:cNvSpPr>
          <p:nvPr>
            <p:ph idx="1"/>
          </p:nvPr>
        </p:nvSpPr>
        <p:spPr>
          <a:xfrm>
            <a:off x="871716" y="1830025"/>
            <a:ext cx="4265203" cy="3680475"/>
          </a:xfrm>
        </p:spPr>
        <p:txBody>
          <a:bodyPr lIns="91440" tIns="45720" rIns="91440" bIns="45720" anchor="t"/>
          <a:lstStyle/>
          <a:p>
            <a:pPr marL="151765" indent="-151765">
              <a:buNone/>
            </a:pPr>
            <a:r>
              <a:rPr lang="en-US" sz="1800" b="1">
                <a:solidFill>
                  <a:schemeClr val="tx2"/>
                </a:solidFill>
                <a:latin typeface="NVIDIA Sans"/>
                <a:cs typeface="NVIDIA Sans"/>
              </a:rPr>
              <a:t>Key Features</a:t>
            </a:r>
            <a:endParaRPr lang="en-US" sz="1800">
              <a:solidFill>
                <a:schemeClr val="tx2"/>
              </a:solidFill>
              <a:latin typeface="NVIDIA Sans"/>
              <a:cs typeface="NVIDIA Sans"/>
            </a:endParaRPr>
          </a:p>
          <a:p>
            <a:pPr marL="151765" indent="0">
              <a:lnSpc>
                <a:spcPct val="100000"/>
              </a:lnSpc>
              <a:spcBef>
                <a:spcPts val="0"/>
              </a:spcBef>
              <a:buNone/>
            </a:pPr>
            <a:endParaRPr lang="en-US" sz="1100" b="1">
              <a:solidFill>
                <a:schemeClr val="lt1"/>
              </a:solidFill>
              <a:latin typeface="NVIDIA Sans"/>
              <a:cs typeface="NVIDIA Sans"/>
            </a:endParaRPr>
          </a:p>
          <a:p>
            <a:pPr marL="0" indent="0">
              <a:lnSpc>
                <a:spcPct val="100000"/>
              </a:lnSpc>
              <a:spcBef>
                <a:spcPts val="0"/>
              </a:spcBef>
              <a:buNone/>
            </a:pPr>
            <a:endParaRPr lang="en-US" sz="1300">
              <a:solidFill>
                <a:srgbClr val="000000"/>
              </a:solidFill>
            </a:endParaRPr>
          </a:p>
          <a:p>
            <a:pPr marL="0" indent="0">
              <a:lnSpc>
                <a:spcPct val="100000"/>
              </a:lnSpc>
              <a:spcBef>
                <a:spcPts val="0"/>
              </a:spcBef>
              <a:buNone/>
            </a:pPr>
            <a:endParaRPr lang="en-US" sz="1300">
              <a:solidFill>
                <a:srgbClr val="FFFFFF"/>
              </a:solidFill>
              <a:latin typeface="NVIDIA Sans"/>
              <a:cs typeface="NVIDIA Sans"/>
            </a:endParaRPr>
          </a:p>
          <a:p>
            <a:pPr marL="0" indent="0">
              <a:lnSpc>
                <a:spcPct val="100000"/>
              </a:lnSpc>
              <a:spcBef>
                <a:spcPts val="0"/>
              </a:spcBef>
              <a:buNone/>
            </a:pPr>
            <a:endParaRPr lang="en-US" sz="1300" b="1">
              <a:solidFill>
                <a:srgbClr val="000000"/>
              </a:solidFill>
              <a:latin typeface="NVIDIA Sans"/>
              <a:cs typeface="NVIDIA Sans"/>
            </a:endParaRPr>
          </a:p>
        </p:txBody>
      </p:sp>
      <p:sp>
        <p:nvSpPr>
          <p:cNvPr id="6" name="Google Shape;3674;p382">
            <a:extLst>
              <a:ext uri="{FF2B5EF4-FFF2-40B4-BE49-F238E27FC236}">
                <a16:creationId xmlns:a16="http://schemas.microsoft.com/office/drawing/2014/main" id="{1D91CDB7-E20C-92EE-AF13-2A3EB6FA97CA}"/>
              </a:ext>
            </a:extLst>
          </p:cNvPr>
          <p:cNvSpPr/>
          <p:nvPr/>
        </p:nvSpPr>
        <p:spPr>
          <a:xfrm>
            <a:off x="774327" y="1605775"/>
            <a:ext cx="4325592" cy="4217398"/>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11" name="Google Shape;3674;p382">
            <a:extLst>
              <a:ext uri="{FF2B5EF4-FFF2-40B4-BE49-F238E27FC236}">
                <a16:creationId xmlns:a16="http://schemas.microsoft.com/office/drawing/2014/main" id="{49B66A7E-5F12-3607-CC6A-3C0C7DA1F8A1}"/>
              </a:ext>
            </a:extLst>
          </p:cNvPr>
          <p:cNvSpPr/>
          <p:nvPr/>
        </p:nvSpPr>
        <p:spPr>
          <a:xfrm>
            <a:off x="5329155" y="1607499"/>
            <a:ext cx="6084234" cy="4217398"/>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pic>
        <p:nvPicPr>
          <p:cNvPr id="9" name="Picture 8" descr="A green outline of a round object with a lock&#10;&#10;AI-generated content may be incorrect.">
            <a:extLst>
              <a:ext uri="{FF2B5EF4-FFF2-40B4-BE49-F238E27FC236}">
                <a16:creationId xmlns:a16="http://schemas.microsoft.com/office/drawing/2014/main" id="{464C8947-561D-E7E5-D16F-19A793EF397B}"/>
              </a:ext>
            </a:extLst>
          </p:cNvPr>
          <p:cNvPicPr>
            <a:picLocks noChangeAspect="1"/>
          </p:cNvPicPr>
          <p:nvPr/>
        </p:nvPicPr>
        <p:blipFill>
          <a:blip r:embed="rId4"/>
          <a:stretch>
            <a:fillRect/>
          </a:stretch>
        </p:blipFill>
        <p:spPr>
          <a:xfrm>
            <a:off x="1020709" y="2341900"/>
            <a:ext cx="820830" cy="699745"/>
          </a:xfrm>
          <a:prstGeom prst="rect">
            <a:avLst/>
          </a:prstGeom>
        </p:spPr>
      </p:pic>
      <p:pic>
        <p:nvPicPr>
          <p:cNvPr id="13" name="Picture 12" descr="A green and black logo&#10;&#10;AI-generated content may be incorrect.">
            <a:extLst>
              <a:ext uri="{FF2B5EF4-FFF2-40B4-BE49-F238E27FC236}">
                <a16:creationId xmlns:a16="http://schemas.microsoft.com/office/drawing/2014/main" id="{897FD343-3089-8D69-D201-4D2AB5BC0D26}"/>
              </a:ext>
            </a:extLst>
          </p:cNvPr>
          <p:cNvPicPr>
            <a:picLocks noChangeAspect="1"/>
          </p:cNvPicPr>
          <p:nvPr/>
        </p:nvPicPr>
        <p:blipFill>
          <a:blip r:embed="rId5"/>
          <a:stretch>
            <a:fillRect/>
          </a:stretch>
        </p:blipFill>
        <p:spPr>
          <a:xfrm>
            <a:off x="1042286" y="3360182"/>
            <a:ext cx="809639" cy="787145"/>
          </a:xfrm>
          <a:prstGeom prst="rect">
            <a:avLst/>
          </a:prstGeom>
        </p:spPr>
      </p:pic>
      <p:pic>
        <p:nvPicPr>
          <p:cNvPr id="15" name="Picture 14" descr="A green logo with a black background&#10;&#10;AI-generated content may be incorrect.">
            <a:extLst>
              <a:ext uri="{FF2B5EF4-FFF2-40B4-BE49-F238E27FC236}">
                <a16:creationId xmlns:a16="http://schemas.microsoft.com/office/drawing/2014/main" id="{DDD73DF0-7FCD-A0B7-7D93-9E231A1AECDD}"/>
              </a:ext>
            </a:extLst>
          </p:cNvPr>
          <p:cNvPicPr>
            <a:picLocks noChangeAspect="1"/>
          </p:cNvPicPr>
          <p:nvPr/>
        </p:nvPicPr>
        <p:blipFill>
          <a:blip r:embed="rId6"/>
          <a:stretch>
            <a:fillRect/>
          </a:stretch>
        </p:blipFill>
        <p:spPr>
          <a:xfrm>
            <a:off x="1122247" y="4706393"/>
            <a:ext cx="720314" cy="700996"/>
          </a:xfrm>
          <a:prstGeom prst="rect">
            <a:avLst/>
          </a:prstGeom>
        </p:spPr>
      </p:pic>
      <p:sp>
        <p:nvSpPr>
          <p:cNvPr id="17" name="Text Placeholder 2">
            <a:extLst>
              <a:ext uri="{FF2B5EF4-FFF2-40B4-BE49-F238E27FC236}">
                <a16:creationId xmlns:a16="http://schemas.microsoft.com/office/drawing/2014/main" id="{273CAD82-6C55-F23F-A514-AB71878A00A4}"/>
              </a:ext>
            </a:extLst>
          </p:cNvPr>
          <p:cNvSpPr txBox="1">
            <a:spLocks/>
          </p:cNvSpPr>
          <p:nvPr/>
        </p:nvSpPr>
        <p:spPr>
          <a:xfrm>
            <a:off x="1927502" y="2272051"/>
            <a:ext cx="2777269" cy="2964615"/>
          </a:xfrm>
          <a:prstGeom prst="rect">
            <a:avLst/>
          </a:prstGeom>
        </p:spPr>
        <p:txBody>
          <a:bodyPr lIns="91440" tIns="45720" rIns="91440" bIns="45720" anchor="t"/>
          <a:lstStyle>
            <a:lvl1pPr marL="228577" indent="-228577" algn="l" defTabSz="914309" rtl="0" eaLnBrk="1" latinLnBrk="0" hangingPunct="1">
              <a:lnSpc>
                <a:spcPct val="90000"/>
              </a:lnSpc>
              <a:spcBef>
                <a:spcPts val="1000"/>
              </a:spcBef>
              <a:buFont typeface="NVIDIA Sans" panose="020B0503020203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NVIDIA Sans" panose="020B0503020203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NVIDIA Sans" panose="020B0503020203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0" indent="-227965">
              <a:buNone/>
            </a:pPr>
            <a:r>
              <a:rPr lang="en-US" sz="1200" b="1">
                <a:solidFill>
                  <a:schemeClr val="bg1"/>
                </a:solidFill>
                <a:ea typeface="+mn-lt"/>
                <a:cs typeface="+mn-lt"/>
              </a:rPr>
              <a:t>Privacy-safe</a:t>
            </a:r>
            <a:endParaRPr lang="en-US" b="1">
              <a:solidFill>
                <a:schemeClr val="bg1"/>
              </a:solidFill>
              <a:cs typeface="NVIDIA Sans"/>
            </a:endParaRPr>
          </a:p>
          <a:p>
            <a:pPr marL="0" indent="-227965">
              <a:buNone/>
            </a:pPr>
            <a:r>
              <a:rPr lang="en-US" sz="1200">
                <a:solidFill>
                  <a:schemeClr val="bg1"/>
                </a:solidFill>
                <a:ea typeface="+mn-lt"/>
                <a:cs typeface="+mn-lt"/>
              </a:rPr>
              <a:t>Generate data using differential privacy – the gold standard providing mathematical guarantees.</a:t>
            </a:r>
            <a:endParaRPr lang="en-US">
              <a:solidFill>
                <a:schemeClr val="bg1"/>
              </a:solidFill>
              <a:ea typeface="+mn-lt"/>
              <a:cs typeface="+mn-lt"/>
            </a:endParaRPr>
          </a:p>
          <a:p>
            <a:pPr marL="0" indent="-227965">
              <a:buNone/>
            </a:pPr>
            <a:endParaRPr lang="en-US" sz="1200">
              <a:solidFill>
                <a:schemeClr val="bg1"/>
              </a:solidFill>
              <a:ea typeface="+mn-lt"/>
              <a:cs typeface="+mn-lt"/>
            </a:endParaRPr>
          </a:p>
          <a:p>
            <a:pPr marL="0" indent="-227965">
              <a:buNone/>
            </a:pPr>
            <a:r>
              <a:rPr lang="en-US" sz="1200" b="1">
                <a:solidFill>
                  <a:schemeClr val="bg1"/>
                </a:solidFill>
                <a:ea typeface="+mn-lt"/>
                <a:cs typeface="+mn-lt"/>
              </a:rPr>
              <a:t>Compliant</a:t>
            </a:r>
            <a:endParaRPr lang="en-US">
              <a:solidFill>
                <a:schemeClr val="bg1"/>
              </a:solidFill>
              <a:cs typeface="NVIDIA Sans"/>
            </a:endParaRPr>
          </a:p>
          <a:p>
            <a:pPr marL="0" indent="-227965">
              <a:buNone/>
            </a:pPr>
            <a:r>
              <a:rPr lang="en-US" sz="1200">
                <a:solidFill>
                  <a:schemeClr val="bg1"/>
                </a:solidFill>
                <a:ea typeface="+mn-lt"/>
                <a:cs typeface="+mn-lt"/>
              </a:rPr>
              <a:t>Adhere to data privacy requirements and regulations like HIPAA, GDPR, and CCPA.</a:t>
            </a:r>
            <a:endParaRPr lang="en-US">
              <a:solidFill>
                <a:schemeClr val="bg1"/>
              </a:solidFill>
              <a:cs typeface="NVIDIA Sans"/>
            </a:endParaRPr>
          </a:p>
          <a:p>
            <a:pPr marL="0" indent="-227965">
              <a:buNone/>
            </a:pPr>
            <a:endParaRPr lang="en-US" sz="1200">
              <a:solidFill>
                <a:schemeClr val="bg1"/>
              </a:solidFill>
              <a:cs typeface="NVIDIA Sans"/>
            </a:endParaRPr>
          </a:p>
          <a:p>
            <a:pPr marL="0" indent="-227965">
              <a:buNone/>
            </a:pPr>
            <a:r>
              <a:rPr lang="en-US" sz="1200" b="1">
                <a:solidFill>
                  <a:schemeClr val="bg1"/>
                </a:solidFill>
                <a:ea typeface="+mn-lt"/>
                <a:cs typeface="+mn-lt"/>
              </a:rPr>
              <a:t>Enterprise-grade</a:t>
            </a:r>
            <a:endParaRPr lang="en-US">
              <a:solidFill>
                <a:schemeClr val="bg1"/>
              </a:solidFill>
              <a:cs typeface="NVIDIA Sans"/>
            </a:endParaRPr>
          </a:p>
          <a:p>
            <a:pPr marL="0" indent="-227965">
              <a:buNone/>
            </a:pPr>
            <a:r>
              <a:rPr lang="en-US" sz="1200">
                <a:solidFill>
                  <a:schemeClr val="bg1"/>
                </a:solidFill>
                <a:ea typeface="+mn-lt"/>
                <a:cs typeface="+mn-lt"/>
              </a:rPr>
              <a:t>Synthesize sensitive data for safe, high-quality AI training and data sharing across organizations.</a:t>
            </a:r>
            <a:endParaRPr lang="en-US">
              <a:solidFill>
                <a:schemeClr val="bg1"/>
              </a:solidFill>
              <a:ea typeface="+mn-lt"/>
              <a:cs typeface="+mn-lt"/>
            </a:endParaRPr>
          </a:p>
        </p:txBody>
      </p:sp>
      <p:pic>
        <p:nvPicPr>
          <p:cNvPr id="19" name="Picture 18" descr="A green and black rectangle with text&#10;&#10;AI-generated content may be incorrect.">
            <a:extLst>
              <a:ext uri="{FF2B5EF4-FFF2-40B4-BE49-F238E27FC236}">
                <a16:creationId xmlns:a16="http://schemas.microsoft.com/office/drawing/2014/main" id="{EA1FDF9B-A883-4BDF-DE97-CCEAFCB15E94}"/>
              </a:ext>
            </a:extLst>
          </p:cNvPr>
          <p:cNvPicPr>
            <a:picLocks noChangeAspect="1"/>
          </p:cNvPicPr>
          <p:nvPr/>
        </p:nvPicPr>
        <p:blipFill>
          <a:blip r:embed="rId7"/>
          <a:stretch>
            <a:fillRect/>
          </a:stretch>
        </p:blipFill>
        <p:spPr>
          <a:xfrm>
            <a:off x="5734692" y="2043152"/>
            <a:ext cx="5230584" cy="1113224"/>
          </a:xfrm>
          <a:prstGeom prst="rect">
            <a:avLst/>
          </a:prstGeom>
        </p:spPr>
      </p:pic>
      <p:pic>
        <p:nvPicPr>
          <p:cNvPr id="21" name="Picture 20" descr="A green rectangle with text&#10;&#10;AI-generated content may be incorrect.">
            <a:extLst>
              <a:ext uri="{FF2B5EF4-FFF2-40B4-BE49-F238E27FC236}">
                <a16:creationId xmlns:a16="http://schemas.microsoft.com/office/drawing/2014/main" id="{FC3E0583-FB42-44A2-5B18-F097A201D47F}"/>
              </a:ext>
            </a:extLst>
          </p:cNvPr>
          <p:cNvPicPr>
            <a:picLocks noChangeAspect="1"/>
          </p:cNvPicPr>
          <p:nvPr/>
        </p:nvPicPr>
        <p:blipFill>
          <a:blip r:embed="rId8"/>
          <a:stretch>
            <a:fillRect/>
          </a:stretch>
        </p:blipFill>
        <p:spPr>
          <a:xfrm>
            <a:off x="5734690" y="3362246"/>
            <a:ext cx="5064098" cy="1119627"/>
          </a:xfrm>
          <a:prstGeom prst="rect">
            <a:avLst/>
          </a:prstGeom>
        </p:spPr>
      </p:pic>
      <p:sp>
        <p:nvSpPr>
          <p:cNvPr id="23" name="Text Placeholder 2">
            <a:extLst>
              <a:ext uri="{FF2B5EF4-FFF2-40B4-BE49-F238E27FC236}">
                <a16:creationId xmlns:a16="http://schemas.microsoft.com/office/drawing/2014/main" id="{788E02B6-66A0-414D-8384-8F7AE3D749B0}"/>
              </a:ext>
            </a:extLst>
          </p:cNvPr>
          <p:cNvSpPr txBox="1">
            <a:spLocks/>
          </p:cNvSpPr>
          <p:nvPr/>
        </p:nvSpPr>
        <p:spPr>
          <a:xfrm>
            <a:off x="5737500" y="4826991"/>
            <a:ext cx="5357823" cy="588970"/>
          </a:xfrm>
          <a:prstGeom prst="rect">
            <a:avLst/>
          </a:prstGeom>
        </p:spPr>
        <p:txBody>
          <a:bodyPr lIns="91440" tIns="45720" rIns="91440" bIns="45720" anchor="t"/>
          <a:lstStyle>
            <a:lvl1pPr marL="228577" indent="-228577" algn="l" defTabSz="914309" rtl="0" eaLnBrk="1" latinLnBrk="0" hangingPunct="1">
              <a:lnSpc>
                <a:spcPct val="90000"/>
              </a:lnSpc>
              <a:spcBef>
                <a:spcPts val="1000"/>
              </a:spcBef>
              <a:buFont typeface="NVIDIA Sans" panose="020B0503020203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NVIDIA Sans" panose="020B0503020203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NVIDIA Sans" panose="020B0503020203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0" indent="-227965">
              <a:buNone/>
            </a:pPr>
            <a:r>
              <a:rPr lang="en-US" sz="1200" i="1">
                <a:solidFill>
                  <a:schemeClr val="bg1"/>
                </a:solidFill>
                <a:ea typeface="+mn-lt"/>
                <a:cs typeface="+mn-lt"/>
              </a:rPr>
              <a:t>Built-in evaluation template to ensure that the synthetic data is both high-quality and safeguarded against adversarial attacks or re-identification.</a:t>
            </a:r>
          </a:p>
        </p:txBody>
      </p:sp>
      <p:sp>
        <p:nvSpPr>
          <p:cNvPr id="7" name="TextBox 6">
            <a:extLst>
              <a:ext uri="{FF2B5EF4-FFF2-40B4-BE49-F238E27FC236}">
                <a16:creationId xmlns:a16="http://schemas.microsoft.com/office/drawing/2014/main" id="{E3257E25-A9E1-7E2E-00D2-5752CB7EB495}"/>
              </a:ext>
            </a:extLst>
          </p:cNvPr>
          <p:cNvSpPr txBox="1"/>
          <p:nvPr/>
        </p:nvSpPr>
        <p:spPr>
          <a:xfrm>
            <a:off x="1022499" y="6124899"/>
            <a:ext cx="10002931" cy="253916"/>
          </a:xfrm>
          <a:prstGeom prst="rect">
            <a:avLst/>
          </a:prstGeom>
          <a:noFill/>
        </p:spPr>
        <p:txBody>
          <a:bodyPr wrap="square" lIns="91440" tIns="45720" rIns="91440" bIns="45720" rtlCol="0" anchor="t">
            <a:spAutoFit/>
          </a:bodyPr>
          <a:lstStyle/>
          <a:p>
            <a:pPr algn="ctr"/>
            <a:r>
              <a:rPr lang="en-US" sz="1050">
                <a:solidFill>
                  <a:schemeClr val="bg1"/>
                </a:solidFill>
                <a:latin typeface="NVIDIA Sans"/>
                <a:cs typeface="NVIDIA Sans"/>
              </a:rPr>
              <a:t>Try the microservice (Early Access) </a:t>
            </a:r>
            <a:r>
              <a:rPr lang="en-US" sz="1050">
                <a:solidFill>
                  <a:schemeClr val="tx2"/>
                </a:solidFill>
                <a:latin typeface="NVIDIA Sans"/>
                <a:cs typeface="NVIDIA Sans"/>
                <a:hlinkClick r:id="rId9">
                  <a:extLst>
                    <a:ext uri="{A12FA001-AC4F-418D-AE19-62706E023703}">
                      <ahyp:hlinkClr xmlns:ahyp="http://schemas.microsoft.com/office/drawing/2018/hyperlinkcolor" val="tx"/>
                    </a:ext>
                  </a:extLst>
                </a:hlinkClick>
              </a:rPr>
              <a:t>here</a:t>
            </a:r>
            <a:r>
              <a:rPr lang="en-US" sz="1050">
                <a:solidFill>
                  <a:schemeClr val="bg1"/>
                </a:solidFill>
                <a:latin typeface="NVIDIA Sans"/>
                <a:cs typeface="NVIDIA Sans"/>
              </a:rPr>
              <a:t>. The open-source library will be available in March, 2026.</a:t>
            </a:r>
            <a:endParaRPr lang="en-US" sz="1050">
              <a:solidFill>
                <a:schemeClr val="bg1"/>
              </a:solidFill>
              <a:ea typeface="+mn-lt"/>
              <a:cs typeface="+mn-lt"/>
            </a:endParaRPr>
          </a:p>
        </p:txBody>
      </p:sp>
    </p:spTree>
    <p:extLst>
      <p:ext uri="{BB962C8B-B14F-4D97-AF65-F5344CB8AC3E}">
        <p14:creationId xmlns:p14="http://schemas.microsoft.com/office/powerpoint/2010/main" val="1221845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diagram of a software&#10;&#10;AI-generated content may be incorrect.">
            <a:extLst>
              <a:ext uri="{FF2B5EF4-FFF2-40B4-BE49-F238E27FC236}">
                <a16:creationId xmlns:a16="http://schemas.microsoft.com/office/drawing/2014/main" id="{DD96383C-B9BE-C635-1557-6E43814FFAF3}"/>
              </a:ext>
            </a:extLst>
          </p:cNvPr>
          <p:cNvPicPr>
            <a:picLocks noChangeAspect="1"/>
          </p:cNvPicPr>
          <p:nvPr/>
        </p:nvPicPr>
        <p:blipFill>
          <a:blip r:embed="rId3"/>
          <a:srcRect l="3816" t="43085" r="2593" b="11170"/>
          <a:stretch>
            <a:fillRect/>
          </a:stretch>
        </p:blipFill>
        <p:spPr>
          <a:xfrm>
            <a:off x="1595767" y="1395854"/>
            <a:ext cx="8997926" cy="2586373"/>
          </a:xfrm>
          <a:prstGeom prst="rect">
            <a:avLst/>
          </a:prstGeom>
        </p:spPr>
      </p:pic>
      <p:sp>
        <p:nvSpPr>
          <p:cNvPr id="20" name="Title 93">
            <a:extLst>
              <a:ext uri="{FF2B5EF4-FFF2-40B4-BE49-F238E27FC236}">
                <a16:creationId xmlns:a16="http://schemas.microsoft.com/office/drawing/2014/main" id="{0C4C30F9-FE55-DCA0-2C72-29A270FD63CA}"/>
              </a:ext>
            </a:extLst>
          </p:cNvPr>
          <p:cNvSpPr>
            <a:spLocks noGrp="1"/>
          </p:cNvSpPr>
          <p:nvPr>
            <p:ph type="title"/>
          </p:nvPr>
        </p:nvSpPr>
        <p:spPr>
          <a:xfrm>
            <a:off x="838200" y="0"/>
            <a:ext cx="10515600" cy="838400"/>
          </a:xfrm>
        </p:spPr>
        <p:txBody>
          <a:bodyPr/>
          <a:lstStyle/>
          <a:p>
            <a:r>
              <a:rPr lang="en-US" err="1">
                <a:latin typeface="NVIDIA Sans"/>
                <a:cs typeface="NVIDIA Sans"/>
              </a:rPr>
              <a:t>NeMo</a:t>
            </a:r>
            <a:r>
              <a:rPr lang="en-US">
                <a:latin typeface="NVIDIA Sans"/>
                <a:cs typeface="NVIDIA Sans"/>
              </a:rPr>
              <a:t> Safe Synthesizer Workflow</a:t>
            </a:r>
            <a:endParaRPr lang="en-US"/>
          </a:p>
        </p:txBody>
      </p:sp>
      <p:sp>
        <p:nvSpPr>
          <p:cNvPr id="22" name="Subtitle 6">
            <a:extLst>
              <a:ext uri="{FF2B5EF4-FFF2-40B4-BE49-F238E27FC236}">
                <a16:creationId xmlns:a16="http://schemas.microsoft.com/office/drawing/2014/main" id="{5A0CCD5C-7724-049A-1B30-7EF5281600A4}"/>
              </a:ext>
            </a:extLst>
          </p:cNvPr>
          <p:cNvSpPr>
            <a:spLocks noGrp="1"/>
          </p:cNvSpPr>
          <p:nvPr>
            <p:ph type="subTitle" idx="1"/>
          </p:nvPr>
        </p:nvSpPr>
        <p:spPr>
          <a:xfrm>
            <a:off x="838200" y="829056"/>
            <a:ext cx="10515600" cy="469600"/>
          </a:xfrm>
        </p:spPr>
        <p:txBody>
          <a:bodyPr/>
          <a:lstStyle/>
          <a:p>
            <a:pPr marL="227965" indent="-227965"/>
            <a:r>
              <a:rPr lang="en-US"/>
              <a:t>Safe Synthesizer is built for highly regulated industries where data security is paramount</a:t>
            </a:r>
          </a:p>
        </p:txBody>
      </p:sp>
      <p:sp>
        <p:nvSpPr>
          <p:cNvPr id="3" name="Google Shape;1862;p197">
            <a:extLst>
              <a:ext uri="{FF2B5EF4-FFF2-40B4-BE49-F238E27FC236}">
                <a16:creationId xmlns:a16="http://schemas.microsoft.com/office/drawing/2014/main" id="{1E2553D2-546F-769F-1CD1-53AF10079AAE}"/>
              </a:ext>
            </a:extLst>
          </p:cNvPr>
          <p:cNvSpPr/>
          <p:nvPr/>
        </p:nvSpPr>
        <p:spPr>
          <a:xfrm>
            <a:off x="3337815" y="4108850"/>
            <a:ext cx="2661600" cy="2233800"/>
          </a:xfrm>
          <a:prstGeom prst="rect">
            <a:avLst/>
          </a:prstGeom>
          <a:solidFill>
            <a:srgbClr val="F2F2F2"/>
          </a:solidFill>
          <a:ln>
            <a:noFill/>
          </a:ln>
          <a:effectLst>
            <a:outerShdw blurRad="63500" dist="38100" dir="2700000">
              <a:srgbClr val="000000">
                <a:alpha val="40000"/>
              </a:srgbClr>
            </a:outerShdw>
          </a:effectLst>
        </p:spPr>
        <p:txBody>
          <a:bodyPr spcFirstLastPara="1" wrap="square" lIns="30467" tIns="15233" rIns="30467"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chemeClr val="dk1"/>
              </a:buClr>
              <a:buSzPts val="1600"/>
              <a:buFont typeface="NVIDIA Sans"/>
              <a:buNone/>
            </a:pPr>
            <a:endParaRPr sz="533" b="0" i="0" u="none" strike="noStrike" cap="none">
              <a:solidFill>
                <a:srgbClr val="FFFFFF"/>
              </a:solidFill>
              <a:latin typeface="NVIDIA Sans"/>
              <a:ea typeface="NVIDIA Sans"/>
              <a:cs typeface="NVIDIA Sans"/>
              <a:sym typeface="NVIDIA Sans"/>
            </a:endParaRPr>
          </a:p>
        </p:txBody>
      </p:sp>
      <p:sp>
        <p:nvSpPr>
          <p:cNvPr id="5" name="Google Shape;1863;p197">
            <a:extLst>
              <a:ext uri="{FF2B5EF4-FFF2-40B4-BE49-F238E27FC236}">
                <a16:creationId xmlns:a16="http://schemas.microsoft.com/office/drawing/2014/main" id="{8B14E4A4-5B1F-252E-14C7-794879851D79}"/>
              </a:ext>
            </a:extLst>
          </p:cNvPr>
          <p:cNvSpPr txBox="1"/>
          <p:nvPr/>
        </p:nvSpPr>
        <p:spPr>
          <a:xfrm>
            <a:off x="3556200" y="5293649"/>
            <a:ext cx="2282800" cy="7972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5000"/>
              </a:lnSpc>
              <a:spcBef>
                <a:spcPts val="0"/>
              </a:spcBef>
              <a:spcAft>
                <a:spcPts val="0"/>
              </a:spcAft>
              <a:buClr>
                <a:srgbClr val="000000"/>
              </a:buClr>
              <a:buSzPts val="800"/>
              <a:buFont typeface="Arial"/>
              <a:buNone/>
            </a:pPr>
            <a:r>
              <a:rPr lang="en" sz="1200">
                <a:latin typeface="NVIDIA Sans"/>
                <a:ea typeface="NVIDIA Sans"/>
                <a:cs typeface="NVIDIA Sans"/>
                <a:sym typeface="NVIDIA Sans"/>
              </a:rPr>
              <a:t>Create synthetic medical records for research while maintaining patient privacy and HIPAA compliance.</a:t>
            </a:r>
            <a:endParaRPr lang="en-US" sz="1200" b="1" i="0" u="none" strike="noStrike" cap="none">
              <a:solidFill>
                <a:srgbClr val="000000"/>
              </a:solidFill>
              <a:latin typeface="NVIDIA Sans"/>
              <a:ea typeface="NVIDIA Sans"/>
              <a:cs typeface="NVIDIA Sans"/>
            </a:endParaRPr>
          </a:p>
        </p:txBody>
      </p:sp>
      <p:pic>
        <p:nvPicPr>
          <p:cNvPr id="7" name="Google Shape;1864;p197" descr="A green cross in a circle&#10;&#10;AI-generated content may be incorrect.">
            <a:extLst>
              <a:ext uri="{FF2B5EF4-FFF2-40B4-BE49-F238E27FC236}">
                <a16:creationId xmlns:a16="http://schemas.microsoft.com/office/drawing/2014/main" id="{E68488A3-8096-AF18-EE39-B541E6B34D42}"/>
              </a:ext>
            </a:extLst>
          </p:cNvPr>
          <p:cNvPicPr preferRelativeResize="0"/>
          <p:nvPr/>
        </p:nvPicPr>
        <p:blipFill rotWithShape="1">
          <a:blip r:embed="rId4">
            <a:alphaModFix/>
          </a:blip>
          <a:srcRect/>
          <a:stretch/>
        </p:blipFill>
        <p:spPr>
          <a:xfrm>
            <a:off x="3439399" y="4153285"/>
            <a:ext cx="699655" cy="699655"/>
          </a:xfrm>
          <a:prstGeom prst="rect">
            <a:avLst/>
          </a:prstGeom>
          <a:noFill/>
          <a:ln>
            <a:noFill/>
          </a:ln>
        </p:spPr>
      </p:pic>
      <p:sp>
        <p:nvSpPr>
          <p:cNvPr id="9" name="Google Shape;1865;p197">
            <a:extLst>
              <a:ext uri="{FF2B5EF4-FFF2-40B4-BE49-F238E27FC236}">
                <a16:creationId xmlns:a16="http://schemas.microsoft.com/office/drawing/2014/main" id="{8EE42A4E-DE31-367B-FEC6-B47656D493CC}"/>
              </a:ext>
            </a:extLst>
          </p:cNvPr>
          <p:cNvSpPr txBox="1"/>
          <p:nvPr/>
        </p:nvSpPr>
        <p:spPr>
          <a:xfrm>
            <a:off x="3555683" y="4867807"/>
            <a:ext cx="1937200" cy="3304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5000"/>
              </a:lnSpc>
              <a:spcBef>
                <a:spcPts val="0"/>
              </a:spcBef>
              <a:spcAft>
                <a:spcPts val="0"/>
              </a:spcAft>
              <a:buClr>
                <a:srgbClr val="000000"/>
              </a:buClr>
              <a:buSzPts val="1200"/>
              <a:buFont typeface="Arial"/>
              <a:buNone/>
            </a:pPr>
            <a:r>
              <a:rPr lang="en" sz="1400" b="0" i="0" u="none" strike="noStrike" cap="none">
                <a:solidFill>
                  <a:srgbClr val="000000"/>
                </a:solidFill>
                <a:latin typeface="NVIDIA Sans Medium"/>
                <a:ea typeface="NVIDIA Sans Medium"/>
                <a:cs typeface="NVIDIA Sans Medium"/>
                <a:sym typeface="NVIDIA Sans Medium"/>
              </a:rPr>
              <a:t>Patient Data</a:t>
            </a:r>
            <a:endParaRPr lang="en-US" sz="1400" b="0" i="0" u="none" strike="noStrike" cap="none">
              <a:solidFill>
                <a:srgbClr val="000000"/>
              </a:solidFill>
              <a:latin typeface="NVIDIA Sans Medium"/>
              <a:ea typeface="NVIDIA Sans Medium"/>
              <a:cs typeface="NVIDIA Sans Medium"/>
            </a:endParaRPr>
          </a:p>
        </p:txBody>
      </p:sp>
      <p:sp>
        <p:nvSpPr>
          <p:cNvPr id="11" name="Google Shape;1866;p197">
            <a:extLst>
              <a:ext uri="{FF2B5EF4-FFF2-40B4-BE49-F238E27FC236}">
                <a16:creationId xmlns:a16="http://schemas.microsoft.com/office/drawing/2014/main" id="{FB814397-3A9E-9066-C2E4-3FD2D433CDEE}"/>
              </a:ext>
            </a:extLst>
          </p:cNvPr>
          <p:cNvSpPr/>
          <p:nvPr/>
        </p:nvSpPr>
        <p:spPr>
          <a:xfrm>
            <a:off x="535333" y="4112591"/>
            <a:ext cx="2661600" cy="2229400"/>
          </a:xfrm>
          <a:prstGeom prst="rect">
            <a:avLst/>
          </a:prstGeom>
          <a:solidFill>
            <a:srgbClr val="F2F2F2"/>
          </a:solidFill>
          <a:ln>
            <a:noFill/>
          </a:ln>
          <a:effectLst>
            <a:outerShdw blurRad="63500" dist="38100" dir="2700000">
              <a:srgbClr val="000000">
                <a:alpha val="40000"/>
              </a:srgbClr>
            </a:outerShdw>
          </a:effectLst>
        </p:spPr>
        <p:txBody>
          <a:bodyPr spcFirstLastPara="1" wrap="square" lIns="30467" tIns="15233" rIns="30467"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chemeClr val="dk1"/>
              </a:buClr>
              <a:buSzPts val="1600"/>
              <a:buFont typeface="NVIDIA Sans"/>
              <a:buNone/>
            </a:pPr>
            <a:endParaRPr sz="533" b="0" i="0" u="none" strike="noStrike" cap="none">
              <a:solidFill>
                <a:srgbClr val="FFFFFF"/>
              </a:solidFill>
              <a:latin typeface="NVIDIA Sans"/>
              <a:ea typeface="NVIDIA Sans"/>
              <a:cs typeface="NVIDIA Sans"/>
              <a:sym typeface="NVIDIA Sans"/>
            </a:endParaRPr>
          </a:p>
        </p:txBody>
      </p:sp>
      <p:sp>
        <p:nvSpPr>
          <p:cNvPr id="13" name="Google Shape;1867;p197">
            <a:extLst>
              <a:ext uri="{FF2B5EF4-FFF2-40B4-BE49-F238E27FC236}">
                <a16:creationId xmlns:a16="http://schemas.microsoft.com/office/drawing/2014/main" id="{D4345C89-262A-AC3A-970B-7BD32C9CF06E}"/>
              </a:ext>
            </a:extLst>
          </p:cNvPr>
          <p:cNvSpPr txBox="1"/>
          <p:nvPr/>
        </p:nvSpPr>
        <p:spPr>
          <a:xfrm>
            <a:off x="753708" y="5283911"/>
            <a:ext cx="2282800" cy="7972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114999"/>
              </a:lnSpc>
              <a:buSzPts val="1100"/>
            </a:pPr>
            <a:r>
              <a:rPr lang="en" sz="1200">
                <a:latin typeface="NVIDIA Sans"/>
                <a:ea typeface="NVIDIA Sans"/>
                <a:cs typeface="NVIDIA Sans"/>
                <a:sym typeface="NVIDIA Sans"/>
              </a:rPr>
              <a:t>Generate synthetic text data from documents or transcripts for AI training while protecting personal information.</a:t>
            </a:r>
            <a:endParaRPr lang="en-US" sz="1200" b="0" i="0" u="none" strike="noStrike" cap="none">
              <a:solidFill>
                <a:srgbClr val="000000"/>
              </a:solidFill>
              <a:latin typeface="NVIDIA Sans"/>
              <a:ea typeface="NVIDIA Sans"/>
              <a:cs typeface="NVIDIA Sans"/>
            </a:endParaRPr>
          </a:p>
        </p:txBody>
      </p:sp>
      <p:sp>
        <p:nvSpPr>
          <p:cNvPr id="15" name="Google Shape;1868;p197">
            <a:extLst>
              <a:ext uri="{FF2B5EF4-FFF2-40B4-BE49-F238E27FC236}">
                <a16:creationId xmlns:a16="http://schemas.microsoft.com/office/drawing/2014/main" id="{A3FC07DC-DD02-95E7-C5E3-62C89D8674B4}"/>
              </a:ext>
            </a:extLst>
          </p:cNvPr>
          <p:cNvSpPr txBox="1"/>
          <p:nvPr/>
        </p:nvSpPr>
        <p:spPr>
          <a:xfrm>
            <a:off x="753201" y="4866957"/>
            <a:ext cx="1937200" cy="3304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4999"/>
              </a:lnSpc>
              <a:spcBef>
                <a:spcPts val="0"/>
              </a:spcBef>
              <a:spcAft>
                <a:spcPts val="0"/>
              </a:spcAft>
              <a:buClr>
                <a:srgbClr val="000000"/>
              </a:buClr>
              <a:buSzPts val="1200"/>
              <a:buFont typeface="Arial"/>
              <a:buNone/>
            </a:pPr>
            <a:r>
              <a:rPr lang="en" sz="1400" b="0" i="0" u="none" strike="noStrike" cap="none">
                <a:solidFill>
                  <a:srgbClr val="000000"/>
                </a:solidFill>
                <a:latin typeface="NVIDIA Sans Medium"/>
                <a:ea typeface="NVIDIA Sans Medium"/>
                <a:cs typeface="NVIDIA Sans Medium"/>
                <a:sym typeface="NVIDIA Sans Medium"/>
              </a:rPr>
              <a:t>Natural Language</a:t>
            </a:r>
            <a:endParaRPr lang="en-US" sz="1400" b="0" i="0" u="none" strike="noStrike" cap="none">
              <a:solidFill>
                <a:srgbClr val="000000"/>
              </a:solidFill>
              <a:latin typeface="NVIDIA Sans Medium"/>
              <a:ea typeface="NVIDIA Sans Medium"/>
              <a:cs typeface="NVIDIA Sans Medium"/>
            </a:endParaRPr>
          </a:p>
        </p:txBody>
      </p:sp>
      <p:pic>
        <p:nvPicPr>
          <p:cNvPr id="17" name="Google Shape;1869;p197" descr="A green line drawing of a stack of paper&#10;&#10;AI-generated content may be incorrect." title="m48-document-part-specification-256px-grn.png">
            <a:extLst>
              <a:ext uri="{FF2B5EF4-FFF2-40B4-BE49-F238E27FC236}">
                <a16:creationId xmlns:a16="http://schemas.microsoft.com/office/drawing/2014/main" id="{F63AFD74-35DF-C7EA-1A87-524F80162362}"/>
              </a:ext>
            </a:extLst>
          </p:cNvPr>
          <p:cNvPicPr preferRelativeResize="0"/>
          <p:nvPr/>
        </p:nvPicPr>
        <p:blipFill rotWithShape="1">
          <a:blip r:embed="rId5">
            <a:alphaModFix/>
          </a:blip>
          <a:srcRect/>
          <a:stretch/>
        </p:blipFill>
        <p:spPr>
          <a:xfrm>
            <a:off x="598823" y="4198333"/>
            <a:ext cx="609600" cy="609600"/>
          </a:xfrm>
          <a:prstGeom prst="rect">
            <a:avLst/>
          </a:prstGeom>
          <a:noFill/>
          <a:ln>
            <a:noFill/>
          </a:ln>
        </p:spPr>
      </p:pic>
      <p:sp>
        <p:nvSpPr>
          <p:cNvPr id="21" name="Google Shape;1870;p197">
            <a:extLst>
              <a:ext uri="{FF2B5EF4-FFF2-40B4-BE49-F238E27FC236}">
                <a16:creationId xmlns:a16="http://schemas.microsoft.com/office/drawing/2014/main" id="{6A034AEE-EAC2-04BE-E1D4-B83755DCF879}"/>
              </a:ext>
            </a:extLst>
          </p:cNvPr>
          <p:cNvSpPr/>
          <p:nvPr/>
        </p:nvSpPr>
        <p:spPr>
          <a:xfrm>
            <a:off x="6166433" y="4109665"/>
            <a:ext cx="2661600" cy="2233800"/>
          </a:xfrm>
          <a:prstGeom prst="rect">
            <a:avLst/>
          </a:prstGeom>
          <a:solidFill>
            <a:srgbClr val="F2F2F2"/>
          </a:solidFill>
          <a:ln>
            <a:noFill/>
          </a:ln>
          <a:effectLst>
            <a:outerShdw blurRad="63500" dist="38100" dir="2700000">
              <a:srgbClr val="000000">
                <a:alpha val="40000"/>
              </a:srgbClr>
            </a:outerShdw>
          </a:effectLst>
        </p:spPr>
        <p:txBody>
          <a:bodyPr spcFirstLastPara="1" wrap="square" lIns="30467" tIns="15233" rIns="30467"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chemeClr val="dk1"/>
              </a:buClr>
              <a:buSzPts val="1600"/>
              <a:buFont typeface="NVIDIA Sans"/>
              <a:buNone/>
            </a:pPr>
            <a:endParaRPr sz="533" b="0" i="0" u="none" strike="noStrike" cap="none">
              <a:solidFill>
                <a:srgbClr val="FFFFFF"/>
              </a:solidFill>
              <a:latin typeface="NVIDIA Sans"/>
              <a:ea typeface="NVIDIA Sans"/>
              <a:cs typeface="NVIDIA Sans"/>
              <a:sym typeface="NVIDIA Sans"/>
            </a:endParaRPr>
          </a:p>
        </p:txBody>
      </p:sp>
      <p:sp>
        <p:nvSpPr>
          <p:cNvPr id="24" name="Google Shape;1871;p197">
            <a:extLst>
              <a:ext uri="{FF2B5EF4-FFF2-40B4-BE49-F238E27FC236}">
                <a16:creationId xmlns:a16="http://schemas.microsoft.com/office/drawing/2014/main" id="{6AB6724F-13BD-A9D5-B0A5-4A45ED91B612}"/>
              </a:ext>
            </a:extLst>
          </p:cNvPr>
          <p:cNvSpPr txBox="1"/>
          <p:nvPr/>
        </p:nvSpPr>
        <p:spPr>
          <a:xfrm>
            <a:off x="6384809" y="5285674"/>
            <a:ext cx="2282800" cy="7972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SzPts val="1100"/>
            </a:pPr>
            <a:r>
              <a:rPr lang="en" sz="1200">
                <a:latin typeface="NVIDIA Sans"/>
                <a:ea typeface="NVIDIA Sans"/>
                <a:cs typeface="NVIDIA Sans"/>
                <a:sym typeface="NVIDIA Sans"/>
              </a:rPr>
              <a:t>Compose synthetic financial data that preserves patterns without exposing customer information.</a:t>
            </a:r>
            <a:endParaRPr lang="en-US" sz="1200" b="0" i="0" u="none" strike="noStrike" cap="none">
              <a:solidFill>
                <a:srgbClr val="000000"/>
              </a:solidFill>
              <a:latin typeface="NVIDIA Sans"/>
              <a:ea typeface="NVIDIA Sans"/>
              <a:cs typeface="NVIDIA Sans"/>
            </a:endParaRPr>
          </a:p>
        </p:txBody>
      </p:sp>
      <p:sp>
        <p:nvSpPr>
          <p:cNvPr id="26" name="Google Shape;1872;p197">
            <a:extLst>
              <a:ext uri="{FF2B5EF4-FFF2-40B4-BE49-F238E27FC236}">
                <a16:creationId xmlns:a16="http://schemas.microsoft.com/office/drawing/2014/main" id="{39D92715-1929-A5DE-F64F-25BF0FD959C6}"/>
              </a:ext>
            </a:extLst>
          </p:cNvPr>
          <p:cNvSpPr txBox="1"/>
          <p:nvPr/>
        </p:nvSpPr>
        <p:spPr>
          <a:xfrm>
            <a:off x="6384300" y="4868717"/>
            <a:ext cx="2214800" cy="3304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4999"/>
              </a:lnSpc>
              <a:spcBef>
                <a:spcPts val="0"/>
              </a:spcBef>
              <a:spcAft>
                <a:spcPts val="0"/>
              </a:spcAft>
              <a:buClr>
                <a:srgbClr val="000000"/>
              </a:buClr>
              <a:buSzPts val="1200"/>
              <a:buFont typeface="Arial"/>
              <a:buNone/>
            </a:pPr>
            <a:r>
              <a:rPr lang="en" sz="1400" b="0" i="0" u="none" strike="noStrike" cap="none">
                <a:solidFill>
                  <a:srgbClr val="000000"/>
                </a:solidFill>
                <a:latin typeface="NVIDIA Sans Medium"/>
                <a:ea typeface="NVIDIA Sans Medium"/>
                <a:cs typeface="NVIDIA Sans Medium"/>
                <a:sym typeface="NVIDIA Sans Medium"/>
              </a:rPr>
              <a:t>Financial Transactions</a:t>
            </a:r>
            <a:endParaRPr lang="en-US" sz="1400" b="0" i="0" u="none" strike="noStrike" cap="none">
              <a:solidFill>
                <a:srgbClr val="000000"/>
              </a:solidFill>
              <a:latin typeface="NVIDIA Sans Medium"/>
              <a:ea typeface="NVIDIA Sans Medium"/>
              <a:cs typeface="NVIDIA Sans Medium"/>
            </a:endParaRPr>
          </a:p>
        </p:txBody>
      </p:sp>
      <p:pic>
        <p:nvPicPr>
          <p:cNvPr id="28" name="Google Shape;1873;p197" title="m48-data-2-256px-grn.png">
            <a:extLst>
              <a:ext uri="{FF2B5EF4-FFF2-40B4-BE49-F238E27FC236}">
                <a16:creationId xmlns:a16="http://schemas.microsoft.com/office/drawing/2014/main" id="{73C5B9F3-623B-C8B5-648A-6992AF9B7146}"/>
              </a:ext>
            </a:extLst>
          </p:cNvPr>
          <p:cNvPicPr preferRelativeResize="0"/>
          <p:nvPr/>
        </p:nvPicPr>
        <p:blipFill rotWithShape="1">
          <a:blip r:embed="rId6">
            <a:alphaModFix/>
          </a:blip>
          <a:srcRect/>
          <a:stretch/>
        </p:blipFill>
        <p:spPr>
          <a:xfrm>
            <a:off x="6313072" y="4198311"/>
            <a:ext cx="609600" cy="609600"/>
          </a:xfrm>
          <a:prstGeom prst="rect">
            <a:avLst/>
          </a:prstGeom>
          <a:noFill/>
          <a:ln>
            <a:noFill/>
          </a:ln>
        </p:spPr>
      </p:pic>
      <p:sp>
        <p:nvSpPr>
          <p:cNvPr id="30" name="Google Shape;1874;p197">
            <a:extLst>
              <a:ext uri="{FF2B5EF4-FFF2-40B4-BE49-F238E27FC236}">
                <a16:creationId xmlns:a16="http://schemas.microsoft.com/office/drawing/2014/main" id="{818EAC08-8863-A99D-4EDB-593588ABCDAA}"/>
              </a:ext>
            </a:extLst>
          </p:cNvPr>
          <p:cNvSpPr/>
          <p:nvPr/>
        </p:nvSpPr>
        <p:spPr>
          <a:xfrm>
            <a:off x="8995055" y="4112591"/>
            <a:ext cx="2661600" cy="2229400"/>
          </a:xfrm>
          <a:prstGeom prst="rect">
            <a:avLst/>
          </a:prstGeom>
          <a:solidFill>
            <a:srgbClr val="F2F2F2"/>
          </a:solidFill>
          <a:ln>
            <a:noFill/>
          </a:ln>
          <a:effectLst>
            <a:outerShdw blurRad="63500" dist="38100" dir="2700000">
              <a:srgbClr val="000000">
                <a:alpha val="40000"/>
              </a:srgbClr>
            </a:outerShdw>
          </a:effectLst>
        </p:spPr>
        <p:txBody>
          <a:bodyPr spcFirstLastPara="1" wrap="square" lIns="30467" tIns="15233" rIns="30467"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chemeClr val="dk1"/>
              </a:buClr>
              <a:buSzPts val="1600"/>
              <a:buFont typeface="NVIDIA Sans"/>
              <a:buNone/>
            </a:pPr>
            <a:endParaRPr sz="533" b="0" i="0" u="none" strike="noStrike" cap="none">
              <a:solidFill>
                <a:srgbClr val="FFFFFF"/>
              </a:solidFill>
              <a:latin typeface="NVIDIA Sans"/>
              <a:ea typeface="NVIDIA Sans"/>
              <a:cs typeface="NVIDIA Sans"/>
              <a:sym typeface="NVIDIA Sans"/>
            </a:endParaRPr>
          </a:p>
        </p:txBody>
      </p:sp>
      <p:sp>
        <p:nvSpPr>
          <p:cNvPr id="32" name="Google Shape;1875;p197">
            <a:extLst>
              <a:ext uri="{FF2B5EF4-FFF2-40B4-BE49-F238E27FC236}">
                <a16:creationId xmlns:a16="http://schemas.microsoft.com/office/drawing/2014/main" id="{21BC3EDF-173A-9933-7541-D7BBB58613ED}"/>
              </a:ext>
            </a:extLst>
          </p:cNvPr>
          <p:cNvSpPr txBox="1"/>
          <p:nvPr/>
        </p:nvSpPr>
        <p:spPr>
          <a:xfrm>
            <a:off x="9212935" y="4866950"/>
            <a:ext cx="2214800" cy="3304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4999"/>
              </a:lnSpc>
              <a:spcBef>
                <a:spcPts val="0"/>
              </a:spcBef>
              <a:spcAft>
                <a:spcPts val="0"/>
              </a:spcAft>
              <a:buClr>
                <a:srgbClr val="000000"/>
              </a:buClr>
              <a:buSzPts val="1200"/>
              <a:buFont typeface="Arial"/>
              <a:buNone/>
            </a:pPr>
            <a:r>
              <a:rPr lang="en" sz="1400">
                <a:latin typeface="NVIDIA Sans Medium"/>
                <a:ea typeface="NVIDIA Sans Medium"/>
                <a:cs typeface="NVIDIA Sans Medium"/>
                <a:sym typeface="NVIDIA Sans Medium"/>
              </a:rPr>
              <a:t>Telecommunications</a:t>
            </a:r>
            <a:endParaRPr lang="en-US" sz="1400" b="0" i="0" u="none" strike="noStrike" cap="none">
              <a:solidFill>
                <a:srgbClr val="000000"/>
              </a:solidFill>
              <a:latin typeface="NVIDIA Sans Medium"/>
              <a:ea typeface="NVIDIA Sans Medium"/>
              <a:cs typeface="NVIDIA Sans Medium"/>
            </a:endParaRPr>
          </a:p>
        </p:txBody>
      </p:sp>
      <p:grpSp>
        <p:nvGrpSpPr>
          <p:cNvPr id="36" name="Google Shape;1876;p197">
            <a:extLst>
              <a:ext uri="{FF2B5EF4-FFF2-40B4-BE49-F238E27FC236}">
                <a16:creationId xmlns:a16="http://schemas.microsoft.com/office/drawing/2014/main" id="{995DD404-2E03-BC39-4634-89559C087D0D}"/>
              </a:ext>
            </a:extLst>
          </p:cNvPr>
          <p:cNvGrpSpPr/>
          <p:nvPr/>
        </p:nvGrpSpPr>
        <p:grpSpPr>
          <a:xfrm>
            <a:off x="9137935" y="4245932"/>
            <a:ext cx="469600" cy="469600"/>
            <a:chOff x="6853451" y="1584249"/>
            <a:chExt cx="352200" cy="352200"/>
          </a:xfrm>
        </p:grpSpPr>
        <p:pic>
          <p:nvPicPr>
            <p:cNvPr id="34" name="Google Shape;1877;p197">
              <a:extLst>
                <a:ext uri="{FF2B5EF4-FFF2-40B4-BE49-F238E27FC236}">
                  <a16:creationId xmlns:a16="http://schemas.microsoft.com/office/drawing/2014/main" id="{B786F2FE-998D-0AFC-8CE7-308B2E819152}"/>
                </a:ext>
              </a:extLst>
            </p:cNvPr>
            <p:cNvPicPr preferRelativeResize="0"/>
            <p:nvPr/>
          </p:nvPicPr>
          <p:blipFill rotWithShape="1">
            <a:blip r:embed="rId7">
              <a:alphaModFix/>
            </a:blip>
            <a:srcRect/>
            <a:stretch/>
          </p:blipFill>
          <p:spPr>
            <a:xfrm>
              <a:off x="6853451" y="1584249"/>
              <a:ext cx="352200" cy="352200"/>
            </a:xfrm>
            <a:prstGeom prst="rect">
              <a:avLst/>
            </a:prstGeom>
            <a:noFill/>
            <a:ln>
              <a:noFill/>
            </a:ln>
          </p:spPr>
        </p:pic>
        <p:pic>
          <p:nvPicPr>
            <p:cNvPr id="35" name="Google Shape;1878;p197">
              <a:extLst>
                <a:ext uri="{FF2B5EF4-FFF2-40B4-BE49-F238E27FC236}">
                  <a16:creationId xmlns:a16="http://schemas.microsoft.com/office/drawing/2014/main" id="{DBDB8C34-F40F-207C-A55F-B8402DF6A55D}"/>
                </a:ext>
              </a:extLst>
            </p:cNvPr>
            <p:cNvPicPr preferRelativeResize="0"/>
            <p:nvPr/>
          </p:nvPicPr>
          <p:blipFill rotWithShape="1">
            <a:blip r:embed="rId7">
              <a:alphaModFix/>
            </a:blip>
            <a:srcRect l="64424" t="-3" r="17872" b="82314"/>
            <a:stretch/>
          </p:blipFill>
          <p:spPr>
            <a:xfrm rot="-5400000">
              <a:off x="6916575" y="1584750"/>
              <a:ext cx="62350" cy="62300"/>
            </a:xfrm>
            <a:prstGeom prst="rect">
              <a:avLst/>
            </a:prstGeom>
            <a:noFill/>
            <a:ln>
              <a:noFill/>
            </a:ln>
          </p:spPr>
        </p:pic>
      </p:grpSp>
      <p:sp>
        <p:nvSpPr>
          <p:cNvPr id="38" name="Google Shape;1879;p197">
            <a:extLst>
              <a:ext uri="{FF2B5EF4-FFF2-40B4-BE49-F238E27FC236}">
                <a16:creationId xmlns:a16="http://schemas.microsoft.com/office/drawing/2014/main" id="{8069AEDC-0D18-C5D5-F3DD-120F33D5A07B}"/>
              </a:ext>
            </a:extLst>
          </p:cNvPr>
          <p:cNvSpPr txBox="1"/>
          <p:nvPr/>
        </p:nvSpPr>
        <p:spPr>
          <a:xfrm>
            <a:off x="9213429" y="5283911"/>
            <a:ext cx="2282800" cy="797200"/>
          </a:xfrm>
          <a:prstGeom prst="rect">
            <a:avLst/>
          </a:prstGeom>
          <a:noFill/>
          <a:ln>
            <a:noFill/>
          </a:ln>
        </p:spPr>
        <p:txBody>
          <a:bodyPr spcFirstLastPara="1" wrap="square" lIns="0" tIns="0" rIns="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14999"/>
              </a:lnSpc>
              <a:spcBef>
                <a:spcPts val="0"/>
              </a:spcBef>
              <a:spcAft>
                <a:spcPts val="0"/>
              </a:spcAft>
              <a:buClr>
                <a:srgbClr val="000000"/>
              </a:buClr>
              <a:buSzPts val="1100"/>
              <a:buFont typeface="Arial"/>
              <a:buNone/>
            </a:pPr>
            <a:r>
              <a:rPr lang="en" sz="1200">
                <a:latin typeface="NVIDIA Sans"/>
                <a:ea typeface="NVIDIA Sans"/>
                <a:cs typeface="NVIDIA Sans"/>
                <a:sym typeface="NVIDIA Sans"/>
              </a:rPr>
              <a:t>Produce synthetic call records and network data for analytics while safeguarding subscriber privacy.</a:t>
            </a:r>
            <a:endParaRPr lang="en-US" sz="1200" b="0" i="0" u="none" strike="noStrike" cap="none">
              <a:solidFill>
                <a:srgbClr val="000000"/>
              </a:solidFill>
              <a:latin typeface="NVIDIA Sans"/>
              <a:ea typeface="NVIDIA Sans"/>
              <a:cs typeface="NVIDIA Sans"/>
            </a:endParaRPr>
          </a:p>
        </p:txBody>
      </p:sp>
    </p:spTree>
    <p:extLst>
      <p:ext uri="{BB962C8B-B14F-4D97-AF65-F5344CB8AC3E}">
        <p14:creationId xmlns:p14="http://schemas.microsoft.com/office/powerpoint/2010/main" val="2667332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886;p198">
            <a:extLst>
              <a:ext uri="{FF2B5EF4-FFF2-40B4-BE49-F238E27FC236}">
                <a16:creationId xmlns:a16="http://schemas.microsoft.com/office/drawing/2014/main" id="{2F3E0BF1-09D7-20C3-FB7D-741399A21972}"/>
              </a:ext>
            </a:extLst>
          </p:cNvPr>
          <p:cNvSpPr/>
          <p:nvPr/>
        </p:nvSpPr>
        <p:spPr>
          <a:xfrm>
            <a:off x="521176" y="1298281"/>
            <a:ext cx="6972400" cy="1430400"/>
          </a:xfrm>
          <a:prstGeom prst="rect">
            <a:avLst/>
          </a:prstGeom>
          <a:solidFill>
            <a:srgbClr val="F2F2F2"/>
          </a:solid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1050">
                <a:latin typeface="NVIDIA Sans"/>
                <a:ea typeface="NVIDIA Sans"/>
                <a:cs typeface="NVIDIA Sans"/>
                <a:sym typeface="NVIDIA Sans"/>
              </a:rPr>
              <a:t>PRIVACY PROTECTION </a:t>
            </a:r>
            <a:endParaRPr sz="1050">
              <a:latin typeface="NVIDIA Sans"/>
              <a:ea typeface="NVIDIA Sans"/>
              <a:cs typeface="NVIDIA Sans"/>
              <a:sym typeface="NVIDIA Sans"/>
            </a:endParaRPr>
          </a:p>
          <a:p>
            <a:pPr marL="0" lvl="0" indent="0" algn="l" rtl="0">
              <a:lnSpc>
                <a:spcPct val="115000"/>
              </a:lnSpc>
              <a:spcBef>
                <a:spcPts val="0"/>
              </a:spcBef>
              <a:spcAft>
                <a:spcPts val="0"/>
              </a:spcAft>
              <a:buNone/>
            </a:pPr>
            <a:r>
              <a:rPr lang="en" sz="1050">
                <a:latin typeface="NVIDIA Sans"/>
                <a:ea typeface="NVIDIA Sans"/>
                <a:cs typeface="NVIDIA Sans"/>
                <a:sym typeface="NVIDIA Sans"/>
              </a:rPr>
              <a:t>LEVEL 3: Differential Privacy</a:t>
            </a:r>
          </a:p>
          <a:p>
            <a:pPr>
              <a:lnSpc>
                <a:spcPct val="114999"/>
              </a:lnSpc>
            </a:pPr>
            <a:r>
              <a:rPr lang="en" sz="1100" i="1">
                <a:solidFill>
                  <a:schemeClr val="lt1"/>
                </a:solidFill>
                <a:latin typeface="NVIDIA Sans"/>
                <a:cs typeface="NVIDIA Sans"/>
              </a:rPr>
              <a:t>No 1-to-1 mapping</a:t>
            </a:r>
            <a:endParaRPr lang="en"/>
          </a:p>
        </p:txBody>
      </p:sp>
      <p:sp>
        <p:nvSpPr>
          <p:cNvPr id="20" name="Google Shape;1887;p198">
            <a:extLst>
              <a:ext uri="{FF2B5EF4-FFF2-40B4-BE49-F238E27FC236}">
                <a16:creationId xmlns:a16="http://schemas.microsoft.com/office/drawing/2014/main" id="{EA66CB82-686F-FAA4-C4E3-9B45459797EA}"/>
              </a:ext>
            </a:extLst>
          </p:cNvPr>
          <p:cNvSpPr/>
          <p:nvPr/>
        </p:nvSpPr>
        <p:spPr>
          <a:xfrm>
            <a:off x="533776" y="2915551"/>
            <a:ext cx="6972400" cy="1430400"/>
          </a:xfrm>
          <a:prstGeom prst="rect">
            <a:avLst/>
          </a:prstGeom>
          <a:solidFill>
            <a:srgbClr val="F2F2F2"/>
          </a:solid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Clr>
                <a:schemeClr val="lt1"/>
              </a:buClr>
              <a:buSzPts val="1100"/>
              <a:buFont typeface="Arial"/>
              <a:buNone/>
            </a:pPr>
            <a:r>
              <a:rPr lang="en" sz="1050">
                <a:solidFill>
                  <a:schemeClr val="lt1"/>
                </a:solidFill>
                <a:latin typeface="NVIDIA Sans"/>
                <a:ea typeface="NVIDIA Sans"/>
                <a:cs typeface="NVIDIA Sans"/>
                <a:sym typeface="NVIDIA Sans"/>
              </a:rPr>
              <a:t>PRIVACY PROTECTION</a:t>
            </a:r>
            <a:endParaRPr sz="1050">
              <a:solidFill>
                <a:schemeClr val="lt1"/>
              </a:solidFill>
              <a:latin typeface="NVIDIA Sans"/>
              <a:ea typeface="NVIDIA Sans"/>
              <a:cs typeface="NVIDIA Sans"/>
              <a:sym typeface="NVIDIA Sans"/>
            </a:endParaRPr>
          </a:p>
          <a:p>
            <a:pPr marL="0" lvl="0" indent="0" algn="l" rtl="0">
              <a:lnSpc>
                <a:spcPct val="115000"/>
              </a:lnSpc>
              <a:spcBef>
                <a:spcPts val="0"/>
              </a:spcBef>
              <a:spcAft>
                <a:spcPts val="0"/>
              </a:spcAft>
              <a:buNone/>
            </a:pPr>
            <a:r>
              <a:rPr lang="en" sz="1050">
                <a:solidFill>
                  <a:schemeClr val="lt1"/>
                </a:solidFill>
                <a:latin typeface="NVIDIA Sans"/>
                <a:ea typeface="NVIDIA Sans"/>
                <a:cs typeface="NVIDIA Sans"/>
                <a:sym typeface="NVIDIA Sans"/>
              </a:rPr>
              <a:t>LEVEL 2: Synthetic Data</a:t>
            </a:r>
          </a:p>
          <a:p>
            <a:pPr>
              <a:lnSpc>
                <a:spcPct val="114999"/>
              </a:lnSpc>
            </a:pPr>
            <a:r>
              <a:rPr lang="en" sz="1050" i="1">
                <a:solidFill>
                  <a:schemeClr val="lt1"/>
                </a:solidFill>
                <a:latin typeface="NVIDIA Sans"/>
                <a:ea typeface="NVIDIA Sans"/>
                <a:cs typeface="NVIDIA Sans"/>
              </a:rPr>
              <a:t>No 1-to-1 mapping</a:t>
            </a:r>
          </a:p>
        </p:txBody>
      </p:sp>
      <p:sp>
        <p:nvSpPr>
          <p:cNvPr id="22" name="Google Shape;1888;p198">
            <a:extLst>
              <a:ext uri="{FF2B5EF4-FFF2-40B4-BE49-F238E27FC236}">
                <a16:creationId xmlns:a16="http://schemas.microsoft.com/office/drawing/2014/main" id="{8653BC4E-1B04-4A8B-E3E0-1E4CE6EF094B}"/>
              </a:ext>
            </a:extLst>
          </p:cNvPr>
          <p:cNvSpPr/>
          <p:nvPr/>
        </p:nvSpPr>
        <p:spPr>
          <a:xfrm>
            <a:off x="533776" y="4528701"/>
            <a:ext cx="6972400" cy="1430400"/>
          </a:xfrm>
          <a:prstGeom prst="rect">
            <a:avLst/>
          </a:prstGeom>
          <a:solidFill>
            <a:srgbClr val="F2F2F2"/>
          </a:solid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Clr>
                <a:schemeClr val="lt1"/>
              </a:buClr>
              <a:buSzPts val="1100"/>
              <a:buFont typeface="Arial"/>
              <a:buNone/>
            </a:pPr>
            <a:r>
              <a:rPr lang="en" sz="1050">
                <a:solidFill>
                  <a:schemeClr val="lt1"/>
                </a:solidFill>
                <a:latin typeface="NVIDIA Sans"/>
                <a:ea typeface="NVIDIA Sans"/>
                <a:cs typeface="NVIDIA Sans"/>
                <a:sym typeface="NVIDIA Sans"/>
              </a:rPr>
              <a:t>PRIVACY PROTECTION</a:t>
            </a:r>
            <a:endParaRPr sz="1050">
              <a:solidFill>
                <a:schemeClr val="lt1"/>
              </a:solidFill>
              <a:latin typeface="NVIDIA Sans"/>
              <a:ea typeface="NVIDIA Sans"/>
              <a:cs typeface="NVIDIA Sans"/>
              <a:sym typeface="NVIDIA Sans"/>
            </a:endParaRPr>
          </a:p>
          <a:p>
            <a:pPr marL="0" lvl="0" indent="0" algn="l" rtl="0">
              <a:lnSpc>
                <a:spcPct val="115000"/>
              </a:lnSpc>
              <a:spcBef>
                <a:spcPts val="0"/>
              </a:spcBef>
              <a:spcAft>
                <a:spcPts val="0"/>
              </a:spcAft>
              <a:buNone/>
            </a:pPr>
            <a:r>
              <a:rPr lang="en" sz="1050">
                <a:solidFill>
                  <a:schemeClr val="lt1"/>
                </a:solidFill>
                <a:latin typeface="NVIDIA Sans"/>
                <a:ea typeface="NVIDIA Sans"/>
                <a:cs typeface="NVIDIA Sans"/>
                <a:sym typeface="NVIDIA Sans"/>
              </a:rPr>
              <a:t>LEVEL 1: Data Masking</a:t>
            </a:r>
          </a:p>
          <a:p>
            <a:pPr>
              <a:lnSpc>
                <a:spcPct val="114999"/>
              </a:lnSpc>
            </a:pPr>
            <a:r>
              <a:rPr lang="en" sz="1050" i="1">
                <a:solidFill>
                  <a:schemeClr val="lt1"/>
                </a:solidFill>
                <a:latin typeface="NVIDIA Sans"/>
                <a:ea typeface="NVIDIA Sans"/>
                <a:cs typeface="NVIDIA Sans"/>
              </a:rPr>
              <a:t>1-to-1 mapping maintained</a:t>
            </a:r>
          </a:p>
        </p:txBody>
      </p:sp>
      <p:cxnSp>
        <p:nvCxnSpPr>
          <p:cNvPr id="24" name="Google Shape;1889;p198">
            <a:extLst>
              <a:ext uri="{FF2B5EF4-FFF2-40B4-BE49-F238E27FC236}">
                <a16:creationId xmlns:a16="http://schemas.microsoft.com/office/drawing/2014/main" id="{123C1A65-5C79-3DF7-921E-F8144D02B2FD}"/>
              </a:ext>
            </a:extLst>
          </p:cNvPr>
          <p:cNvCxnSpPr/>
          <p:nvPr/>
        </p:nvCxnSpPr>
        <p:spPr>
          <a:xfrm>
            <a:off x="524343" y="1302363"/>
            <a:ext cx="0" cy="1430400"/>
          </a:xfrm>
          <a:prstGeom prst="straightConnector1">
            <a:avLst/>
          </a:prstGeom>
          <a:noFill/>
          <a:ln w="38100" cap="flat" cmpd="sng">
            <a:solidFill>
              <a:schemeClr val="dk2"/>
            </a:solidFill>
            <a:prstDash val="solid"/>
            <a:round/>
            <a:headEnd type="none" w="med" len="med"/>
            <a:tailEnd type="none" w="med" len="med"/>
          </a:ln>
        </p:spPr>
      </p:cxnSp>
      <p:cxnSp>
        <p:nvCxnSpPr>
          <p:cNvPr id="26" name="Google Shape;1890;p198">
            <a:extLst>
              <a:ext uri="{FF2B5EF4-FFF2-40B4-BE49-F238E27FC236}">
                <a16:creationId xmlns:a16="http://schemas.microsoft.com/office/drawing/2014/main" id="{B50285D5-262E-7E6C-48DE-543CE9A67A4B}"/>
              </a:ext>
            </a:extLst>
          </p:cNvPr>
          <p:cNvCxnSpPr/>
          <p:nvPr/>
        </p:nvCxnSpPr>
        <p:spPr>
          <a:xfrm>
            <a:off x="536943" y="2915540"/>
            <a:ext cx="0" cy="1430400"/>
          </a:xfrm>
          <a:prstGeom prst="straightConnector1">
            <a:avLst/>
          </a:prstGeom>
          <a:noFill/>
          <a:ln w="38100" cap="flat" cmpd="sng">
            <a:solidFill>
              <a:schemeClr val="dk2"/>
            </a:solidFill>
            <a:prstDash val="solid"/>
            <a:round/>
            <a:headEnd type="none" w="med" len="med"/>
            <a:tailEnd type="none" w="med" len="med"/>
          </a:ln>
        </p:spPr>
      </p:cxnSp>
      <p:cxnSp>
        <p:nvCxnSpPr>
          <p:cNvPr id="28" name="Google Shape;1891;p198">
            <a:extLst>
              <a:ext uri="{FF2B5EF4-FFF2-40B4-BE49-F238E27FC236}">
                <a16:creationId xmlns:a16="http://schemas.microsoft.com/office/drawing/2014/main" id="{6C3D9F5A-7265-A71A-42D0-AE75498A03CA}"/>
              </a:ext>
            </a:extLst>
          </p:cNvPr>
          <p:cNvCxnSpPr/>
          <p:nvPr/>
        </p:nvCxnSpPr>
        <p:spPr>
          <a:xfrm>
            <a:off x="536943" y="4528691"/>
            <a:ext cx="0" cy="1430400"/>
          </a:xfrm>
          <a:prstGeom prst="straightConnector1">
            <a:avLst/>
          </a:prstGeom>
          <a:noFill/>
          <a:ln w="38100" cap="flat" cmpd="sng">
            <a:solidFill>
              <a:schemeClr val="dk2"/>
            </a:solidFill>
            <a:prstDash val="solid"/>
            <a:round/>
            <a:headEnd type="none" w="med" len="med"/>
            <a:tailEnd type="none" w="med" len="med"/>
          </a:ln>
        </p:spPr>
      </p:cxnSp>
      <p:pic>
        <p:nvPicPr>
          <p:cNvPr id="30" name="Google Shape;1892;p198">
            <a:extLst>
              <a:ext uri="{FF2B5EF4-FFF2-40B4-BE49-F238E27FC236}">
                <a16:creationId xmlns:a16="http://schemas.microsoft.com/office/drawing/2014/main" id="{B661D944-A56B-F780-477F-1106A25A7B4B}"/>
              </a:ext>
            </a:extLst>
          </p:cNvPr>
          <p:cNvPicPr preferRelativeResize="0"/>
          <p:nvPr/>
        </p:nvPicPr>
        <p:blipFill rotWithShape="1">
          <a:blip r:embed="rId4">
            <a:alphaModFix/>
          </a:blip>
          <a:srcRect l="5350" t="5698" r="6644" b="5954"/>
          <a:stretch/>
        </p:blipFill>
        <p:spPr>
          <a:xfrm>
            <a:off x="2474040" y="4938697"/>
            <a:ext cx="478600" cy="480500"/>
          </a:xfrm>
          <a:prstGeom prst="rect">
            <a:avLst/>
          </a:prstGeom>
          <a:noFill/>
          <a:ln>
            <a:noFill/>
          </a:ln>
        </p:spPr>
      </p:pic>
      <p:pic>
        <p:nvPicPr>
          <p:cNvPr id="34" name="Google Shape;1894;p198">
            <a:extLst>
              <a:ext uri="{FF2B5EF4-FFF2-40B4-BE49-F238E27FC236}">
                <a16:creationId xmlns:a16="http://schemas.microsoft.com/office/drawing/2014/main" id="{360D5765-216D-0AAA-3DCD-5A51BB7E0FF4}"/>
              </a:ext>
            </a:extLst>
          </p:cNvPr>
          <p:cNvPicPr preferRelativeResize="0"/>
          <p:nvPr/>
        </p:nvPicPr>
        <p:blipFill rotWithShape="1">
          <a:blip r:embed="rId5">
            <a:alphaModFix/>
          </a:blip>
          <a:srcRect l="6308" t="5903" r="5957" b="5593"/>
          <a:stretch/>
        </p:blipFill>
        <p:spPr>
          <a:xfrm>
            <a:off x="4471176" y="4938729"/>
            <a:ext cx="470467" cy="535067"/>
          </a:xfrm>
          <a:prstGeom prst="rect">
            <a:avLst/>
          </a:prstGeom>
          <a:noFill/>
          <a:ln>
            <a:noFill/>
          </a:ln>
        </p:spPr>
      </p:pic>
      <p:cxnSp>
        <p:nvCxnSpPr>
          <p:cNvPr id="36" name="Google Shape;1895;p198">
            <a:extLst>
              <a:ext uri="{FF2B5EF4-FFF2-40B4-BE49-F238E27FC236}">
                <a16:creationId xmlns:a16="http://schemas.microsoft.com/office/drawing/2014/main" id="{09545915-B659-30FF-B75B-4BFC2CCA6DAC}"/>
              </a:ext>
            </a:extLst>
          </p:cNvPr>
          <p:cNvCxnSpPr/>
          <p:nvPr/>
        </p:nvCxnSpPr>
        <p:spPr>
          <a:xfrm>
            <a:off x="3007873" y="5206245"/>
            <a:ext cx="356400" cy="0"/>
          </a:xfrm>
          <a:prstGeom prst="straightConnector1">
            <a:avLst/>
          </a:prstGeom>
          <a:noFill/>
          <a:ln w="9525" cap="flat" cmpd="sng">
            <a:solidFill>
              <a:srgbClr val="434343"/>
            </a:solidFill>
            <a:prstDash val="solid"/>
            <a:round/>
            <a:headEnd type="none" w="med" len="med"/>
            <a:tailEnd type="triangle" w="med" len="med"/>
          </a:ln>
        </p:spPr>
      </p:cxnSp>
      <p:cxnSp>
        <p:nvCxnSpPr>
          <p:cNvPr id="38" name="Google Shape;1896;p198">
            <a:extLst>
              <a:ext uri="{FF2B5EF4-FFF2-40B4-BE49-F238E27FC236}">
                <a16:creationId xmlns:a16="http://schemas.microsoft.com/office/drawing/2014/main" id="{4A733A8E-6DD5-5940-4C3A-2A29FA24E09D}"/>
              </a:ext>
            </a:extLst>
          </p:cNvPr>
          <p:cNvCxnSpPr/>
          <p:nvPr/>
        </p:nvCxnSpPr>
        <p:spPr>
          <a:xfrm>
            <a:off x="4055477" y="5206263"/>
            <a:ext cx="356400" cy="0"/>
          </a:xfrm>
          <a:prstGeom prst="straightConnector1">
            <a:avLst/>
          </a:prstGeom>
          <a:noFill/>
          <a:ln w="9525" cap="flat" cmpd="sng">
            <a:solidFill>
              <a:srgbClr val="434343"/>
            </a:solidFill>
            <a:prstDash val="solid"/>
            <a:round/>
            <a:headEnd type="none" w="med" len="med"/>
            <a:tailEnd type="triangle" w="med" len="med"/>
          </a:ln>
        </p:spPr>
      </p:cxnSp>
      <p:sp>
        <p:nvSpPr>
          <p:cNvPr id="40" name="Google Shape;1897;p198">
            <a:extLst>
              <a:ext uri="{FF2B5EF4-FFF2-40B4-BE49-F238E27FC236}">
                <a16:creationId xmlns:a16="http://schemas.microsoft.com/office/drawing/2014/main" id="{A1D86D3D-462F-BABE-DE95-9D670A327564}"/>
              </a:ext>
            </a:extLst>
          </p:cNvPr>
          <p:cNvSpPr txBox="1"/>
          <p:nvPr/>
        </p:nvSpPr>
        <p:spPr>
          <a:xfrm>
            <a:off x="2330740" y="5379172"/>
            <a:ext cx="7652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Private Dataset</a:t>
            </a:r>
            <a:endParaRPr sz="800">
              <a:latin typeface="NVIDIA Sans"/>
              <a:ea typeface="NVIDIA Sans"/>
              <a:cs typeface="NVIDIA Sans"/>
              <a:sym typeface="NVIDIA Sans"/>
            </a:endParaRPr>
          </a:p>
        </p:txBody>
      </p:sp>
      <p:sp>
        <p:nvSpPr>
          <p:cNvPr id="42" name="Google Shape;1898;p198">
            <a:extLst>
              <a:ext uri="{FF2B5EF4-FFF2-40B4-BE49-F238E27FC236}">
                <a16:creationId xmlns:a16="http://schemas.microsoft.com/office/drawing/2014/main" id="{5D703D11-617D-9CB9-8714-89E37EAB54D7}"/>
              </a:ext>
            </a:extLst>
          </p:cNvPr>
          <p:cNvSpPr txBox="1"/>
          <p:nvPr/>
        </p:nvSpPr>
        <p:spPr>
          <a:xfrm>
            <a:off x="4240607" y="5379176"/>
            <a:ext cx="9316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De-identified data</a:t>
            </a:r>
            <a:endParaRPr sz="800">
              <a:latin typeface="NVIDIA Sans"/>
              <a:ea typeface="NVIDIA Sans"/>
              <a:cs typeface="NVIDIA Sans"/>
              <a:sym typeface="NVIDIA Sans"/>
            </a:endParaRPr>
          </a:p>
        </p:txBody>
      </p:sp>
      <p:sp>
        <p:nvSpPr>
          <p:cNvPr id="44" name="Google Shape;1899;p198">
            <a:extLst>
              <a:ext uri="{FF2B5EF4-FFF2-40B4-BE49-F238E27FC236}">
                <a16:creationId xmlns:a16="http://schemas.microsoft.com/office/drawing/2014/main" id="{D6099222-AC34-9580-604C-E25B69BEC3AF}"/>
              </a:ext>
            </a:extLst>
          </p:cNvPr>
          <p:cNvSpPr txBox="1"/>
          <p:nvPr/>
        </p:nvSpPr>
        <p:spPr>
          <a:xfrm>
            <a:off x="3272473" y="5379163"/>
            <a:ext cx="8748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PII Replacement</a:t>
            </a:r>
            <a:endParaRPr sz="800">
              <a:latin typeface="NVIDIA Sans"/>
              <a:ea typeface="NVIDIA Sans"/>
              <a:cs typeface="NVIDIA Sans"/>
              <a:sym typeface="NVIDIA Sans"/>
            </a:endParaRPr>
          </a:p>
        </p:txBody>
      </p:sp>
      <p:cxnSp>
        <p:nvCxnSpPr>
          <p:cNvPr id="46" name="Google Shape;1900;p198">
            <a:extLst>
              <a:ext uri="{FF2B5EF4-FFF2-40B4-BE49-F238E27FC236}">
                <a16:creationId xmlns:a16="http://schemas.microsoft.com/office/drawing/2014/main" id="{479EC39F-6105-5E0E-0088-F72E7A436213}"/>
              </a:ext>
            </a:extLst>
          </p:cNvPr>
          <p:cNvCxnSpPr/>
          <p:nvPr/>
        </p:nvCxnSpPr>
        <p:spPr>
          <a:xfrm>
            <a:off x="4532007" y="1904133"/>
            <a:ext cx="4800" cy="2914800"/>
          </a:xfrm>
          <a:prstGeom prst="straightConnector1">
            <a:avLst/>
          </a:prstGeom>
          <a:noFill/>
          <a:ln w="12800" cap="flat" cmpd="sng">
            <a:solidFill>
              <a:srgbClr val="434343"/>
            </a:solidFill>
            <a:prstDash val="solid"/>
            <a:round/>
            <a:headEnd type="none" w="med" len="med"/>
            <a:tailEnd type="none" w="med" len="med"/>
          </a:ln>
        </p:spPr>
      </p:cxnSp>
      <p:cxnSp>
        <p:nvCxnSpPr>
          <p:cNvPr id="48" name="Google Shape;1901;p198">
            <a:extLst>
              <a:ext uri="{FF2B5EF4-FFF2-40B4-BE49-F238E27FC236}">
                <a16:creationId xmlns:a16="http://schemas.microsoft.com/office/drawing/2014/main" id="{51B8A1D0-5BA8-3BFE-0D54-A6A10B22754E}"/>
              </a:ext>
            </a:extLst>
          </p:cNvPr>
          <p:cNvCxnSpPr/>
          <p:nvPr/>
        </p:nvCxnSpPr>
        <p:spPr>
          <a:xfrm>
            <a:off x="4528207" y="1904117"/>
            <a:ext cx="686800" cy="3600"/>
          </a:xfrm>
          <a:prstGeom prst="straightConnector1">
            <a:avLst/>
          </a:prstGeom>
          <a:noFill/>
          <a:ln w="9525" cap="flat" cmpd="sng">
            <a:solidFill>
              <a:srgbClr val="434343"/>
            </a:solidFill>
            <a:prstDash val="solid"/>
            <a:round/>
            <a:headEnd type="none" w="med" len="med"/>
            <a:tailEnd type="triangle" w="med" len="med"/>
          </a:ln>
        </p:spPr>
      </p:cxnSp>
      <p:cxnSp>
        <p:nvCxnSpPr>
          <p:cNvPr id="50" name="Google Shape;1902;p198">
            <a:extLst>
              <a:ext uri="{FF2B5EF4-FFF2-40B4-BE49-F238E27FC236}">
                <a16:creationId xmlns:a16="http://schemas.microsoft.com/office/drawing/2014/main" id="{357D8D4E-024A-EEB4-DDA9-27E0759F3E5A}"/>
              </a:ext>
            </a:extLst>
          </p:cNvPr>
          <p:cNvCxnSpPr/>
          <p:nvPr/>
        </p:nvCxnSpPr>
        <p:spPr>
          <a:xfrm>
            <a:off x="4890353" y="4056823"/>
            <a:ext cx="2000" cy="756800"/>
          </a:xfrm>
          <a:prstGeom prst="straightConnector1">
            <a:avLst/>
          </a:prstGeom>
          <a:noFill/>
          <a:ln w="12800" cap="flat" cmpd="sng">
            <a:solidFill>
              <a:srgbClr val="434343"/>
            </a:solidFill>
            <a:prstDash val="solid"/>
            <a:round/>
            <a:headEnd type="triangle" w="med" len="med"/>
            <a:tailEnd type="none" w="med" len="med"/>
          </a:ln>
        </p:spPr>
      </p:cxnSp>
      <p:sp>
        <p:nvSpPr>
          <p:cNvPr id="54" name="Google Shape;1904;p198">
            <a:extLst>
              <a:ext uri="{FF2B5EF4-FFF2-40B4-BE49-F238E27FC236}">
                <a16:creationId xmlns:a16="http://schemas.microsoft.com/office/drawing/2014/main" id="{9CCC7EDA-99C1-F752-11FD-498003633810}"/>
              </a:ext>
            </a:extLst>
          </p:cNvPr>
          <p:cNvSpPr txBox="1"/>
          <p:nvPr/>
        </p:nvSpPr>
        <p:spPr>
          <a:xfrm>
            <a:off x="4459869" y="3801045"/>
            <a:ext cx="8748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Fine-Tuning</a:t>
            </a:r>
            <a:endParaRPr sz="800">
              <a:latin typeface="NVIDIA Sans"/>
              <a:ea typeface="NVIDIA Sans"/>
              <a:cs typeface="NVIDIA Sans"/>
              <a:sym typeface="NVIDIA Sans"/>
            </a:endParaRPr>
          </a:p>
        </p:txBody>
      </p:sp>
      <p:sp>
        <p:nvSpPr>
          <p:cNvPr id="58" name="Google Shape;1906;p198">
            <a:extLst>
              <a:ext uri="{FF2B5EF4-FFF2-40B4-BE49-F238E27FC236}">
                <a16:creationId xmlns:a16="http://schemas.microsoft.com/office/drawing/2014/main" id="{68E9D924-7BF5-E8D3-A5AF-6BA0F91DF3B0}"/>
              </a:ext>
            </a:extLst>
          </p:cNvPr>
          <p:cNvSpPr txBox="1"/>
          <p:nvPr/>
        </p:nvSpPr>
        <p:spPr>
          <a:xfrm>
            <a:off x="4951764" y="2085433"/>
            <a:ext cx="12444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Fine-Tuning w/ Differential Privacy</a:t>
            </a:r>
            <a:endParaRPr sz="800">
              <a:latin typeface="NVIDIA Sans"/>
              <a:ea typeface="NVIDIA Sans"/>
              <a:cs typeface="NVIDIA Sans"/>
              <a:sym typeface="NVIDIA Sans"/>
            </a:endParaRPr>
          </a:p>
        </p:txBody>
      </p:sp>
      <p:sp>
        <p:nvSpPr>
          <p:cNvPr id="60" name="Google Shape;1907;p198">
            <a:extLst>
              <a:ext uri="{FF2B5EF4-FFF2-40B4-BE49-F238E27FC236}">
                <a16:creationId xmlns:a16="http://schemas.microsoft.com/office/drawing/2014/main" id="{55B5653B-0546-0DA4-751D-9A4B24204D83}"/>
              </a:ext>
            </a:extLst>
          </p:cNvPr>
          <p:cNvSpPr txBox="1"/>
          <p:nvPr/>
        </p:nvSpPr>
        <p:spPr>
          <a:xfrm>
            <a:off x="5478940" y="3802376"/>
            <a:ext cx="9316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Synthetic data</a:t>
            </a:r>
            <a:endParaRPr sz="800">
              <a:latin typeface="NVIDIA Sans"/>
              <a:ea typeface="NVIDIA Sans"/>
              <a:cs typeface="NVIDIA Sans"/>
              <a:sym typeface="NVIDIA Sans"/>
            </a:endParaRPr>
          </a:p>
        </p:txBody>
      </p:sp>
      <p:cxnSp>
        <p:nvCxnSpPr>
          <p:cNvPr id="62" name="Google Shape;1908;p198">
            <a:extLst>
              <a:ext uri="{FF2B5EF4-FFF2-40B4-BE49-F238E27FC236}">
                <a16:creationId xmlns:a16="http://schemas.microsoft.com/office/drawing/2014/main" id="{1517BF8F-430A-0B6A-C5BF-27A16EF28A8C}"/>
              </a:ext>
            </a:extLst>
          </p:cNvPr>
          <p:cNvCxnSpPr/>
          <p:nvPr/>
        </p:nvCxnSpPr>
        <p:spPr>
          <a:xfrm>
            <a:off x="5242877" y="3631579"/>
            <a:ext cx="356400" cy="0"/>
          </a:xfrm>
          <a:prstGeom prst="straightConnector1">
            <a:avLst/>
          </a:prstGeom>
          <a:noFill/>
          <a:ln w="9525" cap="flat" cmpd="sng">
            <a:solidFill>
              <a:srgbClr val="434343"/>
            </a:solidFill>
            <a:prstDash val="solid"/>
            <a:round/>
            <a:headEnd type="none" w="med" len="med"/>
            <a:tailEnd type="triangle" w="med" len="med"/>
          </a:ln>
        </p:spPr>
      </p:cxnSp>
      <p:pic>
        <p:nvPicPr>
          <p:cNvPr id="64" name="Google Shape;1909;p198">
            <a:extLst>
              <a:ext uri="{FF2B5EF4-FFF2-40B4-BE49-F238E27FC236}">
                <a16:creationId xmlns:a16="http://schemas.microsoft.com/office/drawing/2014/main" id="{92DF93AD-EF40-D113-24D5-A163BE62A4A9}"/>
              </a:ext>
            </a:extLst>
          </p:cNvPr>
          <p:cNvPicPr preferRelativeResize="0"/>
          <p:nvPr/>
        </p:nvPicPr>
        <p:blipFill rotWithShape="1">
          <a:blip r:embed="rId5">
            <a:alphaModFix/>
          </a:blip>
          <a:srcRect l="6310" t="5903" r="4435" b="5593"/>
          <a:stretch/>
        </p:blipFill>
        <p:spPr>
          <a:xfrm>
            <a:off x="6382132" y="1624737"/>
            <a:ext cx="478600" cy="535071"/>
          </a:xfrm>
          <a:prstGeom prst="rect">
            <a:avLst/>
          </a:prstGeom>
          <a:noFill/>
          <a:ln>
            <a:noFill/>
          </a:ln>
        </p:spPr>
      </p:pic>
      <p:sp>
        <p:nvSpPr>
          <p:cNvPr id="66" name="Google Shape;1910;p198">
            <a:extLst>
              <a:ext uri="{FF2B5EF4-FFF2-40B4-BE49-F238E27FC236}">
                <a16:creationId xmlns:a16="http://schemas.microsoft.com/office/drawing/2014/main" id="{ADD8607C-6F74-D121-BC51-8817C339A094}"/>
              </a:ext>
            </a:extLst>
          </p:cNvPr>
          <p:cNvSpPr txBox="1"/>
          <p:nvPr/>
        </p:nvSpPr>
        <p:spPr>
          <a:xfrm>
            <a:off x="6039632" y="2050452"/>
            <a:ext cx="1163600" cy="469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800">
                <a:latin typeface="NVIDIA Sans"/>
                <a:ea typeface="NVIDIA Sans"/>
                <a:cs typeface="NVIDIA Sans"/>
                <a:sym typeface="NVIDIA Sans"/>
              </a:rPr>
              <a:t>Synthetic data w/ mathematical privacy guarantees</a:t>
            </a:r>
            <a:endParaRPr sz="800">
              <a:latin typeface="NVIDIA Sans"/>
              <a:ea typeface="NVIDIA Sans"/>
              <a:cs typeface="NVIDIA Sans"/>
              <a:sym typeface="NVIDIA Sans"/>
            </a:endParaRPr>
          </a:p>
        </p:txBody>
      </p:sp>
      <p:cxnSp>
        <p:nvCxnSpPr>
          <p:cNvPr id="68" name="Google Shape;1911;p198">
            <a:extLst>
              <a:ext uri="{FF2B5EF4-FFF2-40B4-BE49-F238E27FC236}">
                <a16:creationId xmlns:a16="http://schemas.microsoft.com/office/drawing/2014/main" id="{292BE71F-0597-72DF-5364-74BA8986DD08}"/>
              </a:ext>
            </a:extLst>
          </p:cNvPr>
          <p:cNvCxnSpPr/>
          <p:nvPr/>
        </p:nvCxnSpPr>
        <p:spPr>
          <a:xfrm>
            <a:off x="5919568" y="1894389"/>
            <a:ext cx="356400" cy="0"/>
          </a:xfrm>
          <a:prstGeom prst="straightConnector1">
            <a:avLst/>
          </a:prstGeom>
          <a:noFill/>
          <a:ln w="9525" cap="flat" cmpd="sng">
            <a:solidFill>
              <a:srgbClr val="434343"/>
            </a:solidFill>
            <a:prstDash val="solid"/>
            <a:round/>
            <a:headEnd type="none" w="med" len="med"/>
            <a:tailEnd type="triangle" w="med" len="med"/>
          </a:ln>
        </p:spPr>
      </p:cxnSp>
      <p:sp>
        <p:nvSpPr>
          <p:cNvPr id="70" name="Google Shape;1912;p198">
            <a:extLst>
              <a:ext uri="{FF2B5EF4-FFF2-40B4-BE49-F238E27FC236}">
                <a16:creationId xmlns:a16="http://schemas.microsoft.com/office/drawing/2014/main" id="{7A157D7F-6351-5EE8-4FF5-85399408B584}"/>
              </a:ext>
            </a:extLst>
          </p:cNvPr>
          <p:cNvSpPr/>
          <p:nvPr/>
        </p:nvSpPr>
        <p:spPr>
          <a:xfrm>
            <a:off x="7757576" y="1302371"/>
            <a:ext cx="3916800" cy="1430400"/>
          </a:xfrm>
          <a:prstGeom prst="rect">
            <a:avLst/>
          </a:prstGeom>
          <a:solidFill>
            <a:srgbClr val="F2F2F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1067" b="1">
                <a:latin typeface="NVIDIA Sans"/>
                <a:ea typeface="NVIDIA Sans"/>
                <a:cs typeface="NVIDIA Sans"/>
                <a:sym typeface="NVIDIA Sans"/>
              </a:rPr>
              <a:t>Best for: </a:t>
            </a:r>
            <a:r>
              <a:rPr lang="en" sz="1067">
                <a:latin typeface="NVIDIA Sans"/>
                <a:ea typeface="NVIDIA Sans"/>
                <a:cs typeface="NVIDIA Sans"/>
                <a:sym typeface="NVIDIA Sans"/>
              </a:rPr>
              <a:t>Production data, external sharing, regulated industries​</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Use case: </a:t>
            </a:r>
            <a:r>
              <a:rPr lang="en" sz="1067">
                <a:latin typeface="NVIDIA Sans"/>
                <a:ea typeface="NVIDIA Sans"/>
                <a:cs typeface="NVIDIA Sans"/>
                <a:sym typeface="NVIDIA Sans"/>
              </a:rPr>
              <a:t>Training production models, sharing data with partners​</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Features: </a:t>
            </a:r>
            <a:r>
              <a:rPr lang="en" sz="1067">
                <a:latin typeface="NVIDIA Sans"/>
                <a:ea typeface="NVIDIA Sans"/>
                <a:cs typeface="NVIDIA Sans"/>
                <a:sym typeface="NVIDIA Sans"/>
              </a:rPr>
              <a:t>Mathematical privacy guarantees, protection against inference attacks</a:t>
            </a:r>
            <a:endParaRPr sz="1067">
              <a:latin typeface="NVIDIA Sans"/>
              <a:ea typeface="NVIDIA Sans"/>
              <a:cs typeface="NVIDIA Sans"/>
              <a:sym typeface="NVIDIA Sans"/>
            </a:endParaRPr>
          </a:p>
        </p:txBody>
      </p:sp>
      <p:sp>
        <p:nvSpPr>
          <p:cNvPr id="72" name="Google Shape;1913;p198">
            <a:extLst>
              <a:ext uri="{FF2B5EF4-FFF2-40B4-BE49-F238E27FC236}">
                <a16:creationId xmlns:a16="http://schemas.microsoft.com/office/drawing/2014/main" id="{81421346-FF0E-E05D-08BA-279EE7120914}"/>
              </a:ext>
            </a:extLst>
          </p:cNvPr>
          <p:cNvSpPr/>
          <p:nvPr/>
        </p:nvSpPr>
        <p:spPr>
          <a:xfrm>
            <a:off x="7770176" y="2915553"/>
            <a:ext cx="3916800" cy="1430400"/>
          </a:xfrm>
          <a:prstGeom prst="rect">
            <a:avLst/>
          </a:prstGeom>
          <a:solidFill>
            <a:srgbClr val="F2F2F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1067" b="1">
                <a:latin typeface="NVIDIA Sans"/>
                <a:ea typeface="NVIDIA Sans"/>
                <a:cs typeface="NVIDIA Sans"/>
                <a:sym typeface="NVIDIA Sans"/>
              </a:rPr>
              <a:t>Best for: </a:t>
            </a:r>
            <a:r>
              <a:rPr lang="en" sz="1067">
                <a:latin typeface="NVIDIA Sans"/>
                <a:ea typeface="NVIDIA Sans"/>
                <a:cs typeface="NVIDIA Sans"/>
                <a:sym typeface="NVIDIA Sans"/>
              </a:rPr>
              <a:t>Development environments, internal testing​</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Use case: </a:t>
            </a:r>
            <a:r>
              <a:rPr lang="en" sz="1067">
                <a:latin typeface="NVIDIA Sans"/>
                <a:ea typeface="NVIDIA Sans"/>
                <a:cs typeface="NVIDIA Sans"/>
                <a:sym typeface="NVIDIA Sans"/>
              </a:rPr>
              <a:t>Training non-production models, data exploration​</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Features: </a:t>
            </a:r>
            <a:r>
              <a:rPr lang="en" sz="1067">
                <a:latin typeface="NVIDIA Sans"/>
                <a:ea typeface="NVIDIA Sans"/>
                <a:cs typeface="NVIDIA Sans"/>
                <a:sym typeface="NVIDIA Sans"/>
              </a:rPr>
              <a:t>Maintains statistical properties while generating new data, including altering distributions​</a:t>
            </a:r>
            <a:endParaRPr sz="1067">
              <a:latin typeface="NVIDIA Sans"/>
              <a:ea typeface="NVIDIA Sans"/>
              <a:cs typeface="NVIDIA Sans"/>
              <a:sym typeface="NVIDIA Sans"/>
            </a:endParaRPr>
          </a:p>
        </p:txBody>
      </p:sp>
      <p:sp>
        <p:nvSpPr>
          <p:cNvPr id="74" name="Google Shape;1914;p198">
            <a:extLst>
              <a:ext uri="{FF2B5EF4-FFF2-40B4-BE49-F238E27FC236}">
                <a16:creationId xmlns:a16="http://schemas.microsoft.com/office/drawing/2014/main" id="{AA5F13DD-8846-6F3D-DD93-3C6E1F5186A5}"/>
              </a:ext>
            </a:extLst>
          </p:cNvPr>
          <p:cNvSpPr/>
          <p:nvPr/>
        </p:nvSpPr>
        <p:spPr>
          <a:xfrm>
            <a:off x="7770176" y="4524617"/>
            <a:ext cx="3916800" cy="1430400"/>
          </a:xfrm>
          <a:prstGeom prst="rect">
            <a:avLst/>
          </a:prstGeom>
          <a:solidFill>
            <a:srgbClr val="F2F2F2"/>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1067" b="1">
                <a:latin typeface="NVIDIA Sans"/>
                <a:ea typeface="NVIDIA Sans"/>
                <a:cs typeface="NVIDIA Sans"/>
                <a:sym typeface="NVIDIA Sans"/>
              </a:rPr>
              <a:t>Best for: </a:t>
            </a:r>
            <a:r>
              <a:rPr lang="en" sz="1067">
                <a:latin typeface="NVIDIA Sans"/>
                <a:ea typeface="NVIDIA Sans"/>
                <a:cs typeface="NVIDIA Sans"/>
                <a:sym typeface="NVIDIA Sans"/>
              </a:rPr>
              <a:t>Initial PII removal, development environments​</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Use case: </a:t>
            </a:r>
            <a:r>
              <a:rPr lang="en" sz="1067">
                <a:latin typeface="NVIDIA Sans"/>
                <a:ea typeface="NVIDIA Sans"/>
                <a:cs typeface="NVIDIA Sans"/>
                <a:sym typeface="NVIDIA Sans"/>
              </a:rPr>
              <a:t>Internal analytics with low-sensitivity data​</a:t>
            </a:r>
            <a:endParaRPr sz="1067">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highlight>
                  <a:srgbClr val="FFFF00"/>
                </a:highlight>
                <a:latin typeface="NVIDIA Sans"/>
                <a:ea typeface="NVIDIA Sans"/>
                <a:cs typeface="NVIDIA Sans"/>
                <a:sym typeface="NVIDIA Sans"/>
              </a:rPr>
              <a:t>Limitations: </a:t>
            </a:r>
            <a:r>
              <a:rPr lang="en" sz="1067">
                <a:highlight>
                  <a:srgbClr val="FFFF00"/>
                </a:highlight>
                <a:latin typeface="NVIDIA Sans"/>
                <a:ea typeface="NVIDIA Sans"/>
                <a:cs typeface="NVIDIA Sans"/>
                <a:sym typeface="NVIDIA Sans"/>
              </a:rPr>
              <a:t>Vulnerable to data linkage, membership inference, and re-identification attacks​</a:t>
            </a:r>
            <a:endParaRPr sz="1067">
              <a:highlight>
                <a:srgbClr val="FFFF00"/>
              </a:highlight>
              <a:latin typeface="NVIDIA Sans"/>
              <a:ea typeface="NVIDIA Sans"/>
              <a:cs typeface="NVIDIA Sans"/>
              <a:sym typeface="NVIDIA Sans"/>
            </a:endParaRPr>
          </a:p>
          <a:p>
            <a:pPr marL="0" lvl="0" indent="0" algn="l" rtl="0">
              <a:lnSpc>
                <a:spcPct val="115000"/>
              </a:lnSpc>
              <a:spcBef>
                <a:spcPts val="0"/>
              </a:spcBef>
              <a:spcAft>
                <a:spcPts val="0"/>
              </a:spcAft>
              <a:buNone/>
            </a:pPr>
            <a:r>
              <a:rPr lang="en" sz="1067" b="1">
                <a:latin typeface="NVIDIA Sans"/>
                <a:ea typeface="NVIDIA Sans"/>
                <a:cs typeface="NVIDIA Sans"/>
                <a:sym typeface="NVIDIA Sans"/>
              </a:rPr>
              <a:t>Masking alone isn't sufficient for sensitive data:</a:t>
            </a:r>
            <a:r>
              <a:rPr lang="en" sz="1067">
                <a:latin typeface="NVIDIA Sans"/>
                <a:ea typeface="NVIDIA Sans"/>
                <a:cs typeface="NVIDIA Sans"/>
                <a:sym typeface="NVIDIA Sans"/>
              </a:rPr>
              <a:t> Combining ‘gender’, ‘birth date’, and ‘postal code’ re-identifies between 63 and 87% of the U.S. population</a:t>
            </a:r>
            <a:r>
              <a:rPr lang="en" sz="1067" baseline="30000">
                <a:latin typeface="NVIDIA Sans"/>
                <a:ea typeface="NVIDIA Sans"/>
                <a:cs typeface="NVIDIA Sans"/>
                <a:sym typeface="NVIDIA Sans"/>
              </a:rPr>
              <a:t>1</a:t>
            </a:r>
            <a:endParaRPr sz="1067" baseline="30000">
              <a:latin typeface="NVIDIA Sans"/>
              <a:ea typeface="NVIDIA Sans"/>
              <a:cs typeface="NVIDIA Sans"/>
              <a:sym typeface="NVIDIA Sans"/>
            </a:endParaRPr>
          </a:p>
        </p:txBody>
      </p:sp>
      <p:cxnSp>
        <p:nvCxnSpPr>
          <p:cNvPr id="76" name="Google Shape;1915;p198">
            <a:extLst>
              <a:ext uri="{FF2B5EF4-FFF2-40B4-BE49-F238E27FC236}">
                <a16:creationId xmlns:a16="http://schemas.microsoft.com/office/drawing/2014/main" id="{538EBE2A-4C7F-97E3-9394-18254E2053F3}"/>
              </a:ext>
            </a:extLst>
          </p:cNvPr>
          <p:cNvCxnSpPr/>
          <p:nvPr/>
        </p:nvCxnSpPr>
        <p:spPr>
          <a:xfrm>
            <a:off x="7083373" y="1933251"/>
            <a:ext cx="686800" cy="3600"/>
          </a:xfrm>
          <a:prstGeom prst="straightConnector1">
            <a:avLst/>
          </a:prstGeom>
          <a:noFill/>
          <a:ln w="9525" cap="flat" cmpd="sng">
            <a:solidFill>
              <a:srgbClr val="8C8C8C"/>
            </a:solidFill>
            <a:prstDash val="dash"/>
            <a:round/>
            <a:headEnd type="none" w="med" len="med"/>
            <a:tailEnd type="triangle" w="med" len="med"/>
          </a:ln>
        </p:spPr>
      </p:cxnSp>
      <p:cxnSp>
        <p:nvCxnSpPr>
          <p:cNvPr id="78" name="Google Shape;1916;p198">
            <a:extLst>
              <a:ext uri="{FF2B5EF4-FFF2-40B4-BE49-F238E27FC236}">
                <a16:creationId xmlns:a16="http://schemas.microsoft.com/office/drawing/2014/main" id="{DA31965B-8607-DEF6-6F3F-2CBA8042D878}"/>
              </a:ext>
            </a:extLst>
          </p:cNvPr>
          <p:cNvCxnSpPr/>
          <p:nvPr/>
        </p:nvCxnSpPr>
        <p:spPr>
          <a:xfrm>
            <a:off x="6382576" y="3627953"/>
            <a:ext cx="1387600" cy="2800"/>
          </a:xfrm>
          <a:prstGeom prst="straightConnector1">
            <a:avLst/>
          </a:prstGeom>
          <a:noFill/>
          <a:ln w="9525" cap="flat" cmpd="sng">
            <a:solidFill>
              <a:srgbClr val="8C8C8C"/>
            </a:solidFill>
            <a:prstDash val="dash"/>
            <a:round/>
            <a:headEnd type="none" w="med" len="med"/>
            <a:tailEnd type="triangle" w="med" len="med"/>
          </a:ln>
        </p:spPr>
      </p:cxnSp>
      <p:pic>
        <p:nvPicPr>
          <p:cNvPr id="80" name="Google Shape;1917;p198">
            <a:extLst>
              <a:ext uri="{FF2B5EF4-FFF2-40B4-BE49-F238E27FC236}">
                <a16:creationId xmlns:a16="http://schemas.microsoft.com/office/drawing/2014/main" id="{43B4D357-E916-3FCD-57DA-82F570384671}"/>
              </a:ext>
            </a:extLst>
          </p:cNvPr>
          <p:cNvPicPr preferRelativeResize="0"/>
          <p:nvPr/>
        </p:nvPicPr>
        <p:blipFill rotWithShape="1">
          <a:blip r:embed="rId5">
            <a:alphaModFix/>
          </a:blip>
          <a:srcRect l="6308" t="5903" r="5957" b="5593"/>
          <a:stretch/>
        </p:blipFill>
        <p:spPr>
          <a:xfrm>
            <a:off x="5709509" y="3346537"/>
            <a:ext cx="470467" cy="535067"/>
          </a:xfrm>
          <a:prstGeom prst="rect">
            <a:avLst/>
          </a:prstGeom>
          <a:noFill/>
          <a:ln>
            <a:noFill/>
          </a:ln>
        </p:spPr>
      </p:pic>
      <p:cxnSp>
        <p:nvCxnSpPr>
          <p:cNvPr id="82" name="Google Shape;1918;p198">
            <a:extLst>
              <a:ext uri="{FF2B5EF4-FFF2-40B4-BE49-F238E27FC236}">
                <a16:creationId xmlns:a16="http://schemas.microsoft.com/office/drawing/2014/main" id="{8DEC10A5-5918-A23E-C904-E31D67B01DFC}"/>
              </a:ext>
            </a:extLst>
          </p:cNvPr>
          <p:cNvCxnSpPr/>
          <p:nvPr/>
        </p:nvCxnSpPr>
        <p:spPr>
          <a:xfrm>
            <a:off x="5104443" y="5227733"/>
            <a:ext cx="2665600" cy="23200"/>
          </a:xfrm>
          <a:prstGeom prst="straightConnector1">
            <a:avLst/>
          </a:prstGeom>
          <a:noFill/>
          <a:ln w="9525" cap="flat" cmpd="sng">
            <a:solidFill>
              <a:srgbClr val="8C8C8C"/>
            </a:solidFill>
            <a:prstDash val="dash"/>
            <a:round/>
            <a:headEnd type="none" w="med" len="med"/>
            <a:tailEnd type="triangle" w="med" len="med"/>
          </a:ln>
        </p:spPr>
      </p:cxnSp>
      <p:cxnSp>
        <p:nvCxnSpPr>
          <p:cNvPr id="84" name="Google Shape;1919;p198">
            <a:extLst>
              <a:ext uri="{FF2B5EF4-FFF2-40B4-BE49-F238E27FC236}">
                <a16:creationId xmlns:a16="http://schemas.microsoft.com/office/drawing/2014/main" id="{93CD6354-9B01-61AD-7BF0-6459B5DEABCB}"/>
              </a:ext>
            </a:extLst>
          </p:cNvPr>
          <p:cNvCxnSpPr/>
          <p:nvPr/>
        </p:nvCxnSpPr>
        <p:spPr>
          <a:xfrm>
            <a:off x="11821595" y="1310767"/>
            <a:ext cx="0" cy="4641600"/>
          </a:xfrm>
          <a:prstGeom prst="straightConnector1">
            <a:avLst/>
          </a:prstGeom>
          <a:noFill/>
          <a:ln w="28575" cap="flat" cmpd="sng">
            <a:solidFill>
              <a:srgbClr val="666666"/>
            </a:solidFill>
            <a:prstDash val="solid"/>
            <a:round/>
            <a:headEnd type="none" w="med" len="med"/>
            <a:tailEnd type="triangle" w="med" len="med"/>
          </a:ln>
        </p:spPr>
      </p:cxnSp>
      <p:sp>
        <p:nvSpPr>
          <p:cNvPr id="86" name="Google Shape;1920;p198">
            <a:extLst>
              <a:ext uri="{FF2B5EF4-FFF2-40B4-BE49-F238E27FC236}">
                <a16:creationId xmlns:a16="http://schemas.microsoft.com/office/drawing/2014/main" id="{DBFCDCB8-4620-203D-E3AA-C14A5DF1828B}"/>
              </a:ext>
            </a:extLst>
          </p:cNvPr>
          <p:cNvSpPr txBox="1"/>
          <p:nvPr/>
        </p:nvSpPr>
        <p:spPr>
          <a:xfrm rot="5400000">
            <a:off x="10431757" y="3206000"/>
            <a:ext cx="3165200" cy="446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333">
                <a:latin typeface="NVIDIA Sans"/>
                <a:ea typeface="NVIDIA Sans"/>
                <a:cs typeface="NVIDIA Sans"/>
                <a:sym typeface="NVIDIA Sans"/>
              </a:rPr>
              <a:t>HIGHER UTILITY</a:t>
            </a:r>
            <a:endParaRPr sz="1333">
              <a:latin typeface="NVIDIA Sans"/>
              <a:ea typeface="NVIDIA Sans"/>
              <a:cs typeface="NVIDIA Sans"/>
              <a:sym typeface="NVIDIA Sans"/>
            </a:endParaRPr>
          </a:p>
        </p:txBody>
      </p:sp>
      <p:cxnSp>
        <p:nvCxnSpPr>
          <p:cNvPr id="88" name="Google Shape;1921;p198">
            <a:extLst>
              <a:ext uri="{FF2B5EF4-FFF2-40B4-BE49-F238E27FC236}">
                <a16:creationId xmlns:a16="http://schemas.microsoft.com/office/drawing/2014/main" id="{E8F00EA2-64F1-FCD5-DD06-8D4D61CDCD7B}"/>
              </a:ext>
            </a:extLst>
          </p:cNvPr>
          <p:cNvCxnSpPr/>
          <p:nvPr/>
        </p:nvCxnSpPr>
        <p:spPr>
          <a:xfrm>
            <a:off x="347572" y="1310767"/>
            <a:ext cx="0" cy="4641600"/>
          </a:xfrm>
          <a:prstGeom prst="straightConnector1">
            <a:avLst/>
          </a:prstGeom>
          <a:noFill/>
          <a:ln w="28575" cap="flat" cmpd="sng">
            <a:solidFill>
              <a:srgbClr val="666666"/>
            </a:solidFill>
            <a:prstDash val="solid"/>
            <a:round/>
            <a:headEnd type="triangle" w="med" len="med"/>
            <a:tailEnd type="none" w="med" len="med"/>
          </a:ln>
        </p:spPr>
      </p:cxnSp>
      <p:sp>
        <p:nvSpPr>
          <p:cNvPr id="90" name="Google Shape;1922;p198">
            <a:extLst>
              <a:ext uri="{FF2B5EF4-FFF2-40B4-BE49-F238E27FC236}">
                <a16:creationId xmlns:a16="http://schemas.microsoft.com/office/drawing/2014/main" id="{090C7A8C-06D8-8B72-2753-3ED363C7838C}"/>
              </a:ext>
            </a:extLst>
          </p:cNvPr>
          <p:cNvSpPr txBox="1"/>
          <p:nvPr/>
        </p:nvSpPr>
        <p:spPr>
          <a:xfrm rot="16200000">
            <a:off x="-1427800" y="3377833"/>
            <a:ext cx="3165200" cy="446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333">
                <a:latin typeface="NVIDIA Sans"/>
                <a:ea typeface="NVIDIA Sans"/>
                <a:cs typeface="NVIDIA Sans"/>
                <a:sym typeface="NVIDIA Sans"/>
              </a:rPr>
              <a:t>HIGH PRIVACY</a:t>
            </a:r>
            <a:endParaRPr sz="1333">
              <a:latin typeface="NVIDIA Sans"/>
              <a:ea typeface="NVIDIA Sans"/>
              <a:cs typeface="NVIDIA Sans"/>
              <a:sym typeface="NVIDIA Sans"/>
            </a:endParaRPr>
          </a:p>
        </p:txBody>
      </p:sp>
      <p:sp>
        <p:nvSpPr>
          <p:cNvPr id="92" name="Google Shape;1923;p198">
            <a:extLst>
              <a:ext uri="{FF2B5EF4-FFF2-40B4-BE49-F238E27FC236}">
                <a16:creationId xmlns:a16="http://schemas.microsoft.com/office/drawing/2014/main" id="{28C0126F-91A9-63C8-5559-1EBDE3DDCA57}"/>
              </a:ext>
            </a:extLst>
          </p:cNvPr>
          <p:cNvSpPr txBox="1"/>
          <p:nvPr/>
        </p:nvSpPr>
        <p:spPr>
          <a:xfrm>
            <a:off x="9523775" y="6280176"/>
            <a:ext cx="2488000" cy="174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067" baseline="30000">
                <a:latin typeface="NVIDIA Sans"/>
                <a:ea typeface="NVIDIA Sans"/>
                <a:cs typeface="NVIDIA Sans"/>
                <a:sym typeface="NVIDIA Sans"/>
              </a:rPr>
              <a:t>1</a:t>
            </a:r>
            <a:r>
              <a:rPr lang="en" sz="1067">
                <a:latin typeface="NVIDIA Sans"/>
                <a:ea typeface="NVIDIA Sans"/>
                <a:cs typeface="NVIDIA Sans"/>
                <a:sym typeface="NVIDIA Sans"/>
              </a:rPr>
              <a:t>https://arxiv.org/pdf/2501.03941</a:t>
            </a:r>
            <a:endParaRPr sz="1067">
              <a:latin typeface="NVIDIA Sans"/>
              <a:ea typeface="NVIDIA Sans"/>
              <a:cs typeface="NVIDIA Sans"/>
              <a:sym typeface="NVIDIA Sans"/>
            </a:endParaRPr>
          </a:p>
        </p:txBody>
      </p:sp>
      <p:sp>
        <p:nvSpPr>
          <p:cNvPr id="94" name="Title 93">
            <a:extLst>
              <a:ext uri="{FF2B5EF4-FFF2-40B4-BE49-F238E27FC236}">
                <a16:creationId xmlns:a16="http://schemas.microsoft.com/office/drawing/2014/main" id="{4FE04F98-31FB-1EAC-4B58-81242A713712}"/>
              </a:ext>
            </a:extLst>
          </p:cNvPr>
          <p:cNvSpPr>
            <a:spLocks noGrp="1"/>
          </p:cNvSpPr>
          <p:nvPr>
            <p:ph type="title"/>
          </p:nvPr>
        </p:nvSpPr>
        <p:spPr/>
        <p:txBody>
          <a:bodyPr/>
          <a:lstStyle/>
          <a:p>
            <a:r>
              <a:rPr lang="en-US">
                <a:latin typeface="NVIDIA Sans"/>
                <a:cs typeface="NVIDIA Sans"/>
              </a:rPr>
              <a:t>3 Levels of Data Privacy</a:t>
            </a:r>
            <a:endParaRPr lang="en-US"/>
          </a:p>
        </p:txBody>
      </p:sp>
      <p:sp>
        <p:nvSpPr>
          <p:cNvPr id="100" name="Subtitle 6">
            <a:extLst>
              <a:ext uri="{FF2B5EF4-FFF2-40B4-BE49-F238E27FC236}">
                <a16:creationId xmlns:a16="http://schemas.microsoft.com/office/drawing/2014/main" id="{EBCAD05F-2CD1-C6D1-C779-BC1DF03643BD}"/>
              </a:ext>
            </a:extLst>
          </p:cNvPr>
          <p:cNvSpPr>
            <a:spLocks noGrp="1"/>
          </p:cNvSpPr>
          <p:nvPr>
            <p:ph type="subTitle" idx="1"/>
          </p:nvPr>
        </p:nvSpPr>
        <p:spPr>
          <a:xfrm>
            <a:off x="838200" y="829056"/>
            <a:ext cx="10515600" cy="469600"/>
          </a:xfrm>
        </p:spPr>
        <p:txBody>
          <a:bodyPr/>
          <a:lstStyle/>
          <a:p>
            <a:pPr marL="227965" indent="-227965"/>
            <a:r>
              <a:rPr lang="en-US"/>
              <a:t>Select the level that balances privacy and quality based on your needs</a:t>
            </a:r>
          </a:p>
        </p:txBody>
      </p:sp>
      <p:pic>
        <p:nvPicPr>
          <p:cNvPr id="2" name="Picture 1" descr="A green hexagon with white and white logo&#10;&#10;AI-generated content may be incorrect.">
            <a:extLst>
              <a:ext uri="{FF2B5EF4-FFF2-40B4-BE49-F238E27FC236}">
                <a16:creationId xmlns:a16="http://schemas.microsoft.com/office/drawing/2014/main" id="{1E43F625-B057-48E2-2058-2AD13C1F6FC8}"/>
              </a:ext>
            </a:extLst>
          </p:cNvPr>
          <p:cNvPicPr>
            <a:picLocks noChangeAspect="1"/>
          </p:cNvPicPr>
          <p:nvPr/>
        </p:nvPicPr>
        <p:blipFill>
          <a:blip r:embed="rId6"/>
          <a:stretch>
            <a:fillRect/>
          </a:stretch>
        </p:blipFill>
        <p:spPr>
          <a:xfrm>
            <a:off x="4854575" y="1433513"/>
            <a:ext cx="1416050" cy="1076325"/>
          </a:xfrm>
          <a:prstGeom prst="rect">
            <a:avLst/>
          </a:prstGeom>
        </p:spPr>
      </p:pic>
      <p:pic>
        <p:nvPicPr>
          <p:cNvPr id="3" name="Picture 2" descr="A green hexagon with white and white logo&#10;&#10;AI-generated content may be incorrect.">
            <a:extLst>
              <a:ext uri="{FF2B5EF4-FFF2-40B4-BE49-F238E27FC236}">
                <a16:creationId xmlns:a16="http://schemas.microsoft.com/office/drawing/2014/main" id="{AF6DA0C0-0C48-C9D7-8FCF-4911C2297B55}"/>
              </a:ext>
            </a:extLst>
          </p:cNvPr>
          <p:cNvPicPr>
            <a:picLocks noChangeAspect="1"/>
          </p:cNvPicPr>
          <p:nvPr/>
        </p:nvPicPr>
        <p:blipFill>
          <a:blip r:embed="rId6"/>
          <a:stretch>
            <a:fillRect/>
          </a:stretch>
        </p:blipFill>
        <p:spPr>
          <a:xfrm>
            <a:off x="4181475" y="3090863"/>
            <a:ext cx="1416050" cy="1076325"/>
          </a:xfrm>
          <a:prstGeom prst="rect">
            <a:avLst/>
          </a:prstGeom>
        </p:spPr>
      </p:pic>
      <p:pic>
        <p:nvPicPr>
          <p:cNvPr id="4" name="Picture 3" descr="A green hexagon with white and white logo&#10;&#10;AI-generated content may be incorrect.">
            <a:extLst>
              <a:ext uri="{FF2B5EF4-FFF2-40B4-BE49-F238E27FC236}">
                <a16:creationId xmlns:a16="http://schemas.microsoft.com/office/drawing/2014/main" id="{EC099F53-5E11-CD5F-8A35-B08DD8D3CEBE}"/>
              </a:ext>
            </a:extLst>
          </p:cNvPr>
          <p:cNvPicPr>
            <a:picLocks noChangeAspect="1"/>
          </p:cNvPicPr>
          <p:nvPr/>
        </p:nvPicPr>
        <p:blipFill>
          <a:blip r:embed="rId6"/>
          <a:stretch>
            <a:fillRect/>
          </a:stretch>
        </p:blipFill>
        <p:spPr>
          <a:xfrm>
            <a:off x="3000374" y="4703763"/>
            <a:ext cx="1416050" cy="1076325"/>
          </a:xfrm>
          <a:prstGeom prst="rect">
            <a:avLst/>
          </a:prstGeom>
        </p:spPr>
      </p:pic>
    </p:spTree>
    <p:extLst>
      <p:ext uri="{BB962C8B-B14F-4D97-AF65-F5344CB8AC3E}">
        <p14:creationId xmlns:p14="http://schemas.microsoft.com/office/powerpoint/2010/main" val="3417676316"/>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7A1B-4E11-154D-C94E-F26DE2D70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3BA16-BE6E-9F86-1809-93E7DCCA3B9F}"/>
              </a:ext>
            </a:extLst>
          </p:cNvPr>
          <p:cNvSpPr>
            <a:spLocks noGrp="1"/>
          </p:cNvSpPr>
          <p:nvPr>
            <p:ph type="title"/>
          </p:nvPr>
        </p:nvSpPr>
        <p:spPr/>
        <p:txBody>
          <a:bodyPr/>
          <a:lstStyle/>
          <a:p>
            <a:r>
              <a:rPr lang="en-US">
                <a:latin typeface="NVIDIA Sans"/>
                <a:cs typeface="NVIDIA Sans"/>
              </a:rPr>
              <a:t>NVIDIA </a:t>
            </a:r>
            <a:r>
              <a:rPr lang="en-US" err="1">
                <a:latin typeface="NVIDIA Sans"/>
                <a:cs typeface="NVIDIA Sans"/>
              </a:rPr>
              <a:t>NeMo</a:t>
            </a:r>
            <a:r>
              <a:rPr lang="en-US">
                <a:latin typeface="NVIDIA Sans"/>
                <a:cs typeface="NVIDIA Sans"/>
              </a:rPr>
              <a:t> Anonymizer</a:t>
            </a:r>
          </a:p>
        </p:txBody>
      </p:sp>
      <p:sp>
        <p:nvSpPr>
          <p:cNvPr id="3" name="Text Placeholder 2">
            <a:extLst>
              <a:ext uri="{FF2B5EF4-FFF2-40B4-BE49-F238E27FC236}">
                <a16:creationId xmlns:a16="http://schemas.microsoft.com/office/drawing/2014/main" id="{45FAF4B7-4E49-006B-0724-621B8448D328}"/>
              </a:ext>
            </a:extLst>
          </p:cNvPr>
          <p:cNvSpPr>
            <a:spLocks noGrp="1"/>
          </p:cNvSpPr>
          <p:nvPr>
            <p:ph type="body" sz="quarter" idx="10"/>
          </p:nvPr>
        </p:nvSpPr>
        <p:spPr/>
        <p:txBody>
          <a:bodyPr lIns="91440" tIns="45720" rIns="91440" bIns="45720" anchor="t"/>
          <a:lstStyle/>
          <a:p>
            <a:r>
              <a:rPr lang="en-US">
                <a:latin typeface="NVIDIA Sans"/>
                <a:cs typeface="NVIDIA Sans"/>
              </a:rPr>
              <a:t>Perform context-aware data anonymization to protect PII while preserving insights</a:t>
            </a:r>
            <a:endParaRPr lang="en-US"/>
          </a:p>
          <a:p>
            <a:endParaRPr lang="en-US"/>
          </a:p>
        </p:txBody>
      </p:sp>
      <p:sp>
        <p:nvSpPr>
          <p:cNvPr id="6" name="Google Shape;3674;p382">
            <a:extLst>
              <a:ext uri="{FF2B5EF4-FFF2-40B4-BE49-F238E27FC236}">
                <a16:creationId xmlns:a16="http://schemas.microsoft.com/office/drawing/2014/main" id="{B7BF010F-621C-7946-BBC2-0B3F1A4D88F6}"/>
              </a:ext>
            </a:extLst>
          </p:cNvPr>
          <p:cNvSpPr/>
          <p:nvPr/>
        </p:nvSpPr>
        <p:spPr>
          <a:xfrm>
            <a:off x="697484" y="1477708"/>
            <a:ext cx="6097822" cy="4479936"/>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11" name="Google Shape;3674;p382">
            <a:extLst>
              <a:ext uri="{FF2B5EF4-FFF2-40B4-BE49-F238E27FC236}">
                <a16:creationId xmlns:a16="http://schemas.microsoft.com/office/drawing/2014/main" id="{5AD26F62-A1A3-BA55-6925-C7E93DBBF410}"/>
              </a:ext>
            </a:extLst>
          </p:cNvPr>
          <p:cNvSpPr/>
          <p:nvPr/>
        </p:nvSpPr>
        <p:spPr>
          <a:xfrm>
            <a:off x="6899397" y="1493259"/>
            <a:ext cx="4455682" cy="4486339"/>
          </a:xfrm>
          <a:prstGeom prst="rect">
            <a:avLst/>
          </a:prstGeom>
          <a:noFill/>
          <a:ln w="3175" cap="flat" cmpd="sng">
            <a:solidFill>
              <a:schemeClr val="tx1">
                <a:lumMod val="95000"/>
              </a:schemeClr>
            </a:solidFill>
            <a:prstDash val="solid"/>
            <a:round/>
            <a:headEnd type="none" w="sm" len="sm"/>
            <a:tailEnd type="none" w="sm" len="sm"/>
          </a:ln>
          <a:effectLst>
            <a:outerShdw blurRad="63500" dist="38100" dir="2700000">
              <a:srgbClr val="000000">
                <a:alpha val="40000"/>
              </a:srgbClr>
            </a:outerShdw>
          </a:effectLst>
        </p:spPr>
        <p:txBody>
          <a:bodyPr spcFirstLastPara="1" wrap="square" lIns="30467" tIns="15233" rIns="30467" bIns="15233" anchor="ctr" anchorCtr="0">
            <a:noAutofit/>
          </a:bodyPr>
          <a:lstStyle/>
          <a:p>
            <a:pPr algn="ctr">
              <a:lnSpc>
                <a:spcPct val="90000"/>
              </a:lnSpc>
            </a:pPr>
            <a:endParaRPr sz="1333">
              <a:solidFill>
                <a:schemeClr val="dk1"/>
              </a:solidFill>
            </a:endParaRPr>
          </a:p>
        </p:txBody>
      </p:sp>
      <p:sp>
        <p:nvSpPr>
          <p:cNvPr id="7" name="Google Shape;2158;p219">
            <a:extLst>
              <a:ext uri="{FF2B5EF4-FFF2-40B4-BE49-F238E27FC236}">
                <a16:creationId xmlns:a16="http://schemas.microsoft.com/office/drawing/2014/main" id="{97744CB5-25AC-C451-9F89-50CD4F98F351}"/>
              </a:ext>
            </a:extLst>
          </p:cNvPr>
          <p:cNvSpPr txBox="1"/>
          <p:nvPr/>
        </p:nvSpPr>
        <p:spPr>
          <a:xfrm>
            <a:off x="7678062" y="4796669"/>
            <a:ext cx="3529106" cy="7232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rtl="0">
              <a:lnSpc>
                <a:spcPct val="115000"/>
              </a:lnSpc>
              <a:spcBef>
                <a:spcPts val="0"/>
              </a:spcBef>
              <a:spcAft>
                <a:spcPts val="0"/>
              </a:spcAft>
              <a:buNone/>
            </a:pPr>
            <a:r>
              <a:rPr lang="en" sz="1500" b="1">
                <a:latin typeface="NVIDIA Sans"/>
                <a:ea typeface="NVIDIA Sans"/>
                <a:cs typeface="NVIDIA Sans"/>
                <a:sym typeface="NVIDIA Sans"/>
              </a:rPr>
              <a:t>Rewriting</a:t>
            </a:r>
            <a:endParaRPr lang="en-US" sz="1500" b="1">
              <a:latin typeface="NVIDIA Sans"/>
              <a:ea typeface="NVIDIA Sans"/>
              <a:cs typeface="NVIDIA Sans"/>
            </a:endParaRPr>
          </a:p>
          <a:p>
            <a:pPr marL="0" lvl="0" indent="0" rtl="0">
              <a:lnSpc>
                <a:spcPct val="115000"/>
              </a:lnSpc>
              <a:spcBef>
                <a:spcPts val="0"/>
              </a:spcBef>
              <a:spcAft>
                <a:spcPts val="0"/>
              </a:spcAft>
              <a:buNone/>
            </a:pPr>
            <a:r>
              <a:rPr lang="en" sz="1100">
                <a:latin typeface="NVIDIA Sans"/>
                <a:ea typeface="NVIDIA Sans"/>
                <a:cs typeface="NVIDIA Sans"/>
                <a:sym typeface="NVIDIA Sans"/>
              </a:rPr>
              <a:t>Rewrites entire phrases while maintaining context</a:t>
            </a:r>
            <a:endParaRPr lang="en" sz="1100">
              <a:latin typeface="NVIDIA Sans"/>
              <a:ea typeface="NVIDIA Sans"/>
              <a:cs typeface="NVIDIA Sans"/>
            </a:endParaRPr>
          </a:p>
        </p:txBody>
      </p:sp>
      <p:pic>
        <p:nvPicPr>
          <p:cNvPr id="10" name="Google Shape;2161;p219" descr="Make the background white and remove all of the text box outlines">
            <a:extLst>
              <a:ext uri="{FF2B5EF4-FFF2-40B4-BE49-F238E27FC236}">
                <a16:creationId xmlns:a16="http://schemas.microsoft.com/office/drawing/2014/main" id="{FECA5B81-2AC3-6450-002D-0A4E5D657D68}"/>
              </a:ext>
            </a:extLst>
          </p:cNvPr>
          <p:cNvPicPr preferRelativeResize="0"/>
          <p:nvPr/>
        </p:nvPicPr>
        <p:blipFill rotWithShape="1">
          <a:blip r:embed="rId4">
            <a:alphaModFix/>
          </a:blip>
          <a:srcRect l="16301" t="20910" r="77077" b="66773"/>
          <a:stretch/>
        </p:blipFill>
        <p:spPr>
          <a:xfrm>
            <a:off x="7082370" y="2092839"/>
            <a:ext cx="493507" cy="518565"/>
          </a:xfrm>
          <a:prstGeom prst="rect">
            <a:avLst/>
          </a:prstGeom>
          <a:noFill/>
          <a:ln>
            <a:noFill/>
          </a:ln>
        </p:spPr>
      </p:pic>
      <p:sp>
        <p:nvSpPr>
          <p:cNvPr id="13" name="Google Shape;2162;p219">
            <a:extLst>
              <a:ext uri="{FF2B5EF4-FFF2-40B4-BE49-F238E27FC236}">
                <a16:creationId xmlns:a16="http://schemas.microsoft.com/office/drawing/2014/main" id="{F45F19F4-1016-0A95-118B-68468E0F7215}"/>
              </a:ext>
            </a:extLst>
          </p:cNvPr>
          <p:cNvSpPr txBox="1"/>
          <p:nvPr/>
        </p:nvSpPr>
        <p:spPr>
          <a:xfrm>
            <a:off x="7676989" y="1996696"/>
            <a:ext cx="2902952" cy="71689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rtl="0">
              <a:lnSpc>
                <a:spcPct val="115000"/>
              </a:lnSpc>
              <a:spcBef>
                <a:spcPts val="0"/>
              </a:spcBef>
              <a:spcAft>
                <a:spcPts val="0"/>
              </a:spcAft>
              <a:buNone/>
            </a:pPr>
            <a:r>
              <a:rPr lang="en" sz="1500" b="1">
                <a:latin typeface="NVIDIA Sans"/>
                <a:ea typeface="NVIDIA Sans"/>
                <a:cs typeface="NVIDIA Sans"/>
                <a:sym typeface="NVIDIA Sans"/>
              </a:rPr>
              <a:t>Labeling</a:t>
            </a:r>
            <a:endParaRPr lang="en-US" sz="1500" b="1">
              <a:latin typeface="NVIDIA Sans"/>
              <a:ea typeface="NVIDIA Sans"/>
              <a:cs typeface="NVIDIA Sans"/>
            </a:endParaRPr>
          </a:p>
          <a:p>
            <a:pPr>
              <a:lnSpc>
                <a:spcPct val="115000"/>
              </a:lnSpc>
            </a:pPr>
            <a:r>
              <a:rPr lang="en" sz="1100">
                <a:latin typeface="NVIDIA Sans"/>
                <a:ea typeface="NVIDIA Sans"/>
                <a:cs typeface="NVIDIA Sans"/>
                <a:sym typeface="NVIDIA Sans"/>
              </a:rPr>
              <a:t>Adds identified entity</a:t>
            </a:r>
            <a:r>
              <a:rPr lang="en-US" sz="1100">
                <a:latin typeface="NVIDIA Sans"/>
                <a:ea typeface="NVIDIA Sans"/>
                <a:cs typeface="NVIDIA Sans"/>
                <a:sym typeface="NVIDIA Sans"/>
              </a:rPr>
              <a:t> to original PII</a:t>
            </a:r>
            <a:endParaRPr lang="en-US" sz="1100">
              <a:latin typeface="NVIDIA Sans"/>
              <a:ea typeface="NVIDIA Sans"/>
              <a:cs typeface="NVIDIA Sans"/>
            </a:endParaRPr>
          </a:p>
        </p:txBody>
      </p:sp>
      <p:pic>
        <p:nvPicPr>
          <p:cNvPr id="15" name="Google Shape;2163;p219" descr="Make the background white and remove all of the text box outlines">
            <a:extLst>
              <a:ext uri="{FF2B5EF4-FFF2-40B4-BE49-F238E27FC236}">
                <a16:creationId xmlns:a16="http://schemas.microsoft.com/office/drawing/2014/main" id="{51ACE444-75A3-E48D-7C21-228578A824F6}"/>
              </a:ext>
            </a:extLst>
          </p:cNvPr>
          <p:cNvPicPr preferRelativeResize="0"/>
          <p:nvPr/>
        </p:nvPicPr>
        <p:blipFill rotWithShape="1">
          <a:blip r:embed="rId4">
            <a:alphaModFix/>
          </a:blip>
          <a:srcRect l="46480" t="20904" r="46897" b="66769"/>
          <a:stretch/>
        </p:blipFill>
        <p:spPr>
          <a:xfrm>
            <a:off x="7049878" y="2803625"/>
            <a:ext cx="493507" cy="518565"/>
          </a:xfrm>
          <a:prstGeom prst="rect">
            <a:avLst/>
          </a:prstGeom>
          <a:noFill/>
          <a:ln>
            <a:noFill/>
          </a:ln>
        </p:spPr>
      </p:pic>
      <p:sp>
        <p:nvSpPr>
          <p:cNvPr id="17" name="Google Shape;2164;p219">
            <a:extLst>
              <a:ext uri="{FF2B5EF4-FFF2-40B4-BE49-F238E27FC236}">
                <a16:creationId xmlns:a16="http://schemas.microsoft.com/office/drawing/2014/main" id="{A1C3E42E-8E6E-9153-878A-48CC696D72D2}"/>
              </a:ext>
            </a:extLst>
          </p:cNvPr>
          <p:cNvSpPr txBox="1"/>
          <p:nvPr/>
        </p:nvSpPr>
        <p:spPr>
          <a:xfrm>
            <a:off x="7663709" y="2707467"/>
            <a:ext cx="2461119" cy="71689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rtl="0">
              <a:lnSpc>
                <a:spcPct val="115000"/>
              </a:lnSpc>
              <a:spcBef>
                <a:spcPts val="0"/>
              </a:spcBef>
              <a:spcAft>
                <a:spcPts val="0"/>
              </a:spcAft>
              <a:buNone/>
            </a:pPr>
            <a:r>
              <a:rPr lang="en" sz="1500" b="1">
                <a:latin typeface="NVIDIA Sans"/>
                <a:ea typeface="NVIDIA Sans"/>
                <a:cs typeface="NVIDIA Sans"/>
                <a:sym typeface="NVIDIA Sans"/>
              </a:rPr>
              <a:t>Annotating</a:t>
            </a:r>
            <a:endParaRPr lang="en-US" sz="1500" b="1">
              <a:latin typeface="NVIDIA Sans"/>
              <a:ea typeface="NVIDIA Sans"/>
              <a:cs typeface="NVIDIA Sans"/>
            </a:endParaRPr>
          </a:p>
          <a:p>
            <a:pPr marL="0" lvl="0" indent="0" rtl="0">
              <a:lnSpc>
                <a:spcPct val="115000"/>
              </a:lnSpc>
              <a:spcBef>
                <a:spcPts val="0"/>
              </a:spcBef>
              <a:spcAft>
                <a:spcPts val="0"/>
              </a:spcAft>
              <a:buNone/>
            </a:pPr>
            <a:r>
              <a:rPr lang="en" sz="1100">
                <a:latin typeface="NVIDIA Sans"/>
                <a:ea typeface="NVIDIA Sans"/>
                <a:cs typeface="NVIDIA Sans"/>
                <a:sym typeface="NVIDIA Sans"/>
              </a:rPr>
              <a:t>Substitutes PII with a generic tag</a:t>
            </a:r>
            <a:endParaRPr sz="1100">
              <a:latin typeface="NVIDIA Sans"/>
              <a:ea typeface="NVIDIA Sans"/>
              <a:cs typeface="NVIDIA Sans"/>
            </a:endParaRPr>
          </a:p>
          <a:p>
            <a:pPr marL="0" lvl="0" indent="0" rtl="0">
              <a:lnSpc>
                <a:spcPct val="115000"/>
              </a:lnSpc>
              <a:spcBef>
                <a:spcPts val="0"/>
              </a:spcBef>
              <a:spcAft>
                <a:spcPts val="0"/>
              </a:spcAft>
              <a:buNone/>
            </a:pPr>
            <a:endParaRPr sz="1100">
              <a:latin typeface="NVIDIA Sans"/>
              <a:ea typeface="NVIDIA Sans"/>
              <a:cs typeface="NVIDIA Sans"/>
            </a:endParaRPr>
          </a:p>
        </p:txBody>
      </p:sp>
      <p:pic>
        <p:nvPicPr>
          <p:cNvPr id="19" name="Google Shape;2165;p219" descr="Make the background white and remove all of the text box outlines">
            <a:extLst>
              <a:ext uri="{FF2B5EF4-FFF2-40B4-BE49-F238E27FC236}">
                <a16:creationId xmlns:a16="http://schemas.microsoft.com/office/drawing/2014/main" id="{0AC8EB6C-86D2-8C52-DAED-E5604DE98195}"/>
              </a:ext>
            </a:extLst>
          </p:cNvPr>
          <p:cNvPicPr preferRelativeResize="0"/>
          <p:nvPr/>
        </p:nvPicPr>
        <p:blipFill rotWithShape="1">
          <a:blip r:embed="rId4">
            <a:alphaModFix/>
          </a:blip>
          <a:srcRect l="77380" t="20904" r="15091" b="66769"/>
          <a:stretch/>
        </p:blipFill>
        <p:spPr>
          <a:xfrm>
            <a:off x="7081420" y="3450365"/>
            <a:ext cx="546462" cy="531372"/>
          </a:xfrm>
          <a:prstGeom prst="rect">
            <a:avLst/>
          </a:prstGeom>
          <a:noFill/>
          <a:ln>
            <a:noFill/>
          </a:ln>
        </p:spPr>
      </p:pic>
      <p:sp>
        <p:nvSpPr>
          <p:cNvPr id="21" name="Google Shape;2166;p219">
            <a:extLst>
              <a:ext uri="{FF2B5EF4-FFF2-40B4-BE49-F238E27FC236}">
                <a16:creationId xmlns:a16="http://schemas.microsoft.com/office/drawing/2014/main" id="{A2C36014-8BF8-52B7-5935-0D4D15D128D6}"/>
              </a:ext>
            </a:extLst>
          </p:cNvPr>
          <p:cNvSpPr txBox="1"/>
          <p:nvPr/>
        </p:nvSpPr>
        <p:spPr>
          <a:xfrm>
            <a:off x="7669640" y="3379822"/>
            <a:ext cx="2736464" cy="71049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rtl="0">
              <a:lnSpc>
                <a:spcPct val="115000"/>
              </a:lnSpc>
              <a:spcBef>
                <a:spcPts val="0"/>
              </a:spcBef>
              <a:spcAft>
                <a:spcPts val="0"/>
              </a:spcAft>
              <a:buNone/>
            </a:pPr>
            <a:r>
              <a:rPr lang="en" sz="1500" b="1">
                <a:latin typeface="NVIDIA Sans"/>
                <a:ea typeface="NVIDIA Sans"/>
                <a:cs typeface="NVIDIA Sans"/>
                <a:sym typeface="NVIDIA Sans"/>
              </a:rPr>
              <a:t>Hashing</a:t>
            </a:r>
            <a:endParaRPr lang="en-US" sz="1500" b="1">
              <a:latin typeface="NVIDIA Sans"/>
              <a:ea typeface="NVIDIA Sans"/>
              <a:cs typeface="NVIDIA Sans"/>
            </a:endParaRPr>
          </a:p>
          <a:p>
            <a:pPr marL="0" lvl="0" indent="0" rtl="0">
              <a:lnSpc>
                <a:spcPct val="115000"/>
              </a:lnSpc>
              <a:spcBef>
                <a:spcPts val="0"/>
              </a:spcBef>
              <a:spcAft>
                <a:spcPts val="0"/>
              </a:spcAft>
              <a:buNone/>
            </a:pPr>
            <a:r>
              <a:rPr lang="en" sz="1100">
                <a:latin typeface="NVIDIA Sans"/>
                <a:ea typeface="NVIDIA Sans"/>
                <a:cs typeface="NVIDIA Sans"/>
                <a:sym typeface="NVIDIA Sans"/>
              </a:rPr>
              <a:t>Substitutes PII with a hashed value</a:t>
            </a:r>
            <a:endParaRPr sz="1100">
              <a:latin typeface="NVIDIA Sans"/>
              <a:ea typeface="NVIDIA Sans"/>
              <a:cs typeface="NVIDIA Sans"/>
            </a:endParaRPr>
          </a:p>
        </p:txBody>
      </p:sp>
      <p:pic>
        <p:nvPicPr>
          <p:cNvPr id="23" name="Google Shape;2167;p219" descr="Make the background white and remove all of the text box outlines">
            <a:extLst>
              <a:ext uri="{FF2B5EF4-FFF2-40B4-BE49-F238E27FC236}">
                <a16:creationId xmlns:a16="http://schemas.microsoft.com/office/drawing/2014/main" id="{71EED10C-8E3F-F13B-045A-034AB136C79E}"/>
              </a:ext>
            </a:extLst>
          </p:cNvPr>
          <p:cNvPicPr preferRelativeResize="0"/>
          <p:nvPr/>
        </p:nvPicPr>
        <p:blipFill rotWithShape="1">
          <a:blip r:embed="rId4">
            <a:alphaModFix/>
          </a:blip>
          <a:srcRect l="30371" t="55679" r="62099" b="31997"/>
          <a:stretch/>
        </p:blipFill>
        <p:spPr>
          <a:xfrm>
            <a:off x="7083174" y="4165971"/>
            <a:ext cx="543458" cy="597104"/>
          </a:xfrm>
          <a:prstGeom prst="rect">
            <a:avLst/>
          </a:prstGeom>
          <a:noFill/>
          <a:ln>
            <a:noFill/>
          </a:ln>
        </p:spPr>
      </p:pic>
      <p:pic>
        <p:nvPicPr>
          <p:cNvPr id="25" name="Google Shape;2168;p219" descr="Make the background white and remove all of the text box outlines">
            <a:extLst>
              <a:ext uri="{FF2B5EF4-FFF2-40B4-BE49-F238E27FC236}">
                <a16:creationId xmlns:a16="http://schemas.microsoft.com/office/drawing/2014/main" id="{996B4AFD-180F-CF93-D7A2-32938044BE67}"/>
              </a:ext>
            </a:extLst>
          </p:cNvPr>
          <p:cNvPicPr preferRelativeResize="0"/>
          <p:nvPr/>
        </p:nvPicPr>
        <p:blipFill rotWithShape="1">
          <a:blip r:embed="rId4">
            <a:alphaModFix/>
          </a:blip>
          <a:srcRect l="61848" t="56241" r="26266" b="33585"/>
          <a:stretch/>
        </p:blipFill>
        <p:spPr>
          <a:xfrm>
            <a:off x="7034197" y="4958173"/>
            <a:ext cx="680263" cy="403822"/>
          </a:xfrm>
          <a:prstGeom prst="rect">
            <a:avLst/>
          </a:prstGeom>
          <a:noFill/>
          <a:ln>
            <a:noFill/>
          </a:ln>
        </p:spPr>
      </p:pic>
      <p:sp>
        <p:nvSpPr>
          <p:cNvPr id="27" name="Google Shape;2169;p219">
            <a:extLst>
              <a:ext uri="{FF2B5EF4-FFF2-40B4-BE49-F238E27FC236}">
                <a16:creationId xmlns:a16="http://schemas.microsoft.com/office/drawing/2014/main" id="{D8609C24-6EC2-031B-1EE1-E8B4D1C7D971}"/>
              </a:ext>
            </a:extLst>
          </p:cNvPr>
          <p:cNvSpPr txBox="1"/>
          <p:nvPr/>
        </p:nvSpPr>
        <p:spPr>
          <a:xfrm>
            <a:off x="7673764" y="4071107"/>
            <a:ext cx="3684049" cy="65082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rtl="0">
              <a:lnSpc>
                <a:spcPct val="115000"/>
              </a:lnSpc>
              <a:spcBef>
                <a:spcPts val="0"/>
              </a:spcBef>
              <a:spcAft>
                <a:spcPts val="0"/>
              </a:spcAft>
              <a:buNone/>
            </a:pPr>
            <a:r>
              <a:rPr lang="en" sz="1500" b="1">
                <a:latin typeface="NVIDIA Sans"/>
                <a:ea typeface="NVIDIA Sans"/>
                <a:cs typeface="NVIDIA Sans"/>
                <a:sym typeface="NVIDIA Sans"/>
              </a:rPr>
              <a:t>Substituting</a:t>
            </a:r>
            <a:endParaRPr lang="en-US" sz="1500" b="1">
              <a:latin typeface="NVIDIA Sans"/>
              <a:ea typeface="NVIDIA Sans"/>
              <a:cs typeface="NVIDIA Sans"/>
            </a:endParaRPr>
          </a:p>
          <a:p>
            <a:pPr marL="0" lvl="0" indent="0" rtl="0">
              <a:lnSpc>
                <a:spcPct val="115000"/>
              </a:lnSpc>
              <a:spcBef>
                <a:spcPts val="0"/>
              </a:spcBef>
              <a:spcAft>
                <a:spcPts val="0"/>
              </a:spcAft>
              <a:buNone/>
            </a:pPr>
            <a:r>
              <a:rPr lang="en" sz="1100">
                <a:latin typeface="NVIDIA Sans"/>
                <a:ea typeface="NVIDIA Sans"/>
                <a:cs typeface="NVIDIA Sans"/>
                <a:sym typeface="NVIDIA Sans"/>
              </a:rPr>
              <a:t>Substitutes PII with a context-relevant alternative</a:t>
            </a:r>
            <a:endParaRPr sz="1100">
              <a:latin typeface="NVIDIA Sans"/>
              <a:ea typeface="NVIDIA Sans"/>
              <a:cs typeface="NVIDIA Sans"/>
            </a:endParaRPr>
          </a:p>
        </p:txBody>
      </p:sp>
      <p:sp>
        <p:nvSpPr>
          <p:cNvPr id="29" name="Content Placeholder 3">
            <a:extLst>
              <a:ext uri="{FF2B5EF4-FFF2-40B4-BE49-F238E27FC236}">
                <a16:creationId xmlns:a16="http://schemas.microsoft.com/office/drawing/2014/main" id="{4E790F58-863A-E03D-CDE8-21EEA4B5A44C}"/>
              </a:ext>
            </a:extLst>
          </p:cNvPr>
          <p:cNvSpPr txBox="1">
            <a:spLocks/>
          </p:cNvSpPr>
          <p:nvPr/>
        </p:nvSpPr>
        <p:spPr>
          <a:xfrm>
            <a:off x="7031821" y="1598864"/>
            <a:ext cx="3202093" cy="443025"/>
          </a:xfrm>
          <a:prstGeom prst="rect">
            <a:avLst/>
          </a:prstGeom>
        </p:spPr>
        <p:txBody>
          <a:bodyPr lIns="91440" tIns="45720" rIns="91440" bIns="45720" anchor="t"/>
          <a:lstStyle>
            <a:lvl1pPr marL="152385" indent="-152385" algn="l" defTabSz="914309" rtl="0" eaLnBrk="1" latinLnBrk="0" hangingPunct="1">
              <a:lnSpc>
                <a:spcPct val="90000"/>
              </a:lnSpc>
              <a:spcBef>
                <a:spcPts val="1000"/>
              </a:spcBef>
              <a:buClr>
                <a:schemeClr val="tx2"/>
              </a:buClr>
              <a:buFont typeface="NVIDIA Sans" panose="020B0503020203020204" pitchFamily="34" charset="0"/>
              <a:buChar char="•"/>
              <a:defRPr sz="1467" kern="1200">
                <a:solidFill>
                  <a:schemeClr val="bg1"/>
                </a:solidFill>
                <a:latin typeface="NVIDIA Sans" panose="020B0503020203020204" pitchFamily="34" charset="0"/>
                <a:ea typeface="+mn-ea"/>
                <a:cs typeface="NVIDIA Sans" panose="020B0503020203020204" pitchFamily="34" charset="0"/>
              </a:defRPr>
            </a:lvl1pPr>
            <a:lvl2pPr marL="457154" indent="-152385" algn="l" defTabSz="914309" rtl="0" eaLnBrk="1" latinLnBrk="0" hangingPunct="1">
              <a:lnSpc>
                <a:spcPct val="90000"/>
              </a:lnSpc>
              <a:spcBef>
                <a:spcPts val="500"/>
              </a:spcBef>
              <a:buClr>
                <a:schemeClr val="tx2"/>
              </a:buClr>
              <a:buFont typeface="NVIDIA Sans" panose="020B0503020203020204" pitchFamily="34" charset="0"/>
              <a:buChar char="•"/>
              <a:defRPr sz="1333" kern="1200">
                <a:solidFill>
                  <a:schemeClr val="bg1"/>
                </a:solidFill>
                <a:latin typeface="NVIDIA Sans" panose="020B0503020203020204" pitchFamily="34" charset="0"/>
                <a:ea typeface="+mn-ea"/>
                <a:cs typeface="NVIDIA Sans" panose="020B0503020203020204" pitchFamily="34" charset="0"/>
              </a:defRPr>
            </a:lvl2pPr>
            <a:lvl3pPr marL="761924" indent="-152385" algn="l" defTabSz="914309" rtl="0" eaLnBrk="1" latinLnBrk="0" hangingPunct="1">
              <a:lnSpc>
                <a:spcPct val="90000"/>
              </a:lnSpc>
              <a:spcBef>
                <a:spcPts val="500"/>
              </a:spcBef>
              <a:buClr>
                <a:schemeClr val="tx2"/>
              </a:buClr>
              <a:buFont typeface="NVIDIA Sans" panose="020B0503020203020204" pitchFamily="34" charset="0"/>
              <a:buChar char="•"/>
              <a:defRPr sz="1200" kern="1200">
                <a:solidFill>
                  <a:schemeClr val="bg1"/>
                </a:solidFill>
                <a:latin typeface="NVIDIA Sans" panose="020B0503020203020204" pitchFamily="34" charset="0"/>
                <a:ea typeface="+mn-ea"/>
                <a:cs typeface="NVIDIA Sans" panose="020B0503020203020204" pitchFamily="34" charset="0"/>
              </a:defRPr>
            </a:lvl3pPr>
            <a:lvl4pPr marL="1066693" indent="-152385" algn="l" defTabSz="914309" rtl="0" eaLnBrk="1" latinLnBrk="0" hangingPunct="1">
              <a:lnSpc>
                <a:spcPct val="90000"/>
              </a:lnSpc>
              <a:spcBef>
                <a:spcPts val="500"/>
              </a:spcBef>
              <a:buClr>
                <a:schemeClr val="tx2"/>
              </a:buClr>
              <a:buFont typeface="NVIDIA Sans" panose="020B0503020203020204" pitchFamily="34" charset="0"/>
              <a:buChar char="•"/>
              <a:defRPr sz="1067" kern="1200">
                <a:solidFill>
                  <a:schemeClr val="bg1"/>
                </a:solidFill>
                <a:latin typeface="NVIDIA Sans" panose="020B0503020203020204" pitchFamily="34" charset="0"/>
                <a:ea typeface="+mn-ea"/>
                <a:cs typeface="NVIDIA Sans" panose="020B0503020203020204" pitchFamily="34" charset="0"/>
              </a:defRPr>
            </a:lvl4pPr>
            <a:lvl5pPr marL="1351357" indent="-132278" algn="l" defTabSz="914309" rtl="0" eaLnBrk="1" latinLnBrk="0" hangingPunct="1">
              <a:lnSpc>
                <a:spcPct val="90000"/>
              </a:lnSpc>
              <a:spcBef>
                <a:spcPts val="500"/>
              </a:spcBef>
              <a:buClr>
                <a:schemeClr val="tx2"/>
              </a:buClr>
              <a:buFont typeface="NVIDIA Sans" panose="020B0503020203020204" pitchFamily="34" charset="0"/>
              <a:buChar char="•"/>
              <a:defRPr sz="933" kern="1200">
                <a:solidFill>
                  <a:schemeClr val="bg1"/>
                </a:solidFill>
                <a:latin typeface="NVIDIA Sans" panose="020B0503020203020204" pitchFamily="34" charset="0"/>
                <a:ea typeface="+mn-ea"/>
                <a:cs typeface="NVIDIA Sans" panose="020B0503020203020204" pitchFamily="34" charset="0"/>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pPr marL="151765" indent="-151765">
              <a:buNone/>
            </a:pPr>
            <a:r>
              <a:rPr lang="en-US" sz="1800" b="1">
                <a:solidFill>
                  <a:schemeClr val="tx2"/>
                </a:solidFill>
                <a:latin typeface="NVIDIA Sans"/>
                <a:cs typeface="NVIDIA Sans"/>
              </a:rPr>
              <a:t>5 Transformation Options</a:t>
            </a:r>
            <a:endParaRPr lang="en-US"/>
          </a:p>
        </p:txBody>
      </p:sp>
      <p:sp>
        <p:nvSpPr>
          <p:cNvPr id="33" name="Rectangle 11">
            <a:extLst>
              <a:ext uri="{FF2B5EF4-FFF2-40B4-BE49-F238E27FC236}">
                <a16:creationId xmlns:a16="http://schemas.microsoft.com/office/drawing/2014/main" id="{90E08521-63F9-319F-785D-C75FCDEFBED8}"/>
              </a:ext>
            </a:extLst>
          </p:cNvPr>
          <p:cNvSpPr/>
          <p:nvPr/>
        </p:nvSpPr>
        <p:spPr>
          <a:xfrm>
            <a:off x="858772" y="4288851"/>
            <a:ext cx="5781517" cy="1457038"/>
          </a:xfrm>
          <a:prstGeom prst="roundRect">
            <a:avLst/>
          </a:prstGeom>
          <a:solidFill>
            <a:schemeClr val="tx2"/>
          </a:solidFill>
          <a:ln>
            <a:noFill/>
          </a:ln>
          <a:effectLst>
            <a:outerShdw>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51765" algn="ctr">
              <a:lnSpc>
                <a:spcPct val="150000"/>
              </a:lnSpc>
            </a:pPr>
            <a:r>
              <a:rPr lang="en-US" sz="1400" b="1">
                <a:solidFill>
                  <a:schemeClr val="tx1"/>
                </a:solidFill>
                <a:latin typeface="NVIDIA Sans"/>
                <a:cs typeface="NVIDIA Sans"/>
              </a:rPr>
              <a:t>CLASSIC DETECTION &amp; REPLACEMENT ARE INSUFFICIENT</a:t>
            </a:r>
            <a:endParaRPr lang="en-US">
              <a:solidFill>
                <a:schemeClr val="tx1"/>
              </a:solidFill>
              <a:cs typeface="NVIDIA Sans"/>
            </a:endParaRPr>
          </a:p>
          <a:p>
            <a:pPr marL="151765">
              <a:lnSpc>
                <a:spcPct val="150000"/>
              </a:lnSpc>
            </a:pPr>
            <a:r>
              <a:rPr lang="en-US" sz="1100">
                <a:solidFill>
                  <a:schemeClr val="tx1"/>
                </a:solidFill>
                <a:latin typeface="NVIDIA Sans"/>
                <a:cs typeface="NVIDIA Sans"/>
              </a:rPr>
              <a:t>Example: </a:t>
            </a:r>
            <a:r>
              <a:rPr lang="en-US" sz="1100" i="1">
                <a:solidFill>
                  <a:schemeClr val="tx1"/>
                </a:solidFill>
                <a:latin typeface="NVIDIA Sans"/>
                <a:cs typeface="NVIDIA Sans"/>
              </a:rPr>
              <a:t>"</a:t>
            </a:r>
            <a:r>
              <a:rPr lang="en-US" sz="1100" b="1" i="1">
                <a:solidFill>
                  <a:schemeClr val="tx1"/>
                </a:solidFill>
                <a:latin typeface="NVIDIA Sans"/>
                <a:cs typeface="NVIDIA Sans"/>
              </a:rPr>
              <a:t>Sarah </a:t>
            </a:r>
            <a:r>
              <a:rPr lang="en-US" sz="1100" i="1">
                <a:solidFill>
                  <a:schemeClr val="tx1"/>
                </a:solidFill>
                <a:latin typeface="NVIDIA Sans"/>
                <a:cs typeface="NVIDIA Sans"/>
              </a:rPr>
              <a:t>described her appointment. She's looking forward to </a:t>
            </a:r>
            <a:r>
              <a:rPr lang="en-US" sz="1100" b="1" i="1">
                <a:solidFill>
                  <a:schemeClr val="tx1"/>
                </a:solidFill>
                <a:latin typeface="NVIDIA Sans"/>
                <a:cs typeface="NVIDIA Sans"/>
              </a:rPr>
              <a:t>ringing the bell </a:t>
            </a:r>
            <a:r>
              <a:rPr lang="en-US" sz="1100" i="1">
                <a:solidFill>
                  <a:schemeClr val="tx1"/>
                </a:solidFill>
                <a:latin typeface="NVIDIA Sans"/>
                <a:cs typeface="NVIDIA Sans"/>
              </a:rPr>
              <a:t>soon and said the care team has been wonderful."</a:t>
            </a:r>
          </a:p>
          <a:p>
            <a:pPr marL="628015" lvl="1" indent="-151765">
              <a:lnSpc>
                <a:spcPct val="150000"/>
              </a:lnSpc>
              <a:buFont typeface="Courier New,monospace"/>
              <a:buChar char="o"/>
            </a:pPr>
            <a:r>
              <a:rPr lang="en-US" sz="1100">
                <a:solidFill>
                  <a:schemeClr val="tx1"/>
                </a:solidFill>
                <a:latin typeface="NVIDIA Sans"/>
                <a:cs typeface="NVIDIA Sans"/>
              </a:rPr>
              <a:t>Sarah -&gt; first name</a:t>
            </a:r>
          </a:p>
          <a:p>
            <a:pPr marL="628015" lvl="1" indent="-151765">
              <a:lnSpc>
                <a:spcPct val="150000"/>
              </a:lnSpc>
              <a:buFont typeface="Courier New,monospace"/>
              <a:buChar char="o"/>
            </a:pPr>
            <a:r>
              <a:rPr lang="en-US" sz="1100">
                <a:solidFill>
                  <a:schemeClr val="tx1"/>
                </a:solidFill>
                <a:latin typeface="NVIDIA Sans"/>
                <a:cs typeface="NVIDIA Sans"/>
              </a:rPr>
              <a:t>Ringing the bell -&gt; reveals the nearing end to cancer treatment</a:t>
            </a:r>
          </a:p>
        </p:txBody>
      </p:sp>
      <p:sp>
        <p:nvSpPr>
          <p:cNvPr id="4" name="Content Placeholder 3">
            <a:extLst>
              <a:ext uri="{FF2B5EF4-FFF2-40B4-BE49-F238E27FC236}">
                <a16:creationId xmlns:a16="http://schemas.microsoft.com/office/drawing/2014/main" id="{A697E82D-6399-8DB7-6EC9-47A998120AFE}"/>
              </a:ext>
            </a:extLst>
          </p:cNvPr>
          <p:cNvSpPr>
            <a:spLocks noGrp="1"/>
          </p:cNvSpPr>
          <p:nvPr>
            <p:ph idx="1"/>
          </p:nvPr>
        </p:nvSpPr>
        <p:spPr>
          <a:xfrm>
            <a:off x="821841" y="1600145"/>
            <a:ext cx="5974748" cy="2562538"/>
          </a:xfrm>
        </p:spPr>
        <p:txBody>
          <a:bodyPr lIns="91440" tIns="45720" rIns="91440" bIns="45720" anchor="t"/>
          <a:lstStyle/>
          <a:p>
            <a:pPr marL="151765" indent="-151765">
              <a:buNone/>
            </a:pPr>
            <a:r>
              <a:rPr lang="en-US" sz="1800" b="1">
                <a:solidFill>
                  <a:schemeClr val="tx2"/>
                </a:solidFill>
                <a:latin typeface="NVIDIA Sans"/>
                <a:cs typeface="NVIDIA Sans"/>
              </a:rPr>
              <a:t>Key Value</a:t>
            </a:r>
            <a:endParaRPr lang="en-US" sz="1800">
              <a:solidFill>
                <a:schemeClr val="tx2"/>
              </a:solidFill>
              <a:latin typeface="NVIDIA Sans"/>
              <a:cs typeface="NVIDIA Sans"/>
            </a:endParaRPr>
          </a:p>
          <a:p>
            <a:pPr marL="323215" indent="-171450">
              <a:lnSpc>
                <a:spcPct val="150000"/>
              </a:lnSpc>
              <a:spcBef>
                <a:spcPts val="0"/>
              </a:spcBef>
            </a:pPr>
            <a:r>
              <a:rPr lang="en-US" sz="1400">
                <a:solidFill>
                  <a:schemeClr val="lt1"/>
                </a:solidFill>
                <a:latin typeface="NVIDIA Sans"/>
                <a:cs typeface="NVIDIA Sans"/>
              </a:rPr>
              <a:t>Detects &amp; transforms sensitive information in free text</a:t>
            </a:r>
          </a:p>
          <a:p>
            <a:pPr marL="323215" indent="-171450">
              <a:lnSpc>
                <a:spcPct val="150000"/>
              </a:lnSpc>
              <a:spcBef>
                <a:spcPts val="0"/>
              </a:spcBef>
            </a:pPr>
            <a:r>
              <a:rPr lang="en-US" sz="1400">
                <a:solidFill>
                  <a:schemeClr val="lt1"/>
                </a:solidFill>
                <a:latin typeface="NVIDIA Sans"/>
                <a:cs typeface="NVIDIA Sans"/>
              </a:rPr>
              <a:t>Context-aware</a:t>
            </a:r>
          </a:p>
          <a:p>
            <a:pPr marL="323215" indent="-171450">
              <a:lnSpc>
                <a:spcPct val="150000"/>
              </a:lnSpc>
              <a:spcBef>
                <a:spcPts val="0"/>
              </a:spcBef>
            </a:pPr>
            <a:r>
              <a:rPr lang="en-US" sz="1400">
                <a:solidFill>
                  <a:schemeClr val="lt1"/>
                </a:solidFill>
                <a:latin typeface="NVIDIA Sans"/>
                <a:cs typeface="NVIDIA Sans"/>
              </a:rPr>
              <a:t>Designed using a compound LLM system</a:t>
            </a:r>
          </a:p>
          <a:p>
            <a:pPr marL="323215" indent="-171450">
              <a:lnSpc>
                <a:spcPct val="150000"/>
              </a:lnSpc>
              <a:spcBef>
                <a:spcPts val="0"/>
              </a:spcBef>
            </a:pPr>
            <a:r>
              <a:rPr lang="en-US" sz="1400">
                <a:solidFill>
                  <a:schemeClr val="lt1"/>
                </a:solidFill>
                <a:latin typeface="NVIDIA Sans"/>
                <a:cs typeface="NVIDIA Sans"/>
              </a:rPr>
              <a:t>Built-in evaluation</a:t>
            </a:r>
          </a:p>
          <a:p>
            <a:pPr marL="323215" indent="-171450">
              <a:lnSpc>
                <a:spcPct val="150000"/>
              </a:lnSpc>
              <a:spcBef>
                <a:spcPts val="0"/>
              </a:spcBef>
            </a:pPr>
            <a:r>
              <a:rPr lang="en-US" sz="1400">
                <a:solidFill>
                  <a:schemeClr val="lt1"/>
                </a:solidFill>
                <a:latin typeface="NVIDIA Sans"/>
                <a:cs typeface="NVIDIA Sans"/>
              </a:rPr>
              <a:t>OSS library coming in March 2026</a:t>
            </a:r>
          </a:p>
          <a:p>
            <a:pPr marL="323215" indent="-171450">
              <a:lnSpc>
                <a:spcPct val="150000"/>
              </a:lnSpc>
              <a:spcBef>
                <a:spcPts val="0"/>
              </a:spcBef>
            </a:pPr>
            <a:r>
              <a:rPr lang="en-US" sz="1400">
                <a:solidFill>
                  <a:schemeClr val="lt1"/>
                </a:solidFill>
                <a:latin typeface="NVIDIA Sans"/>
                <a:cs typeface="NVIDIA Sans"/>
              </a:rPr>
              <a:t>In unstructured text, PII entities may not be well-defined or may be context dependent.</a:t>
            </a:r>
            <a:endParaRPr lang="en-US" sz="1100">
              <a:solidFill>
                <a:schemeClr val="lt1"/>
              </a:solidFill>
              <a:latin typeface="NVIDIA Sans"/>
              <a:cs typeface="NVIDIA Sans"/>
            </a:endParaRPr>
          </a:p>
        </p:txBody>
      </p:sp>
      <p:pic>
        <p:nvPicPr>
          <p:cNvPr id="35" name="Graphic 34" descr="Warning with solid fill">
            <a:extLst>
              <a:ext uri="{FF2B5EF4-FFF2-40B4-BE49-F238E27FC236}">
                <a16:creationId xmlns:a16="http://schemas.microsoft.com/office/drawing/2014/main" id="{D2D49058-89CD-0DB5-E3BA-818DF16B3E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1186" y="4399749"/>
            <a:ext cx="235645" cy="222838"/>
          </a:xfrm>
          <a:prstGeom prst="rect">
            <a:avLst/>
          </a:prstGeom>
        </p:spPr>
      </p:pic>
    </p:spTree>
    <p:extLst>
      <p:ext uri="{BB962C8B-B14F-4D97-AF65-F5344CB8AC3E}">
        <p14:creationId xmlns:p14="http://schemas.microsoft.com/office/powerpoint/2010/main" val="3929988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74C7B-8EB8-6959-B94B-8D13BCE51C08}"/>
              </a:ext>
            </a:extLst>
          </p:cNvPr>
          <p:cNvSpPr>
            <a:spLocks noGrp="1"/>
          </p:cNvSpPr>
          <p:nvPr>
            <p:ph type="title"/>
          </p:nvPr>
        </p:nvSpPr>
        <p:spPr/>
        <p:txBody>
          <a:bodyPr/>
          <a:lstStyle/>
          <a:p>
            <a:r>
              <a:rPr lang="en-US" err="1">
                <a:latin typeface="NVIDIA Sans"/>
                <a:cs typeface="NVIDIA Sans"/>
              </a:rPr>
              <a:t>NeMo</a:t>
            </a:r>
            <a:r>
              <a:rPr lang="en-US">
                <a:latin typeface="NVIDIA Sans"/>
                <a:cs typeface="NVIDIA Sans"/>
              </a:rPr>
              <a:t> Anonymizer Example</a:t>
            </a:r>
            <a:endParaRPr lang="en-US"/>
          </a:p>
        </p:txBody>
      </p:sp>
      <p:graphicFrame>
        <p:nvGraphicFramePr>
          <p:cNvPr id="6" name="Google Shape;2176;p220">
            <a:extLst>
              <a:ext uri="{FF2B5EF4-FFF2-40B4-BE49-F238E27FC236}">
                <a16:creationId xmlns:a16="http://schemas.microsoft.com/office/drawing/2014/main" id="{4A460D73-DC6E-EA1D-D8F4-8EA6D5F0423A}"/>
              </a:ext>
            </a:extLst>
          </p:cNvPr>
          <p:cNvGraphicFramePr/>
          <p:nvPr>
            <p:extLst>
              <p:ext uri="{D42A27DB-BD31-4B8C-83A1-F6EECF244321}">
                <p14:modId xmlns:p14="http://schemas.microsoft.com/office/powerpoint/2010/main" val="349985927"/>
              </p:ext>
            </p:extLst>
          </p:nvPr>
        </p:nvGraphicFramePr>
        <p:xfrm>
          <a:off x="1491983" y="1466369"/>
          <a:ext cx="9209606" cy="4766266"/>
        </p:xfrm>
        <a:graphic>
          <a:graphicData uri="http://schemas.openxmlformats.org/drawingml/2006/table">
            <a:tbl>
              <a:tblPr>
                <a:tableStyleId>{073A0DAA-6AF3-43AB-8588-CEC1D06C72B9}</a:tableStyleId>
              </a:tblPr>
              <a:tblGrid>
                <a:gridCol w="1404534">
                  <a:extLst>
                    <a:ext uri="{9D8B030D-6E8A-4147-A177-3AD203B41FA5}">
                      <a16:colId xmlns:a16="http://schemas.microsoft.com/office/drawing/2014/main" val="20000"/>
                    </a:ext>
                  </a:extLst>
                </a:gridCol>
                <a:gridCol w="7805072">
                  <a:extLst>
                    <a:ext uri="{9D8B030D-6E8A-4147-A177-3AD203B41FA5}">
                      <a16:colId xmlns:a16="http://schemas.microsoft.com/office/drawing/2014/main" val="20001"/>
                    </a:ext>
                  </a:extLst>
                </a:gridCol>
              </a:tblGrid>
              <a:tr h="748815">
                <a:tc>
                  <a:txBody>
                    <a:bodyPr/>
                    <a:lstStyle/>
                    <a:p>
                      <a:pPr marL="0" lvl="0" indent="0" algn="l" rtl="0">
                        <a:spcBef>
                          <a:spcPts val="0"/>
                        </a:spcBef>
                        <a:spcAft>
                          <a:spcPts val="0"/>
                        </a:spcAft>
                        <a:buNone/>
                      </a:pPr>
                      <a:r>
                        <a:rPr lang="en-US" sz="1400">
                          <a:solidFill>
                            <a:srgbClr val="000000"/>
                          </a:solidFill>
                          <a:sym typeface="NVIDIA Sans"/>
                        </a:rPr>
                        <a:t>Original</a:t>
                      </a: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Evelyn "Eve" Marquez, 46, is a third‑generation public servant who now represents the 12th District of Austin, Texas, in the State Senate.</a:t>
                      </a:r>
                    </a:p>
                  </a:txBody>
                  <a:tcPr marL="121900" marR="121900" marT="121900" marB="121900"/>
                </a:tc>
                <a:extLst>
                  <a:ext uri="{0D108BD9-81ED-4DB2-BD59-A6C34878D82A}">
                    <a16:rowId xmlns:a16="http://schemas.microsoft.com/office/drawing/2014/main" val="10000"/>
                  </a:ext>
                </a:extLst>
              </a:tr>
              <a:tr h="1022191">
                <a:tc>
                  <a:txBody>
                    <a:bodyPr/>
                    <a:lstStyle/>
                    <a:p>
                      <a:pPr marL="0" lvl="0" indent="0" algn="l" rtl="0">
                        <a:spcBef>
                          <a:spcPts val="0"/>
                        </a:spcBef>
                        <a:spcAft>
                          <a:spcPts val="0"/>
                        </a:spcAft>
                        <a:buNone/>
                      </a:pPr>
                      <a:r>
                        <a:rPr lang="en-US" sz="1400">
                          <a:solidFill>
                            <a:srgbClr val="000000"/>
                          </a:solidFill>
                        </a:rPr>
                        <a:t>Annotated</a:t>
                      </a:r>
                      <a:endParaRPr lang="en-US" sz="1400">
                        <a:solidFill>
                          <a:srgbClr val="000000"/>
                        </a:solidFill>
                        <a:sym typeface="NVIDIA Sans"/>
                      </a:endParaRP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[Evelyn](</a:t>
                      </a:r>
                      <a:r>
                        <a:rPr lang="en-US" sz="1400" err="1">
                          <a:solidFill>
                            <a:srgbClr val="000000"/>
                          </a:solidFill>
                          <a:sym typeface="NVIDIA Sans"/>
                        </a:rPr>
                        <a:t>first_name</a:t>
                      </a:r>
                      <a:r>
                        <a:rPr lang="en-US" sz="1400">
                          <a:solidFill>
                            <a:srgbClr val="000000"/>
                          </a:solidFill>
                          <a:sym typeface="NVIDIA Sans"/>
                        </a:rPr>
                        <a:t>) "[Eve](</a:t>
                      </a:r>
                      <a:r>
                        <a:rPr lang="en-US" sz="1400" err="1">
                          <a:solidFill>
                            <a:srgbClr val="000000"/>
                          </a:solidFill>
                          <a:sym typeface="NVIDIA Sans"/>
                        </a:rPr>
                        <a:t>first_name</a:t>
                      </a:r>
                      <a:r>
                        <a:rPr lang="en-US" sz="1400">
                          <a:solidFill>
                            <a:srgbClr val="000000"/>
                          </a:solidFill>
                          <a:sym typeface="NVIDIA Sans"/>
                        </a:rPr>
                        <a:t>)" [Marquez](</a:t>
                      </a:r>
                      <a:r>
                        <a:rPr lang="en-US" sz="1400" err="1">
                          <a:solidFill>
                            <a:srgbClr val="000000"/>
                          </a:solidFill>
                          <a:sym typeface="NVIDIA Sans"/>
                        </a:rPr>
                        <a:t>last_name</a:t>
                      </a:r>
                      <a:r>
                        <a:rPr lang="en-US" sz="1400">
                          <a:solidFill>
                            <a:srgbClr val="000000"/>
                          </a:solidFill>
                          <a:sym typeface="NVIDIA Sans"/>
                        </a:rPr>
                        <a:t>), [46](age), is a third‑generation [public servant](occupation) who now represents the 12th District of [Austin](city), [Texas](state), in the State Senate.</a:t>
                      </a:r>
                    </a:p>
                  </a:txBody>
                  <a:tcPr marL="121900" marR="121900" marT="121900" marB="121900"/>
                </a:tc>
                <a:extLst>
                  <a:ext uri="{0D108BD9-81ED-4DB2-BD59-A6C34878D82A}">
                    <a16:rowId xmlns:a16="http://schemas.microsoft.com/office/drawing/2014/main" val="10001"/>
                  </a:ext>
                </a:extLst>
              </a:tr>
              <a:tr h="748815">
                <a:tc>
                  <a:txBody>
                    <a:bodyPr/>
                    <a:lstStyle/>
                    <a:p>
                      <a:pPr marL="0" lvl="0" indent="0" algn="l" rtl="0">
                        <a:spcBef>
                          <a:spcPts val="0"/>
                        </a:spcBef>
                        <a:spcAft>
                          <a:spcPts val="0"/>
                        </a:spcAft>
                        <a:buNone/>
                      </a:pPr>
                      <a:r>
                        <a:rPr lang="en-US" sz="1400">
                          <a:solidFill>
                            <a:srgbClr val="000000"/>
                          </a:solidFill>
                          <a:sym typeface="NVIDIA Sans"/>
                        </a:rPr>
                        <a:t>Redacted</a:t>
                      </a: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 ****, is a third‑generation public servant who now represents the ****, in the State Senate.</a:t>
                      </a:r>
                    </a:p>
                  </a:txBody>
                  <a:tcPr marL="121900" marR="121900" marT="121900" marB="121900"/>
                </a:tc>
                <a:extLst>
                  <a:ext uri="{0D108BD9-81ED-4DB2-BD59-A6C34878D82A}">
                    <a16:rowId xmlns:a16="http://schemas.microsoft.com/office/drawing/2014/main" val="10002"/>
                  </a:ext>
                </a:extLst>
              </a:tr>
              <a:tr h="748815">
                <a:tc>
                  <a:txBody>
                    <a:bodyPr/>
                    <a:lstStyle/>
                    <a:p>
                      <a:pPr marL="0" lvl="0" indent="0" algn="l" rtl="0">
                        <a:spcBef>
                          <a:spcPts val="0"/>
                        </a:spcBef>
                        <a:spcAft>
                          <a:spcPts val="0"/>
                        </a:spcAft>
                        <a:buNone/>
                      </a:pPr>
                      <a:r>
                        <a:rPr lang="en-US" sz="1400">
                          <a:solidFill>
                            <a:srgbClr val="000000"/>
                          </a:solidFill>
                          <a:sym typeface="NVIDIA Sans"/>
                        </a:rPr>
                        <a:t>Hashed</a:t>
                      </a: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a3f4c8e9b2d1f6a7, 5e8c2a9f1b4d7e3a, is a third‑generation public servant who now represents the 7d3e9a2c5f8b1e4a, in the State Senate.</a:t>
                      </a:r>
                    </a:p>
                  </a:txBody>
                  <a:tcPr marL="121900" marR="121900" marT="121900" marB="121900"/>
                </a:tc>
                <a:extLst>
                  <a:ext uri="{0D108BD9-81ED-4DB2-BD59-A6C34878D82A}">
                    <a16:rowId xmlns:a16="http://schemas.microsoft.com/office/drawing/2014/main" val="10003"/>
                  </a:ext>
                </a:extLst>
              </a:tr>
              <a:tr h="748815">
                <a:tc>
                  <a:txBody>
                    <a:bodyPr/>
                    <a:lstStyle/>
                    <a:p>
                      <a:pPr marL="0" lvl="0" indent="0" algn="l" rtl="0">
                        <a:spcBef>
                          <a:spcPts val="0"/>
                        </a:spcBef>
                        <a:spcAft>
                          <a:spcPts val="0"/>
                        </a:spcAft>
                        <a:buNone/>
                      </a:pPr>
                      <a:r>
                        <a:rPr lang="en-US" sz="1400">
                          <a:solidFill>
                            <a:srgbClr val="000000"/>
                          </a:solidFill>
                        </a:rPr>
                        <a:t>Substituted</a:t>
                      </a:r>
                      <a:endParaRPr lang="en-US" sz="1400">
                        <a:solidFill>
                          <a:srgbClr val="000000"/>
                        </a:solidFill>
                        <a:sym typeface="NVIDIA Sans"/>
                      </a:endParaRP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Isabella "Izzy" Alvarez, 48, is a third‑generation civic leader who now represents the 12th District of Albuquerque, New Mexico, in the State Senate.</a:t>
                      </a:r>
                    </a:p>
                  </a:txBody>
                  <a:tcPr marL="121900" marR="121900" marT="121900" marB="121900"/>
                </a:tc>
                <a:extLst>
                  <a:ext uri="{0D108BD9-81ED-4DB2-BD59-A6C34878D82A}">
                    <a16:rowId xmlns:a16="http://schemas.microsoft.com/office/drawing/2014/main" val="10004"/>
                  </a:ext>
                </a:extLst>
              </a:tr>
              <a:tr h="748815">
                <a:tc>
                  <a:txBody>
                    <a:bodyPr/>
                    <a:lstStyle/>
                    <a:p>
                      <a:pPr marL="0" lvl="0" indent="0" algn="l" rtl="0">
                        <a:spcBef>
                          <a:spcPts val="0"/>
                        </a:spcBef>
                        <a:spcAft>
                          <a:spcPts val="0"/>
                        </a:spcAft>
                        <a:buNone/>
                      </a:pPr>
                      <a:r>
                        <a:rPr lang="en-US" sz="1400">
                          <a:solidFill>
                            <a:srgbClr val="000000"/>
                          </a:solidFill>
                          <a:sym typeface="NVIDIA Sans"/>
                        </a:rPr>
                        <a:t>Rewritten</a:t>
                      </a:r>
                    </a:p>
                  </a:txBody>
                  <a:tcPr marL="121900" marR="121900" marT="121900" marB="121900"/>
                </a:tc>
                <a:tc>
                  <a:txBody>
                    <a:bodyPr/>
                    <a:lstStyle/>
                    <a:p>
                      <a:pPr marL="0" lvl="0" indent="0" algn="l" rtl="0">
                        <a:spcBef>
                          <a:spcPts val="0"/>
                        </a:spcBef>
                        <a:spcAft>
                          <a:spcPts val="0"/>
                        </a:spcAft>
                        <a:buNone/>
                      </a:pPr>
                      <a:r>
                        <a:rPr lang="en-US" sz="1400">
                          <a:solidFill>
                            <a:srgbClr val="000000"/>
                          </a:solidFill>
                          <a:sym typeface="NVIDIA Sans"/>
                        </a:rPr>
                        <a:t>A 47-year-old third-generation public servant currently serves as a state senator representing a major urban district.</a:t>
                      </a:r>
                    </a:p>
                  </a:txBody>
                  <a:tcPr marL="121900" marR="121900" marT="121900" marB="121900"/>
                </a:tc>
                <a:extLst>
                  <a:ext uri="{0D108BD9-81ED-4DB2-BD59-A6C34878D82A}">
                    <a16:rowId xmlns:a16="http://schemas.microsoft.com/office/drawing/2014/main" val="10005"/>
                  </a:ext>
                </a:extLst>
              </a:tr>
            </a:tbl>
          </a:graphicData>
        </a:graphic>
      </p:graphicFrame>
      <p:sp>
        <p:nvSpPr>
          <p:cNvPr id="4" name="Text Placeholder 2">
            <a:extLst>
              <a:ext uri="{FF2B5EF4-FFF2-40B4-BE49-F238E27FC236}">
                <a16:creationId xmlns:a16="http://schemas.microsoft.com/office/drawing/2014/main" id="{1C01ADC0-437C-8745-C9BE-CE0B2770462B}"/>
              </a:ext>
            </a:extLst>
          </p:cNvPr>
          <p:cNvSpPr>
            <a:spLocks noGrp="1"/>
          </p:cNvSpPr>
          <p:nvPr>
            <p:ph type="body" sz="quarter" idx="10"/>
          </p:nvPr>
        </p:nvSpPr>
        <p:spPr>
          <a:xfrm>
            <a:off x="838200" y="829056"/>
            <a:ext cx="10515600" cy="469392"/>
          </a:xfrm>
        </p:spPr>
        <p:txBody>
          <a:bodyPr lIns="91440" tIns="45720" rIns="91440" bIns="45720" anchor="t"/>
          <a:lstStyle/>
          <a:p>
            <a:r>
              <a:rPr lang="en-US">
                <a:latin typeface="NVIDIA Sans"/>
                <a:cs typeface="NVIDIA Sans"/>
              </a:rPr>
              <a:t>Free text can be transformed in 5 different ways</a:t>
            </a:r>
            <a:endParaRPr lang="en-US"/>
          </a:p>
        </p:txBody>
      </p:sp>
    </p:spTree>
    <p:extLst>
      <p:ext uri="{BB962C8B-B14F-4D97-AF65-F5344CB8AC3E}">
        <p14:creationId xmlns:p14="http://schemas.microsoft.com/office/powerpoint/2010/main" val="2252047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A1F40-A650-3C9F-11D0-FA559CC44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4D484-7B51-7615-8B6A-40BED96A1BCC}"/>
              </a:ext>
            </a:extLst>
          </p:cNvPr>
          <p:cNvSpPr>
            <a:spLocks noGrp="1"/>
          </p:cNvSpPr>
          <p:nvPr>
            <p:ph type="title"/>
          </p:nvPr>
        </p:nvSpPr>
        <p:spPr/>
        <p:txBody>
          <a:bodyPr/>
          <a:lstStyle/>
          <a:p>
            <a:r>
              <a:rPr lang="en-US" err="1">
                <a:latin typeface="NVIDIA Sans"/>
                <a:cs typeface="NVIDIA Sans"/>
              </a:rPr>
              <a:t>NeMo</a:t>
            </a:r>
            <a:r>
              <a:rPr lang="en-US">
                <a:latin typeface="NVIDIA Sans"/>
                <a:cs typeface="NVIDIA Sans"/>
              </a:rPr>
              <a:t> Anonymizer Workflow</a:t>
            </a:r>
            <a:endParaRPr lang="en-US"/>
          </a:p>
        </p:txBody>
      </p:sp>
      <p:sp>
        <p:nvSpPr>
          <p:cNvPr id="4" name="Text Placeholder 2">
            <a:extLst>
              <a:ext uri="{FF2B5EF4-FFF2-40B4-BE49-F238E27FC236}">
                <a16:creationId xmlns:a16="http://schemas.microsoft.com/office/drawing/2014/main" id="{2A97BDE0-39A8-2D1B-1332-66C8315EA8AE}"/>
              </a:ext>
            </a:extLst>
          </p:cNvPr>
          <p:cNvSpPr>
            <a:spLocks noGrp="1"/>
          </p:cNvSpPr>
          <p:nvPr>
            <p:ph type="body" sz="quarter" idx="10"/>
          </p:nvPr>
        </p:nvSpPr>
        <p:spPr>
          <a:xfrm>
            <a:off x="838200" y="829056"/>
            <a:ext cx="10515600" cy="469392"/>
          </a:xfrm>
        </p:spPr>
        <p:txBody>
          <a:bodyPr lIns="91440" tIns="45720" rIns="91440" bIns="45720" anchor="t"/>
          <a:lstStyle/>
          <a:p>
            <a:r>
              <a:rPr lang="en-US">
                <a:latin typeface="NVIDIA Sans"/>
                <a:cs typeface="NVIDIA Sans"/>
              </a:rPr>
              <a:t>Anonymizer uses a compound LLM system to detect and transform sensitive text data</a:t>
            </a:r>
            <a:endParaRPr lang="en-US"/>
          </a:p>
        </p:txBody>
      </p:sp>
      <p:pic>
        <p:nvPicPr>
          <p:cNvPr id="3" name="Picture 2" descr="A diagram of a process&#10;&#10;AI-generated content may be incorrect.">
            <a:extLst>
              <a:ext uri="{FF2B5EF4-FFF2-40B4-BE49-F238E27FC236}">
                <a16:creationId xmlns:a16="http://schemas.microsoft.com/office/drawing/2014/main" id="{8E06F713-476D-E2AD-AD77-53B8B172C7CB}"/>
              </a:ext>
            </a:extLst>
          </p:cNvPr>
          <p:cNvPicPr>
            <a:picLocks noChangeAspect="1"/>
          </p:cNvPicPr>
          <p:nvPr/>
        </p:nvPicPr>
        <p:blipFill>
          <a:blip r:embed="rId4"/>
          <a:stretch>
            <a:fillRect/>
          </a:stretch>
        </p:blipFill>
        <p:spPr>
          <a:xfrm>
            <a:off x="1925222" y="1495425"/>
            <a:ext cx="8329065" cy="4616658"/>
          </a:xfrm>
          <a:prstGeom prst="rect">
            <a:avLst/>
          </a:prstGeom>
        </p:spPr>
      </p:pic>
    </p:spTree>
    <p:extLst>
      <p:ext uri="{BB962C8B-B14F-4D97-AF65-F5344CB8AC3E}">
        <p14:creationId xmlns:p14="http://schemas.microsoft.com/office/powerpoint/2010/main" val="1911650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89"/>
        <p:cNvGrpSpPr/>
        <p:nvPr/>
      </p:nvGrpSpPr>
      <p:grpSpPr>
        <a:xfrm>
          <a:off x="0" y="0"/>
          <a:ext cx="0" cy="0"/>
          <a:chOff x="0" y="0"/>
          <a:chExt cx="0" cy="0"/>
        </a:xfrm>
      </p:grpSpPr>
      <p:sp>
        <p:nvSpPr>
          <p:cNvPr id="54" name="Rectangle: Rounded Corners 53">
            <a:extLst>
              <a:ext uri="{FF2B5EF4-FFF2-40B4-BE49-F238E27FC236}">
                <a16:creationId xmlns:a16="http://schemas.microsoft.com/office/drawing/2014/main" id="{C08DFB2C-2B36-8AB3-9CA3-14D60A65F3F3}"/>
              </a:ext>
            </a:extLst>
          </p:cNvPr>
          <p:cNvSpPr/>
          <p:nvPr/>
        </p:nvSpPr>
        <p:spPr>
          <a:xfrm>
            <a:off x="3159989" y="1582050"/>
            <a:ext cx="2826378" cy="2689641"/>
          </a:xfrm>
          <a:prstGeom prst="roundRect">
            <a:avLst/>
          </a:prstGeom>
          <a:solidFill>
            <a:schemeClr val="bg1">
              <a:lumMod val="75000"/>
              <a:lumOff val="25000"/>
            </a:schemeClr>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58" name="Rectangle: Rounded Corners 57">
            <a:extLst>
              <a:ext uri="{FF2B5EF4-FFF2-40B4-BE49-F238E27FC236}">
                <a16:creationId xmlns:a16="http://schemas.microsoft.com/office/drawing/2014/main" id="{3AC79E7B-4F90-C27F-A875-59037398BA90}"/>
              </a:ext>
            </a:extLst>
          </p:cNvPr>
          <p:cNvSpPr/>
          <p:nvPr/>
        </p:nvSpPr>
        <p:spPr>
          <a:xfrm>
            <a:off x="6218199" y="1595906"/>
            <a:ext cx="2826378" cy="2689641"/>
          </a:xfrm>
          <a:prstGeom prst="roundRect">
            <a:avLst/>
          </a:prstGeom>
          <a:solidFill>
            <a:schemeClr val="bg1">
              <a:lumMod val="75000"/>
              <a:lumOff val="25000"/>
            </a:schemeClr>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60" name="Rectangle: Rounded Corners 59">
            <a:extLst>
              <a:ext uri="{FF2B5EF4-FFF2-40B4-BE49-F238E27FC236}">
                <a16:creationId xmlns:a16="http://schemas.microsoft.com/office/drawing/2014/main" id="{CD2D3344-9050-3553-B1E4-B94B74022A59}"/>
              </a:ext>
            </a:extLst>
          </p:cNvPr>
          <p:cNvSpPr/>
          <p:nvPr/>
        </p:nvSpPr>
        <p:spPr>
          <a:xfrm>
            <a:off x="6282368" y="1588980"/>
            <a:ext cx="2826378" cy="2635451"/>
          </a:xfrm>
          <a:prstGeom prst="roundRect">
            <a:avLst/>
          </a:prstGeom>
          <a:solidFill>
            <a:schemeClr val="tx1"/>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62" name="Rectangle: Rounded Corners 61">
            <a:extLst>
              <a:ext uri="{FF2B5EF4-FFF2-40B4-BE49-F238E27FC236}">
                <a16:creationId xmlns:a16="http://schemas.microsoft.com/office/drawing/2014/main" id="{96682384-EDB9-FD50-955E-7535D1D6B497}"/>
              </a:ext>
            </a:extLst>
          </p:cNvPr>
          <p:cNvSpPr/>
          <p:nvPr/>
        </p:nvSpPr>
        <p:spPr>
          <a:xfrm>
            <a:off x="3224159" y="1575125"/>
            <a:ext cx="2826378" cy="2635451"/>
          </a:xfrm>
          <a:prstGeom prst="roundRect">
            <a:avLst/>
          </a:prstGeom>
          <a:solidFill>
            <a:schemeClr val="tx1"/>
          </a:solidFill>
          <a:ln w="6350">
            <a:solidFill>
              <a:schemeClr val="bg2"/>
            </a:solidFill>
          </a:ln>
          <a:effectLst>
            <a:outerShdw blurRad="63500" dist="38100" dir="270000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
        <p:nvSpPr>
          <p:cNvPr id="4503" name="Google Shape;4503;p26"/>
          <p:cNvSpPr/>
          <p:nvPr/>
        </p:nvSpPr>
        <p:spPr>
          <a:xfrm>
            <a:off x="3871575" y="3639127"/>
            <a:ext cx="1532500" cy="397900"/>
          </a:xfrm>
          <a:prstGeom prst="roundRect">
            <a:avLst>
              <a:gd name="adj" fmla="val 16667"/>
            </a:avLst>
          </a:prstGeom>
          <a:solidFill>
            <a:schemeClr val="dk2"/>
          </a:solidFill>
          <a:ln>
            <a:noFill/>
          </a:ln>
        </p:spPr>
        <p:txBody>
          <a:bodyPr spcFirstLastPara="1" wrap="square" lIns="30475" tIns="15233" rIns="30475"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9pPr>
          </a:lstStyle>
          <a:p>
            <a:pPr marL="0" marR="0" lvl="0" indent="0" algn="ctr">
              <a:lnSpc>
                <a:spcPct val="90000"/>
              </a:lnSpc>
              <a:spcBef>
                <a:spcPts val="0"/>
              </a:spcBef>
              <a:spcAft>
                <a:spcPts val="0"/>
              </a:spcAft>
              <a:buNone/>
            </a:pPr>
            <a:r>
              <a:rPr lang="en-US" sz="1300">
                <a:solidFill>
                  <a:schemeClr val="dk1"/>
                </a:solidFill>
                <a:latin typeface="NVIDIA Sans Medium"/>
                <a:cs typeface="NVIDIA Sans Medium"/>
                <a:sym typeface="NVIDIA Sans Medium"/>
              </a:rPr>
              <a:t>Access</a:t>
            </a:r>
            <a:endParaRPr lang="en-US">
              <a:solidFill>
                <a:schemeClr val="dk1"/>
              </a:solidFill>
            </a:endParaRPr>
          </a:p>
        </p:txBody>
      </p:sp>
      <p:sp>
        <p:nvSpPr>
          <p:cNvPr id="4505" name="Google Shape;4505;p26"/>
          <p:cNvSpPr/>
          <p:nvPr/>
        </p:nvSpPr>
        <p:spPr>
          <a:xfrm>
            <a:off x="6929911" y="3652982"/>
            <a:ext cx="1532500" cy="397900"/>
          </a:xfrm>
          <a:prstGeom prst="roundRect">
            <a:avLst>
              <a:gd name="adj" fmla="val 16667"/>
            </a:avLst>
          </a:prstGeom>
          <a:solidFill>
            <a:schemeClr val="dk2"/>
          </a:solidFill>
          <a:ln>
            <a:noFill/>
          </a:ln>
        </p:spPr>
        <p:txBody>
          <a:bodyPr spcFirstLastPara="1" wrap="square" lIns="30475" tIns="15233" rIns="30475"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9pPr>
          </a:lstStyle>
          <a:p>
            <a:pPr algn="ctr">
              <a:lnSpc>
                <a:spcPct val="90000"/>
              </a:lnSpc>
            </a:pPr>
            <a:r>
              <a:rPr lang="en-US" sz="1300">
                <a:solidFill>
                  <a:schemeClr val="dk1"/>
                </a:solidFill>
                <a:latin typeface="NVIDIA Sans Medium"/>
                <a:cs typeface="NVIDIA Sans Medium"/>
                <a:sym typeface="NVIDIA Sans Medium"/>
              </a:rPr>
              <a:t>Try</a:t>
            </a:r>
            <a:endParaRPr lang="en-US">
              <a:solidFill>
                <a:schemeClr val="dk1"/>
              </a:solidFill>
            </a:endParaRPr>
          </a:p>
        </p:txBody>
      </p:sp>
      <p:sp>
        <p:nvSpPr>
          <p:cNvPr id="3" name="Text Placeholder 2">
            <a:extLst>
              <a:ext uri="{FF2B5EF4-FFF2-40B4-BE49-F238E27FC236}">
                <a16:creationId xmlns:a16="http://schemas.microsoft.com/office/drawing/2014/main" id="{BC5A4B50-AA54-4E89-BBF4-CE0167155283}"/>
              </a:ext>
            </a:extLst>
          </p:cNvPr>
          <p:cNvSpPr>
            <a:spLocks noGrp="1"/>
          </p:cNvSpPr>
          <p:nvPr>
            <p:ph type="body" idx="22"/>
          </p:nvPr>
        </p:nvSpPr>
        <p:spPr/>
        <p:txBody>
          <a:bodyPr/>
          <a:lstStyle/>
          <a:p>
            <a:pPr marL="151765" indent="-75565"/>
            <a:r>
              <a:rPr lang="en-US"/>
              <a:t>Safeguard your agentic AI systems today</a:t>
            </a:r>
          </a:p>
        </p:txBody>
      </p:sp>
      <p:sp>
        <p:nvSpPr>
          <p:cNvPr id="5" name="Title 4">
            <a:extLst>
              <a:ext uri="{FF2B5EF4-FFF2-40B4-BE49-F238E27FC236}">
                <a16:creationId xmlns:a16="http://schemas.microsoft.com/office/drawing/2014/main" id="{2E0DBD23-D726-6034-9832-A183052D023F}"/>
              </a:ext>
            </a:extLst>
          </p:cNvPr>
          <p:cNvSpPr>
            <a:spLocks noGrp="1"/>
          </p:cNvSpPr>
          <p:nvPr>
            <p:ph type="title"/>
          </p:nvPr>
        </p:nvSpPr>
        <p:spPr/>
        <p:txBody>
          <a:bodyPr/>
          <a:lstStyle/>
          <a:p>
            <a:r>
              <a:rPr lang="en-US"/>
              <a:t>Getting Started</a:t>
            </a:r>
          </a:p>
        </p:txBody>
      </p:sp>
      <p:sp>
        <p:nvSpPr>
          <p:cNvPr id="18" name="Flowchart: Data 7">
            <a:extLst>
              <a:ext uri="{FF2B5EF4-FFF2-40B4-BE49-F238E27FC236}">
                <a16:creationId xmlns:a16="http://schemas.microsoft.com/office/drawing/2014/main" id="{A8CBAB05-F57D-5C3D-1550-0790E80691FF}"/>
              </a:ext>
            </a:extLst>
          </p:cNvPr>
          <p:cNvSpPr/>
          <p:nvPr/>
        </p:nvSpPr>
        <p:spPr>
          <a:xfrm>
            <a:off x="6486273" y="1756922"/>
            <a:ext cx="2423788" cy="3679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00" b="1" err="1">
                <a:solidFill>
                  <a:srgbClr val="333333"/>
                </a:solidFill>
                <a:latin typeface="NVIDIA Sans"/>
                <a:cs typeface="NVIDIA Sans"/>
              </a:rPr>
              <a:t>Nemotron</a:t>
            </a:r>
            <a:r>
              <a:rPr lang="en-US" sz="1400" b="1">
                <a:solidFill>
                  <a:srgbClr val="333333"/>
                </a:solidFill>
                <a:latin typeface="NVIDIA Sans"/>
                <a:cs typeface="NVIDIA Sans"/>
              </a:rPr>
              <a:t> Safety Models</a:t>
            </a:r>
            <a:endParaRPr lang="en-US" sz="1400" b="1" i="1">
              <a:solidFill>
                <a:srgbClr val="333333"/>
              </a:solidFill>
              <a:latin typeface="NVIDIA Sans"/>
              <a:cs typeface="NVIDIA Sans"/>
            </a:endParaRPr>
          </a:p>
        </p:txBody>
      </p:sp>
      <p:sp>
        <p:nvSpPr>
          <p:cNvPr id="20" name="Flowchart: Data 7">
            <a:extLst>
              <a:ext uri="{FF2B5EF4-FFF2-40B4-BE49-F238E27FC236}">
                <a16:creationId xmlns:a16="http://schemas.microsoft.com/office/drawing/2014/main" id="{862A58FF-C179-0591-3B69-B62179903F2A}"/>
              </a:ext>
            </a:extLst>
          </p:cNvPr>
          <p:cNvSpPr/>
          <p:nvPr/>
        </p:nvSpPr>
        <p:spPr>
          <a:xfrm>
            <a:off x="3205805" y="1758006"/>
            <a:ext cx="2851408" cy="3803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r>
              <a:rPr lang="en-US" sz="1400" b="1" err="1">
                <a:solidFill>
                  <a:srgbClr val="333333"/>
                </a:solidFill>
                <a:latin typeface="NVIDIA Sans"/>
                <a:cs typeface="NVIDIA Sans"/>
              </a:rPr>
              <a:t>NeMo</a:t>
            </a:r>
            <a:r>
              <a:rPr lang="en-US" sz="1400" b="1">
                <a:solidFill>
                  <a:srgbClr val="333333"/>
                </a:solidFill>
                <a:latin typeface="NVIDIA Sans"/>
                <a:cs typeface="NVIDIA Sans"/>
              </a:rPr>
              <a:t> Safety Libraries</a:t>
            </a:r>
          </a:p>
        </p:txBody>
      </p:sp>
      <p:grpSp>
        <p:nvGrpSpPr>
          <p:cNvPr id="7" name="Group 6">
            <a:extLst>
              <a:ext uri="{FF2B5EF4-FFF2-40B4-BE49-F238E27FC236}">
                <a16:creationId xmlns:a16="http://schemas.microsoft.com/office/drawing/2014/main" id="{28B1FCB8-5A28-7877-CE35-1650EC42F902}"/>
              </a:ext>
            </a:extLst>
          </p:cNvPr>
          <p:cNvGrpSpPr/>
          <p:nvPr/>
        </p:nvGrpSpPr>
        <p:grpSpPr>
          <a:xfrm>
            <a:off x="7356249" y="2099997"/>
            <a:ext cx="681473" cy="909074"/>
            <a:chOff x="14064304" y="16554865"/>
            <a:chExt cx="1451201" cy="1925714"/>
          </a:xfrm>
        </p:grpSpPr>
        <p:pic>
          <p:nvPicPr>
            <p:cNvPr id="36" name="Picture 35" descr="A black cube with green base&#10;&#10;Description automatically generated">
              <a:extLst>
                <a:ext uri="{FF2B5EF4-FFF2-40B4-BE49-F238E27FC236}">
                  <a16:creationId xmlns:a16="http://schemas.microsoft.com/office/drawing/2014/main" id="{79A6892D-E355-D905-4F48-9F9F6AE57C53}"/>
                </a:ext>
              </a:extLst>
            </p:cNvPr>
            <p:cNvPicPr>
              <a:picLocks noChangeAspect="1"/>
            </p:cNvPicPr>
            <p:nvPr/>
          </p:nvPicPr>
          <p:blipFill>
            <a:blip r:embed="rId4"/>
            <a:stretch>
              <a:fillRect/>
            </a:stretch>
          </p:blipFill>
          <p:spPr>
            <a:xfrm>
              <a:off x="14064304" y="16554865"/>
              <a:ext cx="1451201" cy="1925714"/>
            </a:xfrm>
            <a:prstGeom prst="rect">
              <a:avLst/>
            </a:prstGeom>
          </p:spPr>
        </p:pic>
        <p:pic>
          <p:nvPicPr>
            <p:cNvPr id="35" name="Picture 34" descr="A green and black logo&#10;&#10;Description automatically generated">
              <a:extLst>
                <a:ext uri="{FF2B5EF4-FFF2-40B4-BE49-F238E27FC236}">
                  <a16:creationId xmlns:a16="http://schemas.microsoft.com/office/drawing/2014/main" id="{274A4C31-7B30-7CAA-F481-DF2BDAA334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367388" y="16937325"/>
              <a:ext cx="845029" cy="895858"/>
            </a:xfrm>
            <a:prstGeom prst="rect">
              <a:avLst/>
            </a:prstGeom>
          </p:spPr>
        </p:pic>
      </p:grpSp>
      <p:grpSp>
        <p:nvGrpSpPr>
          <p:cNvPr id="51" name="Group 50">
            <a:extLst>
              <a:ext uri="{FF2B5EF4-FFF2-40B4-BE49-F238E27FC236}">
                <a16:creationId xmlns:a16="http://schemas.microsoft.com/office/drawing/2014/main" id="{ADC33DEE-AD79-8E8D-4926-81538C7974D6}"/>
              </a:ext>
            </a:extLst>
          </p:cNvPr>
          <p:cNvGrpSpPr/>
          <p:nvPr/>
        </p:nvGrpSpPr>
        <p:grpSpPr>
          <a:xfrm>
            <a:off x="4206733" y="2116706"/>
            <a:ext cx="864152" cy="864152"/>
            <a:chOff x="15319782" y="9904841"/>
            <a:chExt cx="2592457" cy="2592457"/>
          </a:xfrm>
        </p:grpSpPr>
        <p:pic>
          <p:nvPicPr>
            <p:cNvPr id="48" name="Picture 47" descr="A black square with gold border&#10;&#10;AI-generated content may be incorrect.">
              <a:extLst>
                <a:ext uri="{FF2B5EF4-FFF2-40B4-BE49-F238E27FC236}">
                  <a16:creationId xmlns:a16="http://schemas.microsoft.com/office/drawing/2014/main" id="{91DD2BC6-DA38-4F71-7D43-1137870A5BB3}"/>
                </a:ext>
              </a:extLst>
            </p:cNvPr>
            <p:cNvPicPr>
              <a:picLocks noChangeAspect="1"/>
            </p:cNvPicPr>
            <p:nvPr/>
          </p:nvPicPr>
          <p:blipFill>
            <a:blip r:embed="rId6" cstate="hqprint">
              <a:extLst>
                <a:ext uri="{BEBA8EAE-BF5A-486C-A8C5-ECC9F3942E4B}">
                  <a14:imgProps xmlns:a14="http://schemas.microsoft.com/office/drawing/2010/main">
                    <a14:imgLayer r:embed="rId7">
                      <a14:imgEffect>
                        <a14:brightnessContrast bright="57000"/>
                      </a14:imgEffect>
                    </a14:imgLayer>
                  </a14:imgProps>
                </a:ext>
                <a:ext uri="{28A0092B-C50C-407E-A947-70E740481C1C}">
                  <a14:useLocalDpi xmlns:a14="http://schemas.microsoft.com/office/drawing/2010/main"/>
                </a:ext>
              </a:extLst>
            </a:blip>
            <a:stretch>
              <a:fillRect/>
            </a:stretch>
          </p:blipFill>
          <p:spPr>
            <a:xfrm>
              <a:off x="15319782" y="9904841"/>
              <a:ext cx="2592457" cy="2592457"/>
            </a:xfrm>
            <a:prstGeom prst="rect">
              <a:avLst/>
            </a:prstGeom>
          </p:spPr>
        </p:pic>
        <p:pic>
          <p:nvPicPr>
            <p:cNvPr id="49" name="Picture 48" descr="A set of tools on a black background&#10;&#10;AI-generated content may be incorrect.">
              <a:extLst>
                <a:ext uri="{FF2B5EF4-FFF2-40B4-BE49-F238E27FC236}">
                  <a16:creationId xmlns:a16="http://schemas.microsoft.com/office/drawing/2014/main" id="{DC333764-9C53-11DB-D08A-87E6ED06821C}"/>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a:fillRect/>
            </a:stretch>
          </p:blipFill>
          <p:spPr>
            <a:xfrm>
              <a:off x="15935050" y="10501907"/>
              <a:ext cx="1408812" cy="1408812"/>
            </a:xfrm>
            <a:prstGeom prst="rect">
              <a:avLst/>
            </a:prstGeom>
            <a:effectLst>
              <a:outerShdw blurRad="63500" dist="38100" dir="6900000" sx="95000" sy="95000" algn="t" rotWithShape="0">
                <a:schemeClr val="bg1">
                  <a:lumMod val="95000"/>
                  <a:lumOff val="5000"/>
                  <a:alpha val="82000"/>
                </a:schemeClr>
              </a:outerShdw>
            </a:effectLst>
          </p:spPr>
        </p:pic>
        <p:sp>
          <p:nvSpPr>
            <p:cNvPr id="50" name="Rectangle 49">
              <a:extLst>
                <a:ext uri="{FF2B5EF4-FFF2-40B4-BE49-F238E27FC236}">
                  <a16:creationId xmlns:a16="http://schemas.microsoft.com/office/drawing/2014/main" id="{738A83DA-64C8-C7E0-35DD-34477AE76010}"/>
                </a:ext>
              </a:extLst>
            </p:cNvPr>
            <p:cNvSpPr/>
            <p:nvPr/>
          </p:nvSpPr>
          <p:spPr>
            <a:xfrm>
              <a:off x="15675108" y="12027787"/>
              <a:ext cx="1919159" cy="128701"/>
            </a:xfrm>
            <a:prstGeom prst="rect">
              <a:avLst/>
            </a:prstGeom>
            <a:solidFill>
              <a:schemeClr val="tx2"/>
            </a:solidFill>
            <a:ln>
              <a:noFill/>
            </a:ln>
          </p:spPr>
          <p:txBody>
            <a:bodyPr spcFirstLastPara="1" wrap="square" lIns="30475" tIns="15233" rIns="30475" bIns="15233" rtlCol="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6" b="0" i="0" u="none" strike="noStrike" cap="none">
                  <a:solidFill>
                    <a:srgbClr val="000000"/>
                  </a:solidFill>
                  <a:latin typeface="Arial"/>
                  <a:ea typeface="Arial"/>
                  <a:cs typeface="Arial"/>
                  <a:sym typeface="Arial"/>
                </a:defRPr>
              </a:lvl9pPr>
            </a:lstStyle>
            <a:p>
              <a:pPr algn="ctr"/>
              <a:endParaRPr lang="en-US" sz="933">
                <a:solidFill>
                  <a:schemeClr val="lt1"/>
                </a:solidFill>
                <a:latin typeface="NVIDIA Sans"/>
                <a:ea typeface="NVIDIA Sans"/>
                <a:cs typeface="NVIDIA Sans"/>
                <a:sym typeface="NVIDIA Sans"/>
              </a:endParaRPr>
            </a:p>
          </p:txBody>
        </p:sp>
      </p:grpSp>
      <p:sp>
        <p:nvSpPr>
          <p:cNvPr id="4511" name="TextBox 4510">
            <a:extLst>
              <a:ext uri="{FF2B5EF4-FFF2-40B4-BE49-F238E27FC236}">
                <a16:creationId xmlns:a16="http://schemas.microsoft.com/office/drawing/2014/main" id="{8546963C-FBBB-E6BC-275E-9B3E2BA352FB}"/>
              </a:ext>
            </a:extLst>
          </p:cNvPr>
          <p:cNvSpPr txBox="1"/>
          <p:nvPr/>
        </p:nvSpPr>
        <p:spPr>
          <a:xfrm>
            <a:off x="3207281" y="2933530"/>
            <a:ext cx="2856505" cy="833562"/>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150000"/>
              </a:lnSpc>
            </a:pPr>
            <a:r>
              <a:rPr lang="en-US" sz="1200">
                <a:solidFill>
                  <a:schemeClr val="bg1">
                    <a:lumMod val="85000"/>
                    <a:lumOff val="15000"/>
                  </a:schemeClr>
                </a:solidFill>
                <a:latin typeface="NVIDIA Sans Regular"/>
                <a:cs typeface="NVIDIA Sans Regular"/>
                <a:hlinkClick r:id="rId9">
                  <a:extLst>
                    <a:ext uri="{A12FA001-AC4F-418D-AE19-62706E023703}">
                      <ahyp:hlinkClr xmlns:ahyp="http://schemas.microsoft.com/office/drawing/2018/hyperlinkcolor" val="tx"/>
                    </a:ext>
                  </a:extLst>
                </a:hlinkClick>
              </a:rPr>
              <a:t>Open Libraries on GitHub</a:t>
            </a:r>
            <a:endParaRPr lang="en-US" sz="1200">
              <a:latin typeface="NVIDIA Sans Regular"/>
              <a:cs typeface="NVIDIA Sans Regular"/>
            </a:endParaRPr>
          </a:p>
          <a:p>
            <a:pPr algn="ctr">
              <a:lnSpc>
                <a:spcPct val="150000"/>
              </a:lnSpc>
            </a:pPr>
            <a:r>
              <a:rPr lang="en-US" sz="1200">
                <a:solidFill>
                  <a:schemeClr val="bg1">
                    <a:lumMod val="85000"/>
                    <a:lumOff val="15000"/>
                  </a:schemeClr>
                </a:solidFill>
                <a:latin typeface="NVIDIA Sans Regular"/>
                <a:cs typeface="NVIDIA Sans Regular"/>
                <a:hlinkClick r:id="rId10">
                  <a:extLst>
                    <a:ext uri="{A12FA001-AC4F-418D-AE19-62706E023703}">
                      <ahyp:hlinkClr xmlns:ahyp="http://schemas.microsoft.com/office/drawing/2018/hyperlinkcolor" val="tx"/>
                    </a:ext>
                  </a:extLst>
                </a:hlinkClick>
              </a:rPr>
              <a:t>One Click Deploy NeMo Platform</a:t>
            </a:r>
          </a:p>
          <a:p>
            <a:pPr algn="ctr">
              <a:lnSpc>
                <a:spcPct val="150000"/>
              </a:lnSpc>
            </a:pPr>
            <a:endParaRPr lang="en-US" sz="1200">
              <a:solidFill>
                <a:schemeClr val="bg1">
                  <a:lumMod val="85000"/>
                  <a:lumOff val="15000"/>
                </a:schemeClr>
              </a:solidFill>
              <a:latin typeface="NVIDIA Sans Regular"/>
              <a:cs typeface="NVIDIA Sans Regular"/>
            </a:endParaRPr>
          </a:p>
        </p:txBody>
      </p:sp>
      <p:sp>
        <p:nvSpPr>
          <p:cNvPr id="4512" name="TextBox 4511">
            <a:extLst>
              <a:ext uri="{FF2B5EF4-FFF2-40B4-BE49-F238E27FC236}">
                <a16:creationId xmlns:a16="http://schemas.microsoft.com/office/drawing/2014/main" id="{E4FEA5A4-7BE2-C3BB-9442-0A3F74FAA624}"/>
              </a:ext>
            </a:extLst>
          </p:cNvPr>
          <p:cNvSpPr txBox="1"/>
          <p:nvPr/>
        </p:nvSpPr>
        <p:spPr>
          <a:xfrm>
            <a:off x="6269135" y="2933529"/>
            <a:ext cx="2856505" cy="833562"/>
          </a:xfrm>
          <a:prstGeom prst="rect">
            <a:avLst/>
          </a:prstGeom>
          <a:noFill/>
        </p:spPr>
        <p:txBody>
          <a:bodyPr wrap="square" lIns="30480" tIns="15240" rIns="30480" bIns="15240" rtlCol="0" anchor="t">
            <a:spAutoFit/>
          </a:bodyPr>
          <a:lstStyle>
            <a:defPPr>
              <a:defRPr lang="en-US"/>
            </a:defPPr>
            <a:lvl1pPr marL="0" algn="l" defTabSz="152385" rtl="0" eaLnBrk="1" latinLnBrk="0" hangingPunct="1">
              <a:defRPr sz="600" kern="1200">
                <a:solidFill>
                  <a:schemeClr val="tx1"/>
                </a:solidFill>
                <a:latin typeface="+mn-lt"/>
                <a:ea typeface="+mn-ea"/>
                <a:cs typeface="+mn-cs"/>
              </a:defRPr>
            </a:lvl1pPr>
            <a:lvl2pPr marL="152385" algn="l" defTabSz="152385" rtl="0" eaLnBrk="1" latinLnBrk="0" hangingPunct="1">
              <a:defRPr sz="600" kern="1200">
                <a:solidFill>
                  <a:schemeClr val="tx1"/>
                </a:solidFill>
                <a:latin typeface="+mn-lt"/>
                <a:ea typeface="+mn-ea"/>
                <a:cs typeface="+mn-cs"/>
              </a:defRPr>
            </a:lvl2pPr>
            <a:lvl3pPr marL="304770" algn="l" defTabSz="152385" rtl="0" eaLnBrk="1" latinLnBrk="0" hangingPunct="1">
              <a:defRPr sz="600" kern="1200">
                <a:solidFill>
                  <a:schemeClr val="tx1"/>
                </a:solidFill>
                <a:latin typeface="+mn-lt"/>
                <a:ea typeface="+mn-ea"/>
                <a:cs typeface="+mn-cs"/>
              </a:defRPr>
            </a:lvl3pPr>
            <a:lvl4pPr marL="457154" algn="l" defTabSz="152385" rtl="0" eaLnBrk="1" latinLnBrk="0" hangingPunct="1">
              <a:defRPr sz="600" kern="1200">
                <a:solidFill>
                  <a:schemeClr val="tx1"/>
                </a:solidFill>
                <a:latin typeface="+mn-lt"/>
                <a:ea typeface="+mn-ea"/>
                <a:cs typeface="+mn-cs"/>
              </a:defRPr>
            </a:lvl4pPr>
            <a:lvl5pPr marL="609539" algn="l" defTabSz="152385" rtl="0" eaLnBrk="1" latinLnBrk="0" hangingPunct="1">
              <a:defRPr sz="600" kern="1200">
                <a:solidFill>
                  <a:schemeClr val="tx1"/>
                </a:solidFill>
                <a:latin typeface="+mn-lt"/>
                <a:ea typeface="+mn-ea"/>
                <a:cs typeface="+mn-cs"/>
              </a:defRPr>
            </a:lvl5pPr>
            <a:lvl6pPr marL="761924" algn="l" defTabSz="152385" rtl="0" eaLnBrk="1" latinLnBrk="0" hangingPunct="1">
              <a:defRPr sz="600" kern="1200">
                <a:solidFill>
                  <a:schemeClr val="tx1"/>
                </a:solidFill>
                <a:latin typeface="+mn-lt"/>
                <a:ea typeface="+mn-ea"/>
                <a:cs typeface="+mn-cs"/>
              </a:defRPr>
            </a:lvl6pPr>
            <a:lvl7pPr marL="914309" algn="l" defTabSz="152385" rtl="0" eaLnBrk="1" latinLnBrk="0" hangingPunct="1">
              <a:defRPr sz="600" kern="1200">
                <a:solidFill>
                  <a:schemeClr val="tx1"/>
                </a:solidFill>
                <a:latin typeface="+mn-lt"/>
                <a:ea typeface="+mn-ea"/>
                <a:cs typeface="+mn-cs"/>
              </a:defRPr>
            </a:lvl7pPr>
            <a:lvl8pPr marL="1066693" algn="l" defTabSz="152385" rtl="0" eaLnBrk="1" latinLnBrk="0" hangingPunct="1">
              <a:defRPr sz="600" kern="1200">
                <a:solidFill>
                  <a:schemeClr val="tx1"/>
                </a:solidFill>
                <a:latin typeface="+mn-lt"/>
                <a:ea typeface="+mn-ea"/>
                <a:cs typeface="+mn-cs"/>
              </a:defRPr>
            </a:lvl8pPr>
            <a:lvl9pPr marL="1219078" algn="l" defTabSz="152385" rtl="0" eaLnBrk="1" latinLnBrk="0" hangingPunct="1">
              <a:defRPr sz="600" kern="1200">
                <a:solidFill>
                  <a:schemeClr val="tx1"/>
                </a:solidFill>
                <a:latin typeface="+mn-lt"/>
                <a:ea typeface="+mn-ea"/>
                <a:cs typeface="+mn-cs"/>
              </a:defRPr>
            </a:lvl9pPr>
          </a:lstStyle>
          <a:p>
            <a:pPr algn="ctr">
              <a:lnSpc>
                <a:spcPct val="150000"/>
              </a:lnSpc>
            </a:pPr>
            <a:r>
              <a:rPr lang="en-US" sz="1200">
                <a:solidFill>
                  <a:schemeClr val="bg1">
                    <a:lumMod val="85000"/>
                    <a:lumOff val="15000"/>
                  </a:schemeClr>
                </a:solidFill>
                <a:latin typeface="NVIDIA Sans Regular"/>
                <a:cs typeface="NVIDIA Sans Regular"/>
                <a:hlinkClick r:id="rId11">
                  <a:extLst>
                    <a:ext uri="{A12FA001-AC4F-418D-AE19-62706E023703}">
                      <ahyp:hlinkClr xmlns:ahyp="http://schemas.microsoft.com/office/drawing/2018/hyperlinkcolor" val="tx"/>
                    </a:ext>
                  </a:extLst>
                </a:hlinkClick>
              </a:rPr>
              <a:t>Open Models on Hugging Face</a:t>
            </a:r>
          </a:p>
          <a:p>
            <a:pPr algn="ctr">
              <a:lnSpc>
                <a:spcPct val="150000"/>
              </a:lnSpc>
            </a:pPr>
            <a:r>
              <a:rPr lang="en-US" sz="1200">
                <a:solidFill>
                  <a:schemeClr val="bg1">
                    <a:lumMod val="85000"/>
                    <a:lumOff val="15000"/>
                  </a:schemeClr>
                </a:solidFill>
                <a:latin typeface="NVIDIA Sans Regular"/>
                <a:cs typeface="NVIDIA Sans Regular"/>
                <a:hlinkClick r:id="rId12">
                  <a:extLst>
                    <a:ext uri="{A12FA001-AC4F-418D-AE19-62706E023703}">
                      <ahyp:hlinkClr xmlns:ahyp="http://schemas.microsoft.com/office/drawing/2018/hyperlinkcolor" val="tx"/>
                    </a:ext>
                  </a:extLst>
                </a:hlinkClick>
              </a:rPr>
              <a:t>NVIDIA NIM on build.nvidia.com</a:t>
            </a:r>
            <a:endParaRPr lang="en-US" sz="1200">
              <a:solidFill>
                <a:schemeClr val="bg1">
                  <a:lumMod val="85000"/>
                  <a:lumOff val="15000"/>
                </a:schemeClr>
              </a:solidFill>
              <a:latin typeface="NVIDIA Sans Regular"/>
              <a:cs typeface="NVIDIA Sans Regular"/>
            </a:endParaRPr>
          </a:p>
          <a:p>
            <a:pPr algn="ctr">
              <a:lnSpc>
                <a:spcPct val="150000"/>
              </a:lnSpc>
            </a:pPr>
            <a:endParaRPr lang="en-US" sz="1200">
              <a:solidFill>
                <a:schemeClr val="bg1">
                  <a:lumMod val="85000"/>
                  <a:lumOff val="15000"/>
                </a:schemeClr>
              </a:solidFill>
              <a:latin typeface="NVIDIA Sans Regular"/>
              <a:cs typeface="NVIDIA Sans Regular"/>
            </a:endParaRPr>
          </a:p>
        </p:txBody>
      </p:sp>
      <p:sp>
        <p:nvSpPr>
          <p:cNvPr id="4514" name="TextBox 4513">
            <a:extLst>
              <a:ext uri="{FF2B5EF4-FFF2-40B4-BE49-F238E27FC236}">
                <a16:creationId xmlns:a16="http://schemas.microsoft.com/office/drawing/2014/main" id="{2397AC6C-DE51-38E8-9F8C-F566998622EC}"/>
              </a:ext>
            </a:extLst>
          </p:cNvPr>
          <p:cNvSpPr txBox="1"/>
          <p:nvPr/>
        </p:nvSpPr>
        <p:spPr>
          <a:xfrm>
            <a:off x="1282866" y="4870735"/>
            <a:ext cx="966029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chemeClr val="bg1"/>
                </a:solidFill>
                <a:latin typeface="NVIDIA Sans Regular"/>
                <a:ea typeface="+mn-lt"/>
                <a:cs typeface="+mn-lt"/>
              </a:rPr>
              <a:t>When you are ready for enterprise support, request a </a:t>
            </a:r>
            <a:r>
              <a:rPr lang="en-US" sz="1400">
                <a:solidFill>
                  <a:schemeClr val="bg1"/>
                </a:solidFill>
                <a:latin typeface="NVIDIA Sans Regular"/>
                <a:ea typeface="+mn-lt"/>
                <a:cs typeface="+mn-lt"/>
                <a:hlinkClick r:id="rId13">
                  <a:extLst>
                    <a:ext uri="{A12FA001-AC4F-418D-AE19-62706E023703}">
                      <ahyp:hlinkClr xmlns:ahyp="http://schemas.microsoft.com/office/drawing/2018/hyperlinkcolor" val="tx"/>
                    </a:ext>
                  </a:extLst>
                </a:hlinkClick>
              </a:rPr>
              <a:t>90-day free trial</a:t>
            </a:r>
            <a:r>
              <a:rPr lang="en-US" sz="1400">
                <a:solidFill>
                  <a:schemeClr val="tx2"/>
                </a:solidFill>
                <a:latin typeface="NVIDIA Sans Regular"/>
                <a:ea typeface="+mn-lt"/>
                <a:cs typeface="+mn-lt"/>
              </a:rPr>
              <a:t> </a:t>
            </a:r>
            <a:r>
              <a:rPr lang="en-US" sz="1400">
                <a:solidFill>
                  <a:schemeClr val="bg1"/>
                </a:solidFill>
                <a:latin typeface="NVIDIA Sans Regular"/>
                <a:ea typeface="+mn-lt"/>
                <a:cs typeface="+mn-lt"/>
              </a:rPr>
              <a:t>for NVIDIA AI Enterprise.</a:t>
            </a:r>
            <a:endParaRPr lang="en-US" sz="1400">
              <a:solidFill>
                <a:schemeClr val="bg1"/>
              </a:solidFill>
              <a:latin typeface="NVIDIA Sans Regular"/>
              <a:cs typeface="NVIDIA Sans Regular"/>
            </a:endParaRPr>
          </a:p>
        </p:txBody>
      </p:sp>
    </p:spTree>
    <p:extLst>
      <p:ext uri="{BB962C8B-B14F-4D97-AF65-F5344CB8AC3E}">
        <p14:creationId xmlns:p14="http://schemas.microsoft.com/office/powerpoint/2010/main" val="885745441"/>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89">
          <a:extLst>
            <a:ext uri="{FF2B5EF4-FFF2-40B4-BE49-F238E27FC236}">
              <a16:creationId xmlns:a16="http://schemas.microsoft.com/office/drawing/2014/main" id="{7C92B2F0-3069-3F9F-0B1E-69D6827C06A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3AC4EB-7536-FB6D-9A6D-F11BE78708CE}"/>
              </a:ext>
            </a:extLst>
          </p:cNvPr>
          <p:cNvSpPr>
            <a:spLocks noGrp="1"/>
          </p:cNvSpPr>
          <p:nvPr>
            <p:ph type="body" idx="22"/>
          </p:nvPr>
        </p:nvSpPr>
        <p:spPr>
          <a:xfrm>
            <a:off x="680962" y="835103"/>
            <a:ext cx="10672838" cy="463345"/>
          </a:xfrm>
        </p:spPr>
        <p:txBody>
          <a:bodyPr/>
          <a:lstStyle/>
          <a:p>
            <a:pPr marL="151765" indent="-75565"/>
            <a:r>
              <a:rPr lang="en-US"/>
              <a:t>Enhance the safety, security, and privacy of your agentic AI applications and systems</a:t>
            </a:r>
          </a:p>
        </p:txBody>
      </p:sp>
      <p:sp>
        <p:nvSpPr>
          <p:cNvPr id="5" name="Title 4">
            <a:extLst>
              <a:ext uri="{FF2B5EF4-FFF2-40B4-BE49-F238E27FC236}">
                <a16:creationId xmlns:a16="http://schemas.microsoft.com/office/drawing/2014/main" id="{700DB90F-F870-4663-3CC7-09B8B857DC97}"/>
              </a:ext>
            </a:extLst>
          </p:cNvPr>
          <p:cNvSpPr>
            <a:spLocks noGrp="1"/>
          </p:cNvSpPr>
          <p:nvPr>
            <p:ph type="title"/>
          </p:nvPr>
        </p:nvSpPr>
        <p:spPr/>
        <p:txBody>
          <a:bodyPr/>
          <a:lstStyle/>
          <a:p>
            <a:r>
              <a:rPr lang="en-US"/>
              <a:t>NVIDIA </a:t>
            </a:r>
            <a:r>
              <a:rPr lang="en-US" err="1"/>
              <a:t>NeMo</a:t>
            </a:r>
            <a:r>
              <a:rPr lang="en-US"/>
              <a:t> Safety Libraries </a:t>
            </a:r>
          </a:p>
        </p:txBody>
      </p:sp>
      <p:graphicFrame>
        <p:nvGraphicFramePr>
          <p:cNvPr id="16" name="Table 15">
            <a:extLst>
              <a:ext uri="{FF2B5EF4-FFF2-40B4-BE49-F238E27FC236}">
                <a16:creationId xmlns:a16="http://schemas.microsoft.com/office/drawing/2014/main" id="{A020B537-8C50-4A86-6EB8-374889E53E5B}"/>
              </a:ext>
            </a:extLst>
          </p:cNvPr>
          <p:cNvGraphicFramePr>
            <a:graphicFrameLocks noGrp="1"/>
          </p:cNvGraphicFramePr>
          <p:nvPr>
            <p:extLst>
              <p:ext uri="{D42A27DB-BD31-4B8C-83A1-F6EECF244321}">
                <p14:modId xmlns:p14="http://schemas.microsoft.com/office/powerpoint/2010/main" val="2484634663"/>
              </p:ext>
            </p:extLst>
          </p:nvPr>
        </p:nvGraphicFramePr>
        <p:xfrm>
          <a:off x="1569834" y="1569834"/>
          <a:ext cx="9062462" cy="4150360"/>
        </p:xfrm>
        <a:graphic>
          <a:graphicData uri="http://schemas.openxmlformats.org/drawingml/2006/table">
            <a:tbl>
              <a:tblPr firstRow="1" bandRow="1">
                <a:tableStyleId>{5C22544A-7EE6-4342-B048-85BDC9FD1C3A}</a:tableStyleId>
              </a:tblPr>
              <a:tblGrid>
                <a:gridCol w="2316031">
                  <a:extLst>
                    <a:ext uri="{9D8B030D-6E8A-4147-A177-3AD203B41FA5}">
                      <a16:colId xmlns:a16="http://schemas.microsoft.com/office/drawing/2014/main" val="409687106"/>
                    </a:ext>
                  </a:extLst>
                </a:gridCol>
                <a:gridCol w="2583924">
                  <a:extLst>
                    <a:ext uri="{9D8B030D-6E8A-4147-A177-3AD203B41FA5}">
                      <a16:colId xmlns:a16="http://schemas.microsoft.com/office/drawing/2014/main" val="4224011686"/>
                    </a:ext>
                  </a:extLst>
                </a:gridCol>
                <a:gridCol w="2060582">
                  <a:extLst>
                    <a:ext uri="{9D8B030D-6E8A-4147-A177-3AD203B41FA5}">
                      <a16:colId xmlns:a16="http://schemas.microsoft.com/office/drawing/2014/main" val="4089086503"/>
                    </a:ext>
                  </a:extLst>
                </a:gridCol>
                <a:gridCol w="2101925">
                  <a:extLst>
                    <a:ext uri="{9D8B030D-6E8A-4147-A177-3AD203B41FA5}">
                      <a16:colId xmlns:a16="http://schemas.microsoft.com/office/drawing/2014/main" val="2935084890"/>
                    </a:ext>
                  </a:extLst>
                </a:gridCol>
              </a:tblGrid>
              <a:tr h="370840">
                <a:tc>
                  <a:txBody>
                    <a:bodyPr/>
                    <a:lstStyle/>
                    <a:p>
                      <a:pPr algn="ctr"/>
                      <a:r>
                        <a:rPr lang="en-US" sz="1600">
                          <a:solidFill>
                            <a:schemeClr val="tx1"/>
                          </a:solidFill>
                          <a:latin typeface="NVIDIA Sans"/>
                        </a:rPr>
                        <a:t>Product</a:t>
                      </a:r>
                    </a:p>
                  </a:txBody>
                  <a:tcPr anchor="ctr">
                    <a:solidFill>
                      <a:schemeClr val="bg1">
                        <a:lumMod val="85000"/>
                        <a:lumOff val="15000"/>
                      </a:schemeClr>
                    </a:solidFill>
                  </a:tcPr>
                </a:tc>
                <a:tc>
                  <a:txBody>
                    <a:bodyPr/>
                    <a:lstStyle/>
                    <a:p>
                      <a:pPr lvl="0" algn="ctr">
                        <a:buNone/>
                      </a:pPr>
                      <a:r>
                        <a:rPr lang="en-US" sz="1600">
                          <a:solidFill>
                            <a:schemeClr val="tx1"/>
                          </a:solidFill>
                          <a:latin typeface="NVIDIA Sans"/>
                        </a:rPr>
                        <a:t>Description</a:t>
                      </a:r>
                    </a:p>
                  </a:txBody>
                  <a:tcPr anchor="ctr">
                    <a:solidFill>
                      <a:schemeClr val="bg1">
                        <a:lumMod val="85000"/>
                        <a:lumOff val="15000"/>
                      </a:schemeClr>
                    </a:solidFill>
                  </a:tcPr>
                </a:tc>
                <a:tc>
                  <a:txBody>
                    <a:bodyPr/>
                    <a:lstStyle/>
                    <a:p>
                      <a:pPr algn="ctr"/>
                      <a:r>
                        <a:rPr lang="en-US" sz="1600">
                          <a:solidFill>
                            <a:schemeClr val="tx1"/>
                          </a:solidFill>
                          <a:latin typeface="NVIDIA Sans"/>
                        </a:rPr>
                        <a:t>OSS Library</a:t>
                      </a:r>
                    </a:p>
                  </a:txBody>
                  <a:tcPr anchor="ctr">
                    <a:solidFill>
                      <a:schemeClr val="bg1">
                        <a:lumMod val="85000"/>
                        <a:lumOff val="15000"/>
                      </a:schemeClr>
                    </a:solidFill>
                  </a:tcPr>
                </a:tc>
                <a:tc>
                  <a:txBody>
                    <a:bodyPr/>
                    <a:lstStyle/>
                    <a:p>
                      <a:pPr algn="ctr"/>
                      <a:r>
                        <a:rPr lang="en-US" sz="1600">
                          <a:solidFill>
                            <a:schemeClr val="tx1"/>
                          </a:solidFill>
                          <a:latin typeface="NVIDIA Sans"/>
                        </a:rPr>
                        <a:t>Microservice</a:t>
                      </a:r>
                    </a:p>
                  </a:txBody>
                  <a:tcPr anchor="ctr">
                    <a:solidFill>
                      <a:schemeClr val="bg1">
                        <a:lumMod val="85000"/>
                        <a:lumOff val="15000"/>
                      </a:schemeClr>
                    </a:solidFill>
                  </a:tcPr>
                </a:tc>
                <a:extLst>
                  <a:ext uri="{0D108BD9-81ED-4DB2-BD59-A6C34878D82A}">
                    <a16:rowId xmlns:a16="http://schemas.microsoft.com/office/drawing/2014/main" val="710817238"/>
                  </a:ext>
                </a:extLst>
              </a:tr>
              <a:tr h="370840">
                <a:tc>
                  <a:txBody>
                    <a:bodyPr/>
                    <a:lstStyle/>
                    <a:p>
                      <a:pPr algn="ctr"/>
                      <a:r>
                        <a:rPr lang="en-US" sz="1400" b="0">
                          <a:solidFill>
                            <a:schemeClr val="bg1"/>
                          </a:solidFill>
                          <a:latin typeface="NVIDIA Sans"/>
                        </a:rPr>
                        <a:t>NeMo Safe Synthesizer</a:t>
                      </a:r>
                    </a:p>
                  </a:txBody>
                  <a:tcPr anchor="ctr">
                    <a:solidFill>
                      <a:schemeClr val="tx1"/>
                    </a:solidFill>
                  </a:tcPr>
                </a:tc>
                <a:tc>
                  <a:txBody>
                    <a:bodyPr/>
                    <a:lstStyle/>
                    <a:p>
                      <a:pPr lvl="0" algn="ctr">
                        <a:lnSpc>
                          <a:spcPct val="100000"/>
                        </a:lnSpc>
                        <a:spcBef>
                          <a:spcPts val="0"/>
                        </a:spcBef>
                        <a:spcAft>
                          <a:spcPts val="0"/>
                        </a:spcAft>
                        <a:buNone/>
                      </a:pPr>
                      <a:r>
                        <a:rPr lang="en-US" sz="1400" b="0" i="0" u="none" strike="noStrike" noProof="0">
                          <a:solidFill>
                            <a:schemeClr val="bg1"/>
                          </a:solidFill>
                          <a:latin typeface="NVIDIA Sans Regular"/>
                        </a:rPr>
                        <a:t>Create privacy-safe versions of sensitive data</a:t>
                      </a:r>
                      <a:endParaRPr lang="en-US">
                        <a:latin typeface="NVIDIA Sans Regular"/>
                      </a:endParaRPr>
                    </a:p>
                  </a:txBody>
                  <a:tcPr anchor="ctr">
                    <a:solidFill>
                      <a:schemeClr val="tx1"/>
                    </a:solidFill>
                  </a:tcPr>
                </a:tc>
                <a:tc>
                  <a:txBody>
                    <a:bodyPr/>
                    <a:lstStyle/>
                    <a:p>
                      <a:pPr algn="ctr"/>
                      <a:endParaRPr lang="en-US" sz="1400" b="0" i="1">
                        <a:solidFill>
                          <a:schemeClr val="bg1"/>
                        </a:solidFill>
                        <a:latin typeface="NVIDIA Sans"/>
                      </a:endParaRPr>
                    </a:p>
                    <a:p>
                      <a:pPr lvl="0" algn="ctr">
                        <a:buNone/>
                      </a:pPr>
                      <a:r>
                        <a:rPr lang="en-US" sz="1400" b="0" i="1">
                          <a:solidFill>
                            <a:schemeClr val="bg1"/>
                          </a:solidFill>
                          <a:latin typeface="NVIDIA Sans"/>
                        </a:rPr>
                        <a:t>Coming Soon</a:t>
                      </a:r>
                    </a:p>
                    <a:p>
                      <a:pPr lvl="0" algn="ctr">
                        <a:buNone/>
                      </a:pPr>
                      <a:r>
                        <a:rPr lang="en-US" sz="1400" b="0">
                          <a:solidFill>
                            <a:schemeClr val="bg1"/>
                          </a:solidFill>
                          <a:latin typeface="NVIDIA Sans"/>
                        </a:rPr>
                        <a:t>April 2026</a:t>
                      </a:r>
                    </a:p>
                    <a:p>
                      <a:pPr lvl="0" algn="ctr">
                        <a:buNone/>
                      </a:pPr>
                      <a:endParaRPr lang="en-US" sz="1400" b="0">
                        <a:solidFill>
                          <a:schemeClr val="bg1"/>
                        </a:solidFill>
                        <a:latin typeface="NVIDIA Sans"/>
                      </a:endParaRPr>
                    </a:p>
                  </a:txBody>
                  <a:tcPr anchor="ctr">
                    <a:solidFill>
                      <a:schemeClr val="tx1"/>
                    </a:solidFill>
                  </a:tcPr>
                </a:tc>
                <a:tc>
                  <a:txBody>
                    <a:bodyPr/>
                    <a:lstStyle/>
                    <a:p>
                      <a:pPr lvl="0" algn="ctr">
                        <a:buNone/>
                      </a:pPr>
                      <a:r>
                        <a:rPr lang="en-US" sz="1400" b="0" i="0" u="none" strike="noStrike" noProof="0">
                          <a:solidFill>
                            <a:schemeClr val="bg1"/>
                          </a:solidFill>
                          <a:latin typeface="NVIDIA Sans"/>
                          <a:hlinkClick r:id="rId3"/>
                        </a:rPr>
                        <a:t>Available Now</a:t>
                      </a:r>
                      <a:r>
                        <a:rPr lang="en-US" sz="1400" b="0" i="1" u="none" strike="noStrike" noProof="0">
                          <a:solidFill>
                            <a:schemeClr val="bg1"/>
                          </a:solidFill>
                          <a:latin typeface="NVIDIA Sans"/>
                        </a:rPr>
                        <a:t> – EA</a:t>
                      </a:r>
                      <a:endParaRPr lang="en-US" sz="1400" b="0">
                        <a:latin typeface="NVIDIA Sans"/>
                      </a:endParaRPr>
                    </a:p>
                    <a:p>
                      <a:pPr lvl="0" algn="ctr">
                        <a:buNone/>
                      </a:pPr>
                      <a:r>
                        <a:rPr lang="en-US" sz="1400" b="0" i="1" u="none" strike="noStrike" noProof="0">
                          <a:solidFill>
                            <a:schemeClr val="bg1"/>
                          </a:solidFill>
                          <a:latin typeface="NVIDIA Sans"/>
                        </a:rPr>
                        <a:t>GA </a:t>
                      </a:r>
                      <a:r>
                        <a:rPr lang="en-US" sz="1400" b="0" i="0" u="none" strike="noStrike" noProof="0">
                          <a:solidFill>
                            <a:schemeClr val="bg1"/>
                          </a:solidFill>
                          <a:latin typeface="NVIDIA Sans"/>
                        </a:rPr>
                        <a:t>– April 2026</a:t>
                      </a:r>
                      <a:endParaRPr lang="en-US" sz="1400" b="0">
                        <a:latin typeface="NVIDIA Sans"/>
                      </a:endParaRPr>
                    </a:p>
                  </a:txBody>
                  <a:tcPr anchor="ctr">
                    <a:solidFill>
                      <a:schemeClr val="tx1"/>
                    </a:solidFill>
                  </a:tcPr>
                </a:tc>
                <a:extLst>
                  <a:ext uri="{0D108BD9-81ED-4DB2-BD59-A6C34878D82A}">
                    <a16:rowId xmlns:a16="http://schemas.microsoft.com/office/drawing/2014/main" val="3294944498"/>
                  </a:ext>
                </a:extLst>
              </a:tr>
              <a:tr h="370840">
                <a:tc>
                  <a:txBody>
                    <a:bodyPr/>
                    <a:lstStyle/>
                    <a:p>
                      <a:pPr algn="ctr"/>
                      <a:r>
                        <a:rPr lang="en-US" sz="1400" b="0">
                          <a:solidFill>
                            <a:schemeClr val="bg1"/>
                          </a:solidFill>
                          <a:latin typeface="NVIDIA Sans"/>
                        </a:rPr>
                        <a:t>NeMo Anonymizer</a:t>
                      </a:r>
                    </a:p>
                  </a:txBody>
                  <a:tcPr anchor="ctr">
                    <a:solidFill>
                      <a:schemeClr val="tx1">
                        <a:lumMod val="95000"/>
                      </a:schemeClr>
                    </a:solidFill>
                  </a:tcPr>
                </a:tc>
                <a:tc>
                  <a:txBody>
                    <a:bodyPr/>
                    <a:lstStyle/>
                    <a:p>
                      <a:pPr lvl="0" algn="ctr">
                        <a:buNone/>
                      </a:pPr>
                      <a:r>
                        <a:rPr lang="en-US" sz="1400" b="0" i="0" u="none" strike="noStrike" noProof="0">
                          <a:solidFill>
                            <a:schemeClr val="bg1"/>
                          </a:solidFill>
                          <a:latin typeface="NVIDIA Sans Regular"/>
                        </a:rPr>
                        <a:t>Protect PII data with context-aware replacements </a:t>
                      </a:r>
                      <a:endParaRPr lang="en-US">
                        <a:latin typeface="NVIDIA Sans Regular"/>
                      </a:endParaRPr>
                    </a:p>
                  </a:txBody>
                  <a:tcPr anchor="ctr">
                    <a:solidFill>
                      <a:schemeClr val="tx1">
                        <a:lumMod val="95000"/>
                      </a:schemeClr>
                    </a:solidFill>
                  </a:tcPr>
                </a:tc>
                <a:tc>
                  <a:txBody>
                    <a:bodyPr/>
                    <a:lstStyle/>
                    <a:p>
                      <a:pPr lvl="0" algn="ctr">
                        <a:lnSpc>
                          <a:spcPct val="100000"/>
                        </a:lnSpc>
                        <a:spcBef>
                          <a:spcPts val="0"/>
                        </a:spcBef>
                        <a:spcAft>
                          <a:spcPts val="0"/>
                        </a:spcAft>
                        <a:buNone/>
                      </a:pPr>
                      <a:endParaRPr lang="en-US" sz="1400" b="0" i="1" u="none" strike="noStrike" noProof="0">
                        <a:solidFill>
                          <a:schemeClr val="bg1"/>
                        </a:solidFill>
                        <a:latin typeface="NVIDIA Sans"/>
                      </a:endParaRPr>
                    </a:p>
                    <a:p>
                      <a:pPr lvl="0" algn="ctr">
                        <a:lnSpc>
                          <a:spcPct val="100000"/>
                        </a:lnSpc>
                        <a:spcBef>
                          <a:spcPts val="0"/>
                        </a:spcBef>
                        <a:spcAft>
                          <a:spcPts val="0"/>
                        </a:spcAft>
                        <a:buNone/>
                      </a:pPr>
                      <a:r>
                        <a:rPr lang="en-US" sz="1400" b="0" i="1" u="none" strike="noStrike" noProof="0">
                          <a:solidFill>
                            <a:schemeClr val="bg1"/>
                          </a:solidFill>
                          <a:latin typeface="NVIDIA Sans"/>
                        </a:rPr>
                        <a:t>Coming Soon</a:t>
                      </a:r>
                      <a:endParaRPr lang="en-US" sz="1400" b="0" i="0" u="none" strike="noStrike" noProof="0">
                        <a:solidFill>
                          <a:srgbClr val="FFFFFF"/>
                        </a:solidFill>
                        <a:latin typeface="NVIDIA Sans"/>
                      </a:endParaRPr>
                    </a:p>
                    <a:p>
                      <a:pPr lvl="0" algn="ctr">
                        <a:lnSpc>
                          <a:spcPct val="100000"/>
                        </a:lnSpc>
                        <a:spcBef>
                          <a:spcPts val="0"/>
                        </a:spcBef>
                        <a:spcAft>
                          <a:spcPts val="0"/>
                        </a:spcAft>
                        <a:buNone/>
                      </a:pPr>
                      <a:r>
                        <a:rPr lang="en-US" sz="1400" b="0" i="0" u="none" strike="noStrike" noProof="0">
                          <a:solidFill>
                            <a:schemeClr val="bg1"/>
                          </a:solidFill>
                          <a:latin typeface="NVIDIA Sans"/>
                        </a:rPr>
                        <a:t>April 2026</a:t>
                      </a:r>
                      <a:endParaRPr lang="en-US" sz="1400" b="0" i="0" u="none" strike="noStrike" noProof="0">
                        <a:solidFill>
                          <a:srgbClr val="FFFFFF"/>
                        </a:solidFill>
                        <a:latin typeface="NVIDIA Sans"/>
                      </a:endParaRPr>
                    </a:p>
                    <a:p>
                      <a:pPr lvl="0" algn="ctr">
                        <a:buNone/>
                      </a:pPr>
                      <a:endParaRPr lang="en-US" sz="1400" b="0">
                        <a:latin typeface="NVIDIA Sans"/>
                      </a:endParaRPr>
                    </a:p>
                  </a:txBody>
                  <a:tcPr anchor="ctr">
                    <a:solidFill>
                      <a:schemeClr val="tx1">
                        <a:lumMod val="95000"/>
                      </a:schemeClr>
                    </a:solidFill>
                  </a:tcPr>
                </a:tc>
                <a:tc>
                  <a:txBody>
                    <a:bodyPr/>
                    <a:lstStyle/>
                    <a:p>
                      <a:pPr lvl="0" algn="ctr">
                        <a:lnSpc>
                          <a:spcPct val="100000"/>
                        </a:lnSpc>
                        <a:spcBef>
                          <a:spcPts val="0"/>
                        </a:spcBef>
                        <a:spcAft>
                          <a:spcPts val="0"/>
                        </a:spcAft>
                        <a:buNone/>
                      </a:pPr>
                      <a:endParaRPr lang="en-US" sz="1400" b="0" i="0" u="none" strike="noStrike" noProof="0">
                        <a:solidFill>
                          <a:schemeClr val="bg1"/>
                        </a:solidFill>
                        <a:latin typeface="NVIDIA Sans"/>
                      </a:endParaRPr>
                    </a:p>
                    <a:p>
                      <a:pPr lvl="0" algn="ctr">
                        <a:lnSpc>
                          <a:spcPct val="100000"/>
                        </a:lnSpc>
                        <a:spcBef>
                          <a:spcPts val="0"/>
                        </a:spcBef>
                        <a:spcAft>
                          <a:spcPts val="0"/>
                        </a:spcAft>
                        <a:buNone/>
                      </a:pPr>
                      <a:r>
                        <a:rPr lang="en-US" sz="1400" b="0" i="0" u="none" strike="noStrike" noProof="0">
                          <a:solidFill>
                            <a:schemeClr val="bg1"/>
                          </a:solidFill>
                          <a:latin typeface="NVIDIA Sans"/>
                        </a:rPr>
                        <a:t>N/A</a:t>
                      </a:r>
                      <a:endParaRPr lang="en-US" sz="1400" b="0" i="0" u="none" strike="noStrike" noProof="0">
                        <a:solidFill>
                          <a:srgbClr val="FFFFFF"/>
                        </a:solidFill>
                        <a:latin typeface="NVIDIA Sans"/>
                      </a:endParaRPr>
                    </a:p>
                    <a:p>
                      <a:pPr lvl="0" algn="ctr">
                        <a:buNone/>
                      </a:pPr>
                      <a:endParaRPr lang="en-US" sz="1400" b="0">
                        <a:latin typeface="NVIDIA Sans"/>
                      </a:endParaRPr>
                    </a:p>
                  </a:txBody>
                  <a:tcPr anchor="ctr">
                    <a:solidFill>
                      <a:schemeClr val="tx1">
                        <a:lumMod val="95000"/>
                      </a:schemeClr>
                    </a:solidFill>
                  </a:tcPr>
                </a:tc>
                <a:extLst>
                  <a:ext uri="{0D108BD9-81ED-4DB2-BD59-A6C34878D82A}">
                    <a16:rowId xmlns:a16="http://schemas.microsoft.com/office/drawing/2014/main" val="2584038395"/>
                  </a:ext>
                </a:extLst>
              </a:tr>
              <a:tr h="370840">
                <a:tc>
                  <a:txBody>
                    <a:bodyPr/>
                    <a:lstStyle/>
                    <a:p>
                      <a:pPr algn="ctr"/>
                      <a:r>
                        <a:rPr lang="en-US" sz="1400" b="0">
                          <a:solidFill>
                            <a:schemeClr val="bg1"/>
                          </a:solidFill>
                          <a:latin typeface="NVIDIA Sans"/>
                        </a:rPr>
                        <a:t>NeMo Guardrails</a:t>
                      </a:r>
                    </a:p>
                  </a:txBody>
                  <a:tcPr anchor="ctr">
                    <a:solidFill>
                      <a:schemeClr val="tx1"/>
                    </a:solidFill>
                  </a:tcPr>
                </a:tc>
                <a:tc>
                  <a:txBody>
                    <a:bodyPr/>
                    <a:lstStyle/>
                    <a:p>
                      <a:pPr lvl="0" algn="ctr">
                        <a:buNone/>
                      </a:pPr>
                      <a:r>
                        <a:rPr lang="en-US" sz="1400" b="0" i="0" u="none" strike="noStrike" noProof="0">
                          <a:solidFill>
                            <a:schemeClr val="bg1"/>
                          </a:solidFill>
                          <a:latin typeface="NVIDIA Sans Regular"/>
                        </a:rPr>
                        <a:t>Apply safety and policy controls on prompts, tool calls, and LLM responses </a:t>
                      </a:r>
                      <a:endParaRPr lang="en-US">
                        <a:latin typeface="NVIDIA Sans Regular"/>
                      </a:endParaRPr>
                    </a:p>
                  </a:txBody>
                  <a:tcPr anchor="ctr">
                    <a:solidFill>
                      <a:schemeClr val="tx1"/>
                    </a:solidFill>
                  </a:tcPr>
                </a:tc>
                <a:tc>
                  <a:txBody>
                    <a:bodyPr/>
                    <a:lstStyle/>
                    <a:p>
                      <a:pPr lvl="0" algn="ctr">
                        <a:buNone/>
                      </a:pPr>
                      <a:endParaRPr lang="en-US" sz="1400" b="0" i="0" u="none" strike="noStrike" noProof="0">
                        <a:solidFill>
                          <a:schemeClr val="bg1"/>
                        </a:solidFill>
                        <a:latin typeface="NVIDIA Sans"/>
                      </a:endParaRPr>
                    </a:p>
                    <a:p>
                      <a:pPr lvl="0" algn="ctr">
                        <a:buNone/>
                      </a:pPr>
                      <a:r>
                        <a:rPr lang="en-US" sz="1400" b="0" i="0" u="none" strike="noStrike" noProof="0">
                          <a:solidFill>
                            <a:schemeClr val="bg1"/>
                          </a:solidFill>
                          <a:latin typeface="NVIDIA Sans"/>
                          <a:hlinkClick r:id="rId4"/>
                        </a:rPr>
                        <a:t>Available Now</a:t>
                      </a:r>
                      <a:endParaRPr lang="en-US" sz="1400" b="0" i="0" u="none" strike="noStrike" noProof="0">
                        <a:solidFill>
                          <a:schemeClr val="bg1"/>
                        </a:solidFill>
                        <a:latin typeface="NVIDIA Sans"/>
                      </a:endParaRPr>
                    </a:p>
                    <a:p>
                      <a:pPr lvl="0" algn="ctr">
                        <a:buNone/>
                      </a:pPr>
                      <a:endParaRPr lang="en-US" sz="1400" b="0" i="0" u="none" strike="noStrike" noProof="0">
                        <a:solidFill>
                          <a:schemeClr val="bg1"/>
                        </a:solidFill>
                        <a:latin typeface="NVIDIA Sans"/>
                      </a:endParaRPr>
                    </a:p>
                  </a:txBody>
                  <a:tcPr anchor="ctr">
                    <a:solidFill>
                      <a:schemeClr val="tx1"/>
                    </a:solidFill>
                  </a:tcPr>
                </a:tc>
                <a:tc>
                  <a:txBody>
                    <a:bodyPr/>
                    <a:lstStyle/>
                    <a:p>
                      <a:pPr lvl="0" algn="ctr">
                        <a:lnSpc>
                          <a:spcPct val="100000"/>
                        </a:lnSpc>
                        <a:spcBef>
                          <a:spcPts val="0"/>
                        </a:spcBef>
                        <a:spcAft>
                          <a:spcPts val="0"/>
                        </a:spcAft>
                        <a:buNone/>
                      </a:pPr>
                      <a:endParaRPr lang="en-US" sz="1400" b="0" i="0" u="none" strike="noStrike" noProof="0">
                        <a:solidFill>
                          <a:schemeClr val="bg1"/>
                        </a:solidFill>
                        <a:latin typeface="NVIDIA Sans"/>
                      </a:endParaRPr>
                    </a:p>
                    <a:p>
                      <a:pPr lvl="0" algn="ctr">
                        <a:lnSpc>
                          <a:spcPct val="100000"/>
                        </a:lnSpc>
                        <a:spcBef>
                          <a:spcPts val="0"/>
                        </a:spcBef>
                        <a:spcAft>
                          <a:spcPts val="0"/>
                        </a:spcAft>
                        <a:buNone/>
                      </a:pPr>
                      <a:r>
                        <a:rPr lang="en-US" sz="1400" b="0" i="0" u="none" strike="noStrike" noProof="0">
                          <a:solidFill>
                            <a:schemeClr val="bg1"/>
                          </a:solidFill>
                          <a:latin typeface="NVIDIA Sans"/>
                          <a:hlinkClick r:id="rId5"/>
                        </a:rPr>
                        <a:t>Available Now</a:t>
                      </a:r>
                      <a:endParaRPr lang="en-US" sz="1400" b="0" i="0" u="none" strike="noStrike" noProof="0">
                        <a:solidFill>
                          <a:srgbClr val="FFFFFF"/>
                        </a:solidFill>
                        <a:latin typeface="NVIDIA Sans"/>
                      </a:endParaRPr>
                    </a:p>
                    <a:p>
                      <a:pPr lvl="0" algn="ctr">
                        <a:lnSpc>
                          <a:spcPct val="100000"/>
                        </a:lnSpc>
                        <a:spcBef>
                          <a:spcPts val="0"/>
                        </a:spcBef>
                        <a:spcAft>
                          <a:spcPts val="0"/>
                        </a:spcAft>
                        <a:buNone/>
                      </a:pPr>
                      <a:r>
                        <a:rPr lang="en-US" sz="1400" b="0" i="0" u="none" strike="noStrike" noProof="0">
                          <a:solidFill>
                            <a:schemeClr val="bg1"/>
                          </a:solidFill>
                          <a:latin typeface="NVIDIA Sans"/>
                          <a:hlinkClick r:id="rId6"/>
                        </a:rPr>
                        <a:t>Deploy on GKE</a:t>
                      </a:r>
                      <a:endParaRPr lang="en-US" sz="1400" b="0" i="0" u="none" strike="noStrike" noProof="0">
                        <a:solidFill>
                          <a:schemeClr val="bg1"/>
                        </a:solidFill>
                        <a:latin typeface="NVIDIA Sans"/>
                      </a:endParaRPr>
                    </a:p>
                    <a:p>
                      <a:pPr lvl="0" algn="ctr">
                        <a:buNone/>
                      </a:pPr>
                      <a:endParaRPr lang="en-US" sz="1400" b="0">
                        <a:latin typeface="NVIDIA Sans"/>
                      </a:endParaRPr>
                    </a:p>
                  </a:txBody>
                  <a:tcPr anchor="ctr">
                    <a:solidFill>
                      <a:schemeClr val="tx1"/>
                    </a:solidFill>
                  </a:tcPr>
                </a:tc>
                <a:extLst>
                  <a:ext uri="{0D108BD9-81ED-4DB2-BD59-A6C34878D82A}">
                    <a16:rowId xmlns:a16="http://schemas.microsoft.com/office/drawing/2014/main" val="2652721264"/>
                  </a:ext>
                </a:extLst>
              </a:tr>
              <a:tr h="370840">
                <a:tc>
                  <a:txBody>
                    <a:bodyPr/>
                    <a:lstStyle/>
                    <a:p>
                      <a:pPr algn="ctr"/>
                      <a:r>
                        <a:rPr lang="en-US" sz="1400" b="0">
                          <a:solidFill>
                            <a:schemeClr val="bg1"/>
                          </a:solidFill>
                          <a:latin typeface="NVIDIA Sans"/>
                        </a:rPr>
                        <a:t>NeMo Auditor</a:t>
                      </a:r>
                    </a:p>
                  </a:txBody>
                  <a:tcPr anchor="ctr">
                    <a:solidFill>
                      <a:schemeClr val="tx1">
                        <a:lumMod val="95000"/>
                      </a:schemeClr>
                    </a:solidFill>
                  </a:tcPr>
                </a:tc>
                <a:tc>
                  <a:txBody>
                    <a:bodyPr/>
                    <a:lstStyle/>
                    <a:p>
                      <a:pPr lvl="0" algn="ctr">
                        <a:buNone/>
                      </a:pPr>
                      <a:r>
                        <a:rPr lang="en-US" sz="1400" b="0" i="0" u="none" strike="noStrike" noProof="0">
                          <a:solidFill>
                            <a:schemeClr val="bg1"/>
                          </a:solidFill>
                          <a:latin typeface="NVIDIA Sans Regular"/>
                        </a:rPr>
                        <a:t>Audit AI agents for risky behavior, policy gaps, and compliance issues</a:t>
                      </a:r>
                      <a:endParaRPr lang="en-US">
                        <a:latin typeface="NVIDIA Sans Regular"/>
                      </a:endParaRPr>
                    </a:p>
                  </a:txBody>
                  <a:tcPr anchor="ctr">
                    <a:solidFill>
                      <a:schemeClr val="tx1">
                        <a:lumMod val="95000"/>
                      </a:schemeClr>
                    </a:solidFill>
                  </a:tcPr>
                </a:tc>
                <a:tc>
                  <a:txBody>
                    <a:bodyPr/>
                    <a:lstStyle/>
                    <a:p>
                      <a:pPr lvl="0" algn="ctr">
                        <a:buNone/>
                      </a:pPr>
                      <a:endParaRPr lang="en-US" sz="1400" b="0" i="0" u="none" strike="noStrike" noProof="0">
                        <a:solidFill>
                          <a:schemeClr val="bg1"/>
                        </a:solidFill>
                        <a:latin typeface="NVIDIA Sans"/>
                      </a:endParaRPr>
                    </a:p>
                    <a:p>
                      <a:pPr lvl="0" algn="ctr">
                        <a:buNone/>
                      </a:pPr>
                      <a:r>
                        <a:rPr lang="en-US" sz="1400" b="0" i="1" u="none" strike="noStrike" noProof="0">
                          <a:solidFill>
                            <a:schemeClr val="bg1"/>
                          </a:solidFill>
                          <a:latin typeface="NVIDIA Sans"/>
                        </a:rPr>
                        <a:t>OSS Library = Garak </a:t>
                      </a:r>
                    </a:p>
                    <a:p>
                      <a:pPr lvl="0" algn="ctr">
                        <a:buNone/>
                      </a:pPr>
                      <a:r>
                        <a:rPr lang="en-US" sz="1400" b="0" i="0" u="none" strike="noStrike" noProof="0">
                          <a:solidFill>
                            <a:schemeClr val="bg1"/>
                          </a:solidFill>
                          <a:latin typeface="NVIDIA Sans"/>
                          <a:hlinkClick r:id="rId7"/>
                        </a:rPr>
                        <a:t>Available Now</a:t>
                      </a:r>
                      <a:endParaRPr lang="en-US" sz="1400" b="0"/>
                    </a:p>
                    <a:p>
                      <a:pPr lvl="0" algn="ctr">
                        <a:buNone/>
                      </a:pPr>
                      <a:endParaRPr lang="en-US" sz="1400" b="0" i="0" u="none" strike="noStrike" noProof="0">
                        <a:solidFill>
                          <a:schemeClr val="bg1"/>
                        </a:solidFill>
                        <a:latin typeface="NVIDIA Sans"/>
                      </a:endParaRPr>
                    </a:p>
                  </a:txBody>
                  <a:tcPr anchor="ctr">
                    <a:solidFill>
                      <a:schemeClr val="tx1">
                        <a:lumMod val="95000"/>
                      </a:schemeClr>
                    </a:solidFill>
                  </a:tcPr>
                </a:tc>
                <a:tc>
                  <a:txBody>
                    <a:bodyPr/>
                    <a:lstStyle/>
                    <a:p>
                      <a:pPr lvl="0" algn="ctr">
                        <a:buNone/>
                      </a:pPr>
                      <a:r>
                        <a:rPr lang="en-US" sz="1400" b="0" i="0" u="none" strike="noStrike" noProof="0">
                          <a:solidFill>
                            <a:schemeClr val="bg1"/>
                          </a:solidFill>
                          <a:latin typeface="NVIDIA Sans"/>
                          <a:hlinkClick r:id="rId8"/>
                        </a:rPr>
                        <a:t>Available Now</a:t>
                      </a:r>
                      <a:r>
                        <a:rPr lang="en-US" sz="1400" b="0" i="0" u="none" strike="noStrike" noProof="0">
                          <a:solidFill>
                            <a:schemeClr val="bg1"/>
                          </a:solidFill>
                          <a:latin typeface="NVIDIA Sans"/>
                        </a:rPr>
                        <a:t> - EA</a:t>
                      </a:r>
                      <a:endParaRPr lang="en-US" b="0"/>
                    </a:p>
                    <a:p>
                      <a:pPr lvl="0" algn="ctr">
                        <a:buNone/>
                      </a:pPr>
                      <a:r>
                        <a:rPr lang="en-US" sz="1400" b="0" i="0" u="none" strike="noStrike" noProof="0">
                          <a:solidFill>
                            <a:schemeClr val="bg1"/>
                          </a:solidFill>
                          <a:latin typeface="NVIDIA Sans"/>
                        </a:rPr>
                        <a:t>GA – March 2026</a:t>
                      </a:r>
                      <a:endParaRPr lang="en-US" b="0"/>
                    </a:p>
                  </a:txBody>
                  <a:tcPr anchor="ctr">
                    <a:solidFill>
                      <a:schemeClr val="tx1">
                        <a:lumMod val="95000"/>
                      </a:schemeClr>
                    </a:solidFill>
                  </a:tcPr>
                </a:tc>
                <a:extLst>
                  <a:ext uri="{0D108BD9-81ED-4DB2-BD59-A6C34878D82A}">
                    <a16:rowId xmlns:a16="http://schemas.microsoft.com/office/drawing/2014/main" val="773067281"/>
                  </a:ext>
                </a:extLst>
              </a:tr>
            </a:tbl>
          </a:graphicData>
        </a:graphic>
      </p:graphicFrame>
    </p:spTree>
    <p:extLst>
      <p:ext uri="{BB962C8B-B14F-4D97-AF65-F5344CB8AC3E}">
        <p14:creationId xmlns:p14="http://schemas.microsoft.com/office/powerpoint/2010/main" val="2893886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7F714-DDF5-1230-3CEF-AFAAB049ED0E}"/>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446F44E-7C77-CBB2-D779-E95BD33F078F}"/>
              </a:ext>
            </a:extLst>
          </p:cNvPr>
          <p:cNvGraphicFramePr>
            <a:graphicFrameLocks noGrp="1"/>
          </p:cNvGraphicFramePr>
          <p:nvPr>
            <p:extLst>
              <p:ext uri="{D42A27DB-BD31-4B8C-83A1-F6EECF244321}">
                <p14:modId xmlns:p14="http://schemas.microsoft.com/office/powerpoint/2010/main" val="1838973009"/>
              </p:ext>
            </p:extLst>
          </p:nvPr>
        </p:nvGraphicFramePr>
        <p:xfrm>
          <a:off x="696710" y="1253527"/>
          <a:ext cx="11179441" cy="5082540"/>
        </p:xfrm>
        <a:graphic>
          <a:graphicData uri="http://schemas.openxmlformats.org/drawingml/2006/table">
            <a:tbl>
              <a:tblPr bandRow="1">
                <a:tableStyleId>{5C22544A-7EE6-4342-B048-85BDC9FD1C3A}</a:tableStyleId>
              </a:tblPr>
              <a:tblGrid>
                <a:gridCol w="1175772">
                  <a:extLst>
                    <a:ext uri="{9D8B030D-6E8A-4147-A177-3AD203B41FA5}">
                      <a16:colId xmlns:a16="http://schemas.microsoft.com/office/drawing/2014/main" val="2591398196"/>
                    </a:ext>
                  </a:extLst>
                </a:gridCol>
                <a:gridCol w="2609133">
                  <a:extLst>
                    <a:ext uri="{9D8B030D-6E8A-4147-A177-3AD203B41FA5}">
                      <a16:colId xmlns:a16="http://schemas.microsoft.com/office/drawing/2014/main" val="1109706540"/>
                    </a:ext>
                  </a:extLst>
                </a:gridCol>
                <a:gridCol w="1020965">
                  <a:extLst>
                    <a:ext uri="{9D8B030D-6E8A-4147-A177-3AD203B41FA5}">
                      <a16:colId xmlns:a16="http://schemas.microsoft.com/office/drawing/2014/main" val="2581718109"/>
                    </a:ext>
                  </a:extLst>
                </a:gridCol>
                <a:gridCol w="2936851">
                  <a:extLst>
                    <a:ext uri="{9D8B030D-6E8A-4147-A177-3AD203B41FA5}">
                      <a16:colId xmlns:a16="http://schemas.microsoft.com/office/drawing/2014/main" val="2872117875"/>
                    </a:ext>
                  </a:extLst>
                </a:gridCol>
                <a:gridCol w="1147010">
                  <a:extLst>
                    <a:ext uri="{9D8B030D-6E8A-4147-A177-3AD203B41FA5}">
                      <a16:colId xmlns:a16="http://schemas.microsoft.com/office/drawing/2014/main" val="52170161"/>
                    </a:ext>
                  </a:extLst>
                </a:gridCol>
                <a:gridCol w="1147009">
                  <a:extLst>
                    <a:ext uri="{9D8B030D-6E8A-4147-A177-3AD203B41FA5}">
                      <a16:colId xmlns:a16="http://schemas.microsoft.com/office/drawing/2014/main" val="2034316489"/>
                    </a:ext>
                  </a:extLst>
                </a:gridCol>
                <a:gridCol w="1142701">
                  <a:extLst>
                    <a:ext uri="{9D8B030D-6E8A-4147-A177-3AD203B41FA5}">
                      <a16:colId xmlns:a16="http://schemas.microsoft.com/office/drawing/2014/main" val="2781202542"/>
                    </a:ext>
                  </a:extLst>
                </a:gridCol>
              </a:tblGrid>
              <a:tr h="314325">
                <a:tc>
                  <a:txBody>
                    <a:bodyPr/>
                    <a:lstStyle/>
                    <a:p>
                      <a:pPr lvl="0" algn="ctr">
                        <a:buNone/>
                      </a:pPr>
                      <a:r>
                        <a:rPr lang="en-US" sz="1400" b="1" i="0" u="none" strike="noStrike" noProof="0">
                          <a:solidFill>
                            <a:srgbClr val="FFFFFF"/>
                          </a:solidFill>
                          <a:effectLst/>
                          <a:latin typeface="NVIDIA Sans"/>
                        </a:rPr>
                        <a:t>Use Case</a:t>
                      </a:r>
                      <a:endParaRPr lang="en-US"/>
                    </a:p>
                  </a:txBody>
                  <a:tcPr marL="95249" marR="95249" marT="95249" marB="95249" anchor="ctr">
                    <a:lnL w="19050">
                      <a:solidFill>
                        <a:srgbClr val="000000"/>
                      </a:solidFill>
                    </a:lnL>
                    <a:lnR w="19050">
                      <a:solidFill>
                        <a:srgbClr val="000000"/>
                      </a:solidFill>
                    </a:lnR>
                    <a:lnT w="19050">
                      <a:solidFill>
                        <a:srgbClr val="000000"/>
                      </a:solidFill>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algn="ctr" rtl="0" fontAlgn="ctr">
                        <a:buNone/>
                      </a:pPr>
                      <a:r>
                        <a:rPr lang="en-US" sz="1400" b="1">
                          <a:solidFill>
                            <a:srgbClr val="FFFFFF"/>
                          </a:solidFill>
                          <a:effectLst/>
                          <a:latin typeface="NVIDIA Sans"/>
                        </a:rPr>
                        <a:t>Model</a:t>
                      </a:r>
                      <a:endParaRPr lang="en-US" sz="14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algn="ctr" rtl="0" fontAlgn="ctr">
                        <a:buNone/>
                      </a:pPr>
                      <a:r>
                        <a:rPr lang="en-US" sz="1400" b="1">
                          <a:solidFill>
                            <a:srgbClr val="FFFFFF"/>
                          </a:solidFill>
                          <a:effectLst/>
                          <a:latin typeface="NVIDIA Sans"/>
                        </a:rPr>
                        <a:t>Released</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algn="ctr" rtl="0" fontAlgn="ctr">
                        <a:buNone/>
                      </a:pPr>
                      <a:r>
                        <a:rPr lang="en-US" sz="1400" b="1">
                          <a:solidFill>
                            <a:srgbClr val="FFFFFF"/>
                          </a:solidFill>
                          <a:effectLst/>
                          <a:latin typeface="NVIDIA Sans"/>
                        </a:rPr>
                        <a:t>Use Case</a:t>
                      </a:r>
                      <a:endParaRPr lang="en-US" sz="14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algn="ctr" rtl="0" fontAlgn="ctr">
                        <a:buNone/>
                      </a:pPr>
                      <a:r>
                        <a:rPr lang="en-US" sz="1400" b="1">
                          <a:solidFill>
                            <a:srgbClr val="FFFFFF"/>
                          </a:solidFill>
                          <a:effectLst/>
                          <a:latin typeface="NVIDIA Sans"/>
                        </a:rPr>
                        <a:t>Learn</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lvl="0" algn="ctr">
                        <a:buNone/>
                      </a:pPr>
                      <a:r>
                        <a:rPr lang="en-US" sz="1400" b="1">
                          <a:solidFill>
                            <a:srgbClr val="FFFFFF"/>
                          </a:solidFill>
                          <a:effectLst/>
                          <a:latin typeface="NVIDIA Sans"/>
                        </a:rPr>
                        <a:t>Model &amp; Dataset</a:t>
                      </a:r>
                      <a:endParaRPr lang="en-US"/>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bg1">
                        <a:lumMod val="85000"/>
                        <a:lumOff val="15000"/>
                      </a:schemeClr>
                    </a:solidFill>
                  </a:tcPr>
                </a:tc>
                <a:tc>
                  <a:txBody>
                    <a:bodyPr/>
                    <a:lstStyle/>
                    <a:p>
                      <a:pPr lvl="0" algn="ctr">
                        <a:buNone/>
                      </a:pPr>
                      <a:r>
                        <a:rPr lang="en-US" sz="1400" b="1">
                          <a:solidFill>
                            <a:srgbClr val="FFFFFF"/>
                          </a:solidFill>
                          <a:effectLst/>
                          <a:latin typeface="NVIDIA Sans"/>
                        </a:rPr>
                        <a:t>NIM</a:t>
                      </a:r>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chemeClr val="bg1">
                        <a:lumMod val="85000"/>
                        <a:lumOff val="15000"/>
                      </a:schemeClr>
                    </a:solidFill>
                  </a:tcPr>
                </a:tc>
                <a:extLst>
                  <a:ext uri="{0D108BD9-81ED-4DB2-BD59-A6C34878D82A}">
                    <a16:rowId xmlns:a16="http://schemas.microsoft.com/office/drawing/2014/main" val="2309374590"/>
                  </a:ext>
                </a:extLst>
              </a:tr>
              <a:tr h="523875">
                <a:tc>
                  <a:txBody>
                    <a:bodyPr/>
                    <a:lstStyle/>
                    <a:p>
                      <a:pPr lvl="0" algn="ctr">
                        <a:buNone/>
                      </a:pPr>
                      <a:r>
                        <a:rPr lang="en-US" sz="1000" i="0">
                          <a:solidFill>
                            <a:srgbClr val="595959"/>
                          </a:solidFill>
                          <a:effectLst/>
                          <a:latin typeface="NVIDIA Sans"/>
                        </a:rPr>
                        <a:t>Topic Control</a:t>
                      </a:r>
                    </a:p>
                  </a:txBody>
                  <a:tcPr marL="95249" marR="95249" marT="95249" marB="95249" anchor="ctr">
                    <a:lnL w="19050">
                      <a:solidFill>
                        <a:srgbClr val="000000"/>
                      </a:solidFill>
                    </a:lnL>
                    <a:lnR w="19050">
                      <a:solidFill>
                        <a:srgbClr val="000000"/>
                      </a:solid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b="1" dirty="0">
                          <a:solidFill>
                            <a:schemeClr val="bg1"/>
                          </a:solidFill>
                          <a:effectLst/>
                          <a:latin typeface="NVIDIA Sans"/>
                        </a:rPr>
                        <a:t>Llama </a:t>
                      </a:r>
                      <a:r>
                        <a:rPr lang="en-US" sz="1000" b="1" dirty="0" err="1">
                          <a:solidFill>
                            <a:schemeClr val="bg1"/>
                          </a:solidFill>
                          <a:effectLst/>
                          <a:latin typeface="NVIDIA Sans"/>
                        </a:rPr>
                        <a:t>Nemotron</a:t>
                      </a:r>
                      <a:r>
                        <a:rPr lang="en-US" sz="1000" b="1" dirty="0">
                          <a:solidFill>
                            <a:schemeClr val="bg1"/>
                          </a:solidFill>
                          <a:effectLst/>
                          <a:latin typeface="NVIDIA Sans"/>
                        </a:rPr>
                        <a:t> Topic Control </a:t>
                      </a:r>
                      <a:endParaRPr lang="en-US" sz="1000" dirty="0">
                        <a:solidFill>
                          <a:schemeClr val="bg1"/>
                        </a:solidFill>
                        <a:effectLst/>
                        <a:latin typeface="NVIDIA Sans"/>
                      </a:endParaRPr>
                    </a:p>
                    <a:p>
                      <a:pPr algn="ctr" rtl="0" fontAlgn="ctr">
                        <a:buNone/>
                      </a:pPr>
                      <a:r>
                        <a:rPr lang="en-US" sz="1000" i="1">
                          <a:solidFill>
                            <a:srgbClr val="595959"/>
                          </a:solidFill>
                          <a:effectLst/>
                          <a:latin typeface="NVIDIA Sans"/>
                        </a:rPr>
                        <a:t>llama-3.1-nemoguard-8b-topic-control</a:t>
                      </a:r>
                      <a:endParaRPr lang="en-US" sz="10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b="1">
                          <a:solidFill>
                            <a:schemeClr val="bg1"/>
                          </a:solidFill>
                          <a:effectLst/>
                          <a:latin typeface="NVIDIA Sans"/>
                        </a:rPr>
                        <a:t>Jan '25</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a:solidFill>
                            <a:schemeClr val="bg1"/>
                          </a:solidFill>
                          <a:effectLst/>
                          <a:latin typeface="NVIDIA Sans"/>
                        </a:rPr>
                        <a:t>Keep model responses constrained to an approved topic set and prevent off‑topic or unsafe deviations.</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u="sng" strike="noStrike" dirty="0">
                          <a:solidFill>
                            <a:srgbClr val="0097A7"/>
                          </a:solidFill>
                          <a:effectLst/>
                          <a:latin typeface="NVIDIA Sans"/>
                          <a:hlinkClick r:id="rId3"/>
                        </a:rPr>
                        <a:t>Blog</a:t>
                      </a:r>
                      <a:endParaRPr lang="en-US" sz="1000" dirty="0">
                        <a:effectLst/>
                        <a:latin typeface="NVIDIA Sans"/>
                      </a:endParaRPr>
                    </a:p>
                    <a:p>
                      <a:pPr algn="ctr" rtl="0" fontAlgn="ctr">
                        <a:buNone/>
                      </a:pPr>
                      <a:r>
                        <a:rPr lang="en-US" sz="1000" dirty="0">
                          <a:solidFill>
                            <a:schemeClr val="bg1"/>
                          </a:solidFill>
                          <a:effectLst/>
                          <a:latin typeface="NVIDIA Sans"/>
                          <a:hlinkClick r:id="rId4"/>
                        </a:rPr>
                        <a:t>Research Paper</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a:effectLst/>
                          <a:latin typeface="NVIDIA Sans"/>
                        </a:rPr>
                        <a:t>Hugging Face</a:t>
                      </a:r>
                    </a:p>
                    <a:p>
                      <a:pPr algn="ctr" rtl="0" fontAlgn="ctr">
                        <a:buNone/>
                      </a:pPr>
                      <a:r>
                        <a:rPr lang="en-US" sz="1000" u="sng" strike="noStrike" dirty="0">
                          <a:solidFill>
                            <a:srgbClr val="0097A7"/>
                          </a:solidFill>
                          <a:effectLst/>
                          <a:latin typeface="NVIDIA Sans"/>
                          <a:hlinkClick r:id="rId5"/>
                        </a:rPr>
                        <a:t>Model</a:t>
                      </a:r>
                    </a:p>
                    <a:p>
                      <a:pPr algn="ctr" rtl="0" fontAlgn="ctr">
                        <a:buNone/>
                      </a:pPr>
                      <a:r>
                        <a:rPr lang="en-US" sz="1000" dirty="0">
                          <a:solidFill>
                            <a:schemeClr val="bg1"/>
                          </a:solidFill>
                          <a:effectLst/>
                          <a:latin typeface="NVIDIA Sans"/>
                          <a:hlinkClick r:id="rId6"/>
                        </a:rPr>
                        <a:t>Dataset</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b="0" i="0" u="none" strike="noStrike" noProof="0" dirty="0">
                          <a:solidFill>
                            <a:srgbClr val="0097A7"/>
                          </a:solidFill>
                          <a:effectLst/>
                          <a:latin typeface="NVIDIA Sans"/>
                          <a:hlinkClick r:id="rId7"/>
                        </a:rPr>
                        <a:t>NVIDIA NIM</a:t>
                      </a:r>
                      <a:endParaRPr lang="en-US" dirty="0"/>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extLst>
                  <a:ext uri="{0D108BD9-81ED-4DB2-BD59-A6C34878D82A}">
                    <a16:rowId xmlns:a16="http://schemas.microsoft.com/office/drawing/2014/main" val="2173130086"/>
                  </a:ext>
                </a:extLst>
              </a:tr>
              <a:tr h="457200">
                <a:tc>
                  <a:txBody>
                    <a:bodyPr/>
                    <a:lstStyle/>
                    <a:p>
                      <a:pPr lvl="0" algn="ctr">
                        <a:buNone/>
                      </a:pPr>
                      <a:r>
                        <a:rPr lang="en-US" sz="1000" i="0">
                          <a:solidFill>
                            <a:srgbClr val="595959"/>
                          </a:solidFill>
                          <a:effectLst/>
                          <a:latin typeface="NVIDIA Sans"/>
                        </a:rPr>
                        <a:t>Jailbreak Detection</a:t>
                      </a:r>
                    </a:p>
                  </a:txBody>
                  <a:tcPr marL="95249" marR="95249" marT="95249" marB="95249" anchor="ctr">
                    <a:lnL w="19050">
                      <a:solidFill>
                        <a:srgbClr val="000000"/>
                      </a:solidFill>
                    </a:lnL>
                    <a:lnR w="19050">
                      <a:solidFill>
                        <a:srgbClr val="000000"/>
                      </a:solid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b="1" dirty="0" err="1">
                          <a:solidFill>
                            <a:schemeClr val="bg1"/>
                          </a:solidFill>
                          <a:effectLst/>
                          <a:latin typeface="NVIDIA Sans"/>
                        </a:rPr>
                        <a:t>Nemotron</a:t>
                      </a:r>
                      <a:r>
                        <a:rPr lang="en-US" sz="1000" b="1" dirty="0">
                          <a:solidFill>
                            <a:schemeClr val="bg1"/>
                          </a:solidFill>
                          <a:effectLst/>
                          <a:latin typeface="NVIDIA Sans"/>
                        </a:rPr>
                        <a:t> Jailbreak Detect</a:t>
                      </a:r>
                      <a:endParaRPr lang="en-US" sz="1000" dirty="0">
                        <a:solidFill>
                          <a:schemeClr val="bg1"/>
                        </a:solidFill>
                        <a:effectLst/>
                        <a:latin typeface="NVIDIA Sans"/>
                      </a:endParaRPr>
                    </a:p>
                    <a:p>
                      <a:pPr algn="ctr" rtl="0" fontAlgn="ctr">
                        <a:buNone/>
                      </a:pPr>
                      <a:r>
                        <a:rPr lang="en-US" sz="1000" i="1" dirty="0" err="1">
                          <a:solidFill>
                            <a:srgbClr val="595959"/>
                          </a:solidFill>
                          <a:effectLst/>
                          <a:latin typeface="NVIDIA Sans"/>
                        </a:rPr>
                        <a:t>nemoguard</a:t>
                      </a:r>
                      <a:r>
                        <a:rPr lang="en-US" sz="1000" i="1" dirty="0">
                          <a:solidFill>
                            <a:srgbClr val="595959"/>
                          </a:solidFill>
                          <a:effectLst/>
                          <a:latin typeface="NVIDIA Sans"/>
                        </a:rPr>
                        <a:t>-jailbreak-detect</a:t>
                      </a:r>
                      <a:endParaRPr lang="en-US" sz="1000" dirty="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b="1">
                          <a:solidFill>
                            <a:schemeClr val="bg1"/>
                          </a:solidFill>
                          <a:effectLst/>
                          <a:latin typeface="NVIDIA Sans"/>
                        </a:rPr>
                        <a:t>Jan '25</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a:solidFill>
                            <a:schemeClr val="bg1"/>
                          </a:solidFill>
                          <a:effectLst/>
                          <a:latin typeface="NVIDIA Sans"/>
                        </a:rPr>
                        <a:t>Detect adversarial or jailbreak prompts to block unsafe or policy‑violating model behavior.</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u="sng" strike="noStrike" dirty="0">
                          <a:solidFill>
                            <a:srgbClr val="0097A7"/>
                          </a:solidFill>
                          <a:effectLst/>
                          <a:latin typeface="NVIDIA Sans"/>
                          <a:hlinkClick r:id="rId3"/>
                        </a:rPr>
                        <a:t>Blog</a:t>
                      </a:r>
                      <a:endParaRPr lang="en-US" sz="1000" dirty="0">
                        <a:effectLst/>
                        <a:latin typeface="NVIDIA Sans"/>
                      </a:endParaRPr>
                    </a:p>
                    <a:p>
                      <a:pPr algn="ctr" rtl="0" fontAlgn="ctr">
                        <a:buNone/>
                      </a:pPr>
                      <a:r>
                        <a:rPr lang="en-US" sz="1000" dirty="0">
                          <a:solidFill>
                            <a:schemeClr val="bg1"/>
                          </a:solidFill>
                          <a:effectLst/>
                          <a:latin typeface="NVIDIA Sans"/>
                          <a:hlinkClick r:id="rId4"/>
                        </a:rPr>
                        <a:t>Research Paper</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u="sng" strike="noStrike" dirty="0">
                          <a:solidFill>
                            <a:srgbClr val="0097A7"/>
                          </a:solidFill>
                          <a:effectLst/>
                          <a:latin typeface="NVIDIA Sans"/>
                          <a:hlinkClick r:id="rId8"/>
                        </a:rPr>
                        <a:t>Model</a:t>
                      </a:r>
                      <a:endParaRPr lang="en-US" dirty="0"/>
                    </a:p>
                    <a:p>
                      <a:pPr lvl="0" algn="ctr">
                        <a:buNone/>
                      </a:pPr>
                      <a:r>
                        <a:rPr lang="en-US" sz="1000" dirty="0">
                          <a:solidFill>
                            <a:schemeClr val="bg1"/>
                          </a:solidFill>
                          <a:effectLst/>
                          <a:latin typeface="NVIDIA Sans"/>
                          <a:hlinkClick r:id="rId9"/>
                        </a:rPr>
                        <a:t>Dataset</a:t>
                      </a:r>
                      <a:endParaRPr lang="en-US" dirty="0"/>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lvl="0" algn="ctr">
                        <a:buNone/>
                      </a:pPr>
                      <a:r>
                        <a:rPr lang="en-US" sz="1000" b="0" i="0" u="none" strike="noStrike" noProof="0" dirty="0">
                          <a:solidFill>
                            <a:srgbClr val="0097A7"/>
                          </a:solidFill>
                          <a:effectLst/>
                          <a:latin typeface="NVIDIA Sans"/>
                          <a:hlinkClick r:id="rId10"/>
                        </a:rPr>
                        <a:t>NVIDIA NIM</a:t>
                      </a:r>
                      <a:endParaRPr lang="en-US" dirty="0"/>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chemeClr val="tx1">
                        <a:lumMod val="95000"/>
                      </a:schemeClr>
                    </a:solidFill>
                  </a:tcPr>
                </a:tc>
                <a:extLst>
                  <a:ext uri="{0D108BD9-81ED-4DB2-BD59-A6C34878D82A}">
                    <a16:rowId xmlns:a16="http://schemas.microsoft.com/office/drawing/2014/main" val="2185247833"/>
                  </a:ext>
                </a:extLst>
              </a:tr>
              <a:tr h="523874">
                <a:tc rowSpan="3">
                  <a:txBody>
                    <a:bodyPr/>
                    <a:lstStyle/>
                    <a:p>
                      <a:pPr lvl="0" algn="ctr">
                        <a:buNone/>
                      </a:pPr>
                      <a:r>
                        <a:rPr lang="en-US" sz="1000" i="0">
                          <a:solidFill>
                            <a:srgbClr val="595959"/>
                          </a:solidFill>
                          <a:effectLst/>
                          <a:latin typeface="NVIDIA Sans"/>
                        </a:rPr>
                        <a:t>Content Safety</a:t>
                      </a:r>
                    </a:p>
                  </a:txBody>
                  <a:tcPr marL="95249" marR="95249" marT="95249" marB="95249" anchor="ctr">
                    <a:lnL w="19050">
                      <a:solidFill>
                        <a:srgbClr val="000000"/>
                      </a:solidFill>
                    </a:lnL>
                    <a:lnR w="19050">
                      <a:solidFill>
                        <a:srgbClr val="000000"/>
                      </a:solid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b="1" dirty="0">
                          <a:solidFill>
                            <a:schemeClr val="bg1"/>
                          </a:solidFill>
                          <a:effectLst/>
                          <a:latin typeface="NVIDIA Sans"/>
                        </a:rPr>
                        <a:t>Llama </a:t>
                      </a:r>
                      <a:r>
                        <a:rPr lang="en-US" sz="1000" b="1" dirty="0" err="1">
                          <a:solidFill>
                            <a:schemeClr val="bg1"/>
                          </a:solidFill>
                          <a:effectLst/>
                          <a:latin typeface="NVIDIA Sans"/>
                        </a:rPr>
                        <a:t>Nemotron</a:t>
                      </a:r>
                      <a:r>
                        <a:rPr lang="en-US" sz="1000" b="1" dirty="0">
                          <a:solidFill>
                            <a:schemeClr val="bg1"/>
                          </a:solidFill>
                          <a:effectLst/>
                          <a:latin typeface="NVIDIA Sans"/>
                        </a:rPr>
                        <a:t> Content Safety</a:t>
                      </a:r>
                      <a:endParaRPr lang="en-US" sz="1000" dirty="0">
                        <a:solidFill>
                          <a:schemeClr val="bg1"/>
                        </a:solidFill>
                        <a:effectLst/>
                        <a:latin typeface="NVIDIA Sans"/>
                      </a:endParaRPr>
                    </a:p>
                    <a:p>
                      <a:pPr algn="ctr" rtl="0" fontAlgn="ctr">
                        <a:buNone/>
                      </a:pPr>
                      <a:r>
                        <a:rPr lang="en-US" sz="1000" i="1">
                          <a:solidFill>
                            <a:srgbClr val="595959"/>
                          </a:solidFill>
                          <a:effectLst/>
                          <a:latin typeface="NVIDIA Sans"/>
                        </a:rPr>
                        <a:t>llama-3.1-nemotron-safety-guard-8b-v3</a:t>
                      </a:r>
                      <a:endParaRPr lang="en-US" sz="10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b="1">
                          <a:solidFill>
                            <a:schemeClr val="bg1"/>
                          </a:solidFill>
                          <a:effectLst/>
                          <a:latin typeface="NVIDIA Sans"/>
                        </a:rPr>
                        <a:t>Oct '25</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a:solidFill>
                            <a:schemeClr val="bg1"/>
                          </a:solidFill>
                          <a:effectLst/>
                          <a:latin typeface="NVIDIA Sans"/>
                        </a:rPr>
                        <a:t>Classify user or model text for safety categories (toxicity, hate, violence, sexual content) across multiple languages.</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u="sng" strike="noStrike" dirty="0">
                          <a:solidFill>
                            <a:srgbClr val="0097A7"/>
                          </a:solidFill>
                          <a:effectLst/>
                          <a:latin typeface="NVIDIA Sans"/>
                          <a:hlinkClick r:id="rId11"/>
                        </a:rPr>
                        <a:t>Blog</a:t>
                      </a:r>
                      <a:endParaRPr lang="en-US" sz="1000" dirty="0">
                        <a:effectLst/>
                        <a:latin typeface="NVIDIA Sans"/>
                      </a:endParaRPr>
                    </a:p>
                    <a:p>
                      <a:pPr algn="ctr" rtl="0" fontAlgn="ctr">
                        <a:buNone/>
                      </a:pPr>
                      <a:r>
                        <a:rPr lang="en-US" sz="1000" dirty="0">
                          <a:solidFill>
                            <a:schemeClr val="bg1"/>
                          </a:solidFill>
                          <a:effectLst/>
                          <a:latin typeface="NVIDIA Sans"/>
                          <a:hlinkClick r:id="rId4"/>
                        </a:rPr>
                        <a:t>Research Paper</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a:effectLst/>
                          <a:latin typeface="NVIDIA Sans"/>
                        </a:rPr>
                        <a:t>Hugging Face</a:t>
                      </a:r>
                    </a:p>
                    <a:p>
                      <a:pPr lvl="0" algn="ctr">
                        <a:buNone/>
                      </a:pPr>
                      <a:r>
                        <a:rPr lang="en-US" sz="1000" u="sng" strike="noStrike" dirty="0">
                          <a:solidFill>
                            <a:srgbClr val="0097A7"/>
                          </a:solidFill>
                          <a:effectLst/>
                          <a:latin typeface="NVIDIA Sans"/>
                          <a:hlinkClick r:id="rId12"/>
                        </a:rPr>
                        <a:t>Model</a:t>
                      </a:r>
                      <a:endParaRPr lang="en-US" dirty="0"/>
                    </a:p>
                    <a:p>
                      <a:pPr algn="ctr" rtl="0" fontAlgn="ctr">
                        <a:buNone/>
                      </a:pPr>
                      <a:r>
                        <a:rPr lang="en-US" sz="1000" dirty="0">
                          <a:solidFill>
                            <a:schemeClr val="bg1"/>
                          </a:solidFill>
                          <a:effectLst/>
                          <a:latin typeface="NVIDIA Sans"/>
                          <a:hlinkClick r:id="rId13"/>
                        </a:rPr>
                        <a:t>Dataset</a:t>
                      </a:r>
                      <a:r>
                        <a:rPr lang="en-US" sz="1000" dirty="0">
                          <a:solidFill>
                            <a:schemeClr val="bg1"/>
                          </a:solidFill>
                          <a:effectLst/>
                          <a:latin typeface="NVIDIA Sans"/>
                        </a:rPr>
                        <a:t> </a:t>
                      </a:r>
                      <a:r>
                        <a:rPr lang="en-US" sz="1000">
                          <a:solidFill>
                            <a:schemeClr val="tx2"/>
                          </a:solidFill>
                          <a:effectLst/>
                          <a:latin typeface="NVIDIA Sans"/>
                        </a:rPr>
                        <a:t>v1</a:t>
                      </a:r>
                      <a:endParaRPr lang="en-US" sz="1000">
                        <a:solidFill>
                          <a:schemeClr val="tx2"/>
                        </a:solidFill>
                        <a:effectLst/>
                        <a:latin typeface="NVIDIA Sans"/>
                        <a:hlinkClick r:id="rId14">
                          <a:extLst>
                            <a:ext uri="{A12FA001-AC4F-418D-AE19-62706E023703}">
                              <ahyp:hlinkClr xmlns:ahyp="http://schemas.microsoft.com/office/drawing/2018/hyperlinkcolor" val="tx"/>
                            </a:ext>
                          </a:extLst>
                        </a:hlinkClick>
                      </a:endParaRPr>
                    </a:p>
                    <a:p>
                      <a:pPr lvl="0" algn="ctr">
                        <a:buNone/>
                      </a:pPr>
                      <a:r>
                        <a:rPr lang="en-US" sz="1000" dirty="0">
                          <a:solidFill>
                            <a:schemeClr val="tx2"/>
                          </a:solidFill>
                          <a:effectLst/>
                          <a:latin typeface="NVIDIA Sans"/>
                          <a:hlinkClick r:id="rId14">
                            <a:extLst>
                              <a:ext uri="{A12FA001-AC4F-418D-AE19-62706E023703}">
                                <ahyp:hlinkClr xmlns:ahyp="http://schemas.microsoft.com/office/drawing/2018/hyperlinkcolor" val="tx"/>
                              </a:ext>
                            </a:extLst>
                          </a:hlinkClick>
                        </a:rPr>
                        <a:t>Dataset</a:t>
                      </a:r>
                      <a:r>
                        <a:rPr lang="en-US" sz="1000">
                          <a:solidFill>
                            <a:schemeClr val="tx2"/>
                          </a:solidFill>
                          <a:effectLst/>
                          <a:latin typeface="NVIDIA Sans"/>
                        </a:rPr>
                        <a:t> v2</a:t>
                      </a:r>
                      <a:endParaRPr lang="en-US">
                        <a:solidFill>
                          <a:schemeClr val="tx2"/>
                        </a:solidFill>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b="0" i="0" u="none" strike="noStrike" noProof="0" dirty="0">
                          <a:solidFill>
                            <a:srgbClr val="0097A7"/>
                          </a:solidFill>
                          <a:effectLst/>
                          <a:latin typeface="NVIDIA Sans"/>
                          <a:hlinkClick r:id="rId10"/>
                        </a:rPr>
                        <a:t>NVIDIA NIM</a:t>
                      </a:r>
                      <a:endParaRPr lang="en-US" dirty="0"/>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extLst>
                  <a:ext uri="{0D108BD9-81ED-4DB2-BD59-A6C34878D82A}">
                    <a16:rowId xmlns:a16="http://schemas.microsoft.com/office/drawing/2014/main" val="3301420619"/>
                  </a:ext>
                </a:extLst>
              </a:tr>
              <a:tr h="457200">
                <a:tc vMerge="1">
                  <a:txBody>
                    <a:bodyPr/>
                    <a:lstStyle/>
                    <a:p>
                      <a:endParaRPr lang="en-US"/>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tc>
                  <a:txBody>
                    <a:bodyPr/>
                    <a:lstStyle/>
                    <a:p>
                      <a:pPr lvl="0" algn="ctr" rtl="0">
                        <a:buNone/>
                      </a:pPr>
                      <a:r>
                        <a:rPr lang="en-US" sz="1000" b="1" dirty="0" err="1">
                          <a:solidFill>
                            <a:schemeClr val="bg1"/>
                          </a:solidFill>
                          <a:effectLst/>
                          <a:latin typeface="NVIDIA Sans"/>
                        </a:rPr>
                        <a:t>Nemotron</a:t>
                      </a:r>
                      <a:r>
                        <a:rPr lang="en-US" sz="1000" b="1" dirty="0">
                          <a:solidFill>
                            <a:schemeClr val="bg1"/>
                          </a:solidFill>
                          <a:effectLst/>
                          <a:latin typeface="NVIDIA Sans"/>
                        </a:rPr>
                        <a:t> Content Safety Reasoning</a:t>
                      </a:r>
                      <a:endParaRPr lang="en-US" sz="1000" dirty="0">
                        <a:solidFill>
                          <a:schemeClr val="bg1"/>
                        </a:solidFill>
                        <a:effectLst/>
                        <a:latin typeface="NVIDIA Sans"/>
                      </a:endParaRPr>
                    </a:p>
                    <a:p>
                      <a:pPr lvl="0" algn="ctr" rtl="0">
                        <a:buNone/>
                      </a:pPr>
                      <a:r>
                        <a:rPr lang="en-US" sz="1000" i="1">
                          <a:solidFill>
                            <a:srgbClr val="595959"/>
                          </a:solidFill>
                          <a:effectLst/>
                          <a:latin typeface="NVIDIA Sans"/>
                        </a:rPr>
                        <a:t>nemotron-content-safety-reasoning-4b</a:t>
                      </a:r>
                      <a:endParaRPr lang="en-US" sz="10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b="1">
                          <a:solidFill>
                            <a:schemeClr val="bg1"/>
                          </a:solidFill>
                          <a:effectLst/>
                          <a:latin typeface="NVIDIA Sans"/>
                        </a:rPr>
                        <a:t>Nov '25</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a:solidFill>
                            <a:schemeClr val="bg1"/>
                          </a:solidFill>
                          <a:effectLst/>
                          <a:latin typeface="NVIDIA Sans"/>
                        </a:rPr>
                        <a:t>Apply reasoning‑based safety judgments to interpret complex scenarios and enforce domain‑specific safety policies.</a:t>
                      </a:r>
                      <a:endParaRPr lang="en-US"/>
                    </a:p>
                    <a:p>
                      <a:pPr lvl="0">
                        <a:buNone/>
                      </a:pPr>
                      <a:br>
                        <a:rPr lang="en-US" dirty="0">
                          <a:effectLst/>
                        </a:rPr>
                      </a:br>
                      <a:endParaRPr lang="en-US" sz="1000" dirty="0">
                        <a:solidFill>
                          <a:schemeClr val="bg1"/>
                        </a:solidFill>
                        <a:effectLst/>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u="sng" strike="noStrike" dirty="0">
                          <a:solidFill>
                            <a:srgbClr val="0097A7"/>
                          </a:solidFill>
                          <a:effectLst/>
                          <a:latin typeface="NVIDIA Sans"/>
                          <a:hlinkClick r:id="rId15"/>
                        </a:rPr>
                        <a:t>Blog</a:t>
                      </a:r>
                      <a:r>
                        <a:rPr lang="en-US" sz="1000">
                          <a:effectLst/>
                          <a:latin typeface="NVIDIA Sans"/>
                        </a:rPr>
                        <a:t>,</a:t>
                      </a:r>
                      <a:endParaRPr lang="en-US"/>
                    </a:p>
                    <a:p>
                      <a:pPr lvl="0" algn="ctr" rtl="0">
                        <a:buNone/>
                      </a:pPr>
                      <a:r>
                        <a:rPr lang="en-US" sz="1000" dirty="0">
                          <a:effectLst/>
                          <a:latin typeface="NVIDIA Sans"/>
                        </a:rPr>
                        <a:t> </a:t>
                      </a:r>
                      <a:r>
                        <a:rPr lang="en-US" sz="1000" u="sng" strike="noStrike" dirty="0">
                          <a:solidFill>
                            <a:srgbClr val="0097A7"/>
                          </a:solidFill>
                          <a:effectLst/>
                          <a:latin typeface="NVIDIA Sans"/>
                          <a:hlinkClick r:id="rId16"/>
                        </a:rPr>
                        <a:t>Technical Blog</a:t>
                      </a:r>
                      <a:endParaRPr lang="en-US" sz="1000" dirty="0">
                        <a:effectLst/>
                        <a:latin typeface="NVIDIA Sans"/>
                      </a:endParaRPr>
                    </a:p>
                    <a:p>
                      <a:pPr lvl="0" algn="ctr" rtl="0">
                        <a:buNone/>
                      </a:pPr>
                      <a:r>
                        <a:rPr lang="en-US" sz="1000" dirty="0">
                          <a:solidFill>
                            <a:schemeClr val="bg1"/>
                          </a:solidFill>
                          <a:effectLst/>
                          <a:latin typeface="NVIDIA Sans"/>
                          <a:hlinkClick r:id="rId17"/>
                        </a:rPr>
                        <a:t>Research Paper</a:t>
                      </a:r>
                      <a:endParaRPr lang="en-US" dirty="0"/>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u="sng" strike="noStrike" dirty="0">
                          <a:solidFill>
                            <a:srgbClr val="0097A7"/>
                          </a:solidFill>
                          <a:effectLst/>
                          <a:latin typeface="NVIDIA Sans"/>
                          <a:hlinkClick r:id="rId18"/>
                        </a:rPr>
                        <a:t>Hugging Face</a:t>
                      </a:r>
                      <a:endParaRPr lang="en-US" sz="1000" dirty="0">
                        <a:effectLst/>
                        <a:latin typeface="NVIDIA Sans"/>
                      </a:endParaRPr>
                    </a:p>
                    <a:p>
                      <a:pPr lvl="0" algn="ctr" rtl="0">
                        <a:buNone/>
                      </a:pPr>
                      <a:r>
                        <a:rPr lang="en-US" sz="1000" dirty="0">
                          <a:solidFill>
                            <a:schemeClr val="bg1"/>
                          </a:solidFill>
                          <a:effectLst/>
                          <a:latin typeface="NVIDIA Sans"/>
                          <a:hlinkClick r:id="rId19"/>
                        </a:rPr>
                        <a:t>Dataset</a:t>
                      </a:r>
                      <a:endParaRPr lang="en-US" dirty="0"/>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dirty="0">
                          <a:solidFill>
                            <a:schemeClr val="bg1"/>
                          </a:solidFill>
                          <a:effectLst/>
                          <a:latin typeface="NVIDIA Sans"/>
                          <a:hlinkClick r:id="rId20"/>
                        </a:rPr>
                        <a:t>NVIDIA NIM</a:t>
                      </a:r>
                      <a:endParaRPr lang="en-US" sz="1000" dirty="0">
                        <a:solidFill>
                          <a:schemeClr val="bg1"/>
                        </a:solidFill>
                        <a:effectLst/>
                        <a:latin typeface="NVIDIA Sans"/>
                      </a:endParaRPr>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extLst>
                  <a:ext uri="{0D108BD9-81ED-4DB2-BD59-A6C34878D82A}">
                    <a16:rowId xmlns:a16="http://schemas.microsoft.com/office/drawing/2014/main" val="2149618967"/>
                  </a:ext>
                </a:extLst>
              </a:tr>
              <a:tr h="457200">
                <a:tc vMerge="1">
                  <a:txBody>
                    <a:bodyPr/>
                    <a:lstStyle/>
                    <a:p>
                      <a:endParaRPr lang="en-US"/>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tc>
                  <a:txBody>
                    <a:bodyPr/>
                    <a:lstStyle/>
                    <a:p>
                      <a:pPr lvl="0" algn="ctr" rtl="0">
                        <a:buNone/>
                      </a:pPr>
                      <a:r>
                        <a:rPr lang="en-US" sz="1000" b="1" dirty="0" err="1">
                          <a:solidFill>
                            <a:schemeClr val="bg1"/>
                          </a:solidFill>
                          <a:effectLst/>
                          <a:latin typeface="NVIDIA Sans"/>
                        </a:rPr>
                        <a:t>Nemotron</a:t>
                      </a:r>
                      <a:r>
                        <a:rPr lang="en-US" sz="1000" b="1" dirty="0">
                          <a:solidFill>
                            <a:schemeClr val="bg1"/>
                          </a:solidFill>
                          <a:effectLst/>
                          <a:latin typeface="NVIDIA Sans"/>
                        </a:rPr>
                        <a:t> 3 Content Safety</a:t>
                      </a:r>
                      <a:endParaRPr lang="en-US" sz="1000" dirty="0">
                        <a:solidFill>
                          <a:schemeClr val="bg1"/>
                        </a:solidFill>
                        <a:effectLst/>
                        <a:latin typeface="NVIDIA Sans"/>
                      </a:endParaRPr>
                    </a:p>
                    <a:p>
                      <a:pPr lvl="0" algn="ctr" rtl="0">
                        <a:buNone/>
                      </a:pPr>
                      <a:r>
                        <a:rPr lang="en-US" sz="1000" i="1">
                          <a:solidFill>
                            <a:srgbClr val="595959"/>
                          </a:solidFill>
                          <a:effectLst/>
                          <a:latin typeface="NVIDIA Sans"/>
                        </a:rPr>
                        <a:t>nemotron-3-content-safety-4b</a:t>
                      </a:r>
                      <a:endParaRPr lang="en-US" sz="10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b="1">
                          <a:solidFill>
                            <a:schemeClr val="bg1"/>
                          </a:solidFill>
                          <a:effectLst/>
                          <a:latin typeface="NVIDIA Sans"/>
                        </a:rPr>
                        <a:t>Dec '25</a:t>
                      </a:r>
                      <a:endParaRPr lang="en-US" sz="1000">
                        <a:solidFill>
                          <a:schemeClr val="bg1"/>
                        </a:solidFill>
                        <a:effectLst/>
                        <a:latin typeface="NVIDIA Sans"/>
                      </a:endParaRPr>
                    </a:p>
                    <a:p>
                      <a:pPr lvl="0" algn="ctr" rtl="0">
                        <a:buNone/>
                      </a:pPr>
                      <a:r>
                        <a:rPr lang="en-US" sz="1000" i="1">
                          <a:solidFill>
                            <a:schemeClr val="bg1"/>
                          </a:solidFill>
                          <a:effectLst/>
                          <a:latin typeface="NVIDIA Sans"/>
                        </a:rPr>
                        <a:t>EA Only</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rtl="0">
                        <a:buNone/>
                      </a:pPr>
                      <a:r>
                        <a:rPr lang="en-US" sz="1000" dirty="0">
                          <a:solidFill>
                            <a:schemeClr val="bg1"/>
                          </a:solidFill>
                          <a:effectLst/>
                          <a:latin typeface="NVIDIA Sans"/>
                        </a:rPr>
                        <a:t>Detect unsafe, disallowed, or sensitive content in </a:t>
                      </a:r>
                      <a:r>
                        <a:rPr lang="en-US" sz="1000">
                          <a:solidFill>
                            <a:schemeClr val="bg1"/>
                          </a:solidFill>
                          <a:effectLst/>
                          <a:latin typeface="NVIDIA Sans"/>
                        </a:rPr>
                        <a:t>multilingual and multimodal</a:t>
                      </a:r>
                      <a:r>
                        <a:rPr lang="en-US" sz="1000" dirty="0">
                          <a:solidFill>
                            <a:schemeClr val="bg1"/>
                          </a:solidFill>
                          <a:effectLst/>
                          <a:latin typeface="NVIDIA Sans"/>
                        </a:rPr>
                        <a:t> inputs (text + images).</a:t>
                      </a:r>
                      <a:endParaRPr lang="en-US" dirty="0"/>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b="0" i="0" u="none" strike="noStrike" noProof="0">
                          <a:solidFill>
                            <a:schemeClr val="bg1"/>
                          </a:solidFill>
                          <a:effectLst/>
                          <a:latin typeface="NVIDIA Sans"/>
                        </a:rPr>
                        <a:t>Coming Soon</a:t>
                      </a:r>
                      <a:endParaRPr lang="en-US" sz="1000" b="0" i="0" u="none" strike="noStrike" noProof="0">
                        <a:solidFill>
                          <a:srgbClr val="FFFFFF"/>
                        </a:solidFill>
                        <a:effectLst/>
                        <a:latin typeface="NVIDIA Sans"/>
                      </a:endParaRPr>
                    </a:p>
                    <a:p>
                      <a:pPr lvl="0" algn="ctr">
                        <a:buNone/>
                      </a:pPr>
                      <a:r>
                        <a:rPr lang="en-US" sz="1000" b="0" i="0" u="none" strike="noStrike" noProof="0">
                          <a:solidFill>
                            <a:schemeClr val="bg1"/>
                          </a:solidFill>
                          <a:effectLst/>
                          <a:latin typeface="NVIDIA Sans"/>
                        </a:rPr>
                        <a:t>March '26</a:t>
                      </a:r>
                      <a:endParaRPr lang="en-US" b="0" i="0" u="none" strike="noStrike" noProof="0"/>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b="0" i="0" u="none" strike="noStrike" noProof="0">
                          <a:solidFill>
                            <a:schemeClr val="bg1"/>
                          </a:solidFill>
                          <a:effectLst/>
                          <a:latin typeface="NVIDIA Sans"/>
                        </a:rPr>
                        <a:t>Coming Soon</a:t>
                      </a:r>
                    </a:p>
                    <a:p>
                      <a:pPr lvl="0" algn="ctr">
                        <a:buNone/>
                      </a:pPr>
                      <a:r>
                        <a:rPr lang="en-US" sz="1000" b="0" i="0" u="none" strike="noStrike" noProof="0">
                          <a:solidFill>
                            <a:schemeClr val="bg1"/>
                          </a:solidFill>
                          <a:effectLst/>
                          <a:latin typeface="NVIDIA Sans"/>
                        </a:rPr>
                        <a:t>March '26</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lvl="0" algn="ctr">
                        <a:buNone/>
                      </a:pPr>
                      <a:r>
                        <a:rPr lang="en-US" sz="1000" b="0" i="0" u="none" strike="noStrike" noProof="0">
                          <a:solidFill>
                            <a:schemeClr val="bg1"/>
                          </a:solidFill>
                          <a:effectLst/>
                          <a:latin typeface="NVIDIA Sans"/>
                        </a:rPr>
                        <a:t>Post GTC - April</a:t>
                      </a:r>
                      <a:endParaRPr lang="en-US"/>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rgbClr val="FFFFFF"/>
                    </a:solidFill>
                  </a:tcPr>
                </a:tc>
                <a:extLst>
                  <a:ext uri="{0D108BD9-81ED-4DB2-BD59-A6C34878D82A}">
                    <a16:rowId xmlns:a16="http://schemas.microsoft.com/office/drawing/2014/main" val="2726615656"/>
                  </a:ext>
                </a:extLst>
              </a:tr>
              <a:tr h="457200">
                <a:tc>
                  <a:txBody>
                    <a:bodyPr/>
                    <a:lstStyle/>
                    <a:p>
                      <a:pPr lvl="0" algn="ctr">
                        <a:buNone/>
                      </a:pPr>
                      <a:r>
                        <a:rPr lang="en-US" sz="1000" i="0">
                          <a:solidFill>
                            <a:srgbClr val="595959"/>
                          </a:solidFill>
                          <a:effectLst/>
                          <a:latin typeface="NVIDIA Sans"/>
                        </a:rPr>
                        <a:t>PII</a:t>
                      </a:r>
                    </a:p>
                  </a:txBody>
                  <a:tcPr marL="95249" marR="95249" marT="95249" marB="95249" anchor="ctr">
                    <a:lnL w="19050">
                      <a:solidFill>
                        <a:srgbClr val="000000"/>
                      </a:solidFill>
                    </a:lnL>
                    <a:lnR w="19050">
                      <a:solidFill>
                        <a:srgbClr val="000000"/>
                      </a:solidFill>
                    </a:lnR>
                    <a:lnT w="19050" cap="flat" cmpd="sng" algn="ctr">
                      <a:solidFill>
                        <a:srgbClr val="000000"/>
                      </a:solidFill>
                      <a:prstDash val="solid"/>
                      <a:round/>
                      <a:headEnd type="none" w="med" len="med"/>
                      <a:tailEnd type="none" w="med" len="med"/>
                    </a:lnT>
                    <a:lnB w="19050">
                      <a:solidFill>
                        <a:srgbClr val="000000"/>
                      </a:solidFill>
                    </a:lnB>
                    <a:solidFill>
                      <a:schemeClr val="tx1">
                        <a:lumMod val="95000"/>
                      </a:schemeClr>
                    </a:solidFill>
                  </a:tcPr>
                </a:tc>
                <a:tc>
                  <a:txBody>
                    <a:bodyPr/>
                    <a:lstStyle/>
                    <a:p>
                      <a:pPr algn="ctr" rtl="0" fontAlgn="ctr">
                        <a:buNone/>
                      </a:pPr>
                      <a:r>
                        <a:rPr lang="en-US" sz="1000" b="1" dirty="0" err="1">
                          <a:solidFill>
                            <a:schemeClr val="bg1"/>
                          </a:solidFill>
                          <a:effectLst/>
                          <a:latin typeface="NVIDIA Sans"/>
                        </a:rPr>
                        <a:t>GLiNER</a:t>
                      </a:r>
                      <a:r>
                        <a:rPr lang="en-US" sz="1000" b="1" dirty="0">
                          <a:solidFill>
                            <a:schemeClr val="bg1"/>
                          </a:solidFill>
                          <a:effectLst/>
                          <a:latin typeface="NVIDIA Sans"/>
                        </a:rPr>
                        <a:t> PII</a:t>
                      </a:r>
                      <a:endParaRPr lang="en-US" dirty="0"/>
                    </a:p>
                    <a:p>
                      <a:pPr algn="ctr" rtl="0" fontAlgn="ctr">
                        <a:buNone/>
                      </a:pPr>
                      <a:r>
                        <a:rPr lang="en-US" sz="1000" i="1" err="1">
                          <a:solidFill>
                            <a:srgbClr val="595959"/>
                          </a:solidFill>
                          <a:effectLst/>
                          <a:latin typeface="NVIDIA Sans"/>
                        </a:rPr>
                        <a:t>gliner-pii</a:t>
                      </a:r>
                      <a:endParaRPr lang="en-US" sz="100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b="1">
                          <a:solidFill>
                            <a:schemeClr val="bg1"/>
                          </a:solidFill>
                          <a:effectLst/>
                          <a:latin typeface="NVIDIA Sans"/>
                        </a:rPr>
                        <a:t>Oct '25</a:t>
                      </a:r>
                      <a:endParaRPr lang="en-US" sz="1000">
                        <a:solidFill>
                          <a:schemeClr val="bg1"/>
                        </a:solidFill>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dirty="0">
                          <a:solidFill>
                            <a:schemeClr val="bg1"/>
                          </a:solidFill>
                          <a:effectLst/>
                          <a:latin typeface="NVIDIA Sans"/>
                        </a:rPr>
                        <a:t>Identify and label personal identifiable information so it can be redacted, masked, or handled securely.</a:t>
                      </a: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u="sng" strike="noStrike" dirty="0">
                          <a:solidFill>
                            <a:srgbClr val="0097A7"/>
                          </a:solidFill>
                          <a:effectLst/>
                          <a:latin typeface="NVIDIA Sans"/>
                          <a:hlinkClick r:id="rId21"/>
                        </a:rPr>
                        <a:t>Blog</a:t>
                      </a:r>
                      <a:endParaRPr lang="en-US" sz="1000" dirty="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algn="ctr" rtl="0" fontAlgn="ctr">
                        <a:buNone/>
                      </a:pPr>
                      <a:r>
                        <a:rPr lang="en-US" sz="1000" u="sng" strike="noStrike" dirty="0">
                          <a:solidFill>
                            <a:srgbClr val="0097A7"/>
                          </a:solidFill>
                          <a:effectLst/>
                          <a:latin typeface="NVIDIA Sans"/>
                          <a:hlinkClick r:id="rId22"/>
                        </a:rPr>
                        <a:t>Hugging Face</a:t>
                      </a:r>
                      <a:endParaRPr lang="en-US" sz="1000" dirty="0">
                        <a:effectLst/>
                        <a:latin typeface="NVIDIA Sans"/>
                      </a:endParaRPr>
                    </a:p>
                  </a:txBody>
                  <a:tcPr marL="95250" marR="95250" marT="95250" marB="9525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tx1">
                        <a:lumMod val="95000"/>
                      </a:schemeClr>
                    </a:solidFill>
                  </a:tcPr>
                </a:tc>
                <a:tc>
                  <a:txBody>
                    <a:bodyPr/>
                    <a:lstStyle/>
                    <a:p>
                      <a:pPr lvl="0" algn="ctr">
                        <a:buNone/>
                      </a:pPr>
                      <a:r>
                        <a:rPr lang="en-US" sz="1000" b="0" i="0" u="none" strike="noStrike" noProof="0">
                          <a:solidFill>
                            <a:schemeClr val="bg1"/>
                          </a:solidFill>
                          <a:effectLst/>
                          <a:latin typeface="NVIDIA Sans"/>
                        </a:rPr>
                        <a:t>Coming Soon</a:t>
                      </a:r>
                      <a:endParaRPr lang="en-US" sz="1000" b="0" i="0" u="none" strike="noStrike" noProof="0">
                        <a:solidFill>
                          <a:srgbClr val="FFFFFF"/>
                        </a:solidFill>
                        <a:effectLst/>
                        <a:latin typeface="NVIDIA Sans"/>
                      </a:endParaRPr>
                    </a:p>
                    <a:p>
                      <a:pPr lvl="0" algn="ctr">
                        <a:buNone/>
                      </a:pPr>
                      <a:r>
                        <a:rPr lang="en-US" sz="1000" b="0" i="0" u="none" strike="noStrike" noProof="0">
                          <a:solidFill>
                            <a:schemeClr val="bg1"/>
                          </a:solidFill>
                          <a:effectLst/>
                          <a:latin typeface="NVIDIA Sans"/>
                        </a:rPr>
                        <a:t>March '26</a:t>
                      </a:r>
                      <a:endParaRPr lang="en-US"/>
                    </a:p>
                  </a:txBody>
                  <a:tcPr marL="95249" marR="95249" marT="95249" marB="95249" anchor="ctr">
                    <a:lnL w="19050">
                      <a:solidFill>
                        <a:srgbClr val="000000"/>
                      </a:solidFill>
                    </a:lnL>
                    <a:lnR w="19050">
                      <a:solidFill>
                        <a:srgbClr val="000000"/>
                      </a:solidFill>
                    </a:lnR>
                    <a:lnT w="19050">
                      <a:solidFill>
                        <a:srgbClr val="000000"/>
                      </a:solidFill>
                    </a:lnT>
                    <a:lnB w="19050">
                      <a:solidFill>
                        <a:srgbClr val="000000"/>
                      </a:solidFill>
                    </a:lnB>
                    <a:solidFill>
                      <a:schemeClr val="tx1">
                        <a:lumMod val="95000"/>
                      </a:schemeClr>
                    </a:solidFill>
                  </a:tcPr>
                </a:tc>
                <a:extLst>
                  <a:ext uri="{0D108BD9-81ED-4DB2-BD59-A6C34878D82A}">
                    <a16:rowId xmlns:a16="http://schemas.microsoft.com/office/drawing/2014/main" val="3968591487"/>
                  </a:ext>
                </a:extLst>
              </a:tr>
            </a:tbl>
          </a:graphicData>
        </a:graphic>
      </p:graphicFrame>
      <p:sp>
        <p:nvSpPr>
          <p:cNvPr id="7" name="Text Placeholder 3">
            <a:extLst>
              <a:ext uri="{FF2B5EF4-FFF2-40B4-BE49-F238E27FC236}">
                <a16:creationId xmlns:a16="http://schemas.microsoft.com/office/drawing/2014/main" id="{1D47D082-56C9-FA89-3AF1-0B969DEC2DC0}"/>
              </a:ext>
            </a:extLst>
          </p:cNvPr>
          <p:cNvSpPr txBox="1">
            <a:spLocks/>
          </p:cNvSpPr>
          <p:nvPr/>
        </p:nvSpPr>
        <p:spPr>
          <a:xfrm>
            <a:off x="990600" y="832253"/>
            <a:ext cx="10515600" cy="469392"/>
          </a:xfrm>
          <a:prstGeom prst="rect">
            <a:avLst/>
          </a:prstGeom>
        </p:spPr>
        <p:txBody>
          <a:bodyPr lIns="91440" tIns="45720" rIns="91440" bIns="45720" anchor="t"/>
          <a:lstStyle>
            <a:lvl1pPr marL="0" indent="0" algn="ctr" defTabSz="914309" rtl="0" eaLnBrk="1" latinLnBrk="0" hangingPunct="1">
              <a:lnSpc>
                <a:spcPct val="90000"/>
              </a:lnSpc>
              <a:spcBef>
                <a:spcPts val="0"/>
              </a:spcBef>
              <a:buFontTx/>
              <a:buNone/>
              <a:defRPr sz="1600" kern="1200">
                <a:solidFill>
                  <a:schemeClr val="tx2"/>
                </a:solidFill>
                <a:latin typeface="NVIDIA Sans" panose="020B0503020203020204" pitchFamily="34" charset="0"/>
                <a:ea typeface="+mn-ea"/>
                <a:cs typeface="NVIDIA Sans" panose="020B0503020203020204" pitchFamily="34" charset="0"/>
              </a:defRPr>
            </a:lvl1pPr>
            <a:lvl2pPr marL="457108"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2pPr>
            <a:lvl3pPr marL="914218"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3pPr>
            <a:lvl4pPr marL="1371326"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4pPr>
            <a:lvl5pPr marL="1828434" indent="0" algn="ctr" defTabSz="914309" rtl="0" eaLnBrk="1" latinLnBrk="0" hangingPunct="1">
              <a:lnSpc>
                <a:spcPct val="90000"/>
              </a:lnSpc>
              <a:spcBef>
                <a:spcPts val="500"/>
              </a:spcBef>
              <a:buFontTx/>
              <a:buNone/>
              <a:defRPr sz="1467" kern="1200">
                <a:solidFill>
                  <a:schemeClr val="tx1"/>
                </a:solidFill>
                <a:latin typeface="NVIDIA Sans" panose="020B0503020203020204" pitchFamily="34" charset="0"/>
                <a:ea typeface="+mn-ea"/>
                <a:cs typeface="+mn-cs"/>
              </a:defRPr>
            </a:lvl5pPr>
            <a:lvl6pPr marL="2514349"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NVIDIA Sans" panose="020B0503020203020204" pitchFamily="34" charset="0"/>
              <a:buChar char="•"/>
              <a:defRPr sz="1800" kern="1200">
                <a:solidFill>
                  <a:schemeClr val="tx1"/>
                </a:solidFill>
                <a:latin typeface="+mn-lt"/>
                <a:ea typeface="+mn-ea"/>
                <a:cs typeface="+mn-cs"/>
              </a:defRPr>
            </a:lvl9pPr>
          </a:lstStyle>
          <a:p>
            <a:r>
              <a:rPr lang="en-US">
                <a:latin typeface="NVIDIA Sans"/>
                <a:cs typeface="NVIDIA Sans"/>
              </a:rPr>
              <a:t>Advanced multilingual, multimodal models with reasoning for a variety of use cases</a:t>
            </a:r>
            <a:endParaRPr lang="en-US"/>
          </a:p>
        </p:txBody>
      </p:sp>
      <p:sp>
        <p:nvSpPr>
          <p:cNvPr id="9" name="Title 14">
            <a:extLst>
              <a:ext uri="{FF2B5EF4-FFF2-40B4-BE49-F238E27FC236}">
                <a16:creationId xmlns:a16="http://schemas.microsoft.com/office/drawing/2014/main" id="{0E676848-A897-AFDF-021C-277ADF09FF05}"/>
              </a:ext>
            </a:extLst>
          </p:cNvPr>
          <p:cNvSpPr txBox="1">
            <a:spLocks/>
          </p:cNvSpPr>
          <p:nvPr/>
        </p:nvSpPr>
        <p:spPr>
          <a:xfrm>
            <a:off x="990600" y="-2131"/>
            <a:ext cx="10515600" cy="838200"/>
          </a:xfrm>
          <a:prstGeom prst="rect">
            <a:avLst/>
          </a:prstGeom>
        </p:spPr>
        <p:txBody>
          <a:bodyPr vert="horz" lIns="91440" tIns="45720" rIns="91440" bIns="45720" rtlCol="0" anchor="b">
            <a:normAutofit/>
          </a:bodyPr>
          <a:lstStyle>
            <a:lvl1pPr algn="ctr" defTabSz="914309" rtl="0" eaLnBrk="1" latinLnBrk="0" hangingPunct="1">
              <a:lnSpc>
                <a:spcPct val="90000"/>
              </a:lnSpc>
              <a:spcBef>
                <a:spcPct val="0"/>
              </a:spcBef>
              <a:buNone/>
              <a:defRPr sz="2400" b="1" kern="1200" cap="none" baseline="0">
                <a:solidFill>
                  <a:schemeClr val="bg1"/>
                </a:solidFill>
                <a:latin typeface="NVIDIA Sans" panose="020B0503020203020204" pitchFamily="34" charset="0"/>
                <a:ea typeface="+mj-ea"/>
                <a:cs typeface="NVIDIA Sans" panose="020B0503020203020204" pitchFamily="34" charset="0"/>
              </a:defRPr>
            </a:lvl1pPr>
          </a:lstStyle>
          <a:p>
            <a:r>
              <a:rPr lang="en-US">
                <a:latin typeface="NVIDIA Sans"/>
                <a:cs typeface="NVIDIA Sans"/>
              </a:rPr>
              <a:t>NVIDIA </a:t>
            </a:r>
            <a:r>
              <a:rPr lang="en-US" err="1">
                <a:latin typeface="NVIDIA Sans"/>
                <a:cs typeface="NVIDIA Sans"/>
              </a:rPr>
              <a:t>Nemotron</a:t>
            </a:r>
            <a:r>
              <a:rPr lang="en-US">
                <a:latin typeface="NVIDIA Sans"/>
                <a:cs typeface="NVIDIA Sans"/>
              </a:rPr>
              <a:t> Safety Models</a:t>
            </a:r>
            <a:endParaRPr lang="en-US"/>
          </a:p>
        </p:txBody>
      </p:sp>
    </p:spTree>
    <p:extLst>
      <p:ext uri="{BB962C8B-B14F-4D97-AF65-F5344CB8AC3E}">
        <p14:creationId xmlns:p14="http://schemas.microsoft.com/office/powerpoint/2010/main" val="32516967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88"/>
        <p:cNvGrpSpPr/>
        <p:nvPr/>
      </p:nvGrpSpPr>
      <p:grpSpPr>
        <a:xfrm>
          <a:off x="0" y="0"/>
          <a:ext cx="0" cy="0"/>
          <a:chOff x="0" y="0"/>
          <a:chExt cx="0" cy="0"/>
        </a:xfrm>
      </p:grpSpPr>
      <p:sp>
        <p:nvSpPr>
          <p:cNvPr id="4595" name="Google Shape;4595;p27"/>
          <p:cNvSpPr/>
          <p:nvPr/>
        </p:nvSpPr>
        <p:spPr>
          <a:xfrm>
            <a:off x="1891421" y="1423943"/>
            <a:ext cx="8528365" cy="4454803"/>
          </a:xfrm>
          <a:prstGeom prst="rect">
            <a:avLst/>
          </a:prstGeom>
          <a:noFill/>
          <a:ln w="25400" cap="flat" cmpd="sng">
            <a:solidFill>
              <a:srgbClr val="E8E8E8"/>
            </a:solidFill>
            <a:prstDash val="solid"/>
            <a:round/>
            <a:headEnd type="none" w="sm" len="sm"/>
            <a:tailEnd type="none" w="sm" len="sm"/>
          </a:ln>
        </p:spPr>
        <p:txBody>
          <a:bodyPr spcFirstLastPara="1" wrap="square" lIns="30475" tIns="15233" rIns="30475" bIns="15233"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None/>
            </a:pPr>
            <a:endParaRPr sz="1333">
              <a:solidFill>
                <a:schemeClr val="dk1"/>
              </a:solidFill>
              <a:latin typeface="Trebuchet MS"/>
              <a:ea typeface="Trebuchet MS"/>
              <a:cs typeface="Trebuchet MS"/>
              <a:sym typeface="Trebuchet MS"/>
            </a:endParaRPr>
          </a:p>
        </p:txBody>
      </p:sp>
      <p:sp>
        <p:nvSpPr>
          <p:cNvPr id="4596" name="Google Shape;4596;p27"/>
          <p:cNvSpPr txBox="1"/>
          <p:nvPr/>
        </p:nvSpPr>
        <p:spPr>
          <a:xfrm>
            <a:off x="2265192" y="1711934"/>
            <a:ext cx="8320342" cy="4606311"/>
          </a:xfrm>
          <a:prstGeom prst="rect">
            <a:avLst/>
          </a:prstGeom>
          <a:noFill/>
          <a:ln>
            <a:noFill/>
          </a:ln>
        </p:spPr>
        <p:txBody>
          <a:bodyPr spcFirstLastPara="1" wrap="square" lIns="30475" tIns="15233" rIns="30475" bIns="15233"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467"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1400" b="1">
                <a:solidFill>
                  <a:schemeClr val="lt1"/>
                </a:solidFill>
                <a:latin typeface="NVIDIA Sans Regular"/>
                <a:ea typeface="NVIDIA Sans"/>
                <a:cs typeface="NVIDIA Sans"/>
                <a:sym typeface="NVIDIA Sans"/>
              </a:rPr>
              <a:t>NVIDIA API Catalog</a:t>
            </a:r>
            <a:endParaRPr lang="en-US" sz="1400">
              <a:solidFill>
                <a:schemeClr val="lt1"/>
              </a:solidFill>
              <a:latin typeface="NVIDIA Sans Regular"/>
            </a:endParaRPr>
          </a:p>
          <a:p>
            <a:pPr marL="189865" indent="-189865">
              <a:buClr>
                <a:schemeClr val="lt1"/>
              </a:buClr>
              <a:buSzPts val="2800"/>
              <a:buFont typeface="Arial"/>
              <a:buChar char="•"/>
            </a:pPr>
            <a:r>
              <a:rPr lang="en-US" sz="1400" u="sng">
                <a:solidFill>
                  <a:schemeClr val="dk2"/>
                </a:solidFill>
                <a:latin typeface="NVIDIA Sans Regular"/>
                <a:ea typeface="NVIDIA Sans"/>
                <a:cs typeface="NVIDIA Sans"/>
                <a:sym typeface="NVIDIA Sans"/>
                <a:hlinkClick r:id="rId4">
                  <a:extLst>
                    <a:ext uri="{A12FA001-AC4F-418D-AE19-62706E023703}">
                      <ahyp:hlinkClr xmlns:ahyp="http://schemas.microsoft.com/office/drawing/2018/hyperlinkcolor" val="tx"/>
                    </a:ext>
                  </a:extLst>
                </a:hlinkClick>
              </a:rPr>
              <a:t>Experience</a:t>
            </a:r>
            <a:r>
              <a:rPr lang="en-US" sz="1400">
                <a:solidFill>
                  <a:schemeClr val="lt1"/>
                </a:solidFill>
                <a:latin typeface="NVIDIA Sans Regular"/>
                <a:ea typeface="NVIDIA Sans"/>
                <a:cs typeface="NVIDIA Sans"/>
                <a:sym typeface="NVIDIA Sans"/>
              </a:rPr>
              <a:t> safety models packaged as NVIDIA NIM microservices on build.nvidia.com</a:t>
            </a:r>
            <a:endParaRPr lang="en-US" sz="1400">
              <a:solidFill>
                <a:schemeClr val="lt1"/>
              </a:solidFill>
              <a:latin typeface="NVIDIA Sans Regular"/>
              <a:ea typeface="NVIDIA Sans"/>
              <a:cs typeface="NVIDIA Sans"/>
            </a:endParaRPr>
          </a:p>
          <a:p>
            <a:pPr marL="189865" indent="-130810">
              <a:buClr>
                <a:srgbClr val="FFFFFF"/>
              </a:buClr>
              <a:buSzPts val="2800"/>
            </a:pPr>
            <a:endParaRPr lang="en-US" sz="1400">
              <a:solidFill>
                <a:schemeClr val="lt1"/>
              </a:solidFill>
              <a:latin typeface="NVIDIA Sans Regular"/>
              <a:ea typeface="NVIDIA Sans"/>
              <a:cs typeface="NVIDIA Sans"/>
            </a:endParaRPr>
          </a:p>
          <a:p>
            <a:pPr marL="0" marR="0" lvl="0" indent="0" algn="l" rtl="0">
              <a:spcBef>
                <a:spcPts val="0"/>
              </a:spcBef>
              <a:spcAft>
                <a:spcPts val="0"/>
              </a:spcAft>
              <a:buNone/>
            </a:pPr>
            <a:r>
              <a:rPr lang="en-US" sz="1400" b="1">
                <a:solidFill>
                  <a:schemeClr val="lt1"/>
                </a:solidFill>
                <a:latin typeface="NVIDIA Sans Regular"/>
                <a:ea typeface="NVIDIA Sans"/>
                <a:cs typeface="NVIDIA Sans"/>
                <a:sym typeface="NVIDIA Sans"/>
              </a:rPr>
              <a:t>Notebooks</a:t>
            </a:r>
            <a:endParaRPr lang="en-US" sz="1400" b="1">
              <a:solidFill>
                <a:schemeClr val="lt1"/>
              </a:solidFill>
              <a:latin typeface="NVIDIA Sans Regular"/>
              <a:ea typeface="NVIDIA Sans"/>
              <a:cs typeface="NVIDIA Sans"/>
            </a:endParaRPr>
          </a:p>
          <a:p>
            <a:pPr marL="151765" indent="-151765">
              <a:buClr>
                <a:schemeClr val="lt1"/>
              </a:buClr>
              <a:buSzPts val="2800"/>
              <a:buFont typeface="Arial"/>
              <a:buChar char="•"/>
            </a:pPr>
            <a:r>
              <a:rPr lang="en-US" sz="1400" u="sng">
                <a:solidFill>
                  <a:schemeClr val="dk2"/>
                </a:solidFill>
                <a:latin typeface="NVIDIA Sans Regular"/>
                <a:cs typeface="NVIDIA Sans"/>
                <a:sym typeface="NVIDIA Sans"/>
                <a:hlinkClick r:id="rId5">
                  <a:extLst>
                    <a:ext uri="{A12FA001-AC4F-418D-AE19-62706E023703}">
                      <ahyp:hlinkClr xmlns:ahyp="http://schemas.microsoft.com/office/drawing/2018/hyperlinkcolor" val="tx"/>
                    </a:ext>
                  </a:extLst>
                </a:hlinkClick>
              </a:rPr>
              <a:t>Build a voice agent with RAG and safety guardrails</a:t>
            </a:r>
            <a:endParaRPr lang="en-US" sz="1400">
              <a:solidFill>
                <a:schemeClr val="dk2"/>
              </a:solidFill>
              <a:latin typeface="NVIDIA Sans Regular"/>
            </a:endParaRPr>
          </a:p>
          <a:p>
            <a:pPr marL="151765" indent="-151765">
              <a:buSzPts val="2800"/>
              <a:buChar char="•"/>
            </a:pPr>
            <a:r>
              <a:rPr lang="en-US" sz="1400" u="sng">
                <a:solidFill>
                  <a:schemeClr val="dk2"/>
                </a:solidFill>
                <a:latin typeface="NVIDIA Sans Regular"/>
                <a:ea typeface="NVIDIA Sans"/>
                <a:cs typeface="NVIDIA Sans"/>
                <a:hlinkClick r:id="rId6">
                  <a:extLst>
                    <a:ext uri="{A12FA001-AC4F-418D-AE19-62706E023703}">
                      <ahyp:hlinkClr xmlns:ahyp="http://schemas.microsoft.com/office/drawing/2018/hyperlinkcolor" val="tx"/>
                    </a:ext>
                  </a:extLst>
                </a:hlinkClick>
              </a:rPr>
              <a:t>Safe Synthesizer Example Notebook</a:t>
            </a:r>
            <a:endParaRPr lang="en-US" sz="1400" u="sng">
              <a:solidFill>
                <a:schemeClr val="dk2"/>
              </a:solidFill>
              <a:latin typeface="NVIDIA Sans Regular"/>
              <a:ea typeface="NVIDIA Sans"/>
              <a:cs typeface="NVIDIA Sans"/>
            </a:endParaRPr>
          </a:p>
          <a:p>
            <a:endParaRPr lang="en-US" sz="1400">
              <a:latin typeface="NVIDIA Sans Regular"/>
              <a:ea typeface="NVIDIA Sans"/>
              <a:cs typeface="NVIDIA Sans"/>
            </a:endParaRPr>
          </a:p>
          <a:p>
            <a:pPr marL="0" marR="0" lvl="0" indent="0" algn="l" rtl="0">
              <a:spcBef>
                <a:spcPts val="0"/>
              </a:spcBef>
              <a:spcAft>
                <a:spcPts val="0"/>
              </a:spcAft>
              <a:buNone/>
            </a:pPr>
            <a:r>
              <a:rPr lang="en-US" sz="1400" b="1">
                <a:solidFill>
                  <a:schemeClr val="lt1"/>
                </a:solidFill>
                <a:latin typeface="NVIDIA Sans Regular"/>
                <a:ea typeface="NVIDIA Sans"/>
                <a:cs typeface="NVIDIA Sans"/>
                <a:sym typeface="NVIDIA Sans"/>
              </a:rPr>
              <a:t>Documentation</a:t>
            </a:r>
            <a:endParaRPr lang="en-US" sz="1400" b="1">
              <a:solidFill>
                <a:schemeClr val="lt1"/>
              </a:solidFill>
              <a:latin typeface="NVIDIA Sans Regular"/>
              <a:ea typeface="NVIDIA Sans"/>
              <a:cs typeface="NVIDIA Sans"/>
            </a:endParaRPr>
          </a:p>
          <a:p>
            <a:pPr marL="151765" marR="0" lvl="0" indent="-151765" algn="l" rtl="0">
              <a:spcBef>
                <a:spcPts val="0"/>
              </a:spcBef>
              <a:spcAft>
                <a:spcPts val="0"/>
              </a:spcAft>
              <a:buClr>
                <a:schemeClr val="lt1"/>
              </a:buClr>
              <a:buSzPts val="2800"/>
              <a:buFont typeface="Arial"/>
              <a:buChar char="•"/>
            </a:pPr>
            <a:r>
              <a:rPr lang="en-US" sz="1400" u="sng">
                <a:solidFill>
                  <a:schemeClr val="hlink"/>
                </a:solidFill>
                <a:latin typeface="NVIDIA Sans Regular"/>
                <a:ea typeface="NVIDIA Sans"/>
                <a:cs typeface="NVIDIA Sans"/>
                <a:sym typeface="NVIDIA Sans"/>
                <a:hlinkClick r:id="rId7">
                  <a:extLst>
                    <a:ext uri="{A12FA001-AC4F-418D-AE19-62706E023703}">
                      <ahyp:hlinkClr xmlns:ahyp="http://schemas.microsoft.com/office/drawing/2018/hyperlinkcolor" val="tx"/>
                    </a:ext>
                  </a:extLst>
                </a:hlinkClick>
              </a:rPr>
              <a:t>Go to docs overview</a:t>
            </a:r>
            <a:endParaRPr lang="en-US" sz="1400">
              <a:solidFill>
                <a:schemeClr val="hlink"/>
              </a:solidFill>
              <a:latin typeface="NVIDIA Sans Regular"/>
              <a:ea typeface="NVIDIA Sans"/>
              <a:cs typeface="NVIDIA Sans"/>
              <a:hlinkClick r:id="" action="ppaction://noaction">
                <a:extLst>
                  <a:ext uri="{A12FA001-AC4F-418D-AE19-62706E023703}">
                    <ahyp:hlinkClr xmlns:ahyp="http://schemas.microsoft.com/office/drawing/2018/hyperlinkcolor" val="tx"/>
                  </a:ext>
                </a:extLst>
              </a:hlinkClick>
            </a:endParaRPr>
          </a:p>
          <a:p>
            <a:pPr marL="151765" indent="-151765">
              <a:buSzPts val="2800"/>
              <a:buChar char="•"/>
            </a:pPr>
            <a:r>
              <a:rPr lang="en-US" sz="1400">
                <a:solidFill>
                  <a:schemeClr val="hlink"/>
                </a:solidFill>
                <a:latin typeface="NVIDIA Sans Regular"/>
                <a:ea typeface="NVIDIA Sans"/>
                <a:hlinkClick r:id="rId8">
                  <a:extLst>
                    <a:ext uri="{A12FA001-AC4F-418D-AE19-62706E023703}">
                      <ahyp:hlinkClr xmlns:ahyp="http://schemas.microsoft.com/office/drawing/2018/hyperlinkcolor" val="tx"/>
                    </a:ext>
                  </a:extLst>
                </a:hlinkClick>
              </a:rPr>
              <a:t>Run Inference with Parallel Rails using NeMo Guardrails Microservice Tutorial</a:t>
            </a:r>
            <a:endParaRPr lang="en-US" sz="1400" u="sng">
              <a:solidFill>
                <a:schemeClr val="hlink"/>
              </a:solidFill>
              <a:latin typeface="NVIDIA Sans Regular"/>
              <a:ea typeface="NVIDIA Sans"/>
              <a:cs typeface="NVIDIA Sans"/>
            </a:endParaRPr>
          </a:p>
          <a:p>
            <a:pPr marL="151765" indent="-151765">
              <a:buSzPts val="2800"/>
              <a:buChar char="•"/>
            </a:pPr>
            <a:r>
              <a:rPr lang="en-US" sz="1400">
                <a:solidFill>
                  <a:schemeClr val="hlink"/>
                </a:solidFill>
                <a:latin typeface="NVIDIA Sans Regular"/>
                <a:ea typeface="NVIDIA Sans"/>
                <a:hlinkClick r:id="rId9">
                  <a:extLst>
                    <a:ext uri="{A12FA001-AC4F-418D-AE19-62706E023703}">
                      <ahyp:hlinkClr xmlns:ahyp="http://schemas.microsoft.com/office/drawing/2018/hyperlinkcolor" val="tx"/>
                    </a:ext>
                  </a:extLst>
                </a:hlinkClick>
              </a:rPr>
              <a:t>Demo Use Case Examples</a:t>
            </a:r>
            <a:endParaRPr lang="en-US" sz="1400">
              <a:solidFill>
                <a:schemeClr val="hlink"/>
              </a:solidFill>
              <a:latin typeface="NVIDIA Sans Regular"/>
              <a:ea typeface="NVIDIA Sans"/>
            </a:endParaRPr>
          </a:p>
          <a:p>
            <a:pPr marL="151765" indent="-151765">
              <a:buSzPts val="2800"/>
              <a:buChar char="•"/>
            </a:pPr>
            <a:r>
              <a:rPr lang="en-US" sz="1400">
                <a:solidFill>
                  <a:schemeClr val="hlink"/>
                </a:solidFill>
                <a:latin typeface="NVIDIA Sans Regular"/>
                <a:ea typeface="NVIDIA Sans"/>
                <a:hlinkClick r:id="rId10">
                  <a:extLst>
                    <a:ext uri="{A12FA001-AC4F-418D-AE19-62706E023703}">
                      <ahyp:hlinkClr xmlns:ahyp="http://schemas.microsoft.com/office/drawing/2018/hyperlinkcolor" val="tx"/>
                    </a:ext>
                  </a:extLst>
                </a:hlinkClick>
              </a:rPr>
              <a:t>AI Assistant Example</a:t>
            </a:r>
            <a:endParaRPr lang="en-US" sz="1400">
              <a:solidFill>
                <a:schemeClr val="hlink"/>
              </a:solidFill>
              <a:latin typeface="NVIDIA Sans Regular"/>
              <a:ea typeface="NVIDIA Sans"/>
            </a:endParaRPr>
          </a:p>
          <a:p>
            <a:pPr marL="151765" indent="-151765">
              <a:buSzPts val="2800"/>
              <a:buChar char="•"/>
            </a:pPr>
            <a:r>
              <a:rPr lang="en-US" sz="1400">
                <a:solidFill>
                  <a:schemeClr val="hlink"/>
                </a:solidFill>
                <a:latin typeface="NVIDIA Sans Regular"/>
                <a:ea typeface="NVIDIA Sans"/>
                <a:hlinkClick r:id="rId11">
                  <a:extLst>
                    <a:ext uri="{A12FA001-AC4F-418D-AE19-62706E023703}">
                      <ahyp:hlinkClr xmlns:ahyp="http://schemas.microsoft.com/office/drawing/2018/hyperlinkcolor" val="tx"/>
                    </a:ext>
                  </a:extLst>
                </a:hlinkClick>
              </a:rPr>
              <a:t>Safe Synthesizer Docs</a:t>
            </a:r>
            <a:endParaRPr lang="en-US" sz="1400">
              <a:solidFill>
                <a:schemeClr val="hlink"/>
              </a:solidFill>
              <a:latin typeface="NVIDIA Sans Regular"/>
              <a:ea typeface="NVIDIA Sans"/>
            </a:endParaRPr>
          </a:p>
          <a:p>
            <a:pPr marL="151765" indent="-151765">
              <a:buSzPts val="2800"/>
              <a:buChar char="•"/>
            </a:pPr>
            <a:r>
              <a:rPr lang="en-US" sz="1400">
                <a:solidFill>
                  <a:schemeClr val="hlink"/>
                </a:solidFill>
                <a:latin typeface="NVIDIA Sans Regular"/>
                <a:ea typeface="NVIDIA Sans"/>
                <a:hlinkClick r:id="rId12">
                  <a:extLst>
                    <a:ext uri="{A12FA001-AC4F-418D-AE19-62706E023703}">
                      <ahyp:hlinkClr xmlns:ahyp="http://schemas.microsoft.com/office/drawing/2018/hyperlinkcolor" val="tx"/>
                    </a:ext>
                  </a:extLst>
                </a:hlinkClick>
              </a:rPr>
              <a:t>Garak Docs</a:t>
            </a:r>
            <a:endParaRPr lang="en-US" sz="1400">
              <a:solidFill>
                <a:schemeClr val="hlink"/>
              </a:solidFill>
              <a:latin typeface="NVIDIA Sans Regular"/>
              <a:ea typeface="NVIDIA Sans"/>
            </a:endParaRPr>
          </a:p>
          <a:p>
            <a:endParaRPr lang="en-US" sz="1400">
              <a:solidFill>
                <a:schemeClr val="lt1"/>
              </a:solidFill>
              <a:latin typeface="NVIDIA Sans Regular"/>
              <a:ea typeface="NVIDIA Sans"/>
              <a:cs typeface="NVIDIA Sans"/>
            </a:endParaRPr>
          </a:p>
          <a:p>
            <a:pPr marL="0" marR="0" lvl="0" indent="0" algn="l" rtl="0">
              <a:spcBef>
                <a:spcPts val="0"/>
              </a:spcBef>
              <a:spcAft>
                <a:spcPts val="0"/>
              </a:spcAft>
              <a:buNone/>
            </a:pPr>
            <a:r>
              <a:rPr lang="en-US" sz="1400" b="1">
                <a:solidFill>
                  <a:schemeClr val="lt1"/>
                </a:solidFill>
                <a:latin typeface="NVIDIA Sans Regular"/>
                <a:ea typeface="NVIDIA Sans"/>
                <a:cs typeface="NVIDIA Sans"/>
                <a:sym typeface="NVIDIA Sans"/>
              </a:rPr>
              <a:t>NVIDIA Developer Program</a:t>
            </a:r>
            <a:endParaRPr lang="en-US" sz="1400">
              <a:solidFill>
                <a:schemeClr val="lt1"/>
              </a:solidFill>
              <a:latin typeface="NVIDIA Sans Regular"/>
            </a:endParaRPr>
          </a:p>
          <a:p>
            <a:pPr marL="151765" marR="0" lvl="0" indent="-151765" algn="l" rtl="0">
              <a:spcBef>
                <a:spcPts val="0"/>
              </a:spcBef>
              <a:spcAft>
                <a:spcPts val="0"/>
              </a:spcAft>
              <a:buClr>
                <a:schemeClr val="lt1"/>
              </a:buClr>
              <a:buSzPts val="2800"/>
              <a:buFont typeface="Arial"/>
              <a:buChar char="•"/>
            </a:pPr>
            <a:r>
              <a:rPr lang="en-US" sz="1400" u="sng">
                <a:solidFill>
                  <a:schemeClr val="dk2"/>
                </a:solidFill>
                <a:latin typeface="NVIDIA Sans Regular"/>
                <a:ea typeface="NVIDIA Sans"/>
                <a:cs typeface="NVIDIA Sans"/>
                <a:sym typeface="NVIDIA Sans"/>
                <a:hlinkClick r:id="rId13">
                  <a:extLst>
                    <a:ext uri="{A12FA001-AC4F-418D-AE19-62706E023703}">
                      <ahyp:hlinkClr xmlns:ahyp="http://schemas.microsoft.com/office/drawing/2018/hyperlinkcolor" val="tx"/>
                    </a:ext>
                  </a:extLst>
                </a:hlinkClick>
              </a:rPr>
              <a:t>Join</a:t>
            </a:r>
            <a:r>
              <a:rPr lang="en-US" sz="1400">
                <a:solidFill>
                  <a:schemeClr val="lt1"/>
                </a:solidFill>
                <a:latin typeface="NVIDIA Sans Regular"/>
                <a:ea typeface="NVIDIA Sans"/>
                <a:cs typeface="NVIDIA Sans"/>
                <a:sym typeface="NVIDIA Sans"/>
              </a:rPr>
              <a:t> to receive access to NVIDIA tools, technical training and webinars, and unlimited use of NVIDIA On-Demand. </a:t>
            </a:r>
            <a:endParaRPr lang="en-US" sz="1400">
              <a:solidFill>
                <a:schemeClr val="lt1"/>
              </a:solidFill>
              <a:latin typeface="NVIDIA Sans Regular"/>
            </a:endParaRPr>
          </a:p>
          <a:p>
            <a:pPr marL="0" marR="0" lvl="0" indent="0" algn="l" rtl="0">
              <a:spcBef>
                <a:spcPts val="0"/>
              </a:spcBef>
              <a:spcAft>
                <a:spcPts val="0"/>
              </a:spcAft>
              <a:buNone/>
            </a:pPr>
            <a:endParaRPr sz="933">
              <a:solidFill>
                <a:schemeClr val="lt1"/>
              </a:solidFill>
              <a:latin typeface="NVIDIA Sans"/>
              <a:ea typeface="NVIDIA Sans"/>
              <a:cs typeface="NVIDIA Sans"/>
              <a:sym typeface="NVIDIA Sans"/>
            </a:endParaRPr>
          </a:p>
          <a:p>
            <a:endParaRPr lang="en-US" sz="900">
              <a:solidFill>
                <a:schemeClr val="lt1"/>
              </a:solidFill>
              <a:latin typeface="NVIDIA Sans"/>
              <a:ea typeface="NVIDIA Sans"/>
              <a:cs typeface="NVIDIA Sans"/>
            </a:endParaRPr>
          </a:p>
          <a:p>
            <a:pPr marL="189865" indent="-130810">
              <a:buSzPts val="2800"/>
            </a:pPr>
            <a:endParaRPr lang="en-US" sz="900">
              <a:solidFill>
                <a:schemeClr val="lt1"/>
              </a:solidFill>
              <a:latin typeface="NVIDIA Sans"/>
              <a:ea typeface="NVIDIA Sans"/>
              <a:cs typeface="NVIDIA Sans"/>
            </a:endParaRPr>
          </a:p>
          <a:p>
            <a:pPr marL="189865" indent="-130810">
              <a:buSzPts val="2800"/>
            </a:pPr>
            <a:endParaRPr lang="en-US" sz="900">
              <a:solidFill>
                <a:schemeClr val="lt1"/>
              </a:solidFill>
              <a:latin typeface="NVIDIA Sans"/>
              <a:ea typeface="NVIDIA Sans"/>
              <a:cs typeface="NVIDIA Sans"/>
            </a:endParaRPr>
          </a:p>
          <a:p>
            <a:pPr marL="189865" indent="-130810">
              <a:buSzPts val="2800"/>
            </a:pPr>
            <a:endParaRPr lang="en-US" sz="900">
              <a:solidFill>
                <a:schemeClr val="lt1"/>
              </a:solidFill>
              <a:latin typeface="NVIDIA Sans"/>
              <a:ea typeface="NVIDIA Sans"/>
              <a:cs typeface="NVIDIA Sans"/>
            </a:endParaRPr>
          </a:p>
        </p:txBody>
      </p:sp>
      <p:sp>
        <p:nvSpPr>
          <p:cNvPr id="5" name="Title 4">
            <a:extLst>
              <a:ext uri="{FF2B5EF4-FFF2-40B4-BE49-F238E27FC236}">
                <a16:creationId xmlns:a16="http://schemas.microsoft.com/office/drawing/2014/main" id="{6A6F96DD-C34D-6269-987D-0DBA099F54AD}"/>
              </a:ext>
            </a:extLst>
          </p:cNvPr>
          <p:cNvSpPr>
            <a:spLocks noGrp="1"/>
          </p:cNvSpPr>
          <p:nvPr>
            <p:ph type="title"/>
          </p:nvPr>
        </p:nvSpPr>
        <p:spPr/>
        <p:txBody>
          <a:bodyPr/>
          <a:lstStyle/>
          <a:p>
            <a:r>
              <a:rPr lang="en-US"/>
              <a:t>Resources</a:t>
            </a:r>
          </a:p>
        </p:txBody>
      </p:sp>
      <p:sp>
        <p:nvSpPr>
          <p:cNvPr id="3" name="Text Placeholder 2">
            <a:extLst>
              <a:ext uri="{FF2B5EF4-FFF2-40B4-BE49-F238E27FC236}">
                <a16:creationId xmlns:a16="http://schemas.microsoft.com/office/drawing/2014/main" id="{79C7A031-96EA-DBE4-400F-057F6594062E}"/>
              </a:ext>
            </a:extLst>
          </p:cNvPr>
          <p:cNvSpPr txBox="1">
            <a:spLocks/>
          </p:cNvSpPr>
          <p:nvPr/>
        </p:nvSpPr>
        <p:spPr>
          <a:xfrm>
            <a:off x="1182914" y="841151"/>
            <a:ext cx="10672838" cy="463345"/>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1765" indent="-75565"/>
            <a:r>
              <a:rPr lang="en-US">
                <a:solidFill>
                  <a:schemeClr val="bg2"/>
                </a:solidFill>
                <a:latin typeface="NVIDIA Sans Regular"/>
                <a:cs typeface="NVIDIA Sans Regular"/>
              </a:rPr>
              <a:t>                        Get Started</a:t>
            </a:r>
            <a:endParaRPr lang="en-US">
              <a:solidFill>
                <a:schemeClr val="bg2"/>
              </a:solidFill>
            </a:endParaRPr>
          </a:p>
        </p:txBody>
      </p:sp>
    </p:spTree>
    <p:extLst>
      <p:ext uri="{BB962C8B-B14F-4D97-AF65-F5344CB8AC3E}">
        <p14:creationId xmlns:p14="http://schemas.microsoft.com/office/powerpoint/2010/main" val="2784479754"/>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822C3-E4CC-7973-CE0C-342014075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1D043-5FB4-1392-DA28-D093F9C2DE81}"/>
              </a:ext>
            </a:extLst>
          </p:cNvPr>
          <p:cNvSpPr>
            <a:spLocks noGrp="1"/>
          </p:cNvSpPr>
          <p:nvPr>
            <p:ph type="ctrTitle"/>
          </p:nvPr>
        </p:nvSpPr>
        <p:spPr>
          <a:xfrm>
            <a:off x="504337" y="994526"/>
            <a:ext cx="10076577" cy="1645920"/>
          </a:xfrm>
        </p:spPr>
        <p:txBody>
          <a:bodyPr/>
          <a:lstStyle/>
          <a:p>
            <a:r>
              <a:rPr lang="en-US" sz="2900">
                <a:latin typeface="NVIDIA Sans"/>
                <a:cs typeface="NVIDIA Sans"/>
              </a:rPr>
              <a:t>End</a:t>
            </a:r>
            <a:endParaRPr lang="en-US"/>
          </a:p>
        </p:txBody>
      </p:sp>
    </p:spTree>
    <p:extLst>
      <p:ext uri="{BB962C8B-B14F-4D97-AF65-F5344CB8AC3E}">
        <p14:creationId xmlns:p14="http://schemas.microsoft.com/office/powerpoint/2010/main" val="830070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BB6421C4605A42BDB4B86601757F40" ma:contentTypeVersion="17" ma:contentTypeDescription="Create a new document." ma:contentTypeScope="" ma:versionID="8323e1468fe827d6d9dbd980abc19647">
  <xsd:schema xmlns:xsd="http://www.w3.org/2001/XMLSchema" xmlns:xs="http://www.w3.org/2001/XMLSchema" xmlns:p="http://schemas.microsoft.com/office/2006/metadata/properties" xmlns:ns2="3efdc2b5-2ed0-4358-a4a3-e7d1fdcf007f" xmlns:ns3="4af0c96c-3f2d-4736-92c5-981d34e58ada" targetNamespace="http://schemas.microsoft.com/office/2006/metadata/properties" ma:root="true" ma:fieldsID="1d4337f38ce8c62b5427135f058a0cd0" ns2:_="" ns3:_="">
    <xsd:import namespace="3efdc2b5-2ed0-4358-a4a3-e7d1fdcf007f"/>
    <xsd:import namespace="4af0c96c-3f2d-4736-92c5-981d34e58a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fdc2b5-2ed0-4358-a4a3-e7d1fdcf00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04b2a00-2846-4002-b30b-85ebaf4c019a"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f0c96c-3f2d-4736-92c5-981d34e58ad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1866cb9-097a-42c5-8cb7-749ff4611321}" ma:internalName="TaxCatchAll" ma:showField="CatchAllData" ma:web="4af0c96c-3f2d-4736-92c5-981d34e58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af0c96c-3f2d-4736-92c5-981d34e58ada" xsi:nil="true"/>
    <lcf76f155ced4ddcb4097134ff3c332f xmlns="3efdc2b5-2ed0-4358-a4a3-e7d1fdcf007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94DB6F-344E-4EA5-B7CE-8B84262C7DBB}">
  <ds:schemaRefs>
    <ds:schemaRef ds:uri="3efdc2b5-2ed0-4358-a4a3-e7d1fdcf007f"/>
    <ds:schemaRef ds:uri="4af0c96c-3f2d-4736-92c5-981d34e58ad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DCF900B-734D-4BE7-BCFA-738049F4D589}">
  <ds:schemaRefs>
    <ds:schemaRef ds:uri="3efdc2b5-2ed0-4358-a4a3-e7d1fdcf007f"/>
    <ds:schemaRef ds:uri="4af0c96c-3f2d-4736-92c5-981d34e58a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C6A3F98-A424-463A-AFA7-AA29CEAB474A}">
  <ds:schemaRefs>
    <ds:schemaRef ds:uri="http://schemas.microsoft.com/sharepoint/v3/contenttype/form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otalTime>10</TotalTime>
  <Words>5337</Words>
  <Application>Microsoft Macintosh PowerPoint</Application>
  <PresentationFormat>Widescreen</PresentationFormat>
  <Paragraphs>714</Paragraphs>
  <Slides>24</Slides>
  <Notes>24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24</vt:i4>
      </vt:variant>
    </vt:vector>
  </HeadingPairs>
  <TitlesOfParts>
    <vt:vector size="39" baseType="lpstr">
      <vt:lpstr>Aptos</vt:lpstr>
      <vt:lpstr>Arial</vt:lpstr>
      <vt:lpstr>Arial,Sans-Serif</vt:lpstr>
      <vt:lpstr>Calibri</vt:lpstr>
      <vt:lpstr>Courier New</vt:lpstr>
      <vt:lpstr>Courier New,monospace</vt:lpstr>
      <vt:lpstr>NVIDIA Sans</vt:lpstr>
      <vt:lpstr>NVIDIA Sans Light</vt:lpstr>
      <vt:lpstr>NVIDIA Sans Medium</vt:lpstr>
      <vt:lpstr>NVIDIA Sans Regular</vt:lpstr>
      <vt:lpstr>Roboto Mono</vt:lpstr>
      <vt:lpstr>Trebuchet MS</vt:lpstr>
      <vt:lpstr>Wingdings</vt:lpstr>
      <vt:lpstr>Title Only</vt:lpstr>
      <vt:lpstr>Title Only</vt:lpstr>
      <vt:lpstr>NVIDIA AI Safety</vt:lpstr>
      <vt:lpstr>NVIDIA NeMo Libraries for Agentic AI Safety</vt:lpstr>
      <vt:lpstr>Primary Agentic AI Safety Challenges </vt:lpstr>
      <vt:lpstr>Introducing the NVIDIA AI Safety Suite</vt:lpstr>
      <vt:lpstr>NVIDIA NeMo Guardrails</vt:lpstr>
      <vt:lpstr>NeMo Guardrails Available Rails</vt:lpstr>
      <vt:lpstr>NeMo Guardrails Available Rails</vt:lpstr>
      <vt:lpstr>PowerPoint Presentation</vt:lpstr>
      <vt:lpstr>NeMo Guardrails-Off Vs. Guardrails-On</vt:lpstr>
      <vt:lpstr>NeMo Guardrails: Use-Case Specific Enterprise Policies </vt:lpstr>
      <vt:lpstr>NVIDIA NeMo Auditor</vt:lpstr>
      <vt:lpstr>Scalable, Enterprise-Grade Solution for AI Security Assessments</vt:lpstr>
      <vt:lpstr>Protect AI Agents: NeMo Auditor + NeMo Guardrails</vt:lpstr>
      <vt:lpstr>NVIDIA NeMo Safe Synthesizer</vt:lpstr>
      <vt:lpstr>NeMo Safe Synthesizer Workflow</vt:lpstr>
      <vt:lpstr>3 Levels of Data Privacy</vt:lpstr>
      <vt:lpstr>NVIDIA NeMo Anonymizer</vt:lpstr>
      <vt:lpstr>NeMo Anonymizer Example</vt:lpstr>
      <vt:lpstr>NeMo Anonymizer Workflow</vt:lpstr>
      <vt:lpstr>Getting Started</vt:lpstr>
      <vt:lpstr>NVIDIA NeMo Safety Libraries </vt:lpstr>
      <vt:lpstr>PowerPoint Presentation</vt:lpstr>
      <vt:lpstr>Resources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Custom Enterprise Generative AI Models with Llama 3.1</dc:title>
  <dc:creator>Chintan Patel</dc:creator>
  <cp:lastModifiedBy>Swaminathan B S</cp:lastModifiedBy>
  <cp:revision>15</cp:revision>
  <cp:lastPrinted>2025-05-19T19:47:10Z</cp:lastPrinted>
  <dcterms:created xsi:type="dcterms:W3CDTF">2024-07-19T14:02:54Z</dcterms:created>
  <dcterms:modified xsi:type="dcterms:W3CDTF">2026-06-03T15:24:48Z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0x010100A3BB6421C4605A42BDB4B86601757F40</vt:lpwstr>
  </property>
  <property fmtid="{D5CDD505-2E9C-101B-9397-08002B2CF9AE}" pid="3" name="MediaServiceImageTags">
    <vt:lpwstr/>
  </property>
</Properties>
</file>
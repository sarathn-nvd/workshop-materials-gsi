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handoutMasterIdLst>
    <p:handoutMasterId r:id="rId6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</p:sldIdLst>
  <p:sldSz cx="36576000" cy="2057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1D1D1"/>
    <a:srgbClr val="C0C0C0"/>
    <a:srgbClr val="B8B8B8"/>
    <a:srgbClr val="151617"/>
    <a:srgbClr val="FAC200"/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03" autoAdjust="0"/>
    <p:restoredTop sz="96391" autoAdjust="0"/>
  </p:normalViewPr>
  <p:slideViewPr>
    <p:cSldViewPr snapToGrid="0">
      <p:cViewPr varScale="1">
        <p:scale>
          <a:sx n="13" d="100"/>
          <a:sy n="13" d="100"/>
        </p:scale>
        <p:origin x="90" y="528"/>
      </p:cViewPr>
      <p:guideLst/>
    </p:cSldViewPr>
  </p:slideViewPr>
  <p:outlineViewPr>
    <p:cViewPr>
      <p:scale>
        <a:sx n="33" d="100"/>
        <a:sy n="33" d="100"/>
      </p:scale>
      <p:origin x="0" y="-1581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2214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en Hill-Peterson" userId="d3234e37-15a6-4633-bb53-3a1db57a2b03" providerId="ADAL" clId="{B2019596-BB80-4E31-BDC5-354A8DA3B09C}"/>
    <pc:docChg chg="addSld modSld sldOrd">
      <pc:chgData name="Kristen Hill-Peterson" userId="d3234e37-15a6-4633-bb53-3a1db57a2b03" providerId="ADAL" clId="{B2019596-BB80-4E31-BDC5-354A8DA3B09C}" dt="2023-10-18T20:22:03.862" v="2"/>
      <pc:docMkLst>
        <pc:docMk/>
      </pc:docMkLst>
      <pc:sldChg chg="add ord">
        <pc:chgData name="Kristen Hill-Peterson" userId="d3234e37-15a6-4633-bb53-3a1db57a2b03" providerId="ADAL" clId="{B2019596-BB80-4E31-BDC5-354A8DA3B09C}" dt="2023-10-18T20:22:03.862" v="2"/>
        <pc:sldMkLst>
          <pc:docMk/>
          <pc:sldMk cId="2245222864" sldId="550145268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0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34FAB7-7DF1-470D-9D24-E6B58A84B80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10/18/2023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0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3E2AA-C3B7-40F1-8870-35AD3374F0C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77346" y="8736014"/>
            <a:ext cx="963023" cy="33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DENSEST module in the workshop — 90 minutes, 36 slides, 6 sections. Encourage attendees to take detailed notes. The next time they see most of this material is when they're sizing a customer's training pipeline. Six section dividers will pace you — use them as breath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Reorient. Data is ready (M5/M6 done). Now we train.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sections at 15 min each. Section dividers tell you when to context-switch.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— 15-minute section. Goal: by the end, attendees can pick between AutoModel, Megatron-Bridge, and NeMo RL for a given workload. The 'when to use which' table on slide 6 is the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frameworks under the NeMo umbrella. Plus NeMo Gym which is a recipe library (not a framework per 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table for picking. Most teams use 2 of the 3 — pre-train on Megatron-Bridge, fine-tune on AutoModel.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Side-by-side. Production is what was done in advance; workshop is what you'll run live. Same container, same recipe shape, smaller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— the longest section (8 slides, ~25 min). This is where training cost first becomes real — production CPT was 6 days of 8× H100 NVL. Pace yourself; slides 12-14 (parallelism, packing, FP8) are dense — don't rush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teams skip CPT (too expensive). For AML, the FFIEC + FinCEN dialect is different enough from web text that CPT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Two-stage CPT is the FineWeb / Dolma pattern. L1 first because broad register is the foundation; L2 second because AML-specific dialect needs L1 to ground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technique. Replay ratio is hyper-tuned per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flavours of parallelism. They compose — our config uses all three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Packed sequences are THE big throughput win for CPT. Naive padding wastes ~70-80% of compute on short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Mixed-precision in 4 places. NeMo + Transformer Engine handle this automatically — you just say 'precision: fp8'.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scale: 752 GB VRAM, 6 days, 3.2B tokens. Recipe values that drive every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— builds directly on CPT. ~20 min. The VRAM math slide (20) is the most-referenced of the section — that's how attendees know what they can train on their 2× H100. After this section is the first big break (lunch).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CPT vs SFT side-by-side. Most teams do both — CPT first to set up the dialect, SFT second to set up the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 templates are non-negotiable. Wrong template = model never learns. Each model has its own — use the tokenizer's apply_chat_template() 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 masking is critical. Hugging Face Trainer handles this when you use DataCollatorForCompletionOnlyLM. NeMo AutoModel handles it via labels_only_assistant=True.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math. AdamW moments dominate full-FT memory (4× model size for the optimizer state). LoRA shrinks all the trainable bits to ~0.5%, leaving frozen FP8 weights as the only big footprint.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 matrix. Most production AML/finance models do full FT for the foundation, then LoRA per-customer for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NeMo Gym is the antidote to 'figuring out my own recipe from scratch'. Find a close-enough recipe, fork it, tune.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SFT. FP8 disabled because A100 doesn't support it; bf16 instead. Packed sequence size 5350 tuned to the SDG corpus token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— shortest section (5 slides, ~10 min) because we don't hands-on RL. Focus the time on DPO (slide 26) — it's what we actually used in production; PPO is historical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SFT gets you behaviour. RL gets you preference. For AML, the difference: SFT teaches 'write a SAR'; RL teaches 'write a *regulator-grade* SAR'.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flavours. DPO is the 'easy' one — no reward model, just preference pairs. PPO is the classical (and most expensive)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Generation process. Note: the 'rejected' example uses absolute language ('definitely') which the AML rubric penalises.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reward components, weighted. The total is the score used in DPO's preference labelling.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— the thesis statement is 'eval after every stage, not just at the end.' The 3-way bake-off slide (32) is the visual proof of why we trained at all. ~10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eval modes. In production you use all three at different cadences: benchmarks after every training stage; task judges after every release; LLM-judge for continuous 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checkpoints, five eval gates. This is what continuous evaluation looks like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Indicative numbers. Production runs ~0.90+ across all dimensions for SFT-final; base nemotron is ~0.4-0.5 range. The shape (SFT &gt;&gt; CPT &gt;&gt; base) is the meaningful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— 3 slides, all distilled from production experience. The pitfalls slide (35) is what attendees should photograph. ~7 min — then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Hyper-param priority. Learning rate is THE knob. Most teams get LR wrong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pitfalls. Each cost real engineering days. Memorise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M7.2 CPT hands-on. Tell the room: 'Now you do it.' Verify everyone has the notebook open and the nemo-automodel:26.04 container pulled BEFORE kicking off — container pulls are the #1 stall point. The next 60 minutes are theirs.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07D900F6-F9C5-E13E-B321-472E2C064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AC2F1390-BF3D-835C-3CE7-1F9507746C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D93D-C8D9-AAAA-C193-4F162992EE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4FDDD85-BD02-911B-1C62-433286994A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 dirty="0"/>
              <a:t>Click to Add Subtitle/Name/Date</a:t>
            </a:r>
          </a:p>
        </p:txBody>
      </p:sp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F434B88-2544-75AC-CBB8-19A1035D12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70B57E-B314-99BB-8DF8-2672644B4F4E}"/>
              </a:ext>
            </a:extLst>
          </p:cNvPr>
          <p:cNvSpPr/>
          <p:nvPr userDrawn="1"/>
        </p:nvSpPr>
        <p:spPr>
          <a:xfrm>
            <a:off x="15000920" y="10556523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dirty="0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3F80E6-5287-D931-0053-EF9F8579E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56523"/>
            <a:ext cx="11022523" cy="78645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D89DD87-13E1-B25F-EBCC-2BC52BA4AAC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41440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B869C1B-4BC1-3F4F-4B38-F2FBE6DA615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30012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944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4ED154-5FFA-3349-E601-C5300B673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7545933-CFED-CEA2-1D6E-C227DD927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53729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B5A3B7-671E-C83C-D30C-891E7AC206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591E553-3F88-CE75-0B41-84F0FCE66A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4C6155-7E24-522A-D9BC-0187CC5320D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777A-F626-7644-27B7-BFAC0B981393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F5163-CB61-79FB-F160-F5D40ECCE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4DE4CF-0F8A-C449-EB63-E6FB16955E7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B67495D-7B41-2537-BC39-7393489E5B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BB3E37-708E-211E-579F-07C9AF797C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0FC4D5-AB7A-23D7-9D7B-80DEBB4B5F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46F2B23-740A-C60D-727C-DC63D8F8D8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AAC10-E9F2-1A13-3A59-F02BCBD31C18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CD6812F5-ABE3-E984-84D2-2BCF62F749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8D5FFB6-C6A8-037E-5413-097EB66C5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EAC335-6BA5-09DF-D45A-2D1E4919D6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7F3906-FA1F-F5DB-AEEC-275E973390E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02BC1FA-1DB5-2C7E-04B8-FED750886E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2AEF98B-5FB8-3A4F-796B-DD99AF3F2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1F2F2-6278-B4DF-1110-A1875E182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B4011BA-8847-33A7-3882-70122015054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B4AC74-E8E5-AA23-89B3-FDB8D3DEFA5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solidFill>
                  <a:schemeClr val="bg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29695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ECDE791-270C-BF8C-81C1-76A0831C1A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45783C-AD8B-1C6E-6189-2C6A7ED49E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7C7C90A-73D6-E171-33CA-4E89BA293C6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93474C4-48DE-3777-A7E6-66A14FC6BB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FA87B4-E089-FC07-89C2-EA0620853B79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4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2E9B9-4BF5-6080-A68D-577B3CFA39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D73545-7C20-075B-2C1C-DF7F4214DAD6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A42E39E-F558-16B2-B1CE-93D204E34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16075D2-4650-7EB1-4F7E-447F77C065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0247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8B60F29-EAFD-D95F-11A7-522A796CA55D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EF5E0159-2062-54D4-B444-4F04EED23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A7D3A0-47E2-AF7B-E89C-6F90C67A89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7F9A406-CE29-3A8D-BC16-6BD86203C8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6CCF06A-1AE0-649C-7FD4-A4AD4CCAD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28BF97-25AA-1462-7737-C9F688962248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E7F96C-8641-759A-C4B4-91D493A323B7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D2AD3A61-7583-56FE-D581-B662F99B0A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55D1BC-2F32-1320-2F7E-E97C10EFE149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23CD4AC-6599-9139-48AD-37DCAEFC9C0F}"/>
              </a:ext>
            </a:extLst>
          </p:cNvPr>
          <p:cNvSpPr/>
          <p:nvPr userDrawn="1"/>
        </p:nvSpPr>
        <p:spPr>
          <a:xfrm>
            <a:off x="32689800" y="18333715"/>
            <a:ext cx="3886200" cy="22402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F8CE70B-4A73-2CDA-4106-8F959E3578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302065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303E50-8A83-54D2-8D06-1904385F2B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1B69A0B-9760-28C1-5DE8-5EE814EF52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31768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65C1B2-04C0-DFB7-6EBD-AB040BF7DEFF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chemeClr val="tx1">
              <a:lumMod val="95000"/>
            </a:schemeClr>
          </a:solidFill>
          <a:ln w="9525">
            <a:noFill/>
          </a:ln>
        </p:spPr>
        <p:txBody>
          <a:bodyPr tIns="219456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4000" dirty="0" err="1">
              <a:solidFill>
                <a:schemeClr val="bg2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1C472DC-2279-F186-008D-6EC9A40B3DCA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F31711-1359-3AFC-3118-FB20395A8CC3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C69E3B1-A791-DCBA-5395-FDEBE9D699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C2502-4915-5E9A-D92C-046E02303113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16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94EE8E-8499-E649-9D65-52E13C0DE2CB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224051-F6A0-1C68-72F2-09CC08062F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3684755-C5FC-AC50-65BB-81DB0D4B45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C3B833-0169-9942-0C34-3173DDB88C15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A304D4-014C-60EE-E0A3-7A7D03BDE871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3" name="Picture 1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56AC6FBB-55BD-E1DC-D634-E645384BD9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03C766-949A-7CC3-8AB3-538B5C8F7C6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54F47D23-438F-22E0-F300-A852BA1BDC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7665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F6DF6B-AA28-1E18-7D69-34A1E206799E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F8B1F53-1589-33D7-3C32-077E788C6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F4C1EF-D7E4-3702-6092-EFE862FFB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137DE7-1D7A-32A3-A88D-722BA52766C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7B295-1243-2BBD-AC77-7002AC68B56D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0" name="Picture 9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F124724-C9CF-DF8A-9FE0-CE1C65F9B0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23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5DADC-C505-F594-3ED9-E07FA6C3859F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21B97FD-6C93-BC60-D63A-B88F2C3C2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9BB0DECC-5F4B-7918-876B-2BF2EA6527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FD8965-93AC-C44D-A13A-AA1A59E48E89}"/>
              </a:ext>
            </a:extLst>
          </p:cNvPr>
          <p:cNvGrpSpPr/>
          <p:nvPr userDrawn="1"/>
        </p:nvGrpSpPr>
        <p:grpSpPr>
          <a:xfrm>
            <a:off x="0" y="19504414"/>
            <a:ext cx="2330569" cy="1082936"/>
            <a:chOff x="0" y="19504414"/>
            <a:chExt cx="2330569" cy="10829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76025B-4D61-0E71-7F02-BE092B8B6E56}"/>
                </a:ext>
              </a:extLst>
            </p:cNvPr>
            <p:cNvSpPr/>
            <p:nvPr userDrawn="1"/>
          </p:nvSpPr>
          <p:spPr>
            <a:xfrm>
              <a:off x="0" y="19697679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3868D588-6D8B-CDEB-A2E0-D376E5C6CE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131" y="19504414"/>
              <a:ext cx="2003438" cy="690238"/>
            </a:xfrm>
            <a:prstGeom prst="rect">
              <a:avLst/>
            </a:prstGeom>
          </p:spPr>
        </p:pic>
      </p:grp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822DB8DA-38BC-95A4-39B5-5464378B46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422623" y="0"/>
            <a:ext cx="20153377" cy="20574000"/>
          </a:xfrm>
          <a:prstGeom prst="rect">
            <a:avLst/>
          </a:prstGeom>
          <a:solidFill>
            <a:schemeClr val="tx1">
              <a:lumMod val="95000"/>
              <a:alpha val="61000"/>
            </a:scheme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lang="en-US" sz="4000">
                <a:solidFill>
                  <a:schemeClr val="bg1"/>
                </a:solidFill>
                <a:latin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9736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6FA34CC3-F5EE-3A8A-AA13-FC23B233B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1A682B68-3659-B898-36D3-E447501FB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59F3285-DAE4-EEAA-1022-7AE1DD168FD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ACFA6DD-1412-CA3C-15F4-ED8AD6B2B85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36BBB72-064F-A97E-FE2D-2916C4D3DAF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3068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4B512-77C9-3A9F-0589-67D0C765FDC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C8AA277-6DD1-2CCF-12CD-C2AD75B0A1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DD79B1E-BCCA-42A9-FF20-7B376772A56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8FAA03E-2924-5648-AA06-0B8C894A49DD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4A33F69-6DBC-F1DB-EAD6-D5B9002DF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430B97A-31FA-023E-3290-2B9B63D00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28295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BBA88D4-0997-C5B9-36CF-9B1633F8B5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E739272-8253-AD42-BD05-8F666D4982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8AB0E9-F286-1C40-1AD6-B85103B0AF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1FC3074C-54D1-DCE0-426E-97BA7CD58B8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F25477F0-8392-CEDA-19F2-0A29016EECC0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A2AF85A-9EEE-C062-1006-74D7741E330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39E96633-6475-1F2C-E726-28BE8668FBC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2428D4D-F13F-B280-6137-8C32CD9EEF0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85611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Layou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16114AB-138A-4EAC-3492-E7D7CA151D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4B79CE2D-84D0-541E-C116-5E768BBF94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3431A644-F8BA-5000-F78A-9BB8A4809E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B46989B9-88FE-F861-A0B6-8F80720B5C7E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973B8B69-1B16-2A38-932F-E517F5C052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660E8F47-2868-457B-7861-466422E3423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3B5FB899-4F67-DA8C-A516-B71387137DB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1A5AAD0-2B0D-F6DE-8C5D-5C0625FD55A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DBD83B1D-F849-2310-DE25-451C7BD75C5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0292527-B9F3-D59F-1575-33C8C564E87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8011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06EC4D90-EA3E-9A18-FEA5-3EEF50715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3BFC61ED-E368-EADF-A0C1-3AE9904C78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5FE98CD1-AB1E-1E7B-2FF4-F7E242CBAB8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CCE8B13-298C-67A4-073D-4636A3BCE7A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F9FA27DB-2E4D-388B-2F4A-FE708B1D264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5E18C58-3C84-ECE1-A164-6A5FF953635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D55A3EC-8AF3-3222-5E82-1A74FA5AB0D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9A555E-B5A7-F2B9-6D6D-E24CAD68B92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EFC4CC4C-42B6-5D87-37D6-FE779B1ABFE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4DE79F6-DE99-BDFD-033A-5AB8981A3A0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6F712D3-EAE3-8A7F-010B-AFEF00AE6B0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06806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59D9FFB-F331-2BA3-76DB-D0D67666F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737A17E-9A03-1AA3-D59C-3833F19EFE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7FF59CD9-73FD-415B-F082-C27D3FC74CC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90082BEB-34AF-6104-9172-84A9393C73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1ACBD8DD-E9B6-20E0-AF99-F566611D525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2">
            <a:extLst>
              <a:ext uri="{FF2B5EF4-FFF2-40B4-BE49-F238E27FC236}">
                <a16:creationId xmlns:a16="http://schemas.microsoft.com/office/drawing/2014/main" id="{3F34C73B-16DF-6108-33FA-2019F4A18A9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A0C0A2B-E05B-6582-22E0-E2FB87D4F5F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252818C-30B9-BEAB-C34B-3FDB45B0785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E94F7E10-2AF0-1049-A3BD-C3667BA1A7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E2100E-D959-41B2-929B-D1BC55772019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9556000-DFCA-8B90-EBBC-359C95C3B36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0DB8C8F-25FA-6C95-C2D7-C138BAA32B5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3D94597-BF94-1410-90DE-B1569E6B339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BF06A1A9-1746-181C-9E88-1422CE2DFEC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13558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907B76C-DA4A-68FA-C798-F3D3ED6D3E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80A5F7E9-98C2-BE12-2CFF-1D4269C21CE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40D16D0-F1BB-6699-BB7A-3010F14B4E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69BAFFD-DE29-C3FE-3E3D-0742C54E776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6F8CDCB5-2334-0382-7EDF-D6A8C4C3791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3E8130F2-A049-2C2C-49C2-814F60E02EF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2EF59D26-21AA-0628-FEAE-B2017AD93D4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FA27073E-24AC-35B6-4579-F3553211D14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B7137105-F7C8-86F9-A19D-CC0280C9551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C215F7B2-F4E2-412D-DB90-96FF4E146F1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F6B1B50B-4191-7EA1-DD61-A96EBE2A0C65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65B4C94D-3029-61DE-18DE-8A6472E970B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CE518717-6ECD-F803-EEF8-2B2D7CF9EB4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C5D8EE17-AD94-2DE2-C337-573533395DAF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85A95BB1-6B72-7CA5-06BB-430623F1D27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8DC5F873-F78F-F1B6-1AFB-37B1EE5098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8631CFA9-583B-6069-2D7A-BD83D75791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1443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1953C1A-70BD-1EAA-9874-87A836A8195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9252F9A9-D932-EDF6-7A48-D5D93A40455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D0D95889-F2DB-3BC9-69A2-99832FFC98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20BBE6F4-0357-A4FD-1E64-134C0BB676E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BFAE3A57-5BF4-79B4-4629-2CC735C71F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9A50CCA-B5CD-F9AE-216F-C421A1BD9F0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57508AA-A2C8-98B6-81F3-50D83C5092C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4222A90-C423-A76E-E4A1-DC33CE530C3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4209A868-D6F4-3E49-A6A2-D0B83BADF3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9C37E9B7-863B-6FEB-5E35-885ED1194BF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577FA631-E033-ADBD-0DC9-D0DB5E39C199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381881A2-4556-E0E7-4976-CE4CA8B44BD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3E8E5407-C49C-0C9D-34F8-F6F0488021F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2DA5A94-C231-4766-8AC7-EF73C16EBD6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00B4030C-05CF-B466-BA8F-C340617A578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94CEECC-D038-E547-DC3E-DE08CED8E7DA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94DC10A-126A-4CF6-0FD2-5B6BB2EFDEBD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57F8B789-2F41-F510-798B-CCE7F38AB05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01540E5A-2872-4A69-C821-D69B87963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C4FBCAD5-F75E-2024-91A6-AF69090C6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37050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44D2068-6849-9B7C-6BC5-5E5F7AA4A62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BD648D6-A7DD-1281-7F44-26AAC46ED2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A889FC2-EEE4-383A-34F1-AA6640C2BEE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7DD1B20-C6FB-A50F-E2B0-453434ECCBA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E5F378B-4650-A769-498F-70E97D83294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4D0EBD50-D183-BA46-8F9A-CA94A31E251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B28D2A90-D084-131D-BC81-F32026B9D485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31F641B-69D7-D8F7-664B-8DC4432B48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523F0B05-8C96-0447-48C6-977D2CE109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450F6A7B-55D2-E137-09E7-D5EB0FECCA2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36E7E436-EF57-51FD-A8FB-FDA402DAB66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11D06D85-EEB0-0A4E-44A0-04EB0FDA4913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CAB601B-BE03-84B9-C2D3-F9A9DD36F0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2901EEFF-A05E-86EF-2959-BEBE7506CE3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CA5DE0BE-2247-E600-19F8-62852DE95A3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7D33E875-82FA-EFBA-E610-7A1BB8D8E0D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16E04D83-5D56-3ED0-0106-291190FF16C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B72D7370-4F41-FFA7-2106-37908325FCC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AFF43D71-DEF4-2B0C-C6B4-BCAFBD85271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F818D8AD-CFB5-A8CB-CABB-19C1B1AFE5B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23409FA5-2A41-C5C8-6575-A607630F90F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3B193957-7130-A79D-273C-851474BDCD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A822B21-EE98-CD37-EC99-C8836B3004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59005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5EA57D4F-DD4C-CA06-8F17-B354B7AF0AE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06F88D93-EC5D-0F4F-2D03-D40CFF157D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E2460103-C7AD-1E73-A79D-2130A59BA4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CB4626F4-FF48-A6FD-42A0-87CB9D35E8B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BBF469D-EB9A-C1CD-A4E0-EFCD4EF63E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98E7A27-AB90-AE4B-9C41-537061139935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375CDD23-925E-31A1-C3FF-2D6ED9D05AA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15BDAD05-3EAC-DFAA-EDD1-1D9E9C00211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360B2E4-D618-5423-3E76-F376EBCA010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AD06D986-4434-AF51-6805-3B97BBB7694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1F515353-8B00-746C-A2DE-32E93A0F1A0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5744BB22-B21A-41F1-3AC0-E5405D3F38B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435F4BE-979D-A31E-822F-BE5B89134C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77BC232-CE11-33FD-E959-01E1784345E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44F4CD93-1747-0EB8-E78A-72E497AAB23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1A697863-003A-44B9-586E-527F58EF78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1F4D18-0362-FD9E-AC25-A4A81A8B19E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53B0CD77-A671-31CB-AC75-0C7EC845BB1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D5373FC8-B0DB-5978-E125-CA5A68C0257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E6B03167-9698-83DC-3B32-0493773EDDC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A6B7D653-72EF-B0B1-6654-9E4D6E8DCA7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68246EB6-5778-F487-E211-E6E38EDCBD3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6E19FE0-274C-8D86-A257-C3C9C6050C5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6EE28B31-BBFD-198B-6E2A-89E9C4CCFA8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7782373E-DEA5-D3FA-DF0B-FC71246BA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6E4B878-2BFA-C852-759E-04F4BD4E45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95906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AC8872D6-E3D9-128D-6975-7E43AE049D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124D63DA-1ECC-62E5-3223-DD9853116B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4296C6CE-75C2-58D3-2077-098855EC50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B889168-9CA5-7858-11A4-7E282071DDD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3F8F5E2E-FAA9-873C-63EB-B4940E3D4908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119A3EE3-90A6-60F9-3E78-60D1CE1FB24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C639A2E5-6B54-F354-C964-79CE29BEB3D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405A4B4F-FDD8-68B8-BEC0-2C9F5E7703B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A9D8994-57AB-FC46-F970-8A9BC7CAD2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34A2868F-2DD9-684C-4C82-813EEBD15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D2FB10F1-37BA-6882-EBF3-73F1E627FFB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F7972475-48C0-DE70-4A42-09E610902CE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3F70687-E13E-779B-ECD8-584B6FB4FB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EB21B6ED-31E4-7226-13B1-F2AA1B5EC045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6C21D96F-4A3F-E55C-9A59-55E018F25D9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485D12D2-2B06-3201-0659-EE86413C68D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7241A741-AE7C-3428-6194-0F6E94BF06F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D28CF82-511F-AF83-F5D5-77ECB99010E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1439B33F-68A6-6AFE-68C2-8A0B706EE9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1B9EFC83-50E5-49BB-B838-4F101E95A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BFB3F389-B76A-63C4-BC38-E857B1B0979C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8AAEBAC8-FBC5-9068-A8B4-AEE29F8FC0A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17BBB11-F155-8A2D-2741-A48639DDC938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74BB25EE-CFA9-E005-5BB1-CAC4EA6436E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3505C59D-AFAD-58D3-4166-F5257E096C44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9183A493-96AB-21A4-F2F2-55F4C25B4A3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39F09929-49C9-A912-1E78-C37DD2A4005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700C3A0-30EC-1996-7732-DE4E1CF95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A0EDA14A-3243-B144-7B6A-EA7981E5D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859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9B94E87-6C45-B9E5-F5AE-D69D71E616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60A4EC5-468D-A3E6-9294-084BA073A2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AB65765-2201-817D-E699-AB8E899F5A0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54B1517-FE34-AAC0-C4EE-52F7D477D2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30BC2C71-2AC1-DDC7-734C-63EE3CA218F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A5495BC-7C50-8C58-B54F-D3C882FECC1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48C56C91-18A4-7D8E-94FC-6714566B099C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528A02C1-AD1D-1EE4-C6AC-3B590D5277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1D675D5-3EFF-B8AD-BA35-187E996A9B6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1029ABF-1C3A-2F51-92CB-AA5A3AC353F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8FE2B66F-F99F-570D-A31D-3578C4B3B17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42FEAB60-4C6E-41A0-FC52-815836156837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A2963118-2A95-082A-4DFF-6C0DA33F59B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F1791F3A-0E82-06A9-0588-000305CD159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7E0D42E0-350E-2247-45F3-56D42F8A4B66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7640883-7B53-617D-BE12-A19E85F82D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D9B189E3-4BDB-A032-87AD-39D194013B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2A34B9E8-CFB0-ABCC-D2C4-A8F174FDB90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716C5C95-2BC4-4D5A-9F5E-FA8B8CECBF6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471A9256-6A6C-5C2D-1DEA-813569F4D29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43D755B0-CB88-73DF-77BE-F524AF55542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3198CB65-E1BB-0862-2BBA-EDF38803C3B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D76AC962-A132-DA02-DE26-644561C88B3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7EC2D322-35AF-3168-CAE7-F7242C22DE6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B0179DD1-4F77-A229-F54C-117D786F649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1B3ED7E6-3440-4DEC-6512-E64B9960C25B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C3AE372-0E56-771E-CCB5-C1E77A38D34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F415D1AB-B98D-8EC8-08B0-3DAD5A3D8CB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5A71691E-DD29-C12F-E295-A972376CE11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09DF864-DBFA-F92D-B685-429A430B26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6" name="Title 1">
            <a:extLst>
              <a:ext uri="{FF2B5EF4-FFF2-40B4-BE49-F238E27FC236}">
                <a16:creationId xmlns:a16="http://schemas.microsoft.com/office/drawing/2014/main" id="{4AD4D5AB-34C6-812D-8AD2-BF8272B628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B1FCE4BF-7751-CC7B-D446-A5791D382E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32241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113010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- 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FC72E11-DD16-4EAC-A294-E115038AA2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339081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834EEA-7CA3-4C82-B29B-3EA15B8822C9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7" name="Media Placeholder 7">
            <a:extLst>
              <a:ext uri="{FF2B5EF4-FFF2-40B4-BE49-F238E27FC236}">
                <a16:creationId xmlns:a16="http://schemas.microsoft.com/office/drawing/2014/main" id="{95086AA8-FFA8-416F-AD2F-0B7223809227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tx1">
              <a:lumMod val="95000"/>
            </a:scheme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lang="en-US" sz="8400" b="1" dirty="0">
                <a:solidFill>
                  <a:schemeClr val="bg1"/>
                </a:solidFill>
                <a:latin typeface="+mn-lt"/>
              </a:defRPr>
            </a:lvl1pPr>
          </a:lstStyle>
          <a:p>
            <a:pPr marL="857250" lvl="0" indent="-857250" algn="ctr"/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white background&#10;&#10;Description automatically generated">
            <a:extLst>
              <a:ext uri="{FF2B5EF4-FFF2-40B4-BE49-F238E27FC236}">
                <a16:creationId xmlns:a16="http://schemas.microsoft.com/office/drawing/2014/main" id="{708A9C7D-B92D-A13B-AE0E-7F3EA434A1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1316F0-7ADD-BB87-23BE-740C3B3B0100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1478E8-E56F-B47D-1F5A-CBA4655161C3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66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868E8BC8-DCAA-6E80-5181-5371045BDE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46080A-6CDE-3FF2-A128-47CFF5F0C9C5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4798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white background&#10;&#10;Description automatically generated">
            <a:extLst>
              <a:ext uri="{FF2B5EF4-FFF2-40B4-BE49-F238E27FC236}">
                <a16:creationId xmlns:a16="http://schemas.microsoft.com/office/drawing/2014/main" id="{19281CF6-82C4-D591-C93F-79BF14277C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0EE250-813A-B3FC-C9DB-11B6E237EC3B}"/>
              </a:ext>
            </a:extLst>
          </p:cNvPr>
          <p:cNvSpPr/>
          <p:nvPr userDrawn="1"/>
        </p:nvSpPr>
        <p:spPr>
          <a:xfrm>
            <a:off x="0" y="6963916"/>
            <a:ext cx="36576000" cy="13610084"/>
          </a:xfrm>
          <a:prstGeom prst="rect">
            <a:avLst/>
          </a:prstGeom>
          <a:gradFill>
            <a:gsLst>
              <a:gs pos="78000">
                <a:srgbClr val="FFFFFF">
                  <a:alpha val="55000"/>
                </a:srgb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7CCEE02-87E6-1F2B-7676-44BDF7788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b="1" cap="none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B50D318-3396-F41C-08C9-6F12DDA735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1A4C02-2335-3840-A0B5-647FE4372B5A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27B64A9-49B7-26AE-EEC1-3DFB7714FDF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5B24A7F-7007-8F97-B7C8-699C593826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E9F7FB4-6AA0-B491-27B8-845C8CCE95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1C6138-3339-1502-9812-8B9B39AF6D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56B4F135-9336-3722-2593-739C386518B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16A6D24-C230-8F9B-A12F-04BF3B073AA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36F5CC89-1592-52B8-63DE-F83AAF64EB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1F14B17-DED6-D507-0F6F-0880EA7DD5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549A52FF-8F33-D50C-49C1-0A55140F33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5D8802B-FD04-DC3F-D5E6-9A1D927089A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4956259-B8C8-1248-4F09-69EFFCCA6C2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A510AB1-7D48-519B-BE8D-994DD848CC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0F3F011E-890F-E527-A5CB-421C1CE541C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1CAB8F0-0055-E057-4C4A-7B3C6F7B94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D8F5B73D-560B-E470-3B25-EAD525666B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1960F0BA-603E-23D9-F49B-C5B4462632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BBA2ABA5-D670-2BB6-7840-47F6198C0D4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CBEE0231-5854-76AF-A0C6-70879C2EA77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bg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76ABB2-52CB-85AB-C186-532F75164A9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3880F57-14E0-B28C-BF79-E4DCF3B7D6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5890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white background&#10;&#10;Description automatically generated">
            <a:extLst>
              <a:ext uri="{FF2B5EF4-FFF2-40B4-BE49-F238E27FC236}">
                <a16:creationId xmlns:a16="http://schemas.microsoft.com/office/drawing/2014/main" id="{3BFE9B15-7828-3FC3-BCF0-23F89A130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79F16E-B355-8896-6563-603510529C31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5A15EA-E928-94AA-543D-8EA2FF0183F9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F43A3E-D43D-124C-0C49-E1D720395FC6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CD9C284-B78C-1241-4B2A-F563F642D0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3456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34FF7EA-90ED-54BC-F712-E8CE0FF23D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06208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9D91CB-444B-B15F-7D27-F8959442EE8D}"/>
              </a:ext>
            </a:extLst>
          </p:cNvPr>
          <p:cNvSpPr txBox="1"/>
          <p:nvPr userDrawn="1"/>
        </p:nvSpPr>
        <p:spPr>
          <a:xfrm rot="10800000">
            <a:off x="17582278" y="12276665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 dirty="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168394-A768-2D2C-2FE6-DB4613D6BDFB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F7CCAE-8B92-5A79-CBAF-C805450DD64B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23509"/>
            <a:ext cx="11394911" cy="0"/>
          </a:xfrm>
          <a:prstGeom prst="line">
            <a:avLst/>
          </a:prstGeom>
          <a:ln w="317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9A1B02-4A67-4CC9-F283-AC371711F42A}"/>
              </a:ext>
            </a:extLst>
          </p:cNvPr>
          <p:cNvGrpSpPr/>
          <p:nvPr userDrawn="1"/>
        </p:nvGrpSpPr>
        <p:grpSpPr>
          <a:xfrm>
            <a:off x="6158753" y="3796809"/>
            <a:ext cx="24258494" cy="4508927"/>
            <a:chOff x="6158753" y="6234204"/>
            <a:chExt cx="24258494" cy="45089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3E7C50-8DF7-896F-E1BB-D5842FE7F8E9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 dirty="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C4E42D4-651A-0018-08AF-103C03C79F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DE2FD7-58D2-230B-D513-D6416CD17B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white background&#10;&#10;Description automatically generated">
            <a:extLst>
              <a:ext uri="{FF2B5EF4-FFF2-40B4-BE49-F238E27FC236}">
                <a16:creationId xmlns:a16="http://schemas.microsoft.com/office/drawing/2014/main" id="{61701B74-047D-F92D-ADA0-7BF31D83E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3" cy="2057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5FB945-6B24-57D3-B359-4FC5884B9E2A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A1354-6E59-B3D9-5AE9-EFF6955F88F2}"/>
              </a:ext>
            </a:extLst>
          </p:cNvPr>
          <p:cNvSpPr/>
          <p:nvPr userDrawn="1"/>
        </p:nvSpPr>
        <p:spPr>
          <a:xfrm flipV="1">
            <a:off x="0" y="1526990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07B0F-0A81-6159-CB17-9A246F14A280}"/>
              </a:ext>
            </a:extLst>
          </p:cNvPr>
          <p:cNvSpPr/>
          <p:nvPr userDrawn="1"/>
        </p:nvSpPr>
        <p:spPr>
          <a:xfrm>
            <a:off x="0" y="1068230"/>
            <a:ext cx="36576000" cy="4218249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688F64-F571-BC4C-9D1B-F87497A44084}"/>
              </a:ext>
            </a:extLst>
          </p:cNvPr>
          <p:cNvSpPr/>
          <p:nvPr userDrawn="1"/>
        </p:nvSpPr>
        <p:spPr>
          <a:xfrm>
            <a:off x="0" y="4143768"/>
            <a:ext cx="36576000" cy="215177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9BB071F-1DED-7BC0-205E-742D1CC39A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78330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— Quote source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52C8912-97F2-5FEC-2170-801AFD44E7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53551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bg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Click to add quote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182597-2C50-3A4E-9225-0ED4ED207042}"/>
              </a:ext>
            </a:extLst>
          </p:cNvPr>
          <p:cNvGrpSpPr/>
          <p:nvPr userDrawn="1"/>
        </p:nvGrpSpPr>
        <p:grpSpPr>
          <a:xfrm>
            <a:off x="6158753" y="5267062"/>
            <a:ext cx="24258494" cy="10102852"/>
            <a:chOff x="6158753" y="6264684"/>
            <a:chExt cx="24258494" cy="101028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B0E8CB-44E4-719C-A5CF-735DA9699441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1D0B919-1FC7-23E4-68BE-05C833FAB722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BD82AED-32A6-66BD-FAD0-B98CE3AFC77E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 dirty="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1EC44D-F0B4-790F-3089-A3B3D01B77A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7DAC6E7-C5E7-D30C-B66F-007182DE7AC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77AA061-58A0-8C4F-C050-0B149A72E6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916F238-457C-1E6C-1D73-143F4C3F61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406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curved lines with a bright light behind them&#10;&#10;Description automatically generated">
            <a:extLst>
              <a:ext uri="{FF2B5EF4-FFF2-40B4-BE49-F238E27FC236}">
                <a16:creationId xmlns:a16="http://schemas.microsoft.com/office/drawing/2014/main" id="{F807122B-A2F6-379E-64FD-A4985E49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8" r="51136" b="926"/>
          <a:stretch/>
        </p:blipFill>
        <p:spPr>
          <a:xfrm>
            <a:off x="0" y="0"/>
            <a:ext cx="17150706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FDB0CE-6D06-5D9D-4F40-64EBE09315DF}"/>
              </a:ext>
            </a:extLst>
          </p:cNvPr>
          <p:cNvSpPr/>
          <p:nvPr userDrawn="1"/>
        </p:nvSpPr>
        <p:spPr>
          <a:xfrm>
            <a:off x="0" y="0"/>
            <a:ext cx="17150706" cy="20574000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14B981-6D72-A82B-BB74-685EAD4F2156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8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 xmlns:a14="http://schemas.microsoft.com/office/drawing/2010/main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green and white&#10;&#10;Description automatically generated">
            <a:extLst>
              <a:ext uri="{FF2B5EF4-FFF2-40B4-BE49-F238E27FC236}">
                <a16:creationId xmlns:a16="http://schemas.microsoft.com/office/drawing/2014/main" id="{F680AE5A-C426-36FD-E875-65C352F89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6AD3F4-3771-EC4B-882B-5E3EA6379A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bg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690F0-C869-92D8-B1E3-3151C511786C}"/>
              </a:ext>
            </a:extLst>
          </p:cNvPr>
          <p:cNvSpPr/>
          <p:nvPr userDrawn="1"/>
        </p:nvSpPr>
        <p:spPr>
          <a:xfrm>
            <a:off x="-1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dirty="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CE798D4-9140-2EC5-6DC9-6C6A5F573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 dirty="0"/>
              <a:t>Edit Text Style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FAAD9D4-FB4F-9DA0-9C5E-7AD5B9D1B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71DC9D6B-A1D3-6E9D-3F5B-25ABC3B87F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6="http://schemas.microsoft.com/office/drawing/2014/main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white background&#10;&#10;Description automatically generated">
            <a:extLst>
              <a:ext uri="{FF2B5EF4-FFF2-40B4-BE49-F238E27FC236}">
                <a16:creationId xmlns:a16="http://schemas.microsoft.com/office/drawing/2014/main" id="{59444DC2-EE0C-D166-FB2A-0933A4B046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3" name="Picture 2" descr="A picture containing graphics, logo, symbol, graphic design&#10;&#10;Description automatically generated">
            <a:extLst>
              <a:ext uri="{FF2B5EF4-FFF2-40B4-BE49-F238E27FC236}">
                <a16:creationId xmlns:a16="http://schemas.microsoft.com/office/drawing/2014/main" id="{9BB9031F-8728-8968-10CA-E5BDE38FC7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25" y="773531"/>
            <a:ext cx="8365991" cy="288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4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A1210-4468-5B83-C91A-BBA62AF1227D}"/>
              </a:ext>
            </a:extLst>
          </p:cNvPr>
          <p:cNvGrpSpPr/>
          <p:nvPr userDrawn="1"/>
        </p:nvGrpSpPr>
        <p:grpSpPr>
          <a:xfrm>
            <a:off x="34061399" y="19504414"/>
            <a:ext cx="2514601" cy="1072783"/>
            <a:chOff x="34061399" y="19504414"/>
            <a:chExt cx="2514601" cy="107278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6547AF-589A-45F3-BD57-EACA3BF60CFD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dirty="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9" name="Picture 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0F64E9CA-B4B2-365B-092F-3051F7475E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61399" y="19504414"/>
              <a:ext cx="2003438" cy="690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22" r:id="rId3"/>
    <p:sldLayoutId id="2147483718" r:id="rId4"/>
    <p:sldLayoutId id="2147483681" r:id="rId5"/>
    <p:sldLayoutId id="2147483680" r:id="rId6"/>
    <p:sldLayoutId id="2147483682" r:id="rId7"/>
    <p:sldLayoutId id="2147483683" r:id="rId8"/>
    <p:sldLayoutId id="2147483705" r:id="rId9"/>
    <p:sldLayoutId id="2147483685" r:id="rId10"/>
    <p:sldLayoutId id="2147483686" r:id="rId11"/>
    <p:sldLayoutId id="2147483687" r:id="rId12"/>
    <p:sldLayoutId id="2147483691" r:id="rId13"/>
    <p:sldLayoutId id="2147483688" r:id="rId14"/>
    <p:sldLayoutId id="2147483690" r:id="rId15"/>
    <p:sldLayoutId id="2147483689" r:id="rId16"/>
    <p:sldLayoutId id="2147483692" r:id="rId17"/>
    <p:sldLayoutId id="2147483693" r:id="rId18"/>
    <p:sldLayoutId id="2147483709" r:id="rId19"/>
    <p:sldLayoutId id="2147483723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695" r:id="rId29"/>
    <p:sldLayoutId id="2147483721" r:id="rId30"/>
    <p:sldLayoutId id="2147483694" r:id="rId31"/>
    <p:sldLayoutId id="2147483719" r:id="rId32"/>
    <p:sldLayoutId id="2147483724" r:id="rId33"/>
    <p:sldLayoutId id="2147483720" r:id="rId34"/>
    <p:sldLayoutId id="2147483672" r:id="rId35"/>
    <p:sldLayoutId id="2147483708" r:id="rId36"/>
    <p:sldLayoutId id="2147483725" r:id="rId37"/>
    <p:sldLayoutId id="214748367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a14="http://schemas.microsoft.com/office/drawing/2010/main" xmlns:a16="http://schemas.microsoft.com/office/drawing/2014/main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bg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Training the Brain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CPT · SFT · RL with NeMo Framework · 90 minutes of theory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Where We Are in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Phases 1-2 are done; phases 3-5 are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99232" y="8778240"/>
            <a:ext cx="1316736" cy="1316736"/>
          </a:xfrm>
          <a:prstGeom prst="ellipse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data_dl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47360" y="10241280"/>
            <a:ext cx="1097280" cy="914400"/>
          </a:xfrm>
          <a:prstGeom prst="rightArrow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056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6032" y="8778240"/>
            <a:ext cx="1316736" cy="1316736"/>
          </a:xfrm>
          <a:prstGeom prst="ellipse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760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data_proc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424160" y="10241280"/>
            <a:ext cx="1097280" cy="914400"/>
          </a:xfrm>
          <a:prstGeom prst="rightArrow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5824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752832" y="877824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528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24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onsolas"/>
              </a:rPr>
              <a:t>cpt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5300960" y="10241280"/>
            <a:ext cx="109728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4592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629632" y="877824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296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onsolas"/>
              </a:rPr>
              <a:t>sdg_sft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0177760" y="10241280"/>
            <a:ext cx="109728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3360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506432" y="8778240"/>
            <a:ext cx="1316736" cy="1316736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5064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360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onsolas"/>
              </a:rPr>
              <a:t>run_sft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5054560" y="10241280"/>
            <a:ext cx="109728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62128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383232" y="8778240"/>
            <a:ext cx="1316736" cy="1316736"/>
          </a:xfrm>
          <a:prstGeom prst="ellipse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3832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2128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deploy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9931360" y="10241280"/>
            <a:ext cx="1097280" cy="914400"/>
          </a:xfrm>
          <a:prstGeom prst="rightArrow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00" y="8412480"/>
            <a:ext cx="3657600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2260032" y="8778240"/>
            <a:ext cx="1316736" cy="1316736"/>
          </a:xfrm>
          <a:prstGeom prst="ellipse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60032" y="8778240"/>
            <a:ext cx="1316736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0" y="10424160"/>
            <a:ext cx="365760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13898880"/>
            <a:ext cx="1828800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↑  You are here  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90-Minute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Six sections · 36 slides · take notes — this is the densest hour of the workshop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5852160"/>
            <a:ext cx="2926080" cy="36576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85216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621792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NeMo Framework 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768096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AutoModel · Megatron-Bridge · NeMo RL · NeMo Gym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653760" y="585216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653760" y="5852160"/>
            <a:ext cx="2926080" cy="365760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0" y="585216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0" y="621792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Continued Pre-Training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0" y="768096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Domain adaptation · 2-level strategy · parallelism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1005840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10058400"/>
            <a:ext cx="2926080" cy="365760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1005840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042416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5D1682"/>
                </a:solidFill>
                <a:latin typeface="NVIDIA Sans Medium"/>
              </a:rPr>
              <a:t>Supervised Fine-Tuning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188720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Chat templates · loss masking · LoRA vs full-FT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653760" y="1005840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653760" y="10058400"/>
            <a:ext cx="2926080" cy="3657600"/>
          </a:xfrm>
          <a:prstGeom prst="rect">
            <a:avLst/>
          </a:prstGeom>
          <a:solidFill>
            <a:srgbClr val="007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653760" y="1005840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11360" y="1042416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0071C5"/>
                </a:solidFill>
                <a:latin typeface="NVIDIA Sans Medium"/>
              </a:rPr>
              <a:t>RL Post-Training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0" y="1188720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DPO · GRPO · PPO · NeMo RL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426464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11680" y="14264640"/>
            <a:ext cx="2926080" cy="3657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1426464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1463040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E8A317"/>
                </a:solidFill>
                <a:latin typeface="NVIDIA Sans Medium"/>
              </a:rPr>
              <a:t>Evaluation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1609344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Bake eval into every checkpoint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653760" y="14264640"/>
            <a:ext cx="16093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653760" y="14264640"/>
            <a:ext cx="2926080" cy="3657600"/>
          </a:xfrm>
          <a:prstGeom prst="rect">
            <a:avLst/>
          </a:prstGeom>
          <a:solidFill>
            <a:srgbClr val="890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53760" y="14264640"/>
            <a:ext cx="2926080" cy="36576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NVIDIA Sans Medium"/>
              </a:rPr>
              <a:t>§6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311360" y="14630400"/>
            <a:ext cx="120700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 Medium"/>
              </a:rPr>
              <a:t>Best practices + pitfalls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11360" y="16093440"/>
            <a:ext cx="120700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What we learned the hard 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1 · NeMo Framework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Three Frameworks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One name (NeMo); three different training surfaces — pick the right one for your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NeMo AutoModel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HuggingFace-native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607040"/>
            <a:ext cx="932688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Pro: fast iteration, HF interop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Con: lower scale ceiling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Megatron-Bridge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0" y="84124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Megatron-core at max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0" y="10607040"/>
            <a:ext cx="932688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Pro: TP/PP/EP/CP for 1000B+ models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Con: heavier setup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4016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NeMo 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0" y="84124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DPO / GRPO / PPO post-training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0" y="10607040"/>
            <a:ext cx="9326880" cy="69494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Pro: built-in reward modelling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Con: needs preference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When to Use Which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Decision drivers for picking among the three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66928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NVIDIA Sans Medium"/>
              </a:rPr>
              <a:t>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566928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 Medium"/>
              </a:rPr>
              <a:t>AutoModel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0" y="566928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008564"/>
                </a:solidFill>
                <a:latin typeface="NVIDIA Sans Medium"/>
              </a:rPr>
              <a:t>Megatron-Bridge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0" y="566928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5D1682"/>
                </a:solidFill>
                <a:latin typeface="NVIDIA Sans Medium"/>
              </a:rPr>
              <a:t>NeMo 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731520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73152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Model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73152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≤ 30B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0" y="731520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Any · esp. 70B+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0" y="731520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Any (post-trains)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896112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896112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Compute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896112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1-8 GPUs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0" y="896112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8-1000s of GPUs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0" y="896112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8-64 GPUs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1060704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1060704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Training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1060704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Full FT · 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0" y="1060704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Pre-training · SFT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0" y="1060704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DPO · GRPO · PPO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1225296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1225296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Iteration speed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225296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Fast (hours)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0" y="1225296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Slow (days-weeks)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00480" y="1225296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Medium (1-3 days)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1389888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0320" y="1389888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HF interop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389888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Native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0" y="1389888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Bridge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0" y="1389888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Via base ckpt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11680" y="15544800"/>
            <a:ext cx="3291840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155448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Best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15544800"/>
            <a:ext cx="73152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76B900"/>
                </a:solidFill>
                <a:latin typeface="NVIDIA Sans Medium"/>
              </a:rPr>
              <a:t>SFT / LoRA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0" y="15544800"/>
            <a:ext cx="87782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008564"/>
                </a:solidFill>
                <a:latin typeface="NVIDIA Sans Medium"/>
              </a:rPr>
              <a:t>CPT at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00480" y="15544800"/>
            <a:ext cx="80467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0" i="0">
                <a:solidFill>
                  <a:srgbClr val="5D1682"/>
                </a:solidFill>
                <a:latin typeface="NVIDIA Sans Medium"/>
              </a:rPr>
              <a:t>Alignment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What We Use in This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The recipe behind the AML model — and what you'll run on your 2× H100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6583680"/>
            <a:ext cx="1609344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Production AML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77824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877824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nvcr.io/nvidia/nemo-automodel:26.04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042416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Base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042416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Nemotron-3-Nano-30B-A3B-FP8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207008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CPT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07008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AutoModel · 8× H100 NVL · 6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371600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SFT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371600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AutoModel · 8× A100 SXM · 6-10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536192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36192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Consolas"/>
              </a:rPr>
              <a:t>NeMo RL · DPO · 8× A100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653760" y="6583680"/>
            <a:ext cx="1609344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008564"/>
                </a:solidFill>
                <a:latin typeface="NVIDIA Sans Medium"/>
              </a:rPr>
              <a:t>Your 2× H100 hands-on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0" y="877824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Container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0" y="877824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nvcr.io/nvidia/nemo-automodel:26.04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0" y="1042416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Base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60" y="1042416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Small Nemotron Nano surrogate (CPT)</a:t>
            </a:r>
          </a:p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         · 30B-A3B + LoRA (SFT)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0" y="1207008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CPT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0" y="1207008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AutoModel · 2× H100 · 10-25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0" y="1371600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SFT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40160" y="1371600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AutoModel + LoRA · 2× H100 · 10-25 steps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0" y="1536192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0" y="1536192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8564"/>
                </a:solidFill>
                <a:latin typeface="Consolas"/>
              </a:rPr>
              <a:t>DPO demo · 5-10 steps · instructor-driven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2 · Continued Pre-Training (CPT)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CPT — What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Adapt a base LLM to a domain's *language*, not its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76B900"/>
                </a:solidFill>
                <a:latin typeface="NVIDIA Sans Medium"/>
              </a:rPr>
              <a:t>What CPT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463040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Continue the pre-training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objective (next-token prediction)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on domain-specific raw text.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Goal: the model reads your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domain's text fluently before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it tries to do anything task-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specific.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Output: domain-adapted base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model (still general-purpose,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but speaks the dialect).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0" y="6510528"/>
            <a:ext cx="157276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When CPT pays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0" y="8412480"/>
            <a:ext cx="146304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Strong jargon / domain dialect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0" y="10058400"/>
            <a:ext cx="146304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Lots of unlabelled corpus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0" y="11704320"/>
            <a:ext cx="146304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Base LLM clearly underperforms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0" y="13350240"/>
            <a:ext cx="146304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Plan to do SFT after anyway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0" y="14996160"/>
            <a:ext cx="146304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0">
                <a:solidFill>
                  <a:srgbClr val="76B900"/>
                </a:solidFill>
                <a:latin typeface="NVIDIA Sans Medium"/>
              </a:rPr>
              <a:t>✓  Have ≥ 1B raw domain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Our 2-Level CPT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L1 broad financial register → L2 AML-specific dialect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77440" y="6217920"/>
            <a:ext cx="950976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6217920"/>
            <a:ext cx="9509760" cy="1828800"/>
          </a:xfrm>
          <a:prstGeom prst="rect">
            <a:avLst/>
          </a:pr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6217920"/>
            <a:ext cx="95097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NVIDIA Sans Medium"/>
              </a:rPr>
              <a:t>Base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8595360"/>
            <a:ext cx="841248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Nemotron-3-Nano</a:t>
            </a:r>
          </a:p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30B-A3B-FP8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0972800"/>
            <a:ext cx="84124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General-purpose</a:t>
            </a:r>
          </a:p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web-trained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2161520" y="10424160"/>
            <a:ext cx="1280160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0" y="6217920"/>
            <a:ext cx="950976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0" y="6217920"/>
            <a:ext cx="9509760" cy="18288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0" y="6217920"/>
            <a:ext cx="95097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NVIDIA Sans Medium"/>
              </a:rPr>
              <a:t>L1 CPT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0" y="8595360"/>
            <a:ext cx="841248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L1: broad 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0" y="10972800"/>
            <a:ext cx="84124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3,157M tokens</a:t>
            </a:r>
          </a:p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EDGAR 89.4%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500080" y="10424160"/>
            <a:ext cx="1280160" cy="109728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054560" y="6217920"/>
            <a:ext cx="9509760" cy="9509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054560" y="6217920"/>
            <a:ext cx="9509760" cy="182880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54560" y="6217920"/>
            <a:ext cx="95097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NVIDIA Sans Medium"/>
              </a:rPr>
              <a:t>L2 CPT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0" y="8595360"/>
            <a:ext cx="841248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  <a:latin typeface="NVIDIA Sans Medium"/>
              </a:rPr>
              <a:t>L2: AML-specific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0" y="10972800"/>
            <a:ext cx="84124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40.3M tokens</a:t>
            </a:r>
          </a:p>
          <a:p>
            <a:pPr algn="ctr"/>
            <a:r>
              <a:rPr sz="4000" b="0" i="0">
                <a:solidFill>
                  <a:srgbClr val="5E5E5E"/>
                </a:solidFill>
                <a:latin typeface="Consolas"/>
              </a:rPr>
              <a:t>FinCEN 49% · OFAC 45%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1682496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0" i="1">
                <a:solidFill>
                  <a:srgbClr val="76B900"/>
                </a:solidFill>
                <a:latin typeface="NVIDIA Sans"/>
              </a:rPr>
              <a:t>Two sequential runs · L2 inherits from L1 checkpoint · output is cpt-l2-final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Catastrophic Forgetting + L1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Why we mix old L1 data back into the L2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890C58"/>
                </a:solidFill>
                <a:latin typeface="NVIDIA Sans Medium"/>
              </a:rPr>
              <a:t>The forgetting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463040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When you fine-tune on a new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narrow domain (L2 = AML),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the model can FORGET the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broader domain (L1 = finance)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it learned earlier.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Symptoms: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• Worse on generic finance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• Less coherent on adjacent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  domains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• Over-fits to AML vocabulary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0" y="5852160"/>
            <a:ext cx="1572768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0" y="6510528"/>
            <a:ext cx="1572768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The replay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0" y="8778240"/>
            <a:ext cx="1463040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Mix some L1 (broad financial)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back into the L2 training batches.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Typical ratio: 70% L2 / 30% L1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Implementation: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weighted_dataset: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  L2: 0.7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  L1: 0.3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Trade-off: less L2 absorption,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but L1 capability preserved.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Parallelism — TP / EP / FSDP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How a 30B model fits across 8 GPUs without melting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Tensor Parallelism (TP)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9600"/>
            <a:ext cx="96926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Split each layer's weight matrices across N GPUs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042416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Each forward pass communicates across GPUs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426464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76B900"/>
                </a:solidFill>
                <a:latin typeface="NVIDIA Sans Medium"/>
              </a:rPr>
              <a:t>Good for: low-latency single-request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Expert Parallelism (EP)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8229600"/>
            <a:ext cx="96926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Split MoE experts across N GPUs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0" y="1042416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Each token routed to its expert's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0" y="1426464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008564"/>
                </a:solidFill>
                <a:latin typeface="NVIDIA Sans Medium"/>
              </a:rPr>
              <a:t>Good for: MoE models (our 30B-A3B!)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FSDP (Fully-Sharded Data Parallel)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0" y="8229600"/>
            <a:ext cx="96926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Shard model + optimizer state across N GPUs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0" y="1042416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All-gather weights per layer, drop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0" y="14264640"/>
            <a:ext cx="969264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5D1682"/>
                </a:solidFill>
                <a:latin typeface="NVIDIA Sans Medium"/>
              </a:rPr>
              <a:t>Good for: training large models with limited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18653760"/>
            <a:ext cx="32918400" cy="9144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"/>
              </a:rPr>
              <a:t>Our CPT config: TP=2 (across NVLink pair) + EP=8 (across all GPUs) + FSDP shard=8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Packed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Pack many short docs into one long sequence — throughput jump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852160"/>
            <a:ext cx="32918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890C58"/>
                </a:solidFill>
                <a:latin typeface="NVIDIA Sans"/>
              </a:rPr>
              <a:t>Without packing (naive)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73152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731520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533120" y="73152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459200" y="731520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05920" y="7315200"/>
            <a:ext cx="2926080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0" y="731520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9326880"/>
            <a:ext cx="3291840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890C58"/>
                </a:solidFill>
                <a:latin typeface="NVIDIA Sans"/>
              </a:rPr>
              <a:t>Each batch has 70-80% padding (gray) · only 20-30% useful tokens (green)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1338560"/>
            <a:ext cx="32918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"/>
              </a:rPr>
              <a:t>With packing (NeMo default)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280160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070080" y="1280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5D1682"/>
          </a:solidFill>
          <a:ln w="63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30400" y="1280160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0071C5"/>
          </a:solidFill>
          <a:ln w="635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751040" y="12801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E8A317"/>
          </a:solidFill>
          <a:ln w="63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042880" y="128016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890C58"/>
          </a:solidFill>
          <a:ln w="635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797760" y="1280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358080" y="128016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008564"/>
          </a:solidFill>
          <a:ln w="63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14813280"/>
            <a:ext cx="3291840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"/>
              </a:rPr>
              <a:t>Multiple docs packed end-to-end · attention mask hides cross-doc bleed · ~95% useful 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16824960"/>
            <a:ext cx="32918400" cy="2194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17007840"/>
            <a:ext cx="31455360" cy="9144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Worked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17922240"/>
            <a:ext cx="31455360" cy="9144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32K-token EDGAR 10-K @ seq_length=4096 → packed into 8 contiguous chunks, no padding waste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FP8 + Transformer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Half the activation memory · ~2× H100 throughput · same final accuracy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621792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21792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Forward matmul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6217920"/>
            <a:ext cx="73152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Consolas"/>
              </a:rPr>
              <a:t>FP8 E4M3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40" y="6217920"/>
            <a:ext cx="14630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Half memory bandwidth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841248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841248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Accumulation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0" y="8412480"/>
            <a:ext cx="73152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Consolas"/>
              </a:rPr>
              <a:t>FP32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0" y="8412480"/>
            <a:ext cx="14630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Numerical stability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1060704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060704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Master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10607040"/>
            <a:ext cx="73152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Consolas"/>
              </a:rPr>
              <a:t>FP32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51040" y="10607040"/>
            <a:ext cx="14630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Update precision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280160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280160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AdamW moments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12801600"/>
            <a:ext cx="73152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Consolas"/>
              </a:rPr>
              <a:t>FP32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0" y="12801600"/>
            <a:ext cx="14630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5E5E5E"/>
                </a:solidFill>
                <a:latin typeface="NVIDIA Sans"/>
              </a:rPr>
              <a:t>Optimizer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16093440"/>
            <a:ext cx="32918400" cy="256032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6459200"/>
            <a:ext cx="31455360" cy="12801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Why this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17556480"/>
            <a:ext cx="31455360" cy="10972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FP8 hurts in the matmul (small precision), helps in memory. FP32 in accumulation + master weights compensates.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Production CPT — What We Actually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8× H100 NVL · 6 days · what came out the other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6217920"/>
            <a:ext cx="1078992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766560"/>
            <a:ext cx="10789920" cy="29260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0" b="1" i="0">
                <a:solidFill>
                  <a:srgbClr val="76B900"/>
                </a:solidFill>
                <a:latin typeface="NVIDIA Sans Medium"/>
              </a:rPr>
              <a:t>8× H100 NVL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9692640"/>
            <a:ext cx="9326880" cy="21945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752 GB total VRAM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0" y="6217920"/>
            <a:ext cx="1078992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0" y="6766560"/>
            <a:ext cx="10789920" cy="29260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0" b="1" i="0">
                <a:solidFill>
                  <a:srgbClr val="008564"/>
                </a:solidFill>
                <a:latin typeface="NVIDIA Sans Medium"/>
              </a:rPr>
              <a:t>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9692640"/>
            <a:ext cx="9326880" cy="21945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wall-clock for L1 + 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40160" y="6217920"/>
            <a:ext cx="10789920" cy="5852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0" y="6766560"/>
            <a:ext cx="10789920" cy="29260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0" b="1" i="0">
                <a:solidFill>
                  <a:srgbClr val="5D1682"/>
                </a:solidFill>
                <a:latin typeface="NVIDIA Sans Medium"/>
              </a:rPr>
              <a:t>3.2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0" y="9692640"/>
            <a:ext cx="9326880" cy="21945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tokens trained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13167360"/>
            <a:ext cx="32918400" cy="548640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3716000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recipe excerpt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5179040"/>
            <a:ext cx="31455360" cy="34747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base_model: nvidia/Nemotron-3-Nano-30B-A3B-FP8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parallelism: { tp: 2, ep: 8, fsdp_size: 8 }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precision: fp8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packed_sequence_size: 4096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optimizer: { name: adamw, lr: 1e-5, weight_decay: 0.1 }</a:t>
            </a:r>
          </a:p>
          <a:p>
            <a:pPr algn="l"/>
            <a:r>
              <a:rPr sz="4000" b="0" i="0">
                <a:solidFill>
                  <a:srgbClr val="C8DDB0"/>
                </a:solidFill>
                <a:latin typeface="Consolas"/>
              </a:rPr>
              <a:t>schedule: { warmup_steps: 100, total_steps: 7500 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3 · Supervised Fine-Tuning (SFT)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SFT — What and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Teach the model how to *do* something (a task), not what to *know*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5200" b="1" i="0">
                <a:solidFill>
                  <a:srgbClr val="5E5E5E"/>
                </a:solidFill>
                <a:latin typeface="NVIDIA Sans Medium"/>
              </a:rPr>
              <a:t>CPT (recap)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463040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Goal: domain language fluency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Data: raw text (unlabelled)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Objective: next-token prediction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Scale: 1B+ tokens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Output: domain-adapted base</a:t>
            </a:r>
          </a:p>
          <a:p>
            <a:pPr algn="l"/>
            <a:r>
              <a:rPr sz="4400" b="0" i="0">
                <a:solidFill>
                  <a:srgbClr val="000000"/>
                </a:solidFill>
                <a:latin typeface="Consolas"/>
              </a:rPr>
              <a:t>When: speak the dialect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0" y="5852160"/>
            <a:ext cx="15910559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0" y="6510528"/>
            <a:ext cx="15910559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SFT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0" y="8412480"/>
            <a:ext cx="1463040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Goal: task execution</a:t>
            </a:r>
          </a:p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Data: instruction pairs (labelled)</a:t>
            </a:r>
          </a:p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Objective: match the assistant</a:t>
            </a:r>
          </a:p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Scale: 10K-1M records</a:t>
            </a:r>
          </a:p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Output: task-following model</a:t>
            </a:r>
          </a:p>
          <a:p>
            <a:pPr algn="l"/>
            <a:r>
              <a:rPr sz="4400" b="1" i="0">
                <a:solidFill>
                  <a:srgbClr val="76B900"/>
                </a:solidFill>
                <a:latin typeface="Consolas"/>
              </a:rPr>
              <a:t>When: deploy as agent / tool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Chat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How instruction pairs get wrapped before the model sees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Nemotron chat template (ChatML-style)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229600"/>
            <a:ext cx="31455360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&lt;|im_start|&gt;system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You are an AML compliance investigator. Output JSON only.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&lt;|im_end|&gt;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&lt;|im_start|&gt;user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"task_type": "sar_judgment",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"transactions": [...],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"kyc_profile": {...},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...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&lt;|im_end|&gt;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&lt;|im_start|&gt;assistant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"is_suspicious": true,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  "suspicious_activity_report": "..."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&lt;|im_end|&gt;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Loss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Only train on the assistant tokens — never on user input or system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6217920"/>
            <a:ext cx="32918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5E5E5E"/>
                </a:solidFill>
                <a:latin typeface="NVIDIA Sans"/>
              </a:rPr>
              <a:t>Token stream (simplified)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&lt;|im_start|&gt;system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You are an AML...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&lt;|im_end|&gt;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&lt;|im_start|&gt;user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4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17904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transactions:[...]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47088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47088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NVIDIA Sans"/>
              </a:rPr>
              <a:t>&lt;|im_end|&gt;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76272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NVIDIA Sans"/>
              </a:rPr>
              <a:t>&lt;|im_start|&gt;assistant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5456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5456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NVIDIA Sans"/>
              </a:rPr>
              <a:t>{"is_suspicious":..,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NVIDIA Sans"/>
              </a:rPr>
              <a:t>"suspicious_..."}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38240" y="8046720"/>
            <a:ext cx="3145536" cy="182880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638240" y="9875520"/>
            <a:ext cx="3145536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NVIDIA Sans"/>
              </a:rPr>
              <a:t>&lt;|im_end|&gt;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12801600"/>
            <a:ext cx="7315200" cy="1097280"/>
          </a:xfrm>
          <a:prstGeom prst="roundRect">
            <a:avLst>
              <a:gd name="adj" fmla="val 4000"/>
            </a:avLst>
          </a:prstGeom>
          <a:solidFill>
            <a:srgbClr val="CDCDCD"/>
          </a:solidFill>
          <a:ln w="635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12801600"/>
            <a:ext cx="91440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= masked (no loss)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751040" y="12801600"/>
            <a:ext cx="7315200" cy="1097280"/>
          </a:xfrm>
          <a:prstGeom prst="roundRect">
            <a:avLst>
              <a:gd name="adj" fmla="val 4000"/>
            </a:avLst>
          </a:prstGeom>
          <a:solidFill>
            <a:srgbClr val="76B900"/>
          </a:solidFill>
          <a:ln w="63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00" y="12801600"/>
            <a:ext cx="91440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= loss computed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14630400"/>
            <a:ext cx="32918400" cy="40233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14996159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Why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16459200"/>
            <a:ext cx="31455360" cy="20116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If we trained on user tokens too, the model would learn to mimic user inputs — wrong objective. Loss masking ensures the only learnable signal is what the assistant should say.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Full FT vs LoRA — The VRAM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Why we can full-FT on 8× A100 but only LoRA on 2× H100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510528"/>
            <a:ext cx="160934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890C58"/>
                </a:solidFill>
                <a:latin typeface="NVIDIA Sans Medium"/>
              </a:rPr>
              <a:t>Full FT 30B-A3B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4389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8412480"/>
            <a:ext cx="58521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30B × 2 (BF16)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0" y="8412480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60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9948672"/>
            <a:ext cx="4389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Gradients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948672"/>
            <a:ext cx="58521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30B × 2 (BF16)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0" y="9948672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60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1484864"/>
            <a:ext cx="4389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AdamW moments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1484864"/>
            <a:ext cx="58521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30B × 2 × 4 (FP32)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0" y="11484864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240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3021056"/>
            <a:ext cx="4389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Activations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021056"/>
            <a:ext cx="58521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context-dependent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0" y="13021056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890C58"/>
                </a:solidFill>
                <a:latin typeface="NVIDIA Sans Medium"/>
              </a:rPr>
              <a:t>~20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14557248"/>
            <a:ext cx="438912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4557248"/>
            <a:ext cx="585216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Consolas"/>
              </a:rPr>
              <a:t>≈ 380 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0" y="14557248"/>
            <a:ext cx="475488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needs 8 GPUs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836640" y="5852160"/>
            <a:ext cx="15910559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0" y="6510528"/>
            <a:ext cx="15910559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76B900"/>
                </a:solidFill>
                <a:latin typeface="NVIDIA Sans Medium"/>
              </a:rPr>
              <a:t>LoRA 30B-A3B (rank=32)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385280" y="8412480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Frozen weights (FP8)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0" y="8412480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30B ×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19" y="8412480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30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85280" y="9729216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LoRA adapter weights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05920" y="9729216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~0.5% × 30B ×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19" y="9729216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0.3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85280" y="11045952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Adapter gradients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0" y="11045952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~0.5% × 30B ×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19" y="11045952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0.3 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385280" y="12362688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Adapter optim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505920" y="12362688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~0.5% × 30B ×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19" y="12362688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1.2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85280" y="13679424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Activations + KV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05920" y="13679424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context-dependent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19" y="13679424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76B900"/>
                </a:solidFill>
                <a:latin typeface="NVIDIA Sans Medium"/>
              </a:rPr>
              <a:t>~20 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385280" y="14996160"/>
            <a:ext cx="512064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5E5E5E"/>
                </a:solidFill>
                <a:latin typeface="NVIDIA Sans Medium"/>
              </a:rPr>
              <a:t>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505920" y="14996160"/>
            <a:ext cx="548640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200" b="0" i="0">
                <a:solidFill>
                  <a:srgbClr val="000000"/>
                </a:solidFill>
                <a:latin typeface="Consolas"/>
              </a:rPr>
              <a:t>≈ 52 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19" y="14996160"/>
            <a:ext cx="4389120" cy="1316736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1" i="0">
                <a:solidFill>
                  <a:srgbClr val="76B900"/>
                </a:solidFill>
                <a:latin typeface="NVIDIA Sans Medium"/>
              </a:rPr>
              <a:t>fits on 2× H100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Full FT vs LoRA — When to Pick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Decision drivers that should drive your default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5669280"/>
            <a:ext cx="109728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000000"/>
                </a:solidFill>
                <a:latin typeface="NVIDIA Sans Medium"/>
              </a:rPr>
              <a:t>Driver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0" y="566928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0">
                <a:solidFill>
                  <a:srgbClr val="890C58"/>
                </a:solidFill>
                <a:latin typeface="NVIDIA Sans Medium"/>
              </a:rPr>
              <a:t>Full 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20" y="5669280"/>
            <a:ext cx="102412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400" b="1" i="0">
                <a:solidFill>
                  <a:srgbClr val="76B900"/>
                </a:solidFill>
                <a:latin typeface="NVIDIA Sans Medium"/>
              </a:rPr>
              <a:t>LoRA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7315200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7315200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Data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0" y="7315200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Large (50K+)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0" y="7315200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Small-medium (1K-50K)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8705088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8705088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Domain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0" y="8705088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Heavy (CPT-required)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20" y="8705088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Light-moderate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10094976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0094976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Iterations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0" y="10094976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1-2 attempts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05920" y="10094976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Many quick experiments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1484864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11484864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VRAM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0" y="11484864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Need 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0" y="11484864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Fits anywhere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12874752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12874752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Inference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0" y="12874752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Same as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0" y="12874752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+ adapter merge step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14264640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14264640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Catastrophic forgetting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0" y="14264640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Risk if narrow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0" y="14264640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Low (base frozen)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15654528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15654528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Multi-task / multi-domain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0" y="15654528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Hard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05920" y="15654528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Easy (one adapter / task)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0" y="17044416"/>
            <a:ext cx="32918400" cy="12435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810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17044416"/>
            <a:ext cx="1097280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Best for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98880" y="17044416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890C58"/>
                </a:solidFill>
                <a:latin typeface="NVIDIA Sans"/>
              </a:rPr>
              <a:t>Production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505920" y="17044416"/>
            <a:ext cx="10241280" cy="1243584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76B900"/>
                </a:solidFill>
                <a:latin typeface="NVIDIA Sans Medium"/>
              </a:rPr>
              <a:t>Customer-specific tuning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NeMo Gym — The Recipe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Pre-tuned recipes by model + hardware combination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6766560"/>
            <a:ext cx="2889504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6000" b="1" i="0">
                <a:solidFill>
                  <a:srgbClr val="76B900"/>
                </a:solidFill>
                <a:latin typeface="NVIDIA Sans Medium"/>
              </a:rPr>
              <a:t>Curated YAML recipes per (model × hardware × task)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9509760"/>
            <a:ext cx="31455360" cy="841248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058400"/>
            <a:ext cx="109728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recipe_a100sxm-8.yaml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0" y="10058400"/>
            <a:ext cx="190195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NVIDIA Sans"/>
              </a:rPr>
              <a:t>30B-A3B SFT on 8× A100 SXM · EP=8 · packed=5350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1887200"/>
            <a:ext cx="109728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recipe_h100nvl-8.yaml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0" y="11887200"/>
            <a:ext cx="190195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NVIDIA Sans"/>
              </a:rPr>
              <a:t>30B-A3B CPT on 8× H100 NVL · TP=2 EP=8 FSDP=8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3716000"/>
            <a:ext cx="109728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recipe_h100-2-lora.yaml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0" y="13716000"/>
            <a:ext cx="190195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NVIDIA Sans"/>
              </a:rPr>
              <a:t>30B-A3B LoRA SFT on 2× H100 · rank=32 · TP=2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5544800"/>
            <a:ext cx="1097280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Consolas"/>
              </a:rPr>
              <a:t>recipe_dpo-a100-8.yaml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0" y="15544800"/>
            <a:ext cx="19019520" cy="16459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NVIDIA Sans"/>
              </a:rPr>
              <a:t>30B-A3B DPO on 8× A100 · KL=0.05 · β=0.1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Production SFT — What We Actually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8× A100 SXM · 6-10 hours · the recipe that produced sft-final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6217920"/>
            <a:ext cx="107899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6583680"/>
            <a:ext cx="10789920" cy="2560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76B900"/>
                </a:solidFill>
                <a:latin typeface="NVIDIA Sans Medium"/>
              </a:rPr>
              <a:t>8× A100 SXM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93268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80 GB / GPU · NVSwitch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0" y="6217920"/>
            <a:ext cx="107899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0" y="6583680"/>
            <a:ext cx="10789920" cy="2560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8564"/>
                </a:solidFill>
                <a:latin typeface="NVIDIA Sans Medium"/>
              </a:rPr>
              <a:t>6–10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0" y="93268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for 100K-record corpus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40160" y="6217920"/>
            <a:ext cx="1078992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40160" y="6583680"/>
            <a:ext cx="10789920" cy="25603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5D1682"/>
                </a:solidFill>
                <a:latin typeface="NVIDIA Sans Medium"/>
              </a:rPr>
              <a:t>100K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0" y="932688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0">
                <a:solidFill>
                  <a:srgbClr val="000000"/>
                </a:solidFill>
                <a:latin typeface="NVIDIA Sans"/>
              </a:rPr>
              <a:t>records (Phase 4 SDG corpus)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12070080"/>
            <a:ext cx="32918400" cy="621792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2618720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recipe_a100sxm-8.yaml (key knobs)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4081760"/>
            <a:ext cx="31455360" cy="40233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parallelism: { ep: 8, dp_size: 8, fsdp_shard: true 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precision: bf16              # FP8 disabled on A100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packed_sequence_size: 5350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optimizer: { name: adamw, lr: 1e-5, weight_decay: 0.0 }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experts_implementation: torch_mm     # A100 dispatcher</a:t>
            </a:r>
          </a:p>
          <a:p>
            <a:pPr algn="l"/>
            <a:r>
              <a:rPr sz="3600" b="0" i="0">
                <a:solidFill>
                  <a:srgbClr val="C8DDB0"/>
                </a:solidFill>
                <a:latin typeface="Consolas"/>
              </a:rPr>
              <a:t>schedule: { warmup: 50, total_epochs: 1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76B900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4 · RL Post-Training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Why RL After SFT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SFT teaches what to say · RL teaches what to prefer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16093440" cy="1243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1463040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SFT learns (one example at a 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8412480"/>
            <a:ext cx="14630400" cy="95097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Given an input, what's THE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answer the assistant should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produce?</a:t>
            </a:r>
          </a:p>
          <a:p>
            <a:pPr algn="l"/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Imitation: copy the teacher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Single 'correct' answer per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example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• No notion of 'better' vs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  'worse'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0" y="5852160"/>
            <a:ext cx="15910559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0" y="6510528"/>
            <a:ext cx="15910559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76B900"/>
                </a:solidFill>
                <a:latin typeface="NVIDIA Sans Medium"/>
              </a:rPr>
              <a:t>RL learns (pairs at a 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0" y="8412480"/>
            <a:ext cx="14630400" cy="95097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Given two candidate answers,</a:t>
            </a:r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which is BETTER?</a:t>
            </a:r>
          </a:p>
          <a:p>
            <a:pPr algn="l"/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• Preference: rank A vs B</a:t>
            </a:r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• Captures style, length, tone</a:t>
            </a:r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• Aligns to *human preferences*</a:t>
            </a:r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  that SFT can't express in a</a:t>
            </a:r>
          </a:p>
          <a:p>
            <a:pPr algn="l"/>
            <a:r>
              <a:rPr sz="4000" b="0" i="0">
                <a:solidFill>
                  <a:srgbClr val="76B900"/>
                </a:solidFill>
                <a:latin typeface="NVIDIA Sans"/>
              </a:rPr>
              <a:t>  single 'correct' answer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DPO vs GRPO vs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Three flavours of preference-based RL — pick by data shape and compute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DPO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9600"/>
            <a:ext cx="969264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76B900"/>
                </a:solidFill>
                <a:latin typeface="NVIDIA Sans Medium"/>
              </a:rPr>
              <a:t>Direct Preference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058400"/>
            <a:ext cx="9326880" cy="62179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Closed-form on pref pairs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No reward model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No on-policy rollouts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Fastest, cheapest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627632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76B900"/>
                </a:solidFill>
                <a:latin typeface="NVIDIA Sans Medium"/>
              </a:rPr>
              <a:t>Workshop: this is what we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GRPO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0" y="8229600"/>
            <a:ext cx="969264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008564"/>
                </a:solidFill>
                <a:latin typeface="NVIDIA Sans Medium"/>
              </a:rPr>
              <a:t>Group-Relative Policy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0" y="10058400"/>
            <a:ext cx="9326880" cy="62179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Sample N rollouts per prompt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Compare within group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No external reward model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Used by DeepSeek-R1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1627632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008564"/>
                </a:solidFill>
                <a:latin typeface="NVIDIA Sans Medium"/>
              </a:rPr>
              <a:t>Best when: reward fn easy to define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NVIDIA Sans Medium"/>
              </a:rPr>
              <a:t>PPO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0" y="8229600"/>
            <a:ext cx="969264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4000" b="0" i="1">
                <a:solidFill>
                  <a:srgbClr val="5D1682"/>
                </a:solidFill>
                <a:latin typeface="NVIDIA Sans Medium"/>
              </a:rPr>
              <a:t>Proximal Policy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0" y="10058400"/>
            <a:ext cx="9326880" cy="62179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Train reward model first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On-policy rollouts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Clipped policy updates</a:t>
            </a:r>
          </a:p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· Original RLHF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0" y="16276320"/>
            <a:ext cx="9326880" cy="18288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1">
                <a:solidFill>
                  <a:srgbClr val="5D1682"/>
                </a:solidFill>
                <a:latin typeface="NVIDIA Sans Medium"/>
              </a:rPr>
              <a:t>Best when: need explicit reward shaping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Preference Data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What a DPO record looks like + how we generate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16459200" cy="12435840"/>
          </a:xfrm>
          <a:prstGeom prst="roundRect">
            <a:avLst>
              <a:gd name="adj" fmla="val 4000"/>
            </a:avLst>
          </a:prstGeom>
          <a:solidFill>
            <a:srgbClr val="222222"/>
          </a:solidFill>
          <a:ln w="63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510528"/>
            <a:ext cx="14996159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DPO record (JSONL)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8229600"/>
            <a:ext cx="14996159" cy="98755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{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"prompt": {...sar_judgment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        bundle...},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"chosen": {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"is_suspicious": true,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"suspicious_activity_report":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"On 2026-02-04, entity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 SYN_6b558d20 conducted...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 consistent with structuring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 under 31 U.S.C. § 5324(a)(3)."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},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"rejected": {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"is_suspicious": true,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"suspicious_activity_report":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"This is definitely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     money laundering."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  }</a:t>
            </a:r>
          </a:p>
          <a:p>
            <a:pPr algn="l"/>
            <a:r>
              <a:rPr sz="3200" b="0" i="0">
                <a:solidFill>
                  <a:srgbClr val="C8DDB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0" y="5852160"/>
            <a:ext cx="15910559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36640" y="6510528"/>
            <a:ext cx="15910559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5200" b="1" i="0">
                <a:solidFill>
                  <a:srgbClr val="76B900"/>
                </a:solidFill>
                <a:latin typeface="NVIDIA Sans Medium"/>
              </a:rPr>
              <a:t>How we generated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0" y="841248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214080" y="8412480"/>
            <a:ext cx="128016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Sample N=4 candidates from SFT-final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0" y="1024128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0" y="10241280"/>
            <a:ext cx="128016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LLM judge ranks them on rubric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68160" y="1207008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0" y="12070080"/>
            <a:ext cx="128016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Pair top-1 ↔ bottom-1 → DPO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0" y="1389888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0" y="13898880"/>
            <a:ext cx="128016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Mix with adversarial-pair seeds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0" y="15727680"/>
            <a:ext cx="146304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5600" b="1" i="0">
                <a:solidFill>
                  <a:srgbClr val="76B900"/>
                </a:solidFill>
                <a:latin typeface="NVIDIA Sans Medium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0" y="15727680"/>
            <a:ext cx="128016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NVIDIA Sans"/>
              </a:rPr>
              <a:t>MinHash dedup + validate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Production RL — What We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DPO on 30B-A3B with custom reward components for regulator-grade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5852160"/>
            <a:ext cx="32918400" cy="3657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6217920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76B900"/>
                </a:solidFill>
                <a:latin typeface="NVIDIA Sans Medium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7498079"/>
            <a:ext cx="31455360" cy="16459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Method: DPO  ·  Base: sft-final  ·  Hardware: 8× A100  ·  Records: ~15K pref pairs  ·  Time: 4 hours  ·  β: 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0241280"/>
            <a:ext cx="32918400" cy="8046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0607040"/>
            <a:ext cx="3145536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800" b="1" i="0">
                <a:solidFill>
                  <a:srgbClr val="008564"/>
                </a:solidFill>
                <a:latin typeface="NVIDIA Sans Medium"/>
              </a:rPr>
              <a:t>Reward components (LLM-judge weighted)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2435840"/>
            <a:ext cx="65836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Grounding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2435840"/>
            <a:ext cx="29260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0" y="12435840"/>
            <a:ext cx="2084832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Every claim cites a tx index / KYC field / policy span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3606272"/>
            <a:ext cx="65836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Statute correct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3606272"/>
            <a:ext cx="29260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0" y="13606272"/>
            <a:ext cx="2084832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Cites the right 31 U.S.C. § for the typology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4776704"/>
            <a:ext cx="65836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14776704"/>
            <a:ext cx="29260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0" y="14776704"/>
            <a:ext cx="2084832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Qualified language only ("consistent with")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5947136"/>
            <a:ext cx="65836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Length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15947136"/>
            <a:ext cx="29260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0" y="15947136"/>
            <a:ext cx="2084832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250-800 chars; not too terse, not bloated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17117568"/>
            <a:ext cx="65836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7117568"/>
            <a:ext cx="292608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0" i="0">
                <a:solidFill>
                  <a:srgbClr val="000000"/>
                </a:solidFill>
                <a:latin typeface="Consolas"/>
              </a:rPr>
              <a:t>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0" y="17117568"/>
            <a:ext cx="20848320" cy="1170432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Exact JSON shape; no extra keys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E8A317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5 · Evaluation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Three Eval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Different questions need different evaluation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Academic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8412480"/>
            <a:ext cx="93268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1">
                <a:solidFill>
                  <a:srgbClr val="76B900"/>
                </a:solidFill>
                <a:latin typeface="NVIDIA Sans"/>
              </a:rPr>
              <a:t>MMLU, GSM8K, HumanEval, BBH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0241280"/>
            <a:ext cx="9326880" cy="32918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Q: Question: did training break general capability?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3898880"/>
            <a:ext cx="93268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Cheap, standardised, but ≠ your task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Task-specific judges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0" y="8412480"/>
            <a:ext cx="93268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1">
                <a:solidFill>
                  <a:srgbClr val="008564"/>
                </a:solidFill>
                <a:latin typeface="NVIDIA Sans"/>
              </a:rPr>
              <a:t>Custom rubric, expected I/O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0" y="10241280"/>
            <a:ext cx="9326880" cy="32918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Q: Question: does the model do MY task?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0" y="13898880"/>
            <a:ext cx="93268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Per-criterion scores, audit-grade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0" y="5852160"/>
            <a:ext cx="10789920" cy="1243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40160" y="5852160"/>
            <a:ext cx="10789920" cy="20116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VIDIA Sans Medium"/>
              </a:rPr>
              <a:t>LLM-as-judge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0" y="8412480"/>
            <a:ext cx="9326880" cy="14630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0" i="1">
                <a:solidFill>
                  <a:srgbClr val="5D1682"/>
                </a:solidFill>
                <a:latin typeface="NVIDIA Sans"/>
              </a:rPr>
              <a:t>Pairwise, scalar, multi-criterion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0" y="10241280"/>
            <a:ext cx="9326880" cy="329184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4000" b="1" i="0">
                <a:solidFill>
                  <a:srgbClr val="000000"/>
                </a:solidFill>
                <a:latin typeface="NVIDIA Sans Medium"/>
              </a:rPr>
              <a:t>Q: Question: is A better than B?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0" y="13898880"/>
            <a:ext cx="9326880" cy="438912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3600" b="0" i="0">
                <a:solidFill>
                  <a:srgbClr val="5E5E5E"/>
                </a:solidFill>
                <a:latin typeface="NVIDIA Sans"/>
              </a:rPr>
              <a:t>Scalable, but needs calibration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Eval After Every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Bake checkpoints between every transformation — no surprises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7315200"/>
            <a:ext cx="54864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7315200"/>
            <a:ext cx="5486400" cy="1463040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7315200"/>
            <a:ext cx="5486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9144000"/>
            <a:ext cx="4754880" cy="34747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NVIDIA Sans"/>
              </a:rPr>
              <a:t>nemotron-3-nano-30b-A3B-FP8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533120"/>
            <a:ext cx="54864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0" i="1">
                <a:solidFill>
                  <a:srgbClr val="B36500"/>
                </a:solidFill>
                <a:latin typeface="NVIDIA Sans"/>
              </a:rPr>
              <a:t>↓ eval gate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83780" y="9692640"/>
            <a:ext cx="123444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0" y="7315200"/>
            <a:ext cx="54864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0" y="7315200"/>
            <a:ext cx="5486400" cy="14630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7315200"/>
            <a:ext cx="5486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CPT-L1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9144000"/>
            <a:ext cx="4754880" cy="34747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NVIDIA Sans"/>
              </a:rPr>
              <a:t>after L1 broad financial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3533120"/>
            <a:ext cx="54864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0" i="1">
                <a:solidFill>
                  <a:srgbClr val="B36500"/>
                </a:solidFill>
                <a:latin typeface="NVIDIA Sans"/>
              </a:rPr>
              <a:t>↓ eval gate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4241780" y="9692640"/>
            <a:ext cx="123444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544800" y="7315200"/>
            <a:ext cx="54864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44800" y="7315200"/>
            <a:ext cx="5486400" cy="14630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0" y="7315200"/>
            <a:ext cx="5486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CPT-L2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0" y="9144000"/>
            <a:ext cx="4754880" cy="34747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NVIDIA Sans"/>
              </a:rPr>
              <a:t>after L2 AML-specific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0" y="13533120"/>
            <a:ext cx="54864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0" i="1">
                <a:solidFill>
                  <a:srgbClr val="B36500"/>
                </a:solidFill>
                <a:latin typeface="NVIDIA Sans"/>
              </a:rPr>
              <a:t>↓ eval gate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099780" y="9692640"/>
            <a:ext cx="123444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402800" y="7315200"/>
            <a:ext cx="54864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85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02800" y="7315200"/>
            <a:ext cx="5486400" cy="146304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0" y="7315200"/>
            <a:ext cx="5486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SFT-final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68560" y="9144000"/>
            <a:ext cx="4754880" cy="34747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NVIDIA Sans"/>
              </a:rPr>
              <a:t>after instruction-tune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0" y="13533120"/>
            <a:ext cx="54864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0" i="1">
                <a:solidFill>
                  <a:srgbClr val="B36500"/>
                </a:solidFill>
                <a:latin typeface="NVIDIA Sans"/>
              </a:rPr>
              <a:t>↓ eval gate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7957780" y="9692640"/>
            <a:ext cx="1234440" cy="914400"/>
          </a:xfrm>
          <a:prstGeom prst="rightArrow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260800" y="7315200"/>
            <a:ext cx="5486400" cy="5486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D16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0" y="7315200"/>
            <a:ext cx="5486400" cy="1463040"/>
          </a:xfrm>
          <a:prstGeom prst="rect">
            <a:avLst/>
          </a:prstGeom>
          <a:solidFill>
            <a:srgbClr val="5D16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0" y="7315200"/>
            <a:ext cx="5486400" cy="14630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NVIDIA Sans Medium"/>
              </a:rPr>
              <a:t>RL-final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26560" y="9144000"/>
            <a:ext cx="4754880" cy="347472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NVIDIA Sans"/>
              </a:rPr>
              <a:t>after DPO 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0" y="13533120"/>
            <a:ext cx="548640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0" i="1">
                <a:solidFill>
                  <a:srgbClr val="B36500"/>
                </a:solidFill>
                <a:latin typeface="NVIDIA Sans"/>
              </a:rPr>
              <a:t>↓ eval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15727680"/>
            <a:ext cx="32918400" cy="2194560"/>
          </a:xfrm>
          <a:prstGeom prst="roundRect">
            <a:avLst>
              <a:gd name="adj" fmla="val 4000"/>
            </a:avLst>
          </a:prstGeom>
          <a:solidFill>
            <a:srgbClr val="FFF2CC"/>
          </a:solidFill>
          <a:ln w="19050"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15727680"/>
            <a:ext cx="31455360" cy="21945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1">
                <a:solidFill>
                  <a:srgbClr val="B36500"/>
                </a:solidFill>
                <a:latin typeface="NVIDIA Sans"/>
              </a:rPr>
              <a:t>Every gate runs: academic benchmarks (MMLU, GSM8K) + AML task judge + LLM-judge bake-off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The 3-Way Bake-Off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Sample result on 50-case AML holdout (will be re-run in M8 demo)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07792" y="11816243"/>
            <a:ext cx="1207008" cy="3179917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7792" y="10718963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5E5E5E"/>
                </a:solidFill>
                <a:latin typeface="NVIDIA Sans Medium"/>
              </a:rPr>
              <a:t>0.42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4256" y="10831983"/>
            <a:ext cx="1207008" cy="4164177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9734703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8564"/>
                </a:solidFill>
                <a:latin typeface="NVIDIA Sans Medium"/>
              </a:rPr>
              <a:t>0.55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8030627"/>
            <a:ext cx="1207008" cy="696553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6933347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NVIDIA Sans Medium"/>
              </a:rPr>
              <a:t>0.92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5288768"/>
            <a:ext cx="548640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NVIDIA Sans Medium"/>
              </a:rPr>
              <a:t>Grounding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94192" y="12649079"/>
            <a:ext cx="1207008" cy="2347081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1551799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5E5E5E"/>
                </a:solidFill>
                <a:latin typeface="NVIDIA Sans Medium"/>
              </a:rPr>
              <a:t>0.31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0656" y="11361969"/>
            <a:ext cx="1207008" cy="3634191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0656" y="10264689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8564"/>
                </a:solidFill>
                <a:latin typeface="NVIDIA Sans Medium"/>
              </a:rPr>
              <a:t>0.48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47120" y="8333476"/>
            <a:ext cx="1207008" cy="666268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7236196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NVIDIA Sans Medium"/>
              </a:rPr>
              <a:t>0.88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15288768"/>
            <a:ext cx="548640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NVIDIA Sans Medium"/>
              </a:rPr>
              <a:t>Statute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880592" y="12119092"/>
            <a:ext cx="1207008" cy="2877068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80592" y="11021812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5E5E5E"/>
                </a:solidFill>
                <a:latin typeface="NVIDIA Sans Medium"/>
              </a:rPr>
              <a:t>0.38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307056" y="11134832"/>
            <a:ext cx="1207008" cy="3861328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307056" y="10037552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8564"/>
                </a:solidFill>
                <a:latin typeface="NVIDIA Sans Medium"/>
              </a:rPr>
              <a:t>0.51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733520" y="8560613"/>
            <a:ext cx="1207008" cy="6435547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20" y="7463333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NVIDIA Sans Medium"/>
              </a:rPr>
              <a:t>0.85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0" y="15288768"/>
            <a:ext cx="548640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NVIDIA Sans Medium"/>
              </a:rPr>
              <a:t>Tone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366992" y="10831983"/>
            <a:ext cx="1207008" cy="4164177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66992" y="9734703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5E5E5E"/>
                </a:solidFill>
                <a:latin typeface="NVIDIA Sans Medium"/>
              </a:rPr>
              <a:t>0.55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793456" y="10301997"/>
            <a:ext cx="1207008" cy="4694163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93456" y="9204717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8564"/>
                </a:solidFill>
                <a:latin typeface="NVIDIA Sans Medium"/>
              </a:rPr>
              <a:t>0.62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219920" y="7879202"/>
            <a:ext cx="1207008" cy="711695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0" y="6781922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NVIDIA Sans Medium"/>
              </a:rPr>
              <a:t>0.94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0" y="15288768"/>
            <a:ext cx="548640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NVIDIA Sans Medium"/>
              </a:rPr>
              <a:t>Length-band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853392" y="11589106"/>
            <a:ext cx="1207008" cy="340705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853392" y="10491826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5E5E5E"/>
                </a:solidFill>
                <a:latin typeface="NVIDIA Sans Medium"/>
              </a:rPr>
              <a:t>0.45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279856" y="11210544"/>
            <a:ext cx="1207008" cy="3785616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79856" y="10113264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008564"/>
                </a:solidFill>
                <a:latin typeface="NVIDIA Sans Medium"/>
              </a:rPr>
              <a:t>0.50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06320" y="7652065"/>
            <a:ext cx="1207008" cy="7344095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6320" y="6554785"/>
            <a:ext cx="1207008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200" b="1" i="0">
                <a:solidFill>
                  <a:srgbClr val="76B900"/>
                </a:solidFill>
                <a:latin typeface="NVIDIA Sans Medium"/>
              </a:rPr>
              <a:t>0.97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0" y="15288768"/>
            <a:ext cx="548640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3600" b="1" i="0">
                <a:solidFill>
                  <a:srgbClr val="000000"/>
                </a:solidFill>
                <a:latin typeface="NVIDIA Sans Medium"/>
              </a:rPr>
              <a:t>Format-correct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14996160"/>
            <a:ext cx="27432000" cy="5486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358080" y="6583680"/>
            <a:ext cx="731520" cy="731520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55360" y="6400800"/>
            <a:ext cx="438912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5E5E5E"/>
                </a:solidFill>
                <a:latin typeface="NVIDIA Sans Medium"/>
              </a:rPr>
              <a:t>Base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0" y="8412480"/>
            <a:ext cx="731520" cy="731520"/>
          </a:xfrm>
          <a:prstGeom prst="rect">
            <a:avLst/>
          </a:prstGeom>
          <a:solidFill>
            <a:srgbClr val="008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0" y="8229600"/>
            <a:ext cx="438912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008564"/>
                </a:solidFill>
                <a:latin typeface="NVIDIA Sans Medium"/>
              </a:rPr>
              <a:t>CPT-only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58080" y="10241280"/>
            <a:ext cx="731520" cy="7315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455360" y="10058400"/>
            <a:ext cx="4389120" cy="109728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76B900"/>
                </a:solidFill>
                <a:latin typeface="NVIDIA Sans Medium"/>
              </a:rPr>
              <a:t>SFT-final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18470880"/>
            <a:ext cx="32186880" cy="91440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3600" b="0" i="1">
                <a:solidFill>
                  <a:srgbClr val="8C8C8C"/>
                </a:solidFill>
                <a:latin typeface="NVIDIA Sans"/>
              </a:rPr>
              <a:t>Indicative · M8 demo runs the actual eval against the deployed NIMs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8046720"/>
            <a:ext cx="329184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4000" b="1" i="0">
                <a:solidFill>
                  <a:srgbClr val="890C58"/>
                </a:solidFill>
                <a:latin typeface="NVIDIA Sans Medium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9875520"/>
            <a:ext cx="32918400" cy="40233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9600" b="1" i="0">
                <a:solidFill>
                  <a:srgbClr val="000000"/>
                </a:solidFill>
                <a:latin typeface="NVIDIA Sans Medium"/>
              </a:rPr>
              <a:t>Section 6 · Best Practices + Pitfalls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0" y="14264640"/>
            <a:ext cx="3657600" cy="146304"/>
          </a:xfrm>
          <a:prstGeom prst="rect">
            <a:avLst/>
          </a:prstGeom>
          <a:solidFill>
            <a:srgbClr val="890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Hyperparameters — What Matters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Tune in this order; most teams get the first two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85216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85216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0" y="585216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Single most-tuned · BF16 SFT: 1e-5 to 5e-5</a:t>
            </a:r>
          </a:p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LoRA: 1e-4 to 5e-4 · CPT: 1e-5 or below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786384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786384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Batch size × 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0" y="786384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If you double batch, multiply LR by √2 (linear in steps domain)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987552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987552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Warmup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0" y="987552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50-200 steps is plenty · longer = waste · shorter = instability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188720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188720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0" y="1188720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Cosine with min_lr=0.1 × peak is the workhorse · don't over-think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389888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1389888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Weight decay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1389888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0.0 for LoRA · 0.01-0.1 for full FT · 0.1 helps regulariser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1591056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016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5910560"/>
            <a:ext cx="91440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1" i="0">
                <a:solidFill>
                  <a:srgbClr val="76B900"/>
                </a:solidFill>
                <a:latin typeface="NVIDIA Sans Medium"/>
              </a:rPr>
              <a:t>Gradient clipping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0" y="15910560"/>
            <a:ext cx="2231136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1.0 is fine for everything; lower (0.5) if loss spikes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9574" y="19633768"/>
            <a:ext cx="6503213" cy="446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000000"/>
                </a:solidFill>
                <a:latin typeface="NVIDIA Sans Medium"/>
              </a:rPr>
              <a:t>NVIDIA CONFIDENTIAL. DO NOT DISTRIBUTE.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097280"/>
            <a:ext cx="33649920" cy="237744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NVIDIA Sans Medium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474720"/>
            <a:ext cx="33649920" cy="128016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400" b="0" i="1">
                <a:solidFill>
                  <a:srgbClr val="5E5E5E"/>
                </a:solidFill>
                <a:latin typeface="NVIDIA Sans"/>
              </a:rPr>
              <a:t>We've hit every one of these · so will you · here's the lookout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4901184"/>
            <a:ext cx="2194560" cy="109728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566928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566928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66928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Wrong tokenizer mid-pipeline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640" y="566928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Train with tokenizer A, deploy with B → outputs garbled. ALWAYS use the same tokenizer end-to-end.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768096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768096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768096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Leaky eval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0" y="768096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If eval examples appear in training corpus (even paraphrased), scores are meaningless. MinHash-dedup train vs 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969264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969264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969264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Packing-mask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0" y="969264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Packed sequences need attention masks that prevent cross-doc bleed. Verify by inspecting one batch.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1170432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1170432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170432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Optimizer-state 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0" y="1170432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AdamW moments are 8× model size for full FT. Use FSDP shard, ZeRO-2, or LoRA.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1371600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371600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371600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Chat template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0" y="1371600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Use tokenizer.apply_chat_template() — don't hand-roll. Subtle whitespace bugs eat days.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15727680"/>
            <a:ext cx="32918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90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15727680"/>
            <a:ext cx="146304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6400" b="0" i="0">
                <a:solidFill>
                  <a:srgbClr val="890C58"/>
                </a:solidFill>
                <a:latin typeface="NVIDIA Sans"/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15727680"/>
            <a:ext cx="987552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4000" b="1" i="0">
                <a:solidFill>
                  <a:srgbClr val="890C58"/>
                </a:solidFill>
                <a:latin typeface="NVIDIA Sans Medium"/>
              </a:rPr>
              <a:t>Eval-during-training too rarely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64640" y="15727680"/>
            <a:ext cx="20116800" cy="1828800"/>
          </a:xfrm>
          <a:prstGeom prst="rect">
            <a:avLst/>
          </a:prstGeom>
          <a:noFill/>
        </p:spPr>
        <p:txBody>
          <a:bodyPr wrap="square" lIns="50000" rIns="50000" tIns="20000" bIns="20000" anchor="ctr">
            <a:spAutoFit/>
          </a:bodyPr>
          <a:lstStyle/>
          <a:p>
            <a:pPr algn="l"/>
            <a:r>
              <a:rPr sz="3600" b="0" i="0">
                <a:solidFill>
                  <a:srgbClr val="000000"/>
                </a:solidFill>
                <a:latin typeface="NVIDIA Sans"/>
              </a:rPr>
              <a:t>Validation should run every 1000 steps minimum. Cheaper than discovering catastrophic forgetting at end of training.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8046720"/>
            <a:ext cx="32918400" cy="292608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8800" b="1" i="0">
                <a:solidFill>
                  <a:srgbClr val="76B900"/>
                </a:solidFill>
                <a:latin typeface="NVIDIA Sans Medium"/>
              </a:rPr>
              <a:t>CPT → SFT → RL → Eval at every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338560"/>
            <a:ext cx="32918400" cy="2194560"/>
          </a:xfrm>
          <a:prstGeom prst="rect">
            <a:avLst/>
          </a:prstGeom>
          <a:noFill/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5600" b="0" i="1">
                <a:solidFill>
                  <a:srgbClr val="5E5E5E"/>
                </a:solidFill>
                <a:latin typeface="NVIDIA Sans"/>
              </a:rPr>
              <a:t>Hands-on starts now: M7.2 CPT mini-run on your 2× H100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lnSpc>
            <a:spcPct val="90000"/>
          </a:lnSpc>
          <a:defRPr sz="4000" dirty="0" err="1">
            <a:solidFill>
              <a:schemeClr val="tx1"/>
            </a:solidFill>
            <a:latin typeface="Trebuchet MS" panose="020B06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4000" dirty="0" err="1" smtClean="0">
            <a:solidFill>
              <a:schemeClr val="bg1"/>
            </a:solidFill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LIGHT_v2_NewKV.pptx" id="{2CB1BC51-CEBF-4125-BC6C-FB23D6874A8C}" vid="{0B679A5A-A7BB-445D-B89B-5017F750351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4C7E1E-6C20-440E-941A-535F1A24C014}">
  <ds:schemaRefs>
    <ds:schemaRef ds:uri="f65afe6d-7162-4df4-ae98-80745cab72d4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2a5b1eea-32a8-4673-8d38-de3226caeee3"/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6B8F5C1-CC17-4575-A1B9-9EB541A76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a5b1eea-32a8-4673-8d38-de3226caeee3"/>
    <ds:schemaRef ds:uri="f65afe6d-7162-4df4-ae98-80745cab72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5AC8C1-8675-4762-89BF-D102E51271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2226</Words>
  <Application>Microsoft Office PowerPoint</Application>
  <PresentationFormat>Custom</PresentationFormat>
  <Paragraphs>512</Paragraphs>
  <Slides>60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NVIDIA Sans</vt:lpstr>
      <vt:lpstr>NVIDIA Sans Light</vt:lpstr>
      <vt:lpstr>NVIDIA Sans Medium</vt:lpstr>
      <vt:lpstr>Roboto Mono</vt:lpstr>
      <vt:lpstr>Title Only</vt:lpstr>
      <vt:lpstr>PowerPoint Presentation</vt:lpstr>
      <vt:lpstr>Font Test</vt:lpstr>
      <vt:lpstr>How to Install NVIDIA Sans Fonts</vt:lpstr>
      <vt:lpstr>Ways to Reduce File Size</vt:lpstr>
      <vt:lpstr>Reset Slide</vt:lpstr>
      <vt:lpstr>Title of Presentation Goes Here</vt:lpstr>
      <vt:lpstr>Title of Presentation Goes Here</vt:lpstr>
      <vt:lpstr>NVIDIA Confidential Slide</vt:lpstr>
      <vt:lpstr>Titles Are “Title Case” </vt:lpstr>
      <vt:lpstr>Two Column Layout</vt:lpstr>
      <vt:lpstr>NVIDIA Confidential</vt:lpstr>
      <vt:lpstr>Coding Font</vt:lpstr>
      <vt:lpstr>NVIDIA Confidential Slide</vt:lpstr>
      <vt:lpstr>PowerPoint Presentation</vt:lpstr>
      <vt:lpstr>PowerPoint Presentation</vt:lpstr>
      <vt:lpstr>PowerPoint Presentation</vt:lpstr>
      <vt:lpstr>Color Palette</vt:lpstr>
      <vt:lpstr>Pie Chart</vt:lpstr>
      <vt:lpstr>Bar Chart</vt:lpstr>
      <vt:lpstr>Line Chart</vt:lpstr>
      <vt:lpstr>Table Sample</vt:lpstr>
      <vt:lpstr>Table Sample</vt:lpstr>
      <vt:lpstr>PowerPoint Presentation</vt:lpstr>
      <vt:lpstr>Slide Title for Single Image Layout</vt:lpstr>
      <vt:lpstr>Slide Title for Image With Text Layout</vt:lpstr>
      <vt:lpstr>Slide Title for 2 Image Layout</vt:lpstr>
      <vt:lpstr>Slide Title for 2 Image Layout With Text Layout</vt:lpstr>
      <vt:lpstr>Slide Title for 3 Image Layout</vt:lpstr>
      <vt:lpstr>Slide Title for 4 Image Layout</vt:lpstr>
      <vt:lpstr>Slide Title for 5 Image Layout</vt:lpstr>
      <vt:lpstr>Slide Title for 6 Image Layout</vt:lpstr>
      <vt:lpstr>Slide Title for 7 Image Layout</vt:lpstr>
      <vt:lpstr>Slide Title for 8 Image Layout</vt:lpstr>
      <vt:lpstr>Slide Title for 9 Image Layout</vt:lpstr>
      <vt:lpstr>Slide Title for 10 Image Layout</vt:lpstr>
      <vt:lpstr>Title Goes Here</vt:lpstr>
      <vt:lpstr>Title Goes Here</vt:lpstr>
      <vt:lpstr>Title Goes Here</vt:lpstr>
      <vt:lpstr>Title Goes Here</vt:lpstr>
      <vt:lpstr>Title Goes Here</vt:lpstr>
      <vt:lpstr>Title Only</vt:lpstr>
      <vt:lpstr>Title Goes Here</vt:lpstr>
      <vt:lpstr>Publication Links</vt:lpstr>
      <vt:lpstr>PowerPoint Presentation</vt:lpstr>
      <vt:lpstr>EMBARGO</vt:lpstr>
      <vt:lpstr>PowerPoint Presentation</vt:lpstr>
      <vt:lpstr>Logo Treatment</vt:lpstr>
      <vt:lpstr>Available Assets</vt:lpstr>
      <vt:lpstr>Arrowhead and Diagram Design Styles</vt:lpstr>
      <vt:lpstr>Stack Design Sample</vt:lpstr>
      <vt:lpstr>Stack Design Sample</vt:lpstr>
      <vt:lpstr>PowerPoint Presentation</vt:lpstr>
      <vt:lpstr>Timeline</vt:lpstr>
      <vt:lpstr>Timeline</vt:lpstr>
      <vt:lpstr>Complex Timeline</vt:lpstr>
      <vt:lpstr>PowerPoint Presentation</vt:lpstr>
      <vt:lpstr>PowerPoint Presentation</vt:lpstr>
      <vt:lpstr>World Map</vt:lpstr>
      <vt:lpstr>World Map Slide With Additional Text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Kristen Hill-Peterson</cp:lastModifiedBy>
  <cp:revision>16</cp:revision>
  <dcterms:created xsi:type="dcterms:W3CDTF">2023-07-05T16:37:04Z</dcterms:created>
  <dcterms:modified xsi:type="dcterms:W3CDTF">2023-10-18T20:22:11Z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
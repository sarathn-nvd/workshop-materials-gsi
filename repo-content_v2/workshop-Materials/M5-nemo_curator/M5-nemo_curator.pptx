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14_0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15_955FBF42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28" r:id="rId5"/>
  </p:sldMasterIdLst>
  <p:notesMasterIdLst>
    <p:notesMasterId r:id="rId29"/>
  </p:notesMasterIdLst>
  <p:handoutMasterIdLst>
    <p:handoutMasterId r:id="rId30"/>
  </p:handoutMasterIdLst>
  <p:sldIdLst>
    <p:sldId id="256" r:id="rId6"/>
    <p:sldId id="276" r:id="rId7"/>
    <p:sldId id="259" r:id="rId8"/>
    <p:sldId id="277" r:id="rId9"/>
    <p:sldId id="260" r:id="rId10"/>
    <p:sldId id="263" r:id="rId11"/>
    <p:sldId id="264" r:id="rId12"/>
    <p:sldId id="265" r:id="rId13"/>
    <p:sldId id="266" r:id="rId14"/>
    <p:sldId id="278" r:id="rId15"/>
    <p:sldId id="279" r:id="rId16"/>
    <p:sldId id="280" r:id="rId17"/>
    <p:sldId id="261" r:id="rId18"/>
    <p:sldId id="262" r:id="rId19"/>
    <p:sldId id="281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FE7CDA-28C2-92AD-666C-72AD496B2577}" name="Arham Mehta" initials="AM" userId="S::arhamm@nvidia.com::69f9d224-b032-4f87-87d6-94762e8ca81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1D1D1"/>
    <a:srgbClr val="C0C0C0"/>
    <a:srgbClr val="B8B8B8"/>
    <a:srgbClr val="151617"/>
    <a:srgbClr val="FAC200"/>
    <a:srgbClr val="9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A4D2DD-3FF4-2146-9B44-440E1DFEA3CE}" v="10" dt="2026-06-01T11:06:06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08" autoAdjust="0"/>
    <p:restoredTop sz="96391" autoAdjust="0"/>
  </p:normalViewPr>
  <p:slideViewPr>
    <p:cSldViewPr snapToGrid="0">
      <p:cViewPr varScale="1">
        <p:scale>
          <a:sx n="41" d="100"/>
          <a:sy n="41" d="100"/>
        </p:scale>
        <p:origin x="768" y="216"/>
      </p:cViewPr>
      <p:guideLst/>
    </p:cSldViewPr>
  </p:slideViewPr>
  <p:outlineViewPr>
    <p:cViewPr>
      <p:scale>
        <a:sx n="33" d="100"/>
        <a:sy n="33" d="100"/>
      </p:scale>
      <p:origin x="0" y="-1581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221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minathan B S" userId="a4d01bd2-1974-4657-978b-6c992b848468" providerId="ADAL" clId="{92050FF0-09CE-5B2E-AE09-3668470BBA02}"/>
    <pc:docChg chg="addSld delSld modSld sldOrd delMainMaster">
      <pc:chgData name="Swaminathan B S" userId="a4d01bd2-1974-4657-978b-6c992b848468" providerId="ADAL" clId="{92050FF0-09CE-5B2E-AE09-3668470BBA02}" dt="2026-06-01T11:06:50.871" v="14" actId="2696"/>
      <pc:docMkLst>
        <pc:docMk/>
      </pc:docMkLst>
      <pc:sldChg chg="del">
        <pc:chgData name="Swaminathan B S" userId="a4d01bd2-1974-4657-978b-6c992b848468" providerId="ADAL" clId="{92050FF0-09CE-5B2E-AE09-3668470BBA02}" dt="2026-06-01T10:51:22.590" v="3" actId="2696"/>
        <pc:sldMkLst>
          <pc:docMk/>
          <pc:sldMk cId="0" sldId="257"/>
        </pc:sldMkLst>
      </pc:sldChg>
      <pc:sldChg chg="del">
        <pc:chgData name="Swaminathan B S" userId="a4d01bd2-1974-4657-978b-6c992b848468" providerId="ADAL" clId="{92050FF0-09CE-5B2E-AE09-3668470BBA02}" dt="2026-06-01T10:51:08.751" v="2" actId="2696"/>
        <pc:sldMkLst>
          <pc:docMk/>
          <pc:sldMk cId="0" sldId="258"/>
        </pc:sldMkLst>
      </pc:sldChg>
      <pc:sldChg chg="del">
        <pc:chgData name="Swaminathan B S" userId="a4d01bd2-1974-4657-978b-6c992b848468" providerId="ADAL" clId="{92050FF0-09CE-5B2E-AE09-3668470BBA02}" dt="2026-06-01T11:04:58.592" v="9" actId="2696"/>
        <pc:sldMkLst>
          <pc:docMk/>
          <pc:sldMk cId="0" sldId="261"/>
        </pc:sldMkLst>
      </pc:sldChg>
      <pc:sldChg chg="add">
        <pc:chgData name="Swaminathan B S" userId="a4d01bd2-1974-4657-978b-6c992b848468" providerId="ADAL" clId="{92050FF0-09CE-5B2E-AE09-3668470BBA02}" dt="2026-06-01T11:05:15.350" v="10"/>
        <pc:sldMkLst>
          <pc:docMk/>
          <pc:sldMk cId="3350920127" sldId="261"/>
        </pc:sldMkLst>
      </pc:sldChg>
      <pc:sldChg chg="del">
        <pc:chgData name="Swaminathan B S" userId="a4d01bd2-1974-4657-978b-6c992b848468" providerId="ADAL" clId="{92050FF0-09CE-5B2E-AE09-3668470BBA02}" dt="2026-06-01T11:04:58.592" v="9" actId="2696"/>
        <pc:sldMkLst>
          <pc:docMk/>
          <pc:sldMk cId="0" sldId="262"/>
        </pc:sldMkLst>
      </pc:sldChg>
      <pc:sldChg chg="add">
        <pc:chgData name="Swaminathan B S" userId="a4d01bd2-1974-4657-978b-6c992b848468" providerId="ADAL" clId="{92050FF0-09CE-5B2E-AE09-3668470BBA02}" dt="2026-06-01T11:05:15.350" v="10"/>
        <pc:sldMkLst>
          <pc:docMk/>
          <pc:sldMk cId="2720995097" sldId="262"/>
        </pc:sldMkLst>
      </pc:sldChg>
      <pc:sldChg chg="del">
        <pc:chgData name="Swaminathan B S" userId="a4d01bd2-1974-4657-978b-6c992b848468" providerId="ADAL" clId="{92050FF0-09CE-5B2E-AE09-3668470BBA02}" dt="2026-06-01T11:06:50.871" v="14" actId="2696"/>
        <pc:sldMkLst>
          <pc:docMk/>
          <pc:sldMk cId="0" sldId="267"/>
        </pc:sldMkLst>
      </pc:sldChg>
      <pc:sldChg chg="add ord">
        <pc:chgData name="Swaminathan B S" userId="a4d01bd2-1974-4657-978b-6c992b848468" providerId="ADAL" clId="{92050FF0-09CE-5B2E-AE09-3668470BBA02}" dt="2026-06-01T10:51:01.376" v="1" actId="20578"/>
        <pc:sldMkLst>
          <pc:docMk/>
          <pc:sldMk cId="0" sldId="276"/>
        </pc:sldMkLst>
      </pc:sldChg>
      <pc:sldChg chg="add">
        <pc:chgData name="Swaminathan B S" userId="a4d01bd2-1974-4657-978b-6c992b848468" providerId="ADAL" clId="{92050FF0-09CE-5B2E-AE09-3668470BBA02}" dt="2026-06-01T10:51:50.342" v="4"/>
        <pc:sldMkLst>
          <pc:docMk/>
          <pc:sldMk cId="2506080066" sldId="277"/>
        </pc:sldMkLst>
      </pc:sldChg>
      <pc:sldChg chg="add del">
        <pc:chgData name="Swaminathan B S" userId="a4d01bd2-1974-4657-978b-6c992b848468" providerId="ADAL" clId="{92050FF0-09CE-5B2E-AE09-3668470BBA02}" dt="2026-06-01T11:04:58.592" v="9" actId="2696"/>
        <pc:sldMkLst>
          <pc:docMk/>
          <pc:sldMk cId="0" sldId="278"/>
        </pc:sldMkLst>
      </pc:sldChg>
      <pc:sldChg chg="add">
        <pc:chgData name="Swaminathan B S" userId="a4d01bd2-1974-4657-978b-6c992b848468" providerId="ADAL" clId="{92050FF0-09CE-5B2E-AE09-3668470BBA02}" dt="2026-06-01T11:05:15.350" v="10"/>
        <pc:sldMkLst>
          <pc:docMk/>
          <pc:sldMk cId="2759178899" sldId="278"/>
        </pc:sldMkLst>
      </pc:sldChg>
      <pc:sldChg chg="add">
        <pc:chgData name="Swaminathan B S" userId="a4d01bd2-1974-4657-978b-6c992b848468" providerId="ADAL" clId="{92050FF0-09CE-5B2E-AE09-3668470BBA02}" dt="2026-06-01T11:05:15.350" v="10"/>
        <pc:sldMkLst>
          <pc:docMk/>
          <pc:sldMk cId="3406387462" sldId="279"/>
        </pc:sldMkLst>
      </pc:sldChg>
      <pc:sldChg chg="add del">
        <pc:chgData name="Swaminathan B S" userId="a4d01bd2-1974-4657-978b-6c992b848468" providerId="ADAL" clId="{92050FF0-09CE-5B2E-AE09-3668470BBA02}" dt="2026-06-01T11:04:58.592" v="9" actId="2696"/>
        <pc:sldMkLst>
          <pc:docMk/>
          <pc:sldMk cId="3730646526" sldId="279"/>
        </pc:sldMkLst>
      </pc:sldChg>
      <pc:sldChg chg="add del">
        <pc:chgData name="Swaminathan B S" userId="a4d01bd2-1974-4657-978b-6c992b848468" providerId="ADAL" clId="{92050FF0-09CE-5B2E-AE09-3668470BBA02}" dt="2026-06-01T11:04:58.592" v="9" actId="2696"/>
        <pc:sldMkLst>
          <pc:docMk/>
          <pc:sldMk cId="0" sldId="280"/>
        </pc:sldMkLst>
      </pc:sldChg>
      <pc:sldChg chg="add">
        <pc:chgData name="Swaminathan B S" userId="a4d01bd2-1974-4657-978b-6c992b848468" providerId="ADAL" clId="{92050FF0-09CE-5B2E-AE09-3668470BBA02}" dt="2026-06-01T11:05:15.350" v="10"/>
        <pc:sldMkLst>
          <pc:docMk/>
          <pc:sldMk cId="3599654904" sldId="280"/>
        </pc:sldMkLst>
      </pc:sldChg>
      <pc:sldChg chg="add del">
        <pc:chgData name="Swaminathan B S" userId="a4d01bd2-1974-4657-978b-6c992b848468" providerId="ADAL" clId="{92050FF0-09CE-5B2E-AE09-3668470BBA02}" dt="2026-06-01T11:06:06.866" v="13"/>
        <pc:sldMkLst>
          <pc:docMk/>
          <pc:sldMk cId="2586529039" sldId="281"/>
        </pc:sldMkLst>
      </pc:sldChg>
      <pc:sldMasterChg chg="del delSldLayout">
        <pc:chgData name="Swaminathan B S" userId="a4d01bd2-1974-4657-978b-6c992b848468" providerId="ADAL" clId="{92050FF0-09CE-5B2E-AE09-3668470BBA02}" dt="2026-06-01T11:04:58.592" v="9" actId="2696"/>
        <pc:sldMasterMkLst>
          <pc:docMk/>
          <pc:sldMasterMk cId="4258572220" sldId="2147483728"/>
        </pc:sldMasterMkLst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214334842" sldId="2147483729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57367132" sldId="2147483730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4000626463" sldId="2147483731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294430745" sldId="2147483732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436233920" sldId="2147483733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2890876108" sldId="2147483734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2188400001" sldId="2147483735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4262598423" sldId="2147483736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031907365" sldId="2147483737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514815789" sldId="2147483738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1734594839" sldId="2147483739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924786671" sldId="2147483740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2213908140" sldId="2147483741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754748568" sldId="2147483742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1884373091" sldId="2147483743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86993411" sldId="2147483744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2003965727" sldId="2147483745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2364457374" sldId="2147483746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2378061300" sldId="2147483747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2572211659" sldId="2147483748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61532951" sldId="2147483749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527145798" sldId="2147483750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741498721" sldId="2147483751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76699759" sldId="2147483752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614323819" sldId="2147483753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2228942608" sldId="2147483754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793342780" sldId="2147483755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4276968169" sldId="2147483756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2606815969" sldId="2147483757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947276765" sldId="2147483758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11866534" sldId="2147483759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208942551" sldId="2147483760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2952376518" sldId="2147483761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1928317084" sldId="2147483762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580371416" sldId="2147483763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753352968" sldId="2147483764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652794828" sldId="2147483765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1925669808" sldId="2147483766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583993750" sldId="2147483767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825266885" sldId="2147483768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2808067455" sldId="2147483769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1843837277" sldId="2147483770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744063051" sldId="2147483771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4260360337" sldId="2147483772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1035489634" sldId="2147483773"/>
          </pc:sldLayoutMkLst>
        </pc:sldLayoutChg>
        <pc:sldLayoutChg chg="del">
          <pc:chgData name="Swaminathan B S" userId="a4d01bd2-1974-4657-978b-6c992b848468" providerId="ADAL" clId="{92050FF0-09CE-5B2E-AE09-3668470BBA02}" dt="2026-06-01T11:04:58.592" v="9" actId="2696"/>
          <pc:sldLayoutMkLst>
            <pc:docMk/>
            <pc:sldMasterMk cId="4258572220" sldId="2147483728"/>
            <pc:sldLayoutMk cId="3782668174" sldId="2147483774"/>
          </pc:sldLayoutMkLst>
        </pc:sldLayoutChg>
      </pc:sldMasterChg>
    </pc:docChg>
  </pc:docChgLst>
</pc:chgInfo>
</file>

<file path=ppt/comments/modernComment_11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22ABAF-23CE-4D0E-B273-DF6D1D918A97}" authorId="{57FE7CDA-28C2-92AD-666C-72AD496B2577}" status="resolved" created="2025-10-28T17:16:39.66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6"/>
      <ac:spMk id="2345" creationId="{00000000-0000-0000-0000-000000000000}"/>
    </ac:deMkLst>
    <p188:txBody>
      <a:bodyPr/>
      <a:lstStyle/>
      <a:p>
        <a:r>
          <a:rPr lang="en-US"/>
          <a:t>[@Kristen Ennis] can we update container to docker container and point to curator ngc container</a:t>
        </a:r>
      </a:p>
    </p188:txBody>
  </p188:cm>
</p188:cmLst>
</file>

<file path=ppt/comments/modernComment_115_955FBF4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6F8A57-00E5-4A6B-B647-1A3C1FA58E98}" authorId="{57FE7CDA-28C2-92AD-666C-72AD496B2577}" created="2025-10-28T17:11:16.87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06080066" sldId="277"/>
      <ac:picMk id="4" creationId="{055455F8-11B5-AC80-D487-CF4311D5198A}"/>
    </ac:deMkLst>
    <p188:replyLst>
      <p188:reply id="{3BFC5AFA-BDB9-46E4-A639-F0D69495FE3B}" authorId="{57FE7CDA-28C2-92AD-666C-72AD496B2577}" created="2025-10-28T17:12:28.122">
        <p188:txBody>
          <a:bodyPr/>
          <a:lstStyle/>
          <a:p>
            <a:r>
              <a:rPr lang="en-US"/>
              <a:t>also, create a copy of diagram -&gt; w/ only data sources, data download &amp; extract, cleaning &amp; pre-processing, quality filters, deduplication, quality filters / pii </a:t>
            </a:r>
          </a:p>
        </p188:txBody>
      </p188:reply>
    </p188:replyLst>
    <p188:txBody>
      <a:bodyPr/>
      <a:lstStyle/>
      <a:p>
        <a:r>
          <a:rPr lang="en-US"/>
          <a:t>[@Kristen Ennis] can we add models to wherever applicable?
- embedding model - pointing to dedupe (semantic)
- LLM/ Reward models pointing to quality filtering (Model Based)
- LLM model pointing to Generate Synthetic Data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34FAB7-7DF1-470D-9D24-E6B58A84B80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88521-8FCE-4BCB-8B67-3730585527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846B-0977-4E9D-973A-F0EA2C10623B}" type="datetimeFigureOut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t>6/1/26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820F8-FB5B-4060-9702-8BB4F61830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6212FBFF-564E-4199-8DDC-2B82D308BF1D}" type="slidenum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pPr algn="l"/>
              <a:t>‹#›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78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354A8664-169C-4436-81C8-E492002C26A5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A93AD357-0C40-4436-9D38-C47D60C1C9C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3E2AA-C3B7-40F1-8870-35AD3374F0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3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M5.1 NeMo Curator — 45 minutes of theory. Introduce yourself; remind attendees this is the first NVIDIA product they'll touch hands-on in M5.2. The deck mirrors the official NeMo Curator deck content but ties everything to our AML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6" name="Google Shape;231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/>
          </a:p>
        </p:txBody>
      </p:sp>
      <p:sp>
        <p:nvSpPr>
          <p:cNvPr id="2317" name="Google Shape;2317;p6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Anchor slide. Curator is highlighted in NVIDIA Green; everything else is muted. Emphasise: clean Curator output drops STRAIGHT into the NeMo Framework training container with no glue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3" name="Google Shape;235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VIDIA Sans"/>
              <a:buNone/>
            </a:pPr>
            <a:endParaRPr/>
          </a:p>
        </p:txBody>
      </p:sp>
      <p:sp>
        <p:nvSpPr>
          <p:cNvPr id="2354" name="Google Shape;2354;p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visual anchor of this deck. Walk through each pillar in ~30 seconds. Tell the room: 'every pillar except Classify and Redact has GPU acceleration.'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Heuristic filters are cheap and catch ~80% of bad data. Classifier-based filters (next slide) catch the trickier 20%.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Curator ships these classifiers as state-of-the-art open models. You can also bring your own — the framework is classifier-agnostic.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Built on Microsoft Presidio + Curator's own custom NER. Critical for any finance / healthcare / legal corpus. Our AML corpus runs this on every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fastText is small, fast, and accurate — this is why it's the workhorse for langID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Google Shape;24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0" name="Google Shape;24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1" name="Google Shape;2421;p12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Trebuchet MS"/>
                <a:cs typeface="Trebuchet MS"/>
                <a:sym typeface="Trebuchet M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t>10</a:t>
            </a:fld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138037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8">
          <a:extLst>
            <a:ext uri="{FF2B5EF4-FFF2-40B4-BE49-F238E27FC236}">
              <a16:creationId xmlns:a16="http://schemas.microsoft.com/office/drawing/2014/main" id="{0B7252C8-A97A-BAFB-EACB-97E795235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Google Shape;2419;p12:notes">
            <a:extLst>
              <a:ext uri="{FF2B5EF4-FFF2-40B4-BE49-F238E27FC236}">
                <a16:creationId xmlns:a16="http://schemas.microsoft.com/office/drawing/2014/main" id="{77192501-576E-5BA6-8184-2081CD1229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0" name="Google Shape;2420;p12:notes">
            <a:extLst>
              <a:ext uri="{FF2B5EF4-FFF2-40B4-BE49-F238E27FC236}">
                <a16:creationId xmlns:a16="http://schemas.microsoft.com/office/drawing/2014/main" id="{77524D87-96C3-4E8F-9888-69716D9DA7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1" name="Google Shape;2421;p12:notes">
            <a:extLst>
              <a:ext uri="{FF2B5EF4-FFF2-40B4-BE49-F238E27FC236}">
                <a16:creationId xmlns:a16="http://schemas.microsoft.com/office/drawing/2014/main" id="{B837EDDB-4F07-6555-A858-24AA75636C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Trebuchet MS"/>
                <a:cs typeface="Trebuchet MS"/>
                <a:sym typeface="Trebuchet M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t>11</a:t>
            </a:fld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975989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4" name="Google Shape;240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5" name="Google Shape;2405;p11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fld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242269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Exact dedup is cheap — O(N) — but only catches byte-identical docs. Real corpora need fuzzy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6931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MinHash + LSH is the classic web-scale dedup. cuGraph accelerates the connected-components clustering step — that's where Curator wins on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906585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4">
          <a:extLst>
            <a:ext uri="{FF2B5EF4-FFF2-40B4-BE49-F238E27FC236}">
              <a16:creationId xmlns:a16="http://schemas.microsoft.com/office/drawing/2014/main" id="{1CA9E549-8542-A025-56D4-5D6524EF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p13:notes">
            <a:extLst>
              <a:ext uri="{FF2B5EF4-FFF2-40B4-BE49-F238E27FC236}">
                <a16:creationId xmlns:a16="http://schemas.microsoft.com/office/drawing/2014/main" id="{094B05CE-33B2-96FB-C7CD-95BAA9A5A5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6" name="Google Shape;2436;p13:notes">
            <a:extLst>
              <a:ext uri="{FF2B5EF4-FFF2-40B4-BE49-F238E27FC236}">
                <a16:creationId xmlns:a16="http://schemas.microsoft.com/office/drawing/2014/main" id="{B1A681B1-144A-E3BD-FBE1-25602935A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/>
              <a:t>Chart 1 – Reasoning Accuracy: Average of Race, </a:t>
            </a:r>
            <a:r>
              <a:rPr lang="en-US" err="1"/>
              <a:t>PiQA</a:t>
            </a:r>
            <a:r>
              <a:rPr lang="en-US"/>
              <a:t>, </a:t>
            </a:r>
            <a:r>
              <a:rPr lang="en-US" err="1"/>
              <a:t>Winogrande</a:t>
            </a:r>
            <a:r>
              <a:rPr lang="en-US"/>
              <a:t>, and </a:t>
            </a:r>
            <a:r>
              <a:rPr lang="en-US" err="1"/>
              <a:t>HellaSwag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/>
              <a:t>Processing steps - </a:t>
            </a:r>
            <a:r>
              <a:rPr lang="en-US" sz="1200">
                <a:solidFill>
                  <a:srgbClr val="242424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with fuzzy deduplication, 21 heuristic filters, and </a:t>
            </a:r>
            <a:r>
              <a:rPr lang="en-US" sz="1200" err="1">
                <a:solidFill>
                  <a:srgbClr val="242424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unicode</a:t>
            </a:r>
            <a:r>
              <a:rPr lang="en-US" sz="1200">
                <a:solidFill>
                  <a:srgbClr val="242424"/>
                </a:solidFill>
                <a:latin typeface="NVIDIA Sans" panose="020B0503020203020204" pitchFamily="34" charset="0"/>
                <a:cs typeface="NVIDIA Sans" panose="020B0503020203020204" pitchFamily="34" charset="0"/>
              </a:rPr>
              <a:t> correction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>
              <a:solidFill>
                <a:srgbClr val="242424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sp>
        <p:nvSpPr>
          <p:cNvPr id="2437" name="Google Shape;2437;p13:notes">
            <a:extLst>
              <a:ext uri="{FF2B5EF4-FFF2-40B4-BE49-F238E27FC236}">
                <a16:creationId xmlns:a16="http://schemas.microsoft.com/office/drawing/2014/main" id="{04D6F06A-AC8D-1DEE-AC90-A345A17EDC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85588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canonical Curator pipeline. Every box is a Python module; you can compose, skip, or reorder. Curator is intentionally modular.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you've ever fought with format mismatches between data prep and training, this slide is the headline — Curator and NeMo Framework share a JSONL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pattern our CPT pipeline uses. Joint dedup means an EDGAR filing and a FATF guidance referencing the same paragraph collapse cleanly. Segregation means L2 stays AML-specific for the 2nd CPT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Concrete numbers from our actual CPT corpus (see 3.cpt/2.run_cpt/README.md §1). L1 is mostly EDGAR (financial filings — that's where 'register' fluency comes from). L2 is small but dense: FinCEN + OFAC are the heavy-lift regulatory corpora.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drop numbers on the right are representative — the exact deltas the attendees will see depend on the slice they process in M5.2.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 framing — Curator is one layer. We'll see Data Designer next (M6.1), Evaluator on Day 2, and Retriever within the Blueprints flyover on Day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up the hands-on. Tell the room the notebook has a 'cheat cell' on every step — if their cell hangs, they can ship a canonical output and stay with the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Hand off to M5.2 hands-on next, then M6.1 Data Designer theory after lunch on Day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07D900F6-F9C5-E13E-B321-472E2C064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AC2F1390-BF3D-835C-3CE7-1F9507746C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DD93D-C8D9-AAAA-C193-4F162992EE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012" y="2983577"/>
            <a:ext cx="19282214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4FDDD85-BD02-911B-1C62-433286994A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 dirty="0"/>
              <a:t>Click to Add Subtitle/Name/Date</a:t>
            </a:r>
          </a:p>
        </p:txBody>
      </p:sp>
    </p:spTree>
    <p:extLst>
      <p:ext uri="{BB962C8B-B14F-4D97-AF65-F5344CB8AC3E}">
        <p14:creationId xmlns:p14="http://schemas.microsoft.com/office/powerpoint/2010/main" val="14787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99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0B57E-B314-99BB-8DF8-2672644B4F4E}"/>
              </a:ext>
            </a:extLst>
          </p:cNvPr>
          <p:cNvSpPr/>
          <p:nvPr userDrawn="1"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dirty="0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80E6-5287-D931-0053-EF9F8579E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56523"/>
            <a:ext cx="11022523" cy="78645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89DD87-13E1-B25F-EBCC-2BC52BA4AAC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869C1B-4BC1-3F4F-4B38-F2FBE6DA615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944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5372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B5A3B7-671E-C83C-D30C-891E7AC20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91E553-3F88-CE75-0B41-84F0FCE66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C6155-7E24-522A-D9BC-0187CC5320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777A-F626-7644-27B7-BFAC0B981393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65545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F5163-CB61-79FB-F160-F5D40ECCE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DE4CF-0F8A-C449-EB63-E6FB16955E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67495D-7B41-2537-BC39-7393489E5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8442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53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6812F5-ABE3-E984-84D2-2BCF62F74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D5FFB6-C6A8-037E-5413-097EB66C5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EAC335-6BA5-09DF-D45A-2D1E4919D6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7F3906-FA1F-F5DB-AEEC-275E973390E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800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2BC1FA-1DB5-2C7E-04B8-FED75088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2AEF98B-5FB8-3A4F-796B-DD99AF3F2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1F2F2-6278-B4DF-1110-A1875E182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4011BA-8847-33A7-3882-70122015054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4AC74-E8E5-AA23-89B3-FDB8D3DEFA5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96951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ECDE791-270C-BF8C-81C1-76A0831C1A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45783C-AD8B-1C6E-6189-2C6A7ED49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C7C90A-73D6-E171-33CA-4E89BA293C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93474C4-48DE-3777-A7E6-66A14FC6BB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A87B4-E089-FC07-89C2-EA0620853B79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94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2E9B9-4BF5-6080-A68D-577B3CFA39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73545-7C20-075B-2C1C-DF7F4214DAD6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42E39E-F558-16B2-B1CE-93D204E34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6075D2-4650-7EB1-4F7E-447F77C06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024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60F29-EAFD-D95F-11A7-522A796CA55D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5E0159-2062-54D4-B444-4F04EED23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A7D3A0-47E2-AF7B-E89C-6F90C67A8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F9A406-CE29-3A8D-BC16-6BD86203C8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6CCF06A-1AE0-649C-7FD4-A4AD4CCAD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28BF97-25AA-1462-7737-C9F688962248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E7F96C-8641-759A-C4B4-91D493A323B7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D2AD3A61-7583-56FE-D581-B662F99B0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55D1BC-2F32-1320-2F7E-E97C10EFE149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75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3CD4AC-6599-9139-48AD-37DCAEFC9C0F}"/>
              </a:ext>
            </a:extLst>
          </p:cNvPr>
          <p:cNvSpPr/>
          <p:nvPr userDrawn="1"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8CE70B-4A73-2CDA-4106-8F959E35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303E50-8A83-54D2-8D06-1904385F2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1B69A0B-9760-28C1-5DE8-5EE814EF52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C1B2-04C0-DFB7-6EBD-AB040BF7DEFF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4000" dirty="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472DC-2279-F186-008D-6EC9A40B3DCA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F31711-1359-3AFC-3118-FB20395A8CC3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C69E3B1-A791-DCBA-5395-FDEBE9D699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C2502-4915-5E9A-D92C-046E02303113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9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94EE8E-8499-E649-9D65-52E13C0DE2CB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224051-F6A0-1C68-72F2-09CC08062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684755-C5FC-AC50-65BB-81DB0D4B45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3B833-0169-9942-0C34-3173DDB88C15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304D4-014C-60EE-E0A3-7A7D03BDE871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3" name="Picture 1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6AC6FBB-55BD-E1DC-D634-E645384BD9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3C766-949A-7CC3-8AB3-538B5C8F7C6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4F47D23-438F-22E0-F300-A852BA1BDC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7665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6DF6B-AA28-1E18-7D69-34A1E206799E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F8B1F53-1589-33D7-3C32-077E788C6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F4C1EF-D7E4-3702-6092-EFE862FFB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37DE7-1D7A-32A3-A88D-722BA52766C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7B295-1243-2BBD-AC77-7002AC68B56D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0" name="Picture 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F124724-C9CF-DF8A-9FE0-CE1C65F9B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23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5DADC-C505-F594-3ED9-E07FA6C3859F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B97FD-6C93-BC60-D63A-B88F2C3C2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BB0DECC-5F4B-7918-876B-2BF2EA652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D8965-93AC-C44D-A13A-AA1A59E48E8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76025B-4D61-0E71-7F02-BE092B8B6E56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868D588-6D8B-CDEB-A2E0-D376E5C6CE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822DB8DA-38BC-95A4-39B5-5464378B4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9736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FA34CC3-F5EE-3A8A-AA13-FC23B233B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A682B68-3659-B898-36D3-E447501FB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59F3285-DAE4-EEAA-1022-7AE1DD168FD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ACFA6DD-1412-CA3C-15F4-ED8AD6B2B85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36BBB72-064F-A97E-FE2D-2916C4D3DAF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3068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4B512-77C9-3A9F-0589-67D0C765FDC0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C8AA277-6DD1-2CCF-12CD-C2AD75B0A1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DD79B1E-BCCA-42A9-FF20-7B376772A56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8FAA03E-2924-5648-AA06-0B8C894A49D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4A33F69-6DBC-F1DB-EAD6-D5B9002D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430B97A-31FA-023E-3290-2B9B63D00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8295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BBA88D4-0997-C5B9-36CF-9B1633F8B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E739272-8253-AD42-BD05-8F666D4982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8AB0E9-F286-1C40-1AD6-B85103B0AF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C3074C-54D1-DCE0-426E-97BA7CD58B8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25477F0-8392-CEDA-19F2-0A29016EECC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A2AF85A-9EEE-C062-1006-74D7741E330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9E96633-6475-1F2C-E726-28BE8668FBC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2428D4D-F13F-B280-6137-8C32CD9EEF0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8561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Layou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16114AB-138A-4EAC-3492-E7D7CA151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B79CE2D-84D0-541E-C116-5E768BBF94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431A644-F8BA-5000-F78A-9BB8A4809E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46989B9-88FE-F861-A0B6-8F80720B5C7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73B8B69-1B16-2A38-932F-E517F5C0529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60E8F47-2868-457B-7861-466422E3423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B5FB899-4F67-DA8C-A516-B71387137DB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1A5AAD0-2B0D-F6DE-8C5D-5C0625FD55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BD83B1D-F849-2310-DE25-451C7BD75C5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0292527-B9F3-D59F-1575-33C8C564E87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0117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6EC4D90-EA3E-9A18-FEA5-3EEF50715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BFC61ED-E368-EADF-A0C1-3AE9904C78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5FE98CD1-AB1E-1E7B-2FF4-F7E242CBAB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CCE8B13-298C-67A4-073D-4636A3BCE7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F9FA27DB-2E4D-388B-2F4A-FE708B1D26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5E18C58-3C84-ECE1-A164-6A5FF953635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D55A3EC-8AF3-3222-5E82-1A74FA5AB0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9A555E-B5A7-F2B9-6D6D-E24CAD68B92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FC4CC4C-42B6-5D87-37D6-FE779B1ABFE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4DE79F6-DE99-BDFD-033A-5AB8981A3A0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6F712D3-EAE3-8A7F-010B-AFEF00AE6B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6806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59D9FFB-F331-2BA3-76DB-D0D67666F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737A17E-9A03-1AA3-D59C-3833F19EF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FF59CD9-73FD-415B-F082-C27D3FC74C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082BEB-34AF-6104-9172-84A9393C73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ACBD8DD-E9B6-20E0-AF99-F566611D525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3F34C73B-16DF-6108-33FA-2019F4A18A9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A0C0A2B-E05B-6582-22E0-E2FB87D4F5F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252818C-30B9-BEAB-C34B-3FDB45B0785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E94F7E10-2AF0-1049-A3BD-C3667BA1A7B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E2100E-D959-41B2-929B-D1BC5577201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9556000-DFCA-8B90-EBBC-359C95C3B36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0DB8C8F-25FA-6C95-C2D7-C138BAA32B5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3D94597-BF94-1410-90DE-B1569E6B339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BF06A1A9-1746-181C-9E88-1422CE2DFEC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13558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8907B76C-DA4A-68FA-C798-F3D3ED6D3E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0A5F7E9-98C2-BE12-2CFF-1D4269C21CE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C40D16D0-F1BB-6699-BB7A-3010F14B4E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69BAFFD-DE29-C3FE-3E3D-0742C54E77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F8CDCB5-2334-0382-7EDF-D6A8C4C379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E8130F2-A049-2C2C-49C2-814F60E02EF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2EF59D26-21AA-0628-FEAE-B2017AD93D4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FA27073E-24AC-35B6-4579-F3553211D14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B7137105-F7C8-86F9-A19D-CC0280C9551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C215F7B2-F4E2-412D-DB90-96FF4E146F17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F6B1B50B-4191-7EA1-DD61-A96EBE2A0C65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65B4C94D-3029-61DE-18DE-8A6472E970B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CE518717-6ECD-F803-EEF8-2B2D7CF9EB4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C5D8EE17-AD94-2DE2-C337-573533395DA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85A95BB1-6B72-7CA5-06BB-430623F1D27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DC5F873-F78F-F1B6-1AFB-37B1EE509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8631CFA9-583B-6069-2D7A-BD83D75791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1443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1953C1A-70BD-1EAA-9874-87A836A819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9252F9A9-D932-EDF6-7A48-D5D93A40455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D0D95889-F2DB-3BC9-69A2-99832FFC98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0BBE6F4-0357-A4FD-1E64-134C0BB676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BFAE3A57-5BF4-79B4-4629-2CC735C71F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9A50CCA-B5CD-F9AE-216F-C421A1BD9F0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57508AA-A2C8-98B6-81F3-50D83C509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4222A90-C423-A76E-E4A1-DC33CE530C3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4209A868-D6F4-3E49-A6A2-D0B83BADF3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9C37E9B7-863B-6FEB-5E35-885ED1194BF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577FA631-E033-ADBD-0DC9-D0DB5E39C199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381881A2-4556-E0E7-4976-CE4CA8B44BD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3E8E5407-C49C-0C9D-34F8-F6F0488021F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2DA5A94-C231-4766-8AC7-EF73C16EBD6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00B4030C-05CF-B466-BA8F-C340617A578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94CEECC-D038-E547-DC3E-DE08CED8E7D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94DC10A-126A-4CF6-0FD2-5B6BB2EFDE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57F8B789-2F41-F510-798B-CCE7F38AB05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01540E5A-2872-4A69-C821-D69B8796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C4FBCAD5-F75E-2024-91A6-AF69090C6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3705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44D2068-6849-9B7C-6BC5-5E5F7AA4A6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BD648D6-A7DD-1281-7F44-26AAC46ED2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A889FC2-EEE4-383A-34F1-AA6640C2BE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7DD1B20-C6FB-A50F-E2B0-453434ECCBA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E5F378B-4650-A769-498F-70E97D83294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4D0EBD50-D183-BA46-8F9A-CA94A31E251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B28D2A90-D084-131D-BC81-F32026B9D48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31F641B-69D7-D8F7-664B-8DC4432B48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23F0B05-8C96-0447-48C6-977D2CE109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450F6A7B-55D2-E137-09E7-D5EB0FECCA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36E7E436-EF57-51FD-A8FB-FDA402DAB6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11D06D85-EEB0-0A4E-44A0-04EB0FDA491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9CAB601B-BE03-84B9-C2D3-F9A9DD36F0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2901EEFF-A05E-86EF-2959-BEBE7506CE3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CA5DE0BE-2247-E600-19F8-62852DE95A3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7D33E875-82FA-EFBA-E610-7A1BB8D8E0D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16E04D83-5D56-3ED0-0106-291190FF16C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B72D7370-4F41-FFA7-2106-37908325FCC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AFF43D71-DEF4-2B0C-C6B4-BCAFBD85271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F818D8AD-CFB5-A8CB-CABB-19C1B1AFE5B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23409FA5-2A41-C5C8-6575-A607630F90F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3B193957-7130-A79D-273C-851474BDC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A822B21-EE98-CD37-EC99-C8836B3004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59005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5EA57D4F-DD4C-CA06-8F17-B354B7AF0A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06F88D93-EC5D-0F4F-2D03-D40CFF157D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E2460103-C7AD-1E73-A79D-2130A59BA43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CB4626F4-FF48-A6FD-42A0-87CB9D35E8B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BBF469D-EB9A-C1CD-A4E0-EFCD4EF63E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398E7A27-AB90-AE4B-9C41-537061139935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375CDD23-925E-31A1-C3FF-2D6ED9D05AA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15BDAD05-3EAC-DFAA-EDD1-1D9E9C00211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360B2E4-D618-5423-3E76-F376EBCA010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AD06D986-4434-AF51-6805-3B97BBB7694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1F515353-8B00-746C-A2DE-32E93A0F1A0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5744BB22-B21A-41F1-3AC0-E5405D3F38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435F4BE-979D-A31E-822F-BE5B89134C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77BC232-CE11-33FD-E959-01E1784345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4F4CD93-1747-0EB8-E78A-72E497AAB2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A697863-003A-44B9-586E-527F58EF782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F51F4D18-0362-FD9E-AC25-A4A81A8B19E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53B0CD77-A671-31CB-AC75-0C7EC845BB1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5373FC8-B0DB-5978-E125-CA5A68C0257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E6B03167-9698-83DC-3B32-0493773EDDC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A6B7D653-72EF-B0B1-6654-9E4D6E8DCA7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68246EB6-5778-F487-E211-E6E38EDCBD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6E19FE0-274C-8D86-A257-C3C9C6050C5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6EE28B31-BBFD-198B-6E2A-89E9C4CCFA8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7782373E-DEA5-D3FA-DF0B-FC71246BA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6E4B878-2BFA-C852-759E-04F4BD4E45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590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AC8872D6-E3D9-128D-6975-7E43AE049D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24D63DA-1ECC-62E5-3223-DD9853116B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4296C6CE-75C2-58D3-2077-098855EC50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B889168-9CA5-7858-11A4-7E282071DDD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3F8F5E2E-FAA9-873C-63EB-B4940E3D490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119A3EE3-90A6-60F9-3E78-60D1CE1FB24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C639A2E5-6B54-F354-C964-79CE29BEB3D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405A4B4F-FDD8-68B8-BEC0-2C9F5E7703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A9D8994-57AB-FC46-F970-8A9BC7CAD2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34A2868F-2DD9-684C-4C82-813EEBD15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D2FB10F1-37BA-6882-EBF3-73F1E627FF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F7972475-48C0-DE70-4A42-09E610902CE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03F70687-E13E-779B-ECD8-584B6FB4FB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EB21B6ED-31E4-7226-13B1-F2AA1B5EC04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6C21D96F-4A3F-E55C-9A59-55E018F25D9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485D12D2-2B06-3201-0659-EE86413C68D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7241A741-AE7C-3428-6194-0F6E94BF06F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D28CF82-511F-AF83-F5D5-77ECB99010E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1439B33F-68A6-6AFE-68C2-8A0B706EE9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1B9EFC83-50E5-49BB-B838-4F101E95A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BFB3F389-B76A-63C4-BC38-E857B1B097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8AAEBAC8-FBC5-9068-A8B4-AEE29F8FC0A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17BBB11-F155-8A2D-2741-A48639DDC9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74BB25EE-CFA9-E005-5BB1-CAC4EA6436E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3505C59D-AFAD-58D3-4166-F5257E096C4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9183A493-96AB-21A4-F2F2-55F4C25B4A3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39F09929-49C9-A912-1E78-C37DD2A400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700C3A0-30EC-1996-7732-DE4E1CF95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A0EDA14A-3243-B144-7B6A-EA7981E5DC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1859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9B94E87-6C45-B9E5-F5AE-D69D71E616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60A4EC5-468D-A3E6-9294-084BA073A2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AB65765-2201-817D-E699-AB8E899F5A0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54B1517-FE34-AAC0-C4EE-52F7D477D2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30BC2C71-2AC1-DDC7-734C-63EE3CA218F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A5495BC-7C50-8C58-B54F-D3C882FECC1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48C56C91-18A4-7D8E-94FC-6714566B099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528A02C1-AD1D-1EE4-C6AC-3B590D5277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1D675D5-3EFF-B8AD-BA35-187E996A9B6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1029ABF-1C3A-2F51-92CB-AA5A3AC353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8FE2B66F-F99F-570D-A31D-3578C4B3B17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42FEAB60-4C6E-41A0-FC52-81583615683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A2963118-2A95-082A-4DFF-6C0DA33F59B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F1791F3A-0E82-06A9-0588-000305CD159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7E0D42E0-350E-2247-45F3-56D42F8A4B6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7640883-7B53-617D-BE12-A19E85F82D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D9B189E3-4BDB-A032-87AD-39D194013B8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2A34B9E8-CFB0-ABCC-D2C4-A8F174FDB90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716C5C95-2BC4-4D5A-9F5E-FA8B8CECBF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471A9256-6A6C-5C2D-1DEA-813569F4D2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43D755B0-CB88-73DF-77BE-F524AF55542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3198CB65-E1BB-0862-2BBA-EDF38803C3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D76AC962-A132-DA02-DE26-644561C88B3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7EC2D322-35AF-3168-CAE7-F7242C22DE6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B0179DD1-4F77-A229-F54C-117D786F649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1B3ED7E6-3440-4DEC-6512-E64B9960C25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9C3AE372-0E56-771E-CCB5-C1E77A38D34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F415D1AB-B98D-8EC8-08B0-3DAD5A3D8C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5A71691E-DD29-C12F-E295-A972376CE11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09DF864-DBFA-F92D-B685-429A430B260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4AD4D5AB-34C6-812D-8AD2-BF8272B628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B1FCE4BF-7751-CC7B-D446-A5791D382E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224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3010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-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339081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834EEA-7CA3-4C82-B29B-3EA15B8822C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Media Placeholder 7">
            <a:extLst>
              <a:ext uri="{FF2B5EF4-FFF2-40B4-BE49-F238E27FC236}">
                <a16:creationId xmlns:a16="http://schemas.microsoft.com/office/drawing/2014/main" id="{95086AA8-FFA8-416F-AD2F-0B72238092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lang="en-US" sz="8400" b="1" dirty="0">
                <a:solidFill>
                  <a:schemeClr val="bg1"/>
                </a:solidFill>
                <a:latin typeface="+mn-lt"/>
              </a:defRPr>
            </a:lvl1pPr>
          </a:lstStyle>
          <a:p>
            <a:pPr marL="857250" lvl="0" indent="-857250" algn="ctr"/>
            <a:r>
              <a:rPr lang="en-US" dirty="0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260279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background&#10;&#10;Description automatically generated">
            <a:extLst>
              <a:ext uri="{FF2B5EF4-FFF2-40B4-BE49-F238E27FC236}">
                <a16:creationId xmlns:a16="http://schemas.microsoft.com/office/drawing/2014/main" id="{708A9C7D-B92D-A13B-AE0E-7F3EA434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1316F0-7ADD-BB87-23BE-740C3B3B0100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478E8-E56F-B47D-1F5A-CBA4655161C3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66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4798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19281CF6-82C4-D591-C93F-79BF14277C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0EE250-813A-B3FC-C9DB-11B6E237EC3B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1A4C02-2335-3840-A0B5-647FE4372B5A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27B64A9-49B7-26AE-EEC1-3DFB7714FD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5B24A7F-7007-8F97-B7C8-699C59382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E9F7FB4-6AA0-B491-27B8-845C8CCE9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1C6138-3339-1502-9812-8B9B39AF6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6B4F135-9336-3722-2593-739C386518B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16A6D24-C230-8F9B-A12F-04BF3B073A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6F5CC89-1592-52B8-63DE-F83AAF64E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F14B17-DED6-D507-0F6F-0880EA7DD5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9A52FF-8F33-D50C-49C1-0A55140F33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5D8802B-FD04-DC3F-D5E6-9A1D927089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4956259-B8C8-1248-4F09-69EFFCCA6C2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A510AB1-7D48-519B-BE8D-994DD848CC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F3F011E-890F-E527-A5CB-421C1CE541C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1CAB8F0-0055-E057-4C4A-7B3C6F7B94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8F5B73D-560B-E470-3B25-EAD525666B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960F0BA-603E-23D9-F49B-C5B4462632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BBA2ABA5-D670-2BB6-7840-47F6198C0D4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CBEE0231-5854-76AF-A0C6-70879C2EA7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76ABB2-52CB-85AB-C186-532F75164A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880F57-14E0-B28C-BF79-E4DCF3B7D6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58904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3BFE9B15-7828-3FC3-BCF0-23F89A130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79F16E-B355-8896-6563-603510529C31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5A15EA-E928-94AA-543D-8EA2FF0183F9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43A3E-D43D-124C-0C49-E1D720395FC6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D9C284-B78C-1241-4B2A-F563F642D0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34FF7EA-90ED-54BC-F712-E8CE0FF23D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D91CB-444B-B15F-7D27-F8959442EE8D}"/>
              </a:ext>
            </a:extLst>
          </p:cNvPr>
          <p:cNvSpPr txBox="1"/>
          <p:nvPr userDrawn="1"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 dirty="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168394-A768-2D2C-2FE6-DB4613D6BDFB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7CCAE-8B92-5A79-CBAF-C805450DD64B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9A1B02-4A67-4CC9-F283-AC371711F42A}"/>
              </a:ext>
            </a:extLst>
          </p:cNvPr>
          <p:cNvGrpSpPr/>
          <p:nvPr userDrawn="1"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3E7C50-8DF7-896F-E1BB-D5842FE7F8E9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 dirty="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4E42D4-651A-0018-08AF-103C03C79F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DE2FD7-58D2-230B-D513-D6416CD17B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1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white background&#10;&#10;Description automatically generated">
            <a:extLst>
              <a:ext uri="{FF2B5EF4-FFF2-40B4-BE49-F238E27FC236}">
                <a16:creationId xmlns:a16="http://schemas.microsoft.com/office/drawing/2014/main" id="{61701B74-047D-F92D-ADA0-7BF31D83E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5FB945-6B24-57D3-B359-4FC5884B9E2A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A1354-6E59-B3D9-5AE9-EFF6955F88F2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07B0F-0A81-6159-CB17-9A246F14A280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88F64-F571-BC4C-9D1B-F87497A44084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BB071F-1DED-7BC0-205E-742D1CC39A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52C8912-97F2-5FEC-2170-801AFD44E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182597-2C50-3A4E-9225-0ED4ED207042}"/>
              </a:ext>
            </a:extLst>
          </p:cNvPr>
          <p:cNvGrpSpPr/>
          <p:nvPr userDrawn="1"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B0E8CB-44E4-719C-A5CF-735DA9699441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D0B919-1FC7-23E4-68BE-05C833FAB722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D82AED-32A6-66BD-FAD0-B98CE3AFC77E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1EC44D-F0B4-790F-3089-A3B3D01B77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7DAC6E7-C5E7-D30C-B66F-007182DE7A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7AA061-58A0-8C4F-C050-0B149A72E6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16F238-457C-1E6C-1D73-143F4C3F61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406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curved lines with a bright light behind them&#10;&#10;Description automatically generated">
            <a:extLst>
              <a:ext uri="{FF2B5EF4-FFF2-40B4-BE49-F238E27FC236}">
                <a16:creationId xmlns:a16="http://schemas.microsoft.com/office/drawing/2014/main" id="{F807122B-A2F6-379E-64FD-A4985E49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" r="51136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FDB0CE-6D06-5D9D-4F40-64EBE09315DF}"/>
              </a:ext>
            </a:extLst>
          </p:cNvPr>
          <p:cNvSpPr/>
          <p:nvPr userDrawn="1"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4B981-6D72-A82B-BB74-685EAD4F2156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8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4="http://schemas.microsoft.com/office/drawing/2010/main" xmlns:a16="http://schemas.microsoft.com/office/drawing/2014/main"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green and white&#10;&#10;Description automatically generated">
            <a:extLst>
              <a:ext uri="{FF2B5EF4-FFF2-40B4-BE49-F238E27FC236}">
                <a16:creationId xmlns:a16="http://schemas.microsoft.com/office/drawing/2014/main" id="{F680AE5A-C426-36FD-E875-65C352F89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AD3F4-3771-EC4B-882B-5E3EA6379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bg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90F0-C869-92D8-B1E3-3151C511786C}"/>
              </a:ext>
            </a:extLst>
          </p:cNvPr>
          <p:cNvSpPr/>
          <p:nvPr userDrawn="1"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CE798D4-9140-2EC5-6DC9-6C6A5F573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Edit Text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AAD9D4-FB4F-9DA0-9C5E-7AD5B9D1B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1DC9D6B-A1D3-6E9D-3F5B-25ABC3B87F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background&#10;&#10;Description automatically generated">
            <a:extLst>
              <a:ext uri="{FF2B5EF4-FFF2-40B4-BE49-F238E27FC236}">
                <a16:creationId xmlns:a16="http://schemas.microsoft.com/office/drawing/2014/main" id="{59444DC2-EE0C-D166-FB2A-0933A4B04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9BB9031F-8728-8968-10CA-E5BDE38FC7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5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 4">
  <p:cSld name="Title, Subtitle, Bullets 4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9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39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5" name="Google Shape;435;p39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Autofit/>
          </a:bodyPr>
          <a:lstStyle>
            <a:lvl1pPr marL="457200" marR="0" lvl="0" indent="-298450" algn="l" rtl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30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25356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">
  <p:cSld name="1_Title, Subtitle, Bullets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7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93" name="Google Shape;893;p41"/>
          <p:cNvSpPr txBox="1">
            <a:spLocks noGrp="1"/>
          </p:cNvSpPr>
          <p:nvPr>
            <p:ph type="body" idx="1"/>
          </p:nvPr>
        </p:nvSpPr>
        <p:spPr>
          <a:xfrm>
            <a:off x="2514600" y="4846320"/>
            <a:ext cx="31546800" cy="136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Autofit/>
          </a:bodyPr>
          <a:lstStyle>
            <a:lvl1pPr marL="457200" marR="0" lvl="0" indent="-298450" algn="l" rtl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921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730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VIDIA Sans"/>
              <a:buChar char="•"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VIDIA Sans"/>
              <a:buChar char="•"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VIDIA Sans"/>
              <a:buChar char="•"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VIDIA Sans"/>
              <a:buChar char="•"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94" name="Google Shape;894;p41"/>
          <p:cNvSpPr txBox="1">
            <a:spLocks noGrp="1"/>
          </p:cNvSpPr>
          <p:nvPr>
            <p:ph type="subTitle" idx="2"/>
          </p:nvPr>
        </p:nvSpPr>
        <p:spPr>
          <a:xfrm>
            <a:off x="2514600" y="2487168"/>
            <a:ext cx="31546800" cy="1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03538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>
  <p:cSld name="Transition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5" descr="A close-up of green and whit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5"/>
          <p:cNvSpPr txBox="1">
            <a:spLocks noGrp="1"/>
          </p:cNvSpPr>
          <p:nvPr>
            <p:ph type="body" idx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NVIDIA Sans"/>
              <a:buNone/>
              <a:defRPr sz="90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NVIDIA Sans"/>
              <a:buNone/>
              <a:defRPr sz="8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NVIDIA Sans"/>
              <a:buNone/>
              <a:defRPr sz="8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NVIDIA Sans"/>
              <a:buNone/>
              <a:defRPr sz="8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NVIDIA Sans"/>
              <a:buNone/>
              <a:defRPr sz="8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6" name="Google Shape;16;p35"/>
          <p:cNvSpPr/>
          <p:nvPr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  <p:extLst>
      <p:ext uri="{BB962C8B-B14F-4D97-AF65-F5344CB8AC3E}">
        <p14:creationId xmlns:p14="http://schemas.microsoft.com/office/powerpoint/2010/main" val="15781450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">
  <p:cSld name="Title, Subtitle, Bulle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36197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">
  <p:cSld name="1_Title, Subtitle, Bulle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7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" name="Google Shape;24;p37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Autofit/>
          </a:bodyPr>
          <a:lstStyle>
            <a:lvl1pPr marL="457200" marR="0" lvl="0" indent="-298450" algn="l" rtl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921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730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76420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bargo">
  <p:cSld name="Embarg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5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27" name="Google Shape;27;p45"/>
          <p:cNvSpPr txBox="1">
            <a:spLocks noGrp="1"/>
          </p:cNvSpPr>
          <p:nvPr>
            <p:ph type="body" idx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" name="Google Shape;28;p45"/>
          <p:cNvSpPr txBox="1">
            <a:spLocks noGrp="1"/>
          </p:cNvSpPr>
          <p:nvPr>
            <p:ph type="title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NVIDIA Sans Light"/>
              <a:buNone/>
              <a:defRPr sz="12000" b="0" cap="none">
                <a:solidFill>
                  <a:schemeClr val="dk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9" name="Google Shape;29;p45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93140" y="6248046"/>
            <a:ext cx="2357259" cy="23572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30909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49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9" descr="A picture containing graphics, logo, symbol,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125" y="773531"/>
            <a:ext cx="8365991" cy="288231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9"/>
          <p:cNvSpPr txBox="1">
            <a:spLocks noGrp="1"/>
          </p:cNvSpPr>
          <p:nvPr>
            <p:ph type="ctrTitle"/>
          </p:nvPr>
        </p:nvSpPr>
        <p:spPr>
          <a:xfrm>
            <a:off x="1513012" y="2983577"/>
            <a:ext cx="19282214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NVIDIA Sans"/>
              <a:buNone/>
              <a:defRPr sz="88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9"/>
          <p:cNvSpPr txBox="1">
            <a:spLocks noGrp="1"/>
          </p:cNvSpPr>
          <p:nvPr>
            <p:ph type="subTitle" idx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VIDIA Sans"/>
              <a:buNone/>
              <a:defRPr sz="6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24466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t Testing Layout">
  <p:cSld name="Font Testing Layou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3" name="Google Shape;43;p50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4" name="Google Shape;44;p50"/>
          <p:cNvSpPr/>
          <p:nvPr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600" b="1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pic>
        <p:nvPicPr>
          <p:cNvPr id="45" name="Google Shape;45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87422" y="10556523"/>
            <a:ext cx="11022523" cy="786452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0"/>
          <p:cNvSpPr txBox="1">
            <a:spLocks noGrp="1"/>
          </p:cNvSpPr>
          <p:nvPr>
            <p:ph type="body" idx="3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7" name="Google Shape;47;p50"/>
          <p:cNvSpPr txBox="1">
            <a:spLocks noGrp="1"/>
          </p:cNvSpPr>
          <p:nvPr>
            <p:ph type="body" idx="4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711831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">
  <p:cSld name="Title, Subtitl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52740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">
  <p:cSld name="CONFIDENTIAL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2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4" name="Google Shape;54;p52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5" name="Google Shape;55;p52"/>
          <p:cNvSpPr txBox="1"/>
          <p:nvPr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002743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ING_Title, Subtitle, Bullets">
  <p:cSld name="CODING_Title, Subtitle, Bulle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body" idx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" name="Google Shape;59;p53"/>
          <p:cNvSpPr txBox="1">
            <a:spLocks noGrp="1"/>
          </p:cNvSpPr>
          <p:nvPr>
            <p:ph type="body" idx="2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41423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_Coding">
  <p:cSld name="CONFIDENTIAL_Coding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4"/>
          <p:cNvSpPr txBox="1">
            <a:spLocks noGrp="1"/>
          </p:cNvSpPr>
          <p:nvPr>
            <p:ph type="body" idx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3" name="Google Shape;63;p54"/>
          <p:cNvSpPr txBox="1">
            <a:spLocks noGrp="1"/>
          </p:cNvSpPr>
          <p:nvPr>
            <p:ph type="body" idx="2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4" name="Google Shape;64;p54"/>
          <p:cNvSpPr txBox="1"/>
          <p:nvPr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325529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wo Colum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5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8" name="Google Shape;68;p55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" name="Google Shape;69;p55"/>
          <p:cNvSpPr txBox="1">
            <a:spLocks noGrp="1"/>
          </p:cNvSpPr>
          <p:nvPr>
            <p:ph type="body" idx="3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35194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_Two Column">
  <p:cSld name="CONFIDENTIAL_Two Colum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3" name="Google Shape;73;p56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4" name="Google Shape;74;p56"/>
          <p:cNvSpPr txBox="1">
            <a:spLocks noGrp="1"/>
          </p:cNvSpPr>
          <p:nvPr>
            <p:ph type="body" idx="3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5" name="Google Shape;75;p56"/>
          <p:cNvSpPr txBox="1"/>
          <p:nvPr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896392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- Text Right">
  <p:cSld name="Image Left - Text Righ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7"/>
          <p:cNvSpPr>
            <a:spLocks noGrp="1"/>
          </p:cNvSpPr>
          <p:nvPr>
            <p:ph type="pic" idx="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57"/>
          <p:cNvSpPr txBox="1">
            <a:spLocks noGrp="1"/>
          </p:cNvSpPr>
          <p:nvPr>
            <p:ph type="title"/>
          </p:nvPr>
        </p:nvSpPr>
        <p:spPr>
          <a:xfrm>
            <a:off x="19129248" y="302065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7"/>
          <p:cNvSpPr txBox="1">
            <a:spLocks noGrp="1"/>
          </p:cNvSpPr>
          <p:nvPr>
            <p:ph type="body" idx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" name="Google Shape;80;p57"/>
          <p:cNvSpPr txBox="1">
            <a:spLocks noGrp="1"/>
          </p:cNvSpPr>
          <p:nvPr>
            <p:ph type="body" idx="3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81" name="Google Shape;81;p57"/>
          <p:cNvCxnSpPr/>
          <p:nvPr/>
        </p:nvCxnSpPr>
        <p:spPr>
          <a:xfrm>
            <a:off x="16413162" y="5693228"/>
            <a:ext cx="17282478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4136231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- Text Right NO SUBTITLE">
  <p:cSld name="Image Left - Text Right NO SUBTITL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8"/>
          <p:cNvSpPr txBox="1">
            <a:spLocks noGrp="1"/>
          </p:cNvSpPr>
          <p:nvPr>
            <p:ph type="body" idx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84" name="Google Shape;84;p58"/>
          <p:cNvCxnSpPr/>
          <p:nvPr/>
        </p:nvCxnSpPr>
        <p:spPr>
          <a:xfrm>
            <a:off x="16413162" y="5693228"/>
            <a:ext cx="17282478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" name="Google Shape;85;p58"/>
          <p:cNvSpPr txBox="1">
            <a:spLocks noGrp="1"/>
          </p:cNvSpPr>
          <p:nvPr>
            <p:ph type="title"/>
          </p:nvPr>
        </p:nvSpPr>
        <p:spPr>
          <a:xfrm>
            <a:off x="19129248" y="1218776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8"/>
          <p:cNvSpPr>
            <a:spLocks noGrp="1"/>
          </p:cNvSpPr>
          <p:nvPr>
            <p:ph type="pic" idx="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7622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- Text Left">
  <p:cSld name="Image Right - Text Lef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9"/>
          <p:cNvSpPr/>
          <p:nvPr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89" name="Google Shape;89;p59"/>
          <p:cNvSpPr>
            <a:spLocks noGrp="1"/>
          </p:cNvSpPr>
          <p:nvPr>
            <p:ph type="pic" idx="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59"/>
          <p:cNvSpPr txBox="1">
            <a:spLocks noGrp="1"/>
          </p:cNvSpPr>
          <p:nvPr>
            <p:ph type="title"/>
          </p:nvPr>
        </p:nvSpPr>
        <p:spPr>
          <a:xfrm>
            <a:off x="2596896" y="302065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9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92" name="Google Shape;92;p59"/>
          <p:cNvSpPr txBox="1">
            <a:spLocks noGrp="1"/>
          </p:cNvSpPr>
          <p:nvPr>
            <p:ph type="body" idx="3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93" name="Google Shape;93;p59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4" name="Google Shape;94;p59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95" name="Google Shape;95;p59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6" name="Google Shape;96;p59"/>
          <p:cNvCxnSpPr/>
          <p:nvPr/>
        </p:nvCxnSpPr>
        <p:spPr>
          <a:xfrm>
            <a:off x="0" y="5693228"/>
            <a:ext cx="1723644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287509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ING Layout">
  <p:cSld name="CODING Layou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0"/>
          <p:cNvSpPr/>
          <p:nvPr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99" name="Google Shape;99;p60"/>
          <p:cNvSpPr txBox="1">
            <a:spLocks noGrp="1"/>
          </p:cNvSpPr>
          <p:nvPr>
            <p:ph type="title"/>
          </p:nvPr>
        </p:nvSpPr>
        <p:spPr>
          <a:xfrm>
            <a:off x="2596896" y="302065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60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01" name="Google Shape;101;p60"/>
          <p:cNvSpPr txBox="1">
            <a:spLocks noGrp="1"/>
          </p:cNvSpPr>
          <p:nvPr>
            <p:ph type="body" idx="2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02" name="Google Shape;102;p60"/>
          <p:cNvSpPr/>
          <p:nvPr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219455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</a:pPr>
            <a:endParaRPr sz="4000">
              <a:solidFill>
                <a:schemeClr val="lt2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grpSp>
        <p:nvGrpSpPr>
          <p:cNvPr id="103" name="Google Shape;103;p60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04" name="Google Shape;104;p60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105" name="Google Shape;105;p60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06" name="Google Shape;106;p60"/>
          <p:cNvCxnSpPr/>
          <p:nvPr/>
        </p:nvCxnSpPr>
        <p:spPr>
          <a:xfrm>
            <a:off x="0" y="5693228"/>
            <a:ext cx="1723644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1161190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NO SUBTITLE - Image Right">
  <p:cSld name="Text Left NO SUBTITLE - Image Righ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1"/>
          <p:cNvSpPr/>
          <p:nvPr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09" name="Google Shape;109;p61"/>
          <p:cNvSpPr txBox="1">
            <a:spLocks noGrp="1"/>
          </p:cNvSpPr>
          <p:nvPr>
            <p:ph type="title"/>
          </p:nvPr>
        </p:nvSpPr>
        <p:spPr>
          <a:xfrm>
            <a:off x="2596896" y="1218776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1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111" name="Google Shape;111;p61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12" name="Google Shape;112;p61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113" name="Google Shape;113;p61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4" name="Google Shape;114;p61"/>
          <p:cNvCxnSpPr/>
          <p:nvPr/>
        </p:nvCxnSpPr>
        <p:spPr>
          <a:xfrm>
            <a:off x="0" y="5693228"/>
            <a:ext cx="1723644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p61"/>
          <p:cNvSpPr>
            <a:spLocks noGrp="1"/>
          </p:cNvSpPr>
          <p:nvPr>
            <p:ph type="pic" idx="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3660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TITLE ONLY - Image Right">
  <p:cSld name="Text Left TITLE ONLY - Image Righ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2"/>
          <p:cNvSpPr/>
          <p:nvPr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18" name="Google Shape;118;p62"/>
          <p:cNvSpPr>
            <a:spLocks noGrp="1"/>
          </p:cNvSpPr>
          <p:nvPr>
            <p:ph type="pic" idx="2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62"/>
          <p:cNvSpPr txBox="1">
            <a:spLocks noGrp="1"/>
          </p:cNvSpPr>
          <p:nvPr>
            <p:ph type="title"/>
          </p:nvPr>
        </p:nvSpPr>
        <p:spPr>
          <a:xfrm>
            <a:off x="2596896" y="8604153"/>
            <a:ext cx="12179806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0" name="Google Shape;120;p62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21" name="Google Shape;121;p62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122" name="Google Shape;122;p62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698412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NO BULLETS - Image Right ">
  <p:cSld name="Text Left NO BULLETS - Image Right 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3"/>
          <p:cNvSpPr/>
          <p:nvPr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25" name="Google Shape;125;p63"/>
          <p:cNvSpPr txBox="1">
            <a:spLocks noGrp="1"/>
          </p:cNvSpPr>
          <p:nvPr>
            <p:ph type="title"/>
          </p:nvPr>
        </p:nvSpPr>
        <p:spPr>
          <a:xfrm>
            <a:off x="2596896" y="6829593"/>
            <a:ext cx="12143232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63"/>
          <p:cNvSpPr txBox="1">
            <a:spLocks noGrp="1"/>
          </p:cNvSpPr>
          <p:nvPr>
            <p:ph type="body" idx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127" name="Google Shape;127;p63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28" name="Google Shape;128;p63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129" name="Google Shape;129;p63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63"/>
          <p:cNvSpPr>
            <a:spLocks noGrp="1"/>
          </p:cNvSpPr>
          <p:nvPr>
            <p:ph type="pic" idx="2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980029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Image Layout">
  <p:cSld name="Single Image Layou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6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34" name="Google Shape;134;p64"/>
          <p:cNvSpPr>
            <a:spLocks noGrp="1"/>
          </p:cNvSpPr>
          <p:nvPr>
            <p:ph type="pic" idx="2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64"/>
          <p:cNvSpPr txBox="1">
            <a:spLocks noGrp="1"/>
          </p:cNvSpPr>
          <p:nvPr>
            <p:ph type="body" idx="3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36" name="Google Shape;136;p64"/>
          <p:cNvSpPr txBox="1">
            <a:spLocks noGrp="1"/>
          </p:cNvSpPr>
          <p:nvPr>
            <p:ph type="body" idx="4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910169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w/ Text">
  <p:cSld name="Image w/ 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5"/>
          <p:cNvSpPr txBox="1">
            <a:spLocks noGrp="1"/>
          </p:cNvSpPr>
          <p:nvPr>
            <p:ph type="body" idx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39" name="Google Shape;139;p65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65"/>
          <p:cNvSpPr txBox="1">
            <a:spLocks noGrp="1"/>
          </p:cNvSpPr>
          <p:nvPr>
            <p:ph type="body" idx="3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41" name="Google Shape;141;p65"/>
          <p:cNvSpPr txBox="1">
            <a:spLocks noGrp="1"/>
          </p:cNvSpPr>
          <p:nvPr>
            <p:ph type="body" idx="4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42" name="Google Shape;142;p6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65"/>
          <p:cNvSpPr txBox="1">
            <a:spLocks noGrp="1"/>
          </p:cNvSpPr>
          <p:nvPr>
            <p:ph type="body" idx="5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79790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up Image">
  <p:cSld name="2-up Imag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6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47" name="Google Shape;147;p66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66"/>
          <p:cNvSpPr>
            <a:spLocks noGrp="1"/>
          </p:cNvSpPr>
          <p:nvPr>
            <p:ph type="pic" idx="3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66"/>
          <p:cNvSpPr txBox="1">
            <a:spLocks noGrp="1"/>
          </p:cNvSpPr>
          <p:nvPr>
            <p:ph type="body" idx="4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50" name="Google Shape;150;p66"/>
          <p:cNvSpPr txBox="1">
            <a:spLocks noGrp="1"/>
          </p:cNvSpPr>
          <p:nvPr>
            <p:ph type="body" idx="5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51" name="Google Shape;151;p66"/>
          <p:cNvSpPr txBox="1">
            <a:spLocks noGrp="1"/>
          </p:cNvSpPr>
          <p:nvPr>
            <p:ph type="body" idx="6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52" name="Google Shape;152;p66"/>
          <p:cNvSpPr txBox="1">
            <a:spLocks noGrp="1"/>
          </p:cNvSpPr>
          <p:nvPr>
            <p:ph type="body" idx="7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87091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up Image Layout with Bullets">
  <p:cSld name="2-up Image Layout with Bullets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67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56" name="Google Shape;156;p67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67"/>
          <p:cNvSpPr txBox="1">
            <a:spLocks noGrp="1"/>
          </p:cNvSpPr>
          <p:nvPr>
            <p:ph type="body" idx="3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58" name="Google Shape;158;p67"/>
          <p:cNvSpPr>
            <a:spLocks noGrp="1"/>
          </p:cNvSpPr>
          <p:nvPr>
            <p:ph type="pic" idx="4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67"/>
          <p:cNvSpPr txBox="1">
            <a:spLocks noGrp="1"/>
          </p:cNvSpPr>
          <p:nvPr>
            <p:ph type="body" idx="5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60" name="Google Shape;160;p67"/>
          <p:cNvSpPr txBox="1">
            <a:spLocks noGrp="1"/>
          </p:cNvSpPr>
          <p:nvPr>
            <p:ph type="body" idx="6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61" name="Google Shape;161;p67"/>
          <p:cNvSpPr txBox="1">
            <a:spLocks noGrp="1"/>
          </p:cNvSpPr>
          <p:nvPr>
            <p:ph type="body" idx="7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62" name="Google Shape;162;p67"/>
          <p:cNvSpPr txBox="1">
            <a:spLocks noGrp="1"/>
          </p:cNvSpPr>
          <p:nvPr>
            <p:ph type="body" idx="8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63" name="Google Shape;163;p67"/>
          <p:cNvSpPr txBox="1">
            <a:spLocks noGrp="1"/>
          </p:cNvSpPr>
          <p:nvPr>
            <p:ph type="body" idx="9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709709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up Image">
  <p:cSld name="3-up Image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68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67" name="Google Shape;167;p68"/>
          <p:cNvSpPr>
            <a:spLocks noGrp="1"/>
          </p:cNvSpPr>
          <p:nvPr>
            <p:ph type="pic" idx="2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68"/>
          <p:cNvSpPr>
            <a:spLocks noGrp="1"/>
          </p:cNvSpPr>
          <p:nvPr>
            <p:ph type="pic" idx="3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68"/>
          <p:cNvSpPr>
            <a:spLocks noGrp="1"/>
          </p:cNvSpPr>
          <p:nvPr>
            <p:ph type="pic" idx="4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68"/>
          <p:cNvSpPr txBox="1">
            <a:spLocks noGrp="1"/>
          </p:cNvSpPr>
          <p:nvPr>
            <p:ph type="body" idx="5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1" name="Google Shape;171;p68"/>
          <p:cNvSpPr txBox="1">
            <a:spLocks noGrp="1"/>
          </p:cNvSpPr>
          <p:nvPr>
            <p:ph type="body" idx="6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2" name="Google Shape;172;p68"/>
          <p:cNvSpPr txBox="1">
            <a:spLocks noGrp="1"/>
          </p:cNvSpPr>
          <p:nvPr>
            <p:ph type="body" idx="7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3" name="Google Shape;173;p68"/>
          <p:cNvSpPr txBox="1">
            <a:spLocks noGrp="1"/>
          </p:cNvSpPr>
          <p:nvPr>
            <p:ph type="body" idx="8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4" name="Google Shape;174;p68"/>
          <p:cNvSpPr txBox="1">
            <a:spLocks noGrp="1"/>
          </p:cNvSpPr>
          <p:nvPr>
            <p:ph type="body" idx="9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5" name="Google Shape;175;p68"/>
          <p:cNvSpPr txBox="1">
            <a:spLocks noGrp="1"/>
          </p:cNvSpPr>
          <p:nvPr>
            <p:ph type="body" idx="13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912682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up Image">
  <p:cSld name="4-up Image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9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69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9" name="Google Shape;179;p69"/>
          <p:cNvSpPr>
            <a:spLocks noGrp="1"/>
          </p:cNvSpPr>
          <p:nvPr>
            <p:ph type="pic" idx="2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69"/>
          <p:cNvSpPr>
            <a:spLocks noGrp="1"/>
          </p:cNvSpPr>
          <p:nvPr>
            <p:ph type="pic" idx="3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69"/>
          <p:cNvSpPr>
            <a:spLocks noGrp="1"/>
          </p:cNvSpPr>
          <p:nvPr>
            <p:ph type="pic" idx="4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9"/>
          <p:cNvSpPr>
            <a:spLocks noGrp="1"/>
          </p:cNvSpPr>
          <p:nvPr>
            <p:ph type="pic" idx="5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9"/>
          <p:cNvSpPr txBox="1">
            <a:spLocks noGrp="1"/>
          </p:cNvSpPr>
          <p:nvPr>
            <p:ph type="body" idx="6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4" name="Google Shape;184;p69"/>
          <p:cNvSpPr txBox="1">
            <a:spLocks noGrp="1"/>
          </p:cNvSpPr>
          <p:nvPr>
            <p:ph type="body" idx="7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5" name="Google Shape;185;p69"/>
          <p:cNvSpPr txBox="1">
            <a:spLocks noGrp="1"/>
          </p:cNvSpPr>
          <p:nvPr>
            <p:ph type="body" idx="8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6" name="Google Shape;186;p69"/>
          <p:cNvSpPr txBox="1">
            <a:spLocks noGrp="1"/>
          </p:cNvSpPr>
          <p:nvPr>
            <p:ph type="body" idx="9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7" name="Google Shape;187;p69"/>
          <p:cNvSpPr txBox="1">
            <a:spLocks noGrp="1"/>
          </p:cNvSpPr>
          <p:nvPr>
            <p:ph type="body" idx="13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8" name="Google Shape;188;p69"/>
          <p:cNvSpPr txBox="1">
            <a:spLocks noGrp="1"/>
          </p:cNvSpPr>
          <p:nvPr>
            <p:ph type="body" idx="14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9" name="Google Shape;189;p69"/>
          <p:cNvSpPr txBox="1">
            <a:spLocks noGrp="1"/>
          </p:cNvSpPr>
          <p:nvPr>
            <p:ph type="body" idx="15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0" name="Google Shape;190;p69"/>
          <p:cNvSpPr txBox="1">
            <a:spLocks noGrp="1"/>
          </p:cNvSpPr>
          <p:nvPr>
            <p:ph type="body" idx="16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91093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-up Image">
  <p:cSld name="5-up Imag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0"/>
          <p:cNvSpPr>
            <a:spLocks noGrp="1"/>
          </p:cNvSpPr>
          <p:nvPr>
            <p:ph type="pic" idx="2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70"/>
          <p:cNvSpPr>
            <a:spLocks noGrp="1"/>
          </p:cNvSpPr>
          <p:nvPr>
            <p:ph type="pic" idx="3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0"/>
          <p:cNvSpPr>
            <a:spLocks noGrp="1"/>
          </p:cNvSpPr>
          <p:nvPr>
            <p:ph type="pic" idx="4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70"/>
          <p:cNvSpPr txBox="1">
            <a:spLocks noGrp="1"/>
          </p:cNvSpPr>
          <p:nvPr>
            <p:ph type="body" idx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6" name="Google Shape;196;p70"/>
          <p:cNvSpPr txBox="1">
            <a:spLocks noGrp="1"/>
          </p:cNvSpPr>
          <p:nvPr>
            <p:ph type="body" idx="5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7" name="Google Shape;197;p70"/>
          <p:cNvSpPr txBox="1">
            <a:spLocks noGrp="1"/>
          </p:cNvSpPr>
          <p:nvPr>
            <p:ph type="body" idx="6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8" name="Google Shape;198;p70"/>
          <p:cNvSpPr txBox="1">
            <a:spLocks noGrp="1"/>
          </p:cNvSpPr>
          <p:nvPr>
            <p:ph type="body" idx="7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9" name="Google Shape;199;p70"/>
          <p:cNvSpPr txBox="1">
            <a:spLocks noGrp="1"/>
          </p:cNvSpPr>
          <p:nvPr>
            <p:ph type="body" idx="8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0" name="Google Shape;200;p70"/>
          <p:cNvSpPr txBox="1">
            <a:spLocks noGrp="1"/>
          </p:cNvSpPr>
          <p:nvPr>
            <p:ph type="body" idx="9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1" name="Google Shape;201;p70"/>
          <p:cNvSpPr>
            <a:spLocks noGrp="1"/>
          </p:cNvSpPr>
          <p:nvPr>
            <p:ph type="pic" idx="13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70"/>
          <p:cNvSpPr>
            <a:spLocks noGrp="1"/>
          </p:cNvSpPr>
          <p:nvPr>
            <p:ph type="pic" idx="14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0"/>
          <p:cNvSpPr txBox="1">
            <a:spLocks noGrp="1"/>
          </p:cNvSpPr>
          <p:nvPr>
            <p:ph type="body" idx="15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4" name="Google Shape;204;p70"/>
          <p:cNvSpPr txBox="1">
            <a:spLocks noGrp="1"/>
          </p:cNvSpPr>
          <p:nvPr>
            <p:ph type="body" idx="16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5" name="Google Shape;205;p70"/>
          <p:cNvSpPr txBox="1">
            <a:spLocks noGrp="1"/>
          </p:cNvSpPr>
          <p:nvPr>
            <p:ph type="body" idx="17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6" name="Google Shape;206;p70"/>
          <p:cNvSpPr txBox="1">
            <a:spLocks noGrp="1"/>
          </p:cNvSpPr>
          <p:nvPr>
            <p:ph type="body" idx="18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7" name="Google Shape;207;p7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70"/>
          <p:cNvSpPr txBox="1">
            <a:spLocks noGrp="1"/>
          </p:cNvSpPr>
          <p:nvPr>
            <p:ph type="body" idx="19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165286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-up Image">
  <p:cSld name="6-up Image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1"/>
          <p:cNvSpPr>
            <a:spLocks noGrp="1"/>
          </p:cNvSpPr>
          <p:nvPr>
            <p:ph type="pic" idx="2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71"/>
          <p:cNvSpPr>
            <a:spLocks noGrp="1"/>
          </p:cNvSpPr>
          <p:nvPr>
            <p:ph type="pic" idx="3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71"/>
          <p:cNvSpPr>
            <a:spLocks noGrp="1"/>
          </p:cNvSpPr>
          <p:nvPr>
            <p:ph type="pic" idx="4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71"/>
          <p:cNvSpPr txBox="1">
            <a:spLocks noGrp="1"/>
          </p:cNvSpPr>
          <p:nvPr>
            <p:ph type="body" idx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4" name="Google Shape;214;p71"/>
          <p:cNvSpPr txBox="1">
            <a:spLocks noGrp="1"/>
          </p:cNvSpPr>
          <p:nvPr>
            <p:ph type="body" idx="5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5" name="Google Shape;215;p71"/>
          <p:cNvSpPr txBox="1">
            <a:spLocks noGrp="1"/>
          </p:cNvSpPr>
          <p:nvPr>
            <p:ph type="body" idx="6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6" name="Google Shape;216;p71"/>
          <p:cNvSpPr txBox="1">
            <a:spLocks noGrp="1"/>
          </p:cNvSpPr>
          <p:nvPr>
            <p:ph type="body" idx="7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7" name="Google Shape;217;p71"/>
          <p:cNvSpPr txBox="1">
            <a:spLocks noGrp="1"/>
          </p:cNvSpPr>
          <p:nvPr>
            <p:ph type="body" idx="8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8" name="Google Shape;218;p71"/>
          <p:cNvSpPr txBox="1">
            <a:spLocks noGrp="1"/>
          </p:cNvSpPr>
          <p:nvPr>
            <p:ph type="body" idx="9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9" name="Google Shape;219;p71"/>
          <p:cNvSpPr>
            <a:spLocks noGrp="1"/>
          </p:cNvSpPr>
          <p:nvPr>
            <p:ph type="pic" idx="13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71"/>
          <p:cNvSpPr>
            <a:spLocks noGrp="1"/>
          </p:cNvSpPr>
          <p:nvPr>
            <p:ph type="pic" idx="14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71"/>
          <p:cNvSpPr>
            <a:spLocks noGrp="1"/>
          </p:cNvSpPr>
          <p:nvPr>
            <p:ph type="pic" idx="15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71"/>
          <p:cNvSpPr txBox="1">
            <a:spLocks noGrp="1"/>
          </p:cNvSpPr>
          <p:nvPr>
            <p:ph type="body" idx="16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3" name="Google Shape;223;p71"/>
          <p:cNvSpPr txBox="1">
            <a:spLocks noGrp="1"/>
          </p:cNvSpPr>
          <p:nvPr>
            <p:ph type="body" idx="17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4" name="Google Shape;224;p71"/>
          <p:cNvSpPr txBox="1">
            <a:spLocks noGrp="1"/>
          </p:cNvSpPr>
          <p:nvPr>
            <p:ph type="body" idx="18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5" name="Google Shape;225;p71"/>
          <p:cNvSpPr txBox="1">
            <a:spLocks noGrp="1"/>
          </p:cNvSpPr>
          <p:nvPr>
            <p:ph type="body" idx="19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6" name="Google Shape;226;p71"/>
          <p:cNvSpPr txBox="1">
            <a:spLocks noGrp="1"/>
          </p:cNvSpPr>
          <p:nvPr>
            <p:ph type="body" idx="20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7" name="Google Shape;227;p71"/>
          <p:cNvSpPr txBox="1">
            <a:spLocks noGrp="1"/>
          </p:cNvSpPr>
          <p:nvPr>
            <p:ph type="body" idx="2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8" name="Google Shape;228;p7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71"/>
          <p:cNvSpPr txBox="1">
            <a:spLocks noGrp="1"/>
          </p:cNvSpPr>
          <p:nvPr>
            <p:ph type="body" idx="22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164476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-up Image">
  <p:cSld name="7-up Image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2"/>
          <p:cNvSpPr txBox="1">
            <a:spLocks noGrp="1"/>
          </p:cNvSpPr>
          <p:nvPr>
            <p:ph type="body" idx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2" name="Google Shape;232;p72"/>
          <p:cNvSpPr txBox="1">
            <a:spLocks noGrp="1"/>
          </p:cNvSpPr>
          <p:nvPr>
            <p:ph type="body" idx="2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3" name="Google Shape;233;p72"/>
          <p:cNvSpPr txBox="1">
            <a:spLocks noGrp="1"/>
          </p:cNvSpPr>
          <p:nvPr>
            <p:ph type="body" idx="3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4" name="Google Shape;234;p72"/>
          <p:cNvSpPr txBox="1">
            <a:spLocks noGrp="1"/>
          </p:cNvSpPr>
          <p:nvPr>
            <p:ph type="body" idx="4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5" name="Google Shape;235;p72"/>
          <p:cNvSpPr>
            <a:spLocks noGrp="1"/>
          </p:cNvSpPr>
          <p:nvPr>
            <p:ph type="pic" idx="5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72"/>
          <p:cNvSpPr>
            <a:spLocks noGrp="1"/>
          </p:cNvSpPr>
          <p:nvPr>
            <p:ph type="pic" idx="6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72"/>
          <p:cNvSpPr>
            <a:spLocks noGrp="1"/>
          </p:cNvSpPr>
          <p:nvPr>
            <p:ph type="pic" idx="7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72"/>
          <p:cNvSpPr txBox="1">
            <a:spLocks noGrp="1"/>
          </p:cNvSpPr>
          <p:nvPr>
            <p:ph type="body" idx="8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9" name="Google Shape;239;p72"/>
          <p:cNvSpPr txBox="1">
            <a:spLocks noGrp="1"/>
          </p:cNvSpPr>
          <p:nvPr>
            <p:ph type="body" idx="9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0" name="Google Shape;240;p72"/>
          <p:cNvSpPr>
            <a:spLocks noGrp="1"/>
          </p:cNvSpPr>
          <p:nvPr>
            <p:ph type="pic" idx="13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72"/>
          <p:cNvSpPr>
            <a:spLocks noGrp="1"/>
          </p:cNvSpPr>
          <p:nvPr>
            <p:ph type="pic" idx="14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72"/>
          <p:cNvSpPr>
            <a:spLocks noGrp="1"/>
          </p:cNvSpPr>
          <p:nvPr>
            <p:ph type="pic" idx="15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72"/>
          <p:cNvSpPr>
            <a:spLocks noGrp="1"/>
          </p:cNvSpPr>
          <p:nvPr>
            <p:ph type="pic" idx="16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72"/>
          <p:cNvSpPr txBox="1">
            <a:spLocks noGrp="1"/>
          </p:cNvSpPr>
          <p:nvPr>
            <p:ph type="body" idx="17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5" name="Google Shape;245;p72"/>
          <p:cNvSpPr txBox="1">
            <a:spLocks noGrp="1"/>
          </p:cNvSpPr>
          <p:nvPr>
            <p:ph type="body" idx="18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6" name="Google Shape;246;p72"/>
          <p:cNvSpPr txBox="1">
            <a:spLocks noGrp="1"/>
          </p:cNvSpPr>
          <p:nvPr>
            <p:ph type="body" idx="19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7" name="Google Shape;247;p72"/>
          <p:cNvSpPr txBox="1">
            <a:spLocks noGrp="1"/>
          </p:cNvSpPr>
          <p:nvPr>
            <p:ph type="body" idx="20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8" name="Google Shape;248;p72"/>
          <p:cNvSpPr txBox="1">
            <a:spLocks noGrp="1"/>
          </p:cNvSpPr>
          <p:nvPr>
            <p:ph type="body" idx="2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9" name="Google Shape;249;p72"/>
          <p:cNvSpPr txBox="1">
            <a:spLocks noGrp="1"/>
          </p:cNvSpPr>
          <p:nvPr>
            <p:ph type="body" idx="22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0" name="Google Shape;250;p72"/>
          <p:cNvSpPr txBox="1">
            <a:spLocks noGrp="1"/>
          </p:cNvSpPr>
          <p:nvPr>
            <p:ph type="body" idx="23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1" name="Google Shape;251;p72"/>
          <p:cNvSpPr txBox="1">
            <a:spLocks noGrp="1"/>
          </p:cNvSpPr>
          <p:nvPr>
            <p:ph type="body" idx="24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2" name="Google Shape;252;p7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72"/>
          <p:cNvSpPr txBox="1">
            <a:spLocks noGrp="1"/>
          </p:cNvSpPr>
          <p:nvPr>
            <p:ph type="body" idx="25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551223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-up Image">
  <p:cSld name="8-up Image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3"/>
          <p:cNvSpPr>
            <a:spLocks noGrp="1"/>
          </p:cNvSpPr>
          <p:nvPr>
            <p:ph type="pic" idx="2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73"/>
          <p:cNvSpPr>
            <a:spLocks noGrp="1"/>
          </p:cNvSpPr>
          <p:nvPr>
            <p:ph type="pic" idx="3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73"/>
          <p:cNvSpPr>
            <a:spLocks noGrp="1"/>
          </p:cNvSpPr>
          <p:nvPr>
            <p:ph type="pic" idx="4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73"/>
          <p:cNvSpPr>
            <a:spLocks noGrp="1"/>
          </p:cNvSpPr>
          <p:nvPr>
            <p:ph type="pic" idx="5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73"/>
          <p:cNvSpPr>
            <a:spLocks noGrp="1"/>
          </p:cNvSpPr>
          <p:nvPr>
            <p:ph type="pic" idx="6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73"/>
          <p:cNvSpPr>
            <a:spLocks noGrp="1"/>
          </p:cNvSpPr>
          <p:nvPr>
            <p:ph type="pic" idx="7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73"/>
          <p:cNvSpPr>
            <a:spLocks noGrp="1"/>
          </p:cNvSpPr>
          <p:nvPr>
            <p:ph type="pic" idx="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73"/>
          <p:cNvSpPr>
            <a:spLocks noGrp="1"/>
          </p:cNvSpPr>
          <p:nvPr>
            <p:ph type="pic" idx="9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73"/>
          <p:cNvSpPr txBox="1">
            <a:spLocks noGrp="1"/>
          </p:cNvSpPr>
          <p:nvPr>
            <p:ph type="body" idx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4" name="Google Shape;264;p73"/>
          <p:cNvSpPr txBox="1">
            <a:spLocks noGrp="1"/>
          </p:cNvSpPr>
          <p:nvPr>
            <p:ph type="body" idx="13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5" name="Google Shape;265;p73"/>
          <p:cNvSpPr txBox="1">
            <a:spLocks noGrp="1"/>
          </p:cNvSpPr>
          <p:nvPr>
            <p:ph type="body" idx="14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6" name="Google Shape;266;p73"/>
          <p:cNvSpPr txBox="1">
            <a:spLocks noGrp="1"/>
          </p:cNvSpPr>
          <p:nvPr>
            <p:ph type="body" idx="15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7" name="Google Shape;267;p73"/>
          <p:cNvSpPr txBox="1">
            <a:spLocks noGrp="1"/>
          </p:cNvSpPr>
          <p:nvPr>
            <p:ph type="body" idx="16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8" name="Google Shape;268;p73"/>
          <p:cNvSpPr txBox="1">
            <a:spLocks noGrp="1"/>
          </p:cNvSpPr>
          <p:nvPr>
            <p:ph type="body" idx="17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9" name="Google Shape;269;p73"/>
          <p:cNvSpPr txBox="1">
            <a:spLocks noGrp="1"/>
          </p:cNvSpPr>
          <p:nvPr>
            <p:ph type="body" idx="18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0" name="Google Shape;270;p73"/>
          <p:cNvSpPr txBox="1">
            <a:spLocks noGrp="1"/>
          </p:cNvSpPr>
          <p:nvPr>
            <p:ph type="body" idx="19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1" name="Google Shape;271;p73"/>
          <p:cNvSpPr txBox="1">
            <a:spLocks noGrp="1"/>
          </p:cNvSpPr>
          <p:nvPr>
            <p:ph type="body" idx="20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2" name="Google Shape;272;p73"/>
          <p:cNvSpPr txBox="1">
            <a:spLocks noGrp="1"/>
          </p:cNvSpPr>
          <p:nvPr>
            <p:ph type="body" idx="2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3" name="Google Shape;273;p73"/>
          <p:cNvSpPr txBox="1">
            <a:spLocks noGrp="1"/>
          </p:cNvSpPr>
          <p:nvPr>
            <p:ph type="body" idx="22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4" name="Google Shape;274;p73"/>
          <p:cNvSpPr txBox="1">
            <a:spLocks noGrp="1"/>
          </p:cNvSpPr>
          <p:nvPr>
            <p:ph type="body" idx="23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5" name="Google Shape;275;p73"/>
          <p:cNvSpPr txBox="1">
            <a:spLocks noGrp="1"/>
          </p:cNvSpPr>
          <p:nvPr>
            <p:ph type="body" idx="24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6" name="Google Shape;276;p73"/>
          <p:cNvSpPr txBox="1">
            <a:spLocks noGrp="1"/>
          </p:cNvSpPr>
          <p:nvPr>
            <p:ph type="body" idx="25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7" name="Google Shape;277;p73"/>
          <p:cNvSpPr txBox="1">
            <a:spLocks noGrp="1"/>
          </p:cNvSpPr>
          <p:nvPr>
            <p:ph type="body" idx="26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8" name="Google Shape;278;p73"/>
          <p:cNvSpPr txBox="1">
            <a:spLocks noGrp="1"/>
          </p:cNvSpPr>
          <p:nvPr>
            <p:ph type="body" idx="27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9" name="Google Shape;279;p7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73"/>
          <p:cNvSpPr txBox="1">
            <a:spLocks noGrp="1"/>
          </p:cNvSpPr>
          <p:nvPr>
            <p:ph type="body" idx="28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98224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-up Image">
  <p:cSld name="9-up Image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4"/>
          <p:cNvSpPr txBox="1">
            <a:spLocks noGrp="1"/>
          </p:cNvSpPr>
          <p:nvPr>
            <p:ph type="body" idx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3" name="Google Shape;283;p74"/>
          <p:cNvSpPr txBox="1">
            <a:spLocks noGrp="1"/>
          </p:cNvSpPr>
          <p:nvPr>
            <p:ph type="body" idx="2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4" name="Google Shape;284;p74"/>
          <p:cNvSpPr txBox="1">
            <a:spLocks noGrp="1"/>
          </p:cNvSpPr>
          <p:nvPr>
            <p:ph type="body" idx="3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5" name="Google Shape;285;p74"/>
          <p:cNvSpPr txBox="1">
            <a:spLocks noGrp="1"/>
          </p:cNvSpPr>
          <p:nvPr>
            <p:ph type="body" idx="4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6" name="Google Shape;286;p74"/>
          <p:cNvSpPr>
            <a:spLocks noGrp="1"/>
          </p:cNvSpPr>
          <p:nvPr>
            <p:ph type="pic" idx="5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74"/>
          <p:cNvSpPr>
            <a:spLocks noGrp="1"/>
          </p:cNvSpPr>
          <p:nvPr>
            <p:ph type="pic" idx="6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74"/>
          <p:cNvSpPr>
            <a:spLocks noGrp="1"/>
          </p:cNvSpPr>
          <p:nvPr>
            <p:ph type="pic" idx="7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74"/>
          <p:cNvSpPr txBox="1">
            <a:spLocks noGrp="1"/>
          </p:cNvSpPr>
          <p:nvPr>
            <p:ph type="body" idx="8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90" name="Google Shape;290;p74"/>
          <p:cNvSpPr txBox="1">
            <a:spLocks noGrp="1"/>
          </p:cNvSpPr>
          <p:nvPr>
            <p:ph type="body" idx="9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91" name="Google Shape;291;p74"/>
          <p:cNvSpPr>
            <a:spLocks noGrp="1"/>
          </p:cNvSpPr>
          <p:nvPr>
            <p:ph type="pic" idx="13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74"/>
          <p:cNvSpPr>
            <a:spLocks noGrp="1"/>
          </p:cNvSpPr>
          <p:nvPr>
            <p:ph type="pic" idx="14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74"/>
          <p:cNvSpPr>
            <a:spLocks noGrp="1"/>
          </p:cNvSpPr>
          <p:nvPr>
            <p:ph type="pic" idx="15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74"/>
          <p:cNvSpPr>
            <a:spLocks noGrp="1"/>
          </p:cNvSpPr>
          <p:nvPr>
            <p:ph type="pic" idx="16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74"/>
          <p:cNvSpPr>
            <a:spLocks noGrp="1"/>
          </p:cNvSpPr>
          <p:nvPr>
            <p:ph type="pic" idx="17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74"/>
          <p:cNvSpPr>
            <a:spLocks noGrp="1"/>
          </p:cNvSpPr>
          <p:nvPr>
            <p:ph type="pic" idx="18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74"/>
          <p:cNvSpPr txBox="1">
            <a:spLocks noGrp="1"/>
          </p:cNvSpPr>
          <p:nvPr>
            <p:ph type="body" idx="19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98" name="Google Shape;298;p74"/>
          <p:cNvSpPr txBox="1">
            <a:spLocks noGrp="1"/>
          </p:cNvSpPr>
          <p:nvPr>
            <p:ph type="body" idx="20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99" name="Google Shape;299;p74"/>
          <p:cNvSpPr txBox="1">
            <a:spLocks noGrp="1"/>
          </p:cNvSpPr>
          <p:nvPr>
            <p:ph type="body" idx="2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0" name="Google Shape;300;p74"/>
          <p:cNvSpPr txBox="1">
            <a:spLocks noGrp="1"/>
          </p:cNvSpPr>
          <p:nvPr>
            <p:ph type="body" idx="22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1" name="Google Shape;301;p74"/>
          <p:cNvSpPr txBox="1">
            <a:spLocks noGrp="1"/>
          </p:cNvSpPr>
          <p:nvPr>
            <p:ph type="body" idx="23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2" name="Google Shape;302;p74"/>
          <p:cNvSpPr txBox="1">
            <a:spLocks noGrp="1"/>
          </p:cNvSpPr>
          <p:nvPr>
            <p:ph type="body" idx="24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3" name="Google Shape;303;p74"/>
          <p:cNvSpPr txBox="1">
            <a:spLocks noGrp="1"/>
          </p:cNvSpPr>
          <p:nvPr>
            <p:ph type="body" idx="25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4" name="Google Shape;304;p74"/>
          <p:cNvSpPr txBox="1">
            <a:spLocks noGrp="1"/>
          </p:cNvSpPr>
          <p:nvPr>
            <p:ph type="body" idx="26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5" name="Google Shape;305;p74"/>
          <p:cNvSpPr txBox="1">
            <a:spLocks noGrp="1"/>
          </p:cNvSpPr>
          <p:nvPr>
            <p:ph type="body" idx="27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6" name="Google Shape;306;p74"/>
          <p:cNvSpPr txBox="1">
            <a:spLocks noGrp="1"/>
          </p:cNvSpPr>
          <p:nvPr>
            <p:ph type="body" idx="28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7" name="Google Shape;307;p74"/>
          <p:cNvSpPr txBox="1">
            <a:spLocks noGrp="1"/>
          </p:cNvSpPr>
          <p:nvPr>
            <p:ph type="body" idx="29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8" name="Google Shape;308;p74"/>
          <p:cNvSpPr txBox="1">
            <a:spLocks noGrp="1"/>
          </p:cNvSpPr>
          <p:nvPr>
            <p:ph type="body" idx="30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9" name="Google Shape;309;p7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74"/>
          <p:cNvSpPr txBox="1">
            <a:spLocks noGrp="1"/>
          </p:cNvSpPr>
          <p:nvPr>
            <p:ph type="body" idx="3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727944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-up Image">
  <p:cSld name="10-up Image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5"/>
          <p:cNvSpPr txBox="1">
            <a:spLocks noGrp="1"/>
          </p:cNvSpPr>
          <p:nvPr>
            <p:ph type="body" idx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3" name="Google Shape;313;p75"/>
          <p:cNvSpPr txBox="1">
            <a:spLocks noGrp="1"/>
          </p:cNvSpPr>
          <p:nvPr>
            <p:ph type="body" idx="2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4" name="Google Shape;314;p75"/>
          <p:cNvSpPr txBox="1">
            <a:spLocks noGrp="1"/>
          </p:cNvSpPr>
          <p:nvPr>
            <p:ph type="body" idx="3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5" name="Google Shape;315;p75"/>
          <p:cNvSpPr txBox="1">
            <a:spLocks noGrp="1"/>
          </p:cNvSpPr>
          <p:nvPr>
            <p:ph type="body" idx="4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6" name="Google Shape;316;p75"/>
          <p:cNvSpPr>
            <a:spLocks noGrp="1"/>
          </p:cNvSpPr>
          <p:nvPr>
            <p:ph type="pic" idx="5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75"/>
          <p:cNvSpPr>
            <a:spLocks noGrp="1"/>
          </p:cNvSpPr>
          <p:nvPr>
            <p:ph type="pic" idx="6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75"/>
          <p:cNvSpPr>
            <a:spLocks noGrp="1"/>
          </p:cNvSpPr>
          <p:nvPr>
            <p:ph type="pic" idx="7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75"/>
          <p:cNvSpPr txBox="1">
            <a:spLocks noGrp="1"/>
          </p:cNvSpPr>
          <p:nvPr>
            <p:ph type="body" idx="8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20" name="Google Shape;320;p75"/>
          <p:cNvSpPr txBox="1">
            <a:spLocks noGrp="1"/>
          </p:cNvSpPr>
          <p:nvPr>
            <p:ph type="body" idx="9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21" name="Google Shape;321;p75"/>
          <p:cNvSpPr>
            <a:spLocks noGrp="1"/>
          </p:cNvSpPr>
          <p:nvPr>
            <p:ph type="pic" idx="13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75"/>
          <p:cNvSpPr>
            <a:spLocks noGrp="1"/>
          </p:cNvSpPr>
          <p:nvPr>
            <p:ph type="pic" idx="14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75"/>
          <p:cNvSpPr>
            <a:spLocks noGrp="1"/>
          </p:cNvSpPr>
          <p:nvPr>
            <p:ph type="pic" idx="15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75"/>
          <p:cNvSpPr>
            <a:spLocks noGrp="1"/>
          </p:cNvSpPr>
          <p:nvPr>
            <p:ph type="pic" idx="16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75"/>
          <p:cNvSpPr>
            <a:spLocks noGrp="1"/>
          </p:cNvSpPr>
          <p:nvPr>
            <p:ph type="pic" idx="17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75"/>
          <p:cNvSpPr>
            <a:spLocks noGrp="1"/>
          </p:cNvSpPr>
          <p:nvPr>
            <p:ph type="pic" idx="18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75"/>
          <p:cNvSpPr txBox="1">
            <a:spLocks noGrp="1"/>
          </p:cNvSpPr>
          <p:nvPr>
            <p:ph type="body" idx="19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28" name="Google Shape;328;p75"/>
          <p:cNvSpPr txBox="1">
            <a:spLocks noGrp="1"/>
          </p:cNvSpPr>
          <p:nvPr>
            <p:ph type="body" idx="20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29" name="Google Shape;329;p75"/>
          <p:cNvSpPr txBox="1">
            <a:spLocks noGrp="1"/>
          </p:cNvSpPr>
          <p:nvPr>
            <p:ph type="body" idx="2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0" name="Google Shape;330;p75"/>
          <p:cNvSpPr txBox="1">
            <a:spLocks noGrp="1"/>
          </p:cNvSpPr>
          <p:nvPr>
            <p:ph type="body" idx="22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1" name="Google Shape;331;p75"/>
          <p:cNvSpPr txBox="1">
            <a:spLocks noGrp="1"/>
          </p:cNvSpPr>
          <p:nvPr>
            <p:ph type="body" idx="23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2" name="Google Shape;332;p75"/>
          <p:cNvSpPr txBox="1">
            <a:spLocks noGrp="1"/>
          </p:cNvSpPr>
          <p:nvPr>
            <p:ph type="body" idx="24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3" name="Google Shape;333;p75"/>
          <p:cNvSpPr txBox="1">
            <a:spLocks noGrp="1"/>
          </p:cNvSpPr>
          <p:nvPr>
            <p:ph type="body" idx="25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4" name="Google Shape;334;p75"/>
          <p:cNvSpPr txBox="1">
            <a:spLocks noGrp="1"/>
          </p:cNvSpPr>
          <p:nvPr>
            <p:ph type="body" idx="26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5" name="Google Shape;335;p75"/>
          <p:cNvSpPr txBox="1">
            <a:spLocks noGrp="1"/>
          </p:cNvSpPr>
          <p:nvPr>
            <p:ph type="body" idx="27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6" name="Google Shape;336;p75"/>
          <p:cNvSpPr txBox="1">
            <a:spLocks noGrp="1"/>
          </p:cNvSpPr>
          <p:nvPr>
            <p:ph type="body" idx="28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7" name="Google Shape;337;p75"/>
          <p:cNvSpPr>
            <a:spLocks noGrp="1"/>
          </p:cNvSpPr>
          <p:nvPr>
            <p:ph type="pic" idx="29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75"/>
          <p:cNvSpPr txBox="1">
            <a:spLocks noGrp="1"/>
          </p:cNvSpPr>
          <p:nvPr>
            <p:ph type="body" idx="30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9" name="Google Shape;339;p75"/>
          <p:cNvSpPr txBox="1">
            <a:spLocks noGrp="1"/>
          </p:cNvSpPr>
          <p:nvPr>
            <p:ph type="body" idx="3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0" name="Google Shape;340;p75"/>
          <p:cNvSpPr txBox="1">
            <a:spLocks noGrp="1"/>
          </p:cNvSpPr>
          <p:nvPr>
            <p:ph type="body" idx="32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1" name="Google Shape;341;p75"/>
          <p:cNvSpPr txBox="1">
            <a:spLocks noGrp="1"/>
          </p:cNvSpPr>
          <p:nvPr>
            <p:ph type="body" idx="33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2" name="Google Shape;342;p7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75"/>
          <p:cNvSpPr txBox="1">
            <a:spLocks noGrp="1"/>
          </p:cNvSpPr>
          <p:nvPr>
            <p:ph type="body" idx="34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644585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 Case Layout">
  <p:cSld name="Use Case Layout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76"/>
          <p:cNvSpPr>
            <a:spLocks noGrp="1"/>
          </p:cNvSpPr>
          <p:nvPr>
            <p:ph type="pic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8671372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mo - Image Layout">
  <p:cSld name="1_Demo - Image Layout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77"/>
          <p:cNvSpPr>
            <a:spLocks noGrp="1"/>
          </p:cNvSpPr>
          <p:nvPr>
            <p:ph type="pic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4368246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- Insert Video Layout">
  <p:cSld name="Demo - Insert Video Layout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8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352" name="Google Shape;352;p78"/>
          <p:cNvSpPr>
            <a:spLocks noGrp="1"/>
          </p:cNvSpPr>
          <p:nvPr>
            <p:ph type="media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0" rIns="91425" bIns="42062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8400"/>
              <a:buFont typeface="NVIDIA Sans"/>
              <a:buNone/>
              <a:defRPr sz="84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NVIDIA Sans"/>
              <a:buChar char="•"/>
              <a:defRPr sz="7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VIDIA Sans"/>
              <a:buChar char="•"/>
              <a:defRPr sz="6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60240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79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79"/>
          <p:cNvSpPr/>
          <p:nvPr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cxnSp>
        <p:nvCxnSpPr>
          <p:cNvPr id="356" name="Google Shape;356;p79"/>
          <p:cNvCxnSpPr/>
          <p:nvPr/>
        </p:nvCxnSpPr>
        <p:spPr>
          <a:xfrm>
            <a:off x="0" y="11329275"/>
            <a:ext cx="36576000" cy="0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7" name="Google Shape;357;p79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79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985644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w/ Images Layout">
  <p:cSld name="Timeline w/ Images Layout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80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80"/>
          <p:cNvSpPr/>
          <p:nvPr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362" name="Google Shape;362;p8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8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364" name="Google Shape;364;p80"/>
          <p:cNvCxnSpPr/>
          <p:nvPr/>
        </p:nvCxnSpPr>
        <p:spPr>
          <a:xfrm>
            <a:off x="0" y="12517118"/>
            <a:ext cx="36576000" cy="0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5" name="Google Shape;365;p80"/>
          <p:cNvSpPr>
            <a:spLocks noGrp="1"/>
          </p:cNvSpPr>
          <p:nvPr>
            <p:ph type="pic" idx="2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80"/>
          <p:cNvSpPr txBox="1">
            <a:spLocks noGrp="1"/>
          </p:cNvSpPr>
          <p:nvPr>
            <p:ph type="body" idx="3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67" name="Google Shape;367;p80"/>
          <p:cNvSpPr txBox="1">
            <a:spLocks noGrp="1"/>
          </p:cNvSpPr>
          <p:nvPr>
            <p:ph type="body" idx="4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68" name="Google Shape;368;p80"/>
          <p:cNvSpPr txBox="1">
            <a:spLocks noGrp="1"/>
          </p:cNvSpPr>
          <p:nvPr>
            <p:ph type="body" idx="5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69" name="Google Shape;369;p80"/>
          <p:cNvSpPr>
            <a:spLocks noGrp="1"/>
          </p:cNvSpPr>
          <p:nvPr>
            <p:ph type="pic" idx="6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80"/>
          <p:cNvSpPr txBox="1">
            <a:spLocks noGrp="1"/>
          </p:cNvSpPr>
          <p:nvPr>
            <p:ph type="body" idx="7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1" name="Google Shape;371;p80"/>
          <p:cNvSpPr txBox="1">
            <a:spLocks noGrp="1"/>
          </p:cNvSpPr>
          <p:nvPr>
            <p:ph type="body" idx="8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2" name="Google Shape;372;p80"/>
          <p:cNvSpPr txBox="1">
            <a:spLocks noGrp="1"/>
          </p:cNvSpPr>
          <p:nvPr>
            <p:ph type="body" idx="9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3" name="Google Shape;373;p80"/>
          <p:cNvSpPr>
            <a:spLocks noGrp="1"/>
          </p:cNvSpPr>
          <p:nvPr>
            <p:ph type="pic" idx="13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p80"/>
          <p:cNvSpPr txBox="1">
            <a:spLocks noGrp="1"/>
          </p:cNvSpPr>
          <p:nvPr>
            <p:ph type="body" idx="14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5" name="Google Shape;375;p80"/>
          <p:cNvSpPr txBox="1">
            <a:spLocks noGrp="1"/>
          </p:cNvSpPr>
          <p:nvPr>
            <p:ph type="body" idx="15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6" name="Google Shape;376;p80"/>
          <p:cNvSpPr txBox="1">
            <a:spLocks noGrp="1"/>
          </p:cNvSpPr>
          <p:nvPr>
            <p:ph type="body" idx="16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7" name="Google Shape;377;p80"/>
          <p:cNvSpPr>
            <a:spLocks noGrp="1"/>
          </p:cNvSpPr>
          <p:nvPr>
            <p:ph type="pic" idx="17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80"/>
          <p:cNvSpPr txBox="1">
            <a:spLocks noGrp="1"/>
          </p:cNvSpPr>
          <p:nvPr>
            <p:ph type="body" idx="18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9" name="Google Shape;379;p80"/>
          <p:cNvSpPr txBox="1">
            <a:spLocks noGrp="1"/>
          </p:cNvSpPr>
          <p:nvPr>
            <p:ph type="body" idx="19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80" name="Google Shape;380;p80"/>
          <p:cNvSpPr txBox="1">
            <a:spLocks noGrp="1"/>
          </p:cNvSpPr>
          <p:nvPr>
            <p:ph type="body" idx="20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81" name="Google Shape;381;p80"/>
          <p:cNvSpPr>
            <a:spLocks noGrp="1"/>
          </p:cNvSpPr>
          <p:nvPr>
            <p:ph type="pic" idx="21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p80"/>
          <p:cNvSpPr txBox="1">
            <a:spLocks noGrp="1"/>
          </p:cNvSpPr>
          <p:nvPr>
            <p:ph type="body" idx="22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83" name="Google Shape;383;p80"/>
          <p:cNvSpPr txBox="1">
            <a:spLocks noGrp="1"/>
          </p:cNvSpPr>
          <p:nvPr>
            <p:ph type="body" idx="23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84" name="Google Shape;384;p80"/>
          <p:cNvSpPr txBox="1">
            <a:spLocks noGrp="1"/>
          </p:cNvSpPr>
          <p:nvPr>
            <p:ph type="body" idx="24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271831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LONG Layout">
  <p:cSld name="Quote - LONG Layout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81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6576003" cy="20574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81"/>
          <p:cNvSpPr/>
          <p:nvPr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388" name="Google Shape;388;p81"/>
          <p:cNvSpPr/>
          <p:nvPr/>
        </p:nvSpPr>
        <p:spPr>
          <a:xfrm rot="10800000" flipH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389" name="Google Shape;389;p81"/>
          <p:cNvSpPr/>
          <p:nvPr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390" name="Google Shape;390;p81"/>
          <p:cNvSpPr txBox="1">
            <a:spLocks noGrp="1"/>
          </p:cNvSpPr>
          <p:nvPr>
            <p:ph type="body" idx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None/>
              <a:defRPr sz="4400" b="0" i="1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91" name="Google Shape;391;p81"/>
          <p:cNvSpPr txBox="1">
            <a:spLocks noGrp="1"/>
          </p:cNvSpPr>
          <p:nvPr>
            <p:ph type="body" idx="2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NVIDIA Sans"/>
              <a:buNone/>
              <a:defRPr sz="120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92" name="Google Shape;392;p81"/>
          <p:cNvSpPr txBox="1"/>
          <p:nvPr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700">
                <a:solidFill>
                  <a:schemeClr val="dk2"/>
                </a:solidFill>
                <a:latin typeface="NVIDIA Sans Light"/>
                <a:ea typeface="NVIDIA Sans Light"/>
                <a:cs typeface="NVIDIA Sans Light"/>
                <a:sym typeface="NVIDIA Sans Light"/>
              </a:rPr>
              <a:t>“</a:t>
            </a:r>
            <a:endParaRPr/>
          </a:p>
        </p:txBody>
      </p:sp>
      <p:cxnSp>
        <p:nvCxnSpPr>
          <p:cNvPr id="393" name="Google Shape;393;p81"/>
          <p:cNvCxnSpPr/>
          <p:nvPr/>
        </p:nvCxnSpPr>
        <p:spPr>
          <a:xfrm>
            <a:off x="6158753" y="15523509"/>
            <a:ext cx="11394911" cy="0"/>
          </a:xfrm>
          <a:prstGeom prst="straightConnector1">
            <a:avLst/>
          </a:prstGeom>
          <a:noFill/>
          <a:ln w="31750" cap="flat" cmpd="sng">
            <a:solidFill>
              <a:srgbClr val="588A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4" name="Google Shape;394;p81"/>
          <p:cNvCxnSpPr/>
          <p:nvPr/>
        </p:nvCxnSpPr>
        <p:spPr>
          <a:xfrm>
            <a:off x="19022336" y="15523509"/>
            <a:ext cx="11394911" cy="0"/>
          </a:xfrm>
          <a:prstGeom prst="straightConnector1">
            <a:avLst/>
          </a:prstGeom>
          <a:noFill/>
          <a:ln w="31750" cap="flat" cmpd="sng">
            <a:solidFill>
              <a:srgbClr val="588A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95" name="Google Shape;395;p81"/>
          <p:cNvGrpSpPr/>
          <p:nvPr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396" name="Google Shape;396;p81"/>
            <p:cNvSpPr txBox="1"/>
            <p:nvPr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700">
                  <a:solidFill>
                    <a:schemeClr val="dk2"/>
                  </a:solidFill>
                  <a:latin typeface="NVIDIA Sans Light"/>
                  <a:ea typeface="NVIDIA Sans Light"/>
                  <a:cs typeface="NVIDIA Sans Light"/>
                  <a:sym typeface="NVIDIA Sans Light"/>
                </a:rPr>
                <a:t>“</a:t>
              </a:r>
              <a:endParaRPr/>
            </a:p>
          </p:txBody>
        </p:sp>
        <p:cxnSp>
          <p:nvCxnSpPr>
            <p:cNvPr id="397" name="Google Shape;397;p81"/>
            <p:cNvCxnSpPr/>
            <p:nvPr/>
          </p:nvCxnSpPr>
          <p:spPr>
            <a:xfrm>
              <a:off x="6158753" y="7454586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rgbClr val="588A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8" name="Google Shape;398;p81"/>
            <p:cNvCxnSpPr/>
            <p:nvPr/>
          </p:nvCxnSpPr>
          <p:spPr>
            <a:xfrm>
              <a:off x="19022336" y="7454586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rgbClr val="588A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96379540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SHORT Layout">
  <p:cSld name="Quote - SHORT Layout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82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6576003" cy="20574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82"/>
          <p:cNvSpPr/>
          <p:nvPr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02" name="Google Shape;402;p82"/>
          <p:cNvSpPr/>
          <p:nvPr/>
        </p:nvSpPr>
        <p:spPr>
          <a:xfrm rot="10800000" flipH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03" name="Google Shape;403;p82"/>
          <p:cNvSpPr/>
          <p:nvPr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04" name="Google Shape;404;p82"/>
          <p:cNvSpPr/>
          <p:nvPr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05" name="Google Shape;405;p82"/>
          <p:cNvSpPr txBox="1">
            <a:spLocks noGrp="1"/>
          </p:cNvSpPr>
          <p:nvPr>
            <p:ph type="body" idx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None/>
              <a:defRPr sz="4400" b="0" i="1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06" name="Google Shape;406;p82"/>
          <p:cNvSpPr txBox="1">
            <a:spLocks noGrp="1"/>
          </p:cNvSpPr>
          <p:nvPr>
            <p:ph type="body" idx="2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NVIDIA Sans"/>
              <a:buNone/>
              <a:defRPr sz="120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407" name="Google Shape;407;p82"/>
          <p:cNvGrpSpPr/>
          <p:nvPr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408" name="Google Shape;408;p82"/>
            <p:cNvGrpSpPr/>
            <p:nvPr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409" name="Google Shape;409;p82"/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700">
                    <a:solidFill>
                      <a:schemeClr val="dk2"/>
                    </a:solidFill>
                    <a:latin typeface="NVIDIA Sans Light"/>
                    <a:ea typeface="NVIDIA Sans Light"/>
                    <a:cs typeface="NVIDIA Sans Light"/>
                    <a:sym typeface="NVIDIA Sans Light"/>
                  </a:rPr>
                  <a:t>“</a:t>
                </a:r>
                <a:endParaRPr/>
              </a:p>
            </p:txBody>
          </p:sp>
          <p:sp>
            <p:nvSpPr>
              <p:cNvPr id="410" name="Google Shape;410;p82"/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700">
                    <a:solidFill>
                      <a:schemeClr val="dk2"/>
                    </a:solidFill>
                    <a:latin typeface="NVIDIA Sans Light"/>
                    <a:ea typeface="NVIDIA Sans Light"/>
                    <a:cs typeface="NVIDIA Sans Light"/>
                    <a:sym typeface="NVIDIA Sans Light"/>
                  </a:rPr>
                  <a:t>“</a:t>
                </a:r>
                <a:endParaRPr/>
              </a:p>
            </p:txBody>
          </p:sp>
        </p:grpSp>
        <p:cxnSp>
          <p:nvCxnSpPr>
            <p:cNvPr id="411" name="Google Shape;411;p82"/>
            <p:cNvCxnSpPr/>
            <p:nvPr/>
          </p:nvCxnSpPr>
          <p:spPr>
            <a:xfrm>
              <a:off x="6158753" y="7454586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2" name="Google Shape;412;p82"/>
            <p:cNvCxnSpPr/>
            <p:nvPr/>
          </p:nvCxnSpPr>
          <p:spPr>
            <a:xfrm>
              <a:off x="19022336" y="7454586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3" name="Google Shape;413;p82"/>
            <p:cNvCxnSpPr/>
            <p:nvPr/>
          </p:nvCxnSpPr>
          <p:spPr>
            <a:xfrm>
              <a:off x="6158753" y="15144241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4" name="Google Shape;414;p82"/>
            <p:cNvCxnSpPr/>
            <p:nvPr/>
          </p:nvCxnSpPr>
          <p:spPr>
            <a:xfrm>
              <a:off x="19022336" y="15144241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10006896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genda">
  <p:cSld name="1_Agenda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83" descr="A green curved lines with a bright light behind them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2408" r="51135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83"/>
          <p:cNvSpPr/>
          <p:nvPr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18" name="Google Shape;418;p83"/>
          <p:cNvSpPr/>
          <p:nvPr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  <p:extLst>
      <p:ext uri="{BB962C8B-B14F-4D97-AF65-F5344CB8AC3E}">
        <p14:creationId xmlns:p14="http://schemas.microsoft.com/office/powerpoint/2010/main" val="93473850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84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84" descr="A picture containing graphics, logo, symbol,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125" y="773531"/>
            <a:ext cx="8365991" cy="2882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972845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 4">
  <p:cSld name="Title, Subtitle, Bullets 4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8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85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5" name="Google Shape;425;p85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Autofit/>
          </a:bodyPr>
          <a:lstStyle>
            <a:lvl1pPr marL="457200" marR="0" lvl="0" indent="-298450" algn="l" rtl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30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546378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60384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582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4">
  <p:cSld name="Title, Subtitle 4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42"/>
          <p:cNvSpPr txBox="1">
            <a:spLocks noGrp="1"/>
          </p:cNvSpPr>
          <p:nvPr>
            <p:ph type="subTitle" idx="1"/>
          </p:nvPr>
        </p:nvSpPr>
        <p:spPr>
          <a:xfrm>
            <a:off x="2514600" y="2487168"/>
            <a:ext cx="31546800" cy="1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VIDIA Sans"/>
              <a:buNone/>
              <a:defRPr sz="48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164051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21563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3332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63.xml"/><Relationship Id="rId34" Type="http://schemas.openxmlformats.org/officeDocument/2006/relationships/slideLayout" Target="../slideLayouts/slideLayout76.xml"/><Relationship Id="rId42" Type="http://schemas.openxmlformats.org/officeDocument/2006/relationships/slideLayout" Target="../slideLayouts/slideLayout84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71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74.xml"/><Relationship Id="rId37" Type="http://schemas.openxmlformats.org/officeDocument/2006/relationships/slideLayout" Target="../slideLayouts/slideLayout79.xml"/><Relationship Id="rId40" Type="http://schemas.openxmlformats.org/officeDocument/2006/relationships/slideLayout" Target="../slideLayouts/slideLayout82.xml"/><Relationship Id="rId45" Type="http://schemas.openxmlformats.org/officeDocument/2006/relationships/slideLayout" Target="../slideLayouts/slideLayout87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70.xml"/><Relationship Id="rId36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73.xml"/><Relationship Id="rId44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72.xml"/><Relationship Id="rId35" Type="http://schemas.openxmlformats.org/officeDocument/2006/relationships/slideLayout" Target="../slideLayouts/slideLayout77.xml"/><Relationship Id="rId43" Type="http://schemas.openxmlformats.org/officeDocument/2006/relationships/slideLayout" Target="../slideLayouts/slideLayout85.xml"/><Relationship Id="rId48" Type="http://schemas.openxmlformats.org/officeDocument/2006/relationships/image" Target="../media/image10.png"/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75.xml"/><Relationship Id="rId38" Type="http://schemas.openxmlformats.org/officeDocument/2006/relationships/slideLayout" Target="../slideLayouts/slideLayout80.xml"/><Relationship Id="rId46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62.xml"/><Relationship Id="rId41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A1210-4468-5B83-C91A-BBA62AF1227D}"/>
              </a:ext>
            </a:extLst>
          </p:cNvPr>
          <p:cNvGrpSpPr/>
          <p:nvPr userDrawn="1"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547AF-589A-45F3-BD57-EACA3BF60CFD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F64E9CA-B4B2-365B-092F-3051F7475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240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22" r:id="rId3"/>
    <p:sldLayoutId id="2147483718" r:id="rId4"/>
    <p:sldLayoutId id="2147483681" r:id="rId5"/>
    <p:sldLayoutId id="2147483680" r:id="rId6"/>
    <p:sldLayoutId id="2147483682" r:id="rId7"/>
    <p:sldLayoutId id="2147483683" r:id="rId8"/>
    <p:sldLayoutId id="2147483705" r:id="rId9"/>
    <p:sldLayoutId id="2147483685" r:id="rId10"/>
    <p:sldLayoutId id="2147483686" r:id="rId11"/>
    <p:sldLayoutId id="2147483687" r:id="rId12"/>
    <p:sldLayoutId id="2147483691" r:id="rId13"/>
    <p:sldLayoutId id="2147483688" r:id="rId14"/>
    <p:sldLayoutId id="2147483690" r:id="rId15"/>
    <p:sldLayoutId id="2147483689" r:id="rId16"/>
    <p:sldLayoutId id="2147483692" r:id="rId17"/>
    <p:sldLayoutId id="2147483693" r:id="rId18"/>
    <p:sldLayoutId id="2147483709" r:id="rId19"/>
    <p:sldLayoutId id="2147483723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695" r:id="rId29"/>
    <p:sldLayoutId id="2147483721" r:id="rId30"/>
    <p:sldLayoutId id="2147483694" r:id="rId31"/>
    <p:sldLayoutId id="2147483719" r:id="rId32"/>
    <p:sldLayoutId id="2147483724" r:id="rId33"/>
    <p:sldLayoutId id="2147483720" r:id="rId34"/>
    <p:sldLayoutId id="2147483672" r:id="rId35"/>
    <p:sldLayoutId id="2147483708" r:id="rId36"/>
    <p:sldLayoutId id="2147483725" r:id="rId37"/>
    <p:sldLayoutId id="2147483679" r:id="rId38"/>
    <p:sldLayoutId id="2147483676" r:id="rId39"/>
    <p:sldLayoutId id="2147483684" r:id="rId40"/>
    <p:sldLayoutId id="2147483726" r:id="rId41"/>
    <p:sldLayoutId id="2147483727" r:id="rId4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bg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NVIDIA Sans" panose="020B0503020203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0" name="Google Shape;10;p34"/>
          <p:cNvGrpSpPr/>
          <p:nvPr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11" name="Google Shape;11;p34"/>
            <p:cNvSpPr/>
            <p:nvPr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12" name="Google Shape;12;p34" descr="A picture containing shape&#10;&#10;Description automatically generated"/>
            <p:cNvPicPr preferRelativeResize="0"/>
            <p:nvPr/>
          </p:nvPicPr>
          <p:blipFill rotWithShape="1">
            <a:blip r:embed="rId48">
              <a:alphaModFix/>
            </a:blip>
            <a:srcRect/>
            <a:stretch/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397583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  <p:sldLayoutId id="2147483751" r:id="rId23"/>
    <p:sldLayoutId id="2147483752" r:id="rId24"/>
    <p:sldLayoutId id="2147483753" r:id="rId25"/>
    <p:sldLayoutId id="2147483754" r:id="rId26"/>
    <p:sldLayoutId id="2147483755" r:id="rId27"/>
    <p:sldLayoutId id="2147483756" r:id="rId28"/>
    <p:sldLayoutId id="2147483757" r:id="rId29"/>
    <p:sldLayoutId id="2147483758" r:id="rId30"/>
    <p:sldLayoutId id="2147483759" r:id="rId31"/>
    <p:sldLayoutId id="2147483760" r:id="rId32"/>
    <p:sldLayoutId id="2147483761" r:id="rId33"/>
    <p:sldLayoutId id="2147483762" r:id="rId34"/>
    <p:sldLayoutId id="2147483763" r:id="rId35"/>
    <p:sldLayoutId id="2147483764" r:id="rId36"/>
    <p:sldLayoutId id="2147483765" r:id="rId37"/>
    <p:sldLayoutId id="2147483766" r:id="rId38"/>
    <p:sldLayoutId id="2147483767" r:id="rId39"/>
    <p:sldLayoutId id="2147483768" r:id="rId40"/>
    <p:sldLayoutId id="2147483769" r:id="rId41"/>
    <p:sldLayoutId id="2147483770" r:id="rId42"/>
    <p:sldLayoutId id="2147483771" r:id="rId43"/>
    <p:sldLayoutId id="2147483772" r:id="rId44"/>
    <p:sldLayoutId id="2147483773" r:id="rId45"/>
    <p:sldLayoutId id="2147483774" r:id="rId4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microsoft.com/office/2018/10/relationships/comments" Target="../comments/modernComment_114_0.xml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21.png"/><Relationship Id="rId11" Type="http://schemas.openxmlformats.org/officeDocument/2006/relationships/hyperlink" Target="https://pypi.org/project/nemo-curator/" TargetMode="External"/><Relationship Id="rId5" Type="http://schemas.openxmlformats.org/officeDocument/2006/relationships/image" Target="../media/image20.png"/><Relationship Id="rId10" Type="http://schemas.openxmlformats.org/officeDocument/2006/relationships/hyperlink" Target="https://catalog.ngc.nvidia.com/orgs/nvidia/containers/nemo-curator?version=25.09" TargetMode="External"/><Relationship Id="rId4" Type="http://schemas.openxmlformats.org/officeDocument/2006/relationships/image" Target="../media/image19.png"/><Relationship Id="rId9" Type="http://schemas.openxmlformats.org/officeDocument/2006/relationships/hyperlink" Target="https://github.com/NVIDIA/NeMo-Curator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5_955FBF4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8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1.png"/><Relationship Id="rId4" Type="http://schemas.openxmlformats.org/officeDocument/2006/relationships/image" Target="../media/image27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nvidia/multilingual-domain-classifier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2.xml"/><Relationship Id="rId6" Type="http://schemas.openxmlformats.org/officeDocument/2006/relationships/hyperlink" Target="https://huggingface.co/collections/nvidia/nemo-curator-classifier-models-66b25154213dafdcb8bde900" TargetMode="External"/><Relationship Id="rId5" Type="http://schemas.openxmlformats.org/officeDocument/2006/relationships/hyperlink" Target="https://huggingface.co/nvidia/quality-classifier-deberta" TargetMode="External"/><Relationship Id="rId4" Type="http://schemas.openxmlformats.org/officeDocument/2006/relationships/hyperlink" Target="https://huggingface.co/nvidia/domain-classifier?linkId=100000270136306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nvidia/prompt-task-and-complexity-classifie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Relationship Id="rId6" Type="http://schemas.openxmlformats.org/officeDocument/2006/relationships/hyperlink" Target="https://huggingface.co/nvidia/instruction-data-guard" TargetMode="External"/><Relationship Id="rId5" Type="http://schemas.openxmlformats.org/officeDocument/2006/relationships/hyperlink" Target="https://huggingface.co/nvidia/content-type-classifier-deberta" TargetMode="External"/><Relationship Id="rId4" Type="http://schemas.openxmlformats.org/officeDocument/2006/relationships/hyperlink" Target="https://huggingface.co/nvidia/nemocurator-fineweb-nemotron-4-edu-classifier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NeMo Curator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Industrial-scale data curation for LLM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6"/>
          <p:cNvSpPr txBox="1">
            <a:spLocks noGrp="1"/>
          </p:cNvSpPr>
          <p:nvPr>
            <p:ph type="title"/>
          </p:nvPr>
        </p:nvSpPr>
        <p:spPr>
          <a:xfrm>
            <a:off x="2514600" y="432570"/>
            <a:ext cx="315468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>
                <a:latin typeface="NVIDIA Sans"/>
                <a:ea typeface="NVIDIA Sans"/>
                <a:cs typeface="NVIDIA Sans"/>
                <a:sym typeface="NVIDIA Sans"/>
              </a:rPr>
              <a:t>NeMo Curator - Overview</a:t>
            </a:r>
            <a:endParaRPr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2320" name="Google Shape;2320;p6"/>
          <p:cNvSpPr txBox="1"/>
          <p:nvPr/>
        </p:nvSpPr>
        <p:spPr>
          <a:xfrm>
            <a:off x="22542812" y="11134021"/>
            <a:ext cx="6470775" cy="166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State-of-the-Art quality classifier </a:t>
            </a:r>
            <a:r>
              <a:rPr lang="en-US" sz="3200">
                <a:latin typeface="NVIDIA Sans"/>
                <a:ea typeface="NVIDIA Sans"/>
                <a:cs typeface="NVIDIA Sans"/>
                <a:sym typeface="NVIDIA Sans"/>
              </a:rPr>
              <a:t>NIM microservices</a:t>
            </a:r>
            <a:r>
              <a:rPr lang="en-US" sz="32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 for safety, content, and diversity</a:t>
            </a:r>
            <a:endParaRPr/>
          </a:p>
        </p:txBody>
      </p:sp>
      <p:sp>
        <p:nvSpPr>
          <p:cNvPr id="2321" name="Google Shape;2321;p6"/>
          <p:cNvSpPr txBox="1"/>
          <p:nvPr/>
        </p:nvSpPr>
        <p:spPr>
          <a:xfrm>
            <a:off x="15334298" y="11186375"/>
            <a:ext cx="6070397" cy="166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Up to </a:t>
            </a:r>
            <a:r>
              <a:rPr lang="en-US" sz="3200" b="1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100+ </a:t>
            </a:r>
            <a:r>
              <a:rPr lang="en-US" sz="3200" b="1">
                <a:latin typeface="NVIDIA Sans"/>
                <a:ea typeface="NVIDIA Sans"/>
                <a:cs typeface="NVIDIA Sans"/>
                <a:sym typeface="NVIDIA Sans"/>
              </a:rPr>
              <a:t>PB</a:t>
            </a:r>
            <a:r>
              <a:rPr lang="en-US" sz="3200" b="1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 data </a:t>
            </a:r>
            <a:r>
              <a:rPr lang="en-US" sz="32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by scaling across multiple nodes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000000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2322" name="Google Shape;2322;p6"/>
          <p:cNvSpPr txBox="1">
            <a:spLocks noGrp="1"/>
          </p:cNvSpPr>
          <p:nvPr>
            <p:ph type="body" idx="1"/>
          </p:nvPr>
        </p:nvSpPr>
        <p:spPr>
          <a:xfrm>
            <a:off x="-39648" y="1968562"/>
            <a:ext cx="36576000" cy="16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NVIDIA Sans"/>
                <a:ea typeface="NVIDIA Sans"/>
                <a:cs typeface="NVIDIA Sans"/>
                <a:sym typeface="NVIDIA Sans"/>
              </a:rPr>
              <a:t>Scalable, configurable pipelines to curate text, image and video datasets lead to more accurate applications</a:t>
            </a:r>
            <a:endParaRPr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2323" name="Google Shape;2323;p6"/>
          <p:cNvSpPr txBox="1"/>
          <p:nvPr/>
        </p:nvSpPr>
        <p:spPr>
          <a:xfrm>
            <a:off x="7625839" y="11130957"/>
            <a:ext cx="7016999" cy="166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GPU acceleration with RAPIDS for </a:t>
            </a:r>
            <a:br>
              <a:rPr lang="en-US" sz="32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</a:br>
            <a:r>
              <a:rPr lang="en-US" sz="3200" b="1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Dedupe (Exact, Fuzzy, Semantic) </a:t>
            </a:r>
            <a:r>
              <a:rPr lang="en-US" sz="32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and </a:t>
            </a:r>
            <a:r>
              <a:rPr lang="en-US" sz="3200" b="1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Quality Classifier Models</a:t>
            </a:r>
            <a:endParaRPr/>
          </a:p>
        </p:txBody>
      </p:sp>
      <p:sp>
        <p:nvSpPr>
          <p:cNvPr id="2324" name="Google Shape;2324;p6"/>
          <p:cNvSpPr txBox="1"/>
          <p:nvPr/>
        </p:nvSpPr>
        <p:spPr>
          <a:xfrm>
            <a:off x="539655" y="11130956"/>
            <a:ext cx="6070397" cy="166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Improve accuracy with less data and less training compute</a:t>
            </a:r>
            <a:endParaRPr/>
          </a:p>
        </p:txBody>
      </p:sp>
      <p:sp>
        <p:nvSpPr>
          <p:cNvPr id="2325" name="Google Shape;2325;p6"/>
          <p:cNvSpPr txBox="1"/>
          <p:nvPr/>
        </p:nvSpPr>
        <p:spPr>
          <a:xfrm>
            <a:off x="29560897" y="11130957"/>
            <a:ext cx="7015103" cy="166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Python APIs in a customizable and modular OSS library, runnable across CSP and On-prem</a:t>
            </a:r>
            <a:endParaRPr/>
          </a:p>
        </p:txBody>
      </p:sp>
      <p:pic>
        <p:nvPicPr>
          <p:cNvPr id="2326" name="Google Shape;2326;p6"/>
          <p:cNvPicPr preferRelativeResize="0"/>
          <p:nvPr/>
        </p:nvPicPr>
        <p:blipFill rotWithShape="1">
          <a:blip r:embed="rId4">
            <a:alphaModFix/>
          </a:blip>
          <a:srcRect l="10960" t="13553" b="7"/>
          <a:stretch/>
        </p:blipFill>
        <p:spPr>
          <a:xfrm>
            <a:off x="2140962" y="7519495"/>
            <a:ext cx="2867784" cy="2784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7" name="Google Shape;2327;p6"/>
          <p:cNvPicPr preferRelativeResize="0"/>
          <p:nvPr/>
        </p:nvPicPr>
        <p:blipFill rotWithShape="1">
          <a:blip r:embed="rId5">
            <a:alphaModFix/>
          </a:blip>
          <a:srcRect l="6447" t="7304" r="11516" b="11978"/>
          <a:stretch/>
        </p:blipFill>
        <p:spPr>
          <a:xfrm>
            <a:off x="17288931" y="7321473"/>
            <a:ext cx="2594783" cy="2552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8" name="Google Shape;2328;p6"/>
          <p:cNvPicPr preferRelativeResize="0"/>
          <p:nvPr/>
        </p:nvPicPr>
        <p:blipFill rotWithShape="1">
          <a:blip r:embed="rId6">
            <a:alphaModFix/>
          </a:blip>
          <a:srcRect l="8659" t="6476" r="8235" b="7854"/>
          <a:stretch/>
        </p:blipFill>
        <p:spPr>
          <a:xfrm>
            <a:off x="9973448" y="7071996"/>
            <a:ext cx="2867784" cy="286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9" name="Google Shape;2329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792141" y="7435311"/>
            <a:ext cx="2636835" cy="2636835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6"/>
          <p:cNvSpPr/>
          <p:nvPr/>
        </p:nvSpPr>
        <p:spPr>
          <a:xfrm>
            <a:off x="15612303" y="5234798"/>
            <a:ext cx="6070397" cy="1457325"/>
          </a:xfrm>
          <a:prstGeom prst="rect">
            <a:avLst/>
          </a:prstGeom>
          <a:solidFill>
            <a:srgbClr val="3B5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Scalability</a:t>
            </a:r>
            <a:endParaRPr/>
          </a:p>
        </p:txBody>
      </p:sp>
      <p:sp>
        <p:nvSpPr>
          <p:cNvPr id="2331" name="Google Shape;2331;p6"/>
          <p:cNvSpPr/>
          <p:nvPr/>
        </p:nvSpPr>
        <p:spPr>
          <a:xfrm>
            <a:off x="539656" y="5234798"/>
            <a:ext cx="6312664" cy="1457325"/>
          </a:xfrm>
          <a:prstGeom prst="rect">
            <a:avLst/>
          </a:prstGeom>
          <a:solidFill>
            <a:srgbClr val="3B5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Higher Accuracy	</a:t>
            </a:r>
            <a:endParaRPr/>
          </a:p>
        </p:txBody>
      </p:sp>
      <p:sp>
        <p:nvSpPr>
          <p:cNvPr id="2332" name="Google Shape;2332;p6"/>
          <p:cNvSpPr/>
          <p:nvPr/>
        </p:nvSpPr>
        <p:spPr>
          <a:xfrm>
            <a:off x="8099142" y="5234798"/>
            <a:ext cx="6307143" cy="1457325"/>
          </a:xfrm>
          <a:prstGeom prst="rect">
            <a:avLst/>
          </a:prstGeom>
          <a:solidFill>
            <a:srgbClr val="3B5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Faster Processing</a:t>
            </a:r>
            <a:endParaRPr/>
          </a:p>
        </p:txBody>
      </p:sp>
      <p:sp>
        <p:nvSpPr>
          <p:cNvPr id="2333" name="Google Shape;2333;p6"/>
          <p:cNvSpPr/>
          <p:nvPr/>
        </p:nvSpPr>
        <p:spPr>
          <a:xfrm>
            <a:off x="22720014" y="5234798"/>
            <a:ext cx="6293573" cy="1457325"/>
          </a:xfrm>
          <a:prstGeom prst="rect">
            <a:avLst/>
          </a:prstGeom>
          <a:solidFill>
            <a:srgbClr val="3B5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Classifier Models</a:t>
            </a:r>
            <a:endParaRPr/>
          </a:p>
        </p:txBody>
      </p:sp>
      <p:sp>
        <p:nvSpPr>
          <p:cNvPr id="2334" name="Google Shape;2334;p6"/>
          <p:cNvSpPr/>
          <p:nvPr/>
        </p:nvSpPr>
        <p:spPr>
          <a:xfrm>
            <a:off x="29963772" y="5262469"/>
            <a:ext cx="6293574" cy="1457325"/>
          </a:xfrm>
          <a:prstGeom prst="rect">
            <a:avLst/>
          </a:prstGeom>
          <a:solidFill>
            <a:srgbClr val="3B5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Deploy anywhere</a:t>
            </a:r>
            <a:endParaRPr/>
          </a:p>
        </p:txBody>
      </p:sp>
      <p:pic>
        <p:nvPicPr>
          <p:cNvPr id="2335" name="Google Shape;2335;p6" descr="A green logo with a hexagon and a 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619817" y="7297582"/>
            <a:ext cx="2867784" cy="28677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6" name="Google Shape;2336;p6"/>
          <p:cNvGrpSpPr/>
          <p:nvPr/>
        </p:nvGrpSpPr>
        <p:grpSpPr>
          <a:xfrm>
            <a:off x="9989476" y="15568873"/>
            <a:ext cx="17368749" cy="1465131"/>
            <a:chOff x="11406968" y="15995656"/>
            <a:chExt cx="12715361" cy="1800404"/>
          </a:xfrm>
        </p:grpSpPr>
        <p:grpSp>
          <p:nvGrpSpPr>
            <p:cNvPr id="2337" name="Google Shape;2337;p6"/>
            <p:cNvGrpSpPr/>
            <p:nvPr/>
          </p:nvGrpSpPr>
          <p:grpSpPr>
            <a:xfrm>
              <a:off x="11951626" y="15995656"/>
              <a:ext cx="12170703" cy="1800404"/>
              <a:chOff x="373231" y="4156517"/>
              <a:chExt cx="2549489" cy="450101"/>
            </a:xfrm>
          </p:grpSpPr>
          <p:sp>
            <p:nvSpPr>
              <p:cNvPr id="2338" name="Google Shape;2338;p6"/>
              <p:cNvSpPr txBox="1"/>
              <p:nvPr/>
            </p:nvSpPr>
            <p:spPr>
              <a:xfrm>
                <a:off x="373231" y="4285341"/>
                <a:ext cx="358602" cy="27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00" tIns="91400" rIns="91400" bIns="91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 u="sng">
                    <a:solidFill>
                      <a:srgbClr val="76B900"/>
                    </a:solidFill>
                    <a:latin typeface="NVIDIA Sans"/>
                    <a:ea typeface="NVIDIA Sans"/>
                    <a:cs typeface="NVIDIA Sans"/>
                    <a:sym typeface="NVIDIA Sans"/>
                    <a:hlinkClick r:id="rId9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GitHub</a:t>
                </a:r>
                <a:endParaRPr sz="3600">
                  <a:solidFill>
                    <a:srgbClr val="000000"/>
                  </a:solidFill>
                  <a:latin typeface="NVIDIA Sans"/>
                  <a:ea typeface="NVIDIA Sans"/>
                  <a:cs typeface="NVIDIA Sans"/>
                  <a:sym typeface="NVIDIA Sans"/>
                </a:endParaRPr>
              </a:p>
            </p:txBody>
          </p:sp>
          <p:sp>
            <p:nvSpPr>
              <p:cNvPr id="2339" name="Google Shape;2339;p6"/>
              <p:cNvSpPr txBox="1"/>
              <p:nvPr/>
            </p:nvSpPr>
            <p:spPr>
              <a:xfrm>
                <a:off x="791264" y="4281075"/>
                <a:ext cx="1033412" cy="226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00" tIns="91400" rIns="91400" bIns="91400" anchor="t" anchorCtr="0">
                <a:spAutoFit/>
              </a:bodyPr>
              <a:lstStyle/>
              <a:p>
                <a:pPr algn="ctr"/>
                <a:r>
                  <a:rPr lang="en-US" sz="3600" u="sng">
                    <a:solidFill>
                      <a:srgbClr val="76B900"/>
                    </a:solidFill>
                    <a:latin typeface="NVIDIA Sans"/>
                    <a:cs typeface="NVIDIA Sans"/>
                    <a:sym typeface="NVIDIA Sans"/>
                    <a:hlinkClick r:id="rId10"/>
                  </a:rPr>
                  <a:t>Docker Container</a:t>
                </a:r>
                <a:endParaRPr lang="en-US"/>
              </a:p>
            </p:txBody>
          </p:sp>
          <p:sp>
            <p:nvSpPr>
              <p:cNvPr id="2340" name="Google Shape;2340;p6"/>
              <p:cNvSpPr txBox="1"/>
              <p:nvPr/>
            </p:nvSpPr>
            <p:spPr>
              <a:xfrm>
                <a:off x="2214150" y="4209526"/>
                <a:ext cx="708570" cy="3970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00" tIns="91400" rIns="91400" bIns="914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rgbClr val="000000"/>
                    </a:solidFill>
                    <a:latin typeface="NVIDIA Sans"/>
                    <a:ea typeface="NVIDIA Sans"/>
                    <a:cs typeface="NVIDIA Sans"/>
                    <a:sym typeface="NVIDIA Sans"/>
                  </a:rPr>
                  <a:t>Microservice</a:t>
                </a:r>
                <a:endParaRPr sz="3600">
                  <a:solidFill>
                    <a:srgbClr val="000000"/>
                  </a:solidFill>
                  <a:latin typeface="NVIDIA Sans"/>
                  <a:ea typeface="NVIDIA Sans"/>
                  <a:cs typeface="NVIDIA Sans"/>
                  <a:sym typeface="NVIDIA Sans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rgbClr val="000000"/>
                    </a:solidFill>
                    <a:latin typeface="NVIDIA Sans"/>
                    <a:ea typeface="NVIDIA Sans"/>
                    <a:cs typeface="NVIDIA Sans"/>
                    <a:sym typeface="NVIDIA Sans"/>
                  </a:rPr>
                  <a:t>(coming soon)</a:t>
                </a:r>
                <a:endParaRPr sz="3600">
                  <a:solidFill>
                    <a:srgbClr val="000000"/>
                  </a:solidFill>
                  <a:latin typeface="NVIDIA Sans"/>
                  <a:ea typeface="NVIDIA Sans"/>
                  <a:cs typeface="NVIDIA Sans"/>
                  <a:sym typeface="NVIDIA Sans"/>
                </a:endParaRPr>
              </a:p>
            </p:txBody>
          </p:sp>
          <p:cxnSp>
            <p:nvCxnSpPr>
              <p:cNvPr id="2341" name="Google Shape;2341;p6"/>
              <p:cNvCxnSpPr/>
              <p:nvPr/>
            </p:nvCxnSpPr>
            <p:spPr>
              <a:xfrm>
                <a:off x="783500" y="4156517"/>
                <a:ext cx="0" cy="442908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42" name="Google Shape;2342;p6"/>
              <p:cNvCxnSpPr/>
              <p:nvPr/>
            </p:nvCxnSpPr>
            <p:spPr>
              <a:xfrm>
                <a:off x="2239875" y="4156517"/>
                <a:ext cx="0" cy="442908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43" name="Google Shape;2343;p6"/>
              <p:cNvCxnSpPr/>
              <p:nvPr/>
            </p:nvCxnSpPr>
            <p:spPr>
              <a:xfrm>
                <a:off x="1839184" y="4156517"/>
                <a:ext cx="0" cy="442908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44" name="Google Shape;2344;p6"/>
              <p:cNvSpPr txBox="1"/>
              <p:nvPr/>
            </p:nvSpPr>
            <p:spPr>
              <a:xfrm>
                <a:off x="1869919" y="4256139"/>
                <a:ext cx="318289" cy="252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00" tIns="91400" rIns="91400" bIns="91400" anchor="t" anchorCtr="0">
                <a:spAutoFit/>
              </a:bodyPr>
              <a:lstStyle/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 u="sng">
                    <a:solidFill>
                      <a:srgbClr val="76B900"/>
                    </a:solidFill>
                    <a:latin typeface="NVIDIA Sans"/>
                    <a:ea typeface="NVIDIA Sans"/>
                    <a:cs typeface="NVIDIA Sans"/>
                    <a:sym typeface="NVIDIA Sa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PyPI</a:t>
                </a:r>
                <a:endParaRPr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45" name="Google Shape;2345;p6"/>
            <p:cNvSpPr/>
            <p:nvPr/>
          </p:nvSpPr>
          <p:spPr>
            <a:xfrm>
              <a:off x="11406968" y="15995656"/>
              <a:ext cx="12556629" cy="1790812"/>
            </a:xfrm>
            <a:prstGeom prst="rect">
              <a:avLst/>
            </a:prstGeom>
            <a:noFill/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Where Curator 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Between your raw data and the training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0" y="5852160"/>
            <a:ext cx="21945600" cy="2267712"/>
          </a:xfrm>
          <a:prstGeom prst="roundRect">
            <a:avLst>
              <a:gd name="adj" fmla="val 4000"/>
            </a:avLst>
          </a:prstGeom>
          <a:solidFill>
            <a:srgbClr val="CDCDCD"/>
          </a:solidFill>
          <a:ln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0" y="5852160"/>
            <a:ext cx="877824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>
                <a:solidFill>
                  <a:srgbClr val="000000"/>
                </a:solidFill>
                <a:latin typeface="NVIDIA Sans Medium"/>
              </a:rPr>
              <a:t>Raw 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24960" y="5852160"/>
            <a:ext cx="1170432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HF datasets · PDFs · CSVs · APIs · synthetic generators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8339328"/>
            <a:ext cx="21945600" cy="2267712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8339328"/>
            <a:ext cx="877824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>
                <a:solidFill>
                  <a:srgbClr val="000000"/>
                </a:solidFill>
                <a:latin typeface="NVIDIA Sans Medium"/>
              </a:rPr>
              <a:t>NeMo Curator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24960" y="8339328"/>
            <a:ext cx="1170432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Extract · Filter · Deduplicate · Redact · Classify ·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0826496"/>
            <a:ext cx="21945600" cy="2267712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10826496"/>
            <a:ext cx="877824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NVIDIA Sans Medium"/>
              </a:rPr>
              <a:t>NeMo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24960" y="10826496"/>
            <a:ext cx="1170432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NVIDIA Sans"/>
              </a:rPr>
              <a:t>AutoModel · Megatron-Bridge · NeMo RL · NeMo Gym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3313664"/>
            <a:ext cx="21945600" cy="2267712"/>
          </a:xfrm>
          <a:prstGeom prst="roundRect">
            <a:avLst>
              <a:gd name="adj" fmla="val 4000"/>
            </a:avLst>
          </a:prstGeom>
          <a:solidFill>
            <a:srgbClr val="5E5E5E"/>
          </a:solidFill>
          <a:ln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3313664"/>
            <a:ext cx="877824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NVIDIA Sans Medium"/>
              </a:rPr>
              <a:t>Model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60" y="13313664"/>
            <a:ext cx="1170432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NVIDIA Sans"/>
              </a:rPr>
              <a:t>NIM · Dynamo · NIM Operator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5800832"/>
            <a:ext cx="21945600" cy="2267712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0" y="15800832"/>
            <a:ext cx="877824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NVIDIA Sans Medium"/>
              </a:rPr>
              <a:t>Agentic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960" y="15800832"/>
            <a:ext cx="1170432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NVIDIA Sans"/>
              </a:rPr>
              <a:t>NAT · AgentIQ · Guardrails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0358080" y="7936992"/>
            <a:ext cx="1828800" cy="731520"/>
          </a:xfrm>
          <a:prstGeom prst="down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30358080" y="10424160"/>
            <a:ext cx="1828800" cy="731520"/>
          </a:xfrm>
          <a:prstGeom prst="down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own Arrow 22"/>
          <p:cNvSpPr/>
          <p:nvPr/>
        </p:nvSpPr>
        <p:spPr>
          <a:xfrm>
            <a:off x="30358080" y="12911328"/>
            <a:ext cx="1828800" cy="731520"/>
          </a:xfrm>
          <a:prstGeom prst="down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30358080" y="15398496"/>
            <a:ext cx="1828800" cy="731520"/>
          </a:xfrm>
          <a:prstGeom prst="down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63040" y="5852160"/>
            <a:ext cx="5486400" cy="128016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1">
                <a:solidFill>
                  <a:srgbClr val="5E5E5E"/>
                </a:solidFill>
                <a:latin typeface="NVIDIA Sans"/>
              </a:rPr>
              <a:t>Your data flows top-down through the stack. Curator owns the second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8"/>
          <p:cNvSpPr txBox="1"/>
          <p:nvPr/>
        </p:nvSpPr>
        <p:spPr>
          <a:xfrm>
            <a:off x="0" y="926200"/>
            <a:ext cx="36576000" cy="17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00" tIns="365700" rIns="365700" bIns="36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NeMo Curator Architecture: Text Processing </a:t>
            </a:r>
            <a:endParaRPr sz="7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p8"/>
          <p:cNvSpPr txBox="1"/>
          <p:nvPr/>
        </p:nvSpPr>
        <p:spPr>
          <a:xfrm>
            <a:off x="1257000" y="2324900"/>
            <a:ext cx="34062000" cy="10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76B900"/>
                </a:solidFill>
                <a:latin typeface="NVIDIA Sans"/>
                <a:ea typeface="NVIDIA Sans"/>
                <a:cs typeface="NVIDIA Sans"/>
                <a:sym typeface="NVIDIA Sans"/>
              </a:rPr>
              <a:t>Easily integrate different features into your existing pipelines with Python APIs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rgbClr val="76B900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pic>
        <p:nvPicPr>
          <p:cNvPr id="4" name="Picture 3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055455F8-11B5-AC80-D487-CF4311D51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694" y="5159027"/>
            <a:ext cx="33641516" cy="1313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800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The Curator Capability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Six pillars covering download to write-ready training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60320" y="5852160"/>
            <a:ext cx="10424160" cy="6035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ownload-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6400800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6510528"/>
            <a:ext cx="786384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Download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8412480"/>
            <a:ext cx="9326880" cy="32918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HuggingFace, Common Crawl, S3, GCS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33120" y="5852160"/>
            <a:ext cx="10424160" cy="6035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oc-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60" y="640080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093440" y="6510528"/>
            <a:ext cx="786384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91488" y="8412480"/>
            <a:ext cx="9326880" cy="32918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PDF · HTML · JSONL · Parquet · custom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05920" y="5852160"/>
            <a:ext cx="10424160" cy="6035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ccura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4560" y="6400800"/>
            <a:ext cx="1645920" cy="1645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066240" y="6510528"/>
            <a:ext cx="786384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600" b="1" i="0">
                <a:solidFill>
                  <a:srgbClr val="008564"/>
                </a:solidFill>
                <a:latin typeface="NVIDIA Sans Medium"/>
              </a:rPr>
              <a:t>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64288" y="8412480"/>
            <a:ext cx="9326880" cy="32918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Heuristic + classifier-based 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12618720"/>
            <a:ext cx="10424160" cy="6035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lassific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13167360"/>
            <a:ext cx="1645920" cy="1645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20640" y="13277088"/>
            <a:ext cx="786384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600" b="1" i="0">
                <a:solidFill>
                  <a:srgbClr val="008564"/>
                </a:solidFill>
                <a:latin typeface="NVIDIA Sans Medium"/>
              </a:rPr>
              <a:t>Deduplicate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8688" y="15179040"/>
            <a:ext cx="9326880" cy="32918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Exact (hash) · Fuzzy (MinHash+LSH) · Semantic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0" y="12618720"/>
            <a:ext cx="10424160" cy="6035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ock-clo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81760" y="13167360"/>
            <a:ext cx="1645920" cy="1645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093440" y="13277088"/>
            <a:ext cx="786384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600" b="1" i="0">
                <a:solidFill>
                  <a:srgbClr val="5D1682"/>
                </a:solidFill>
                <a:latin typeface="NVIDIA Sans Medium"/>
              </a:rPr>
              <a:t>Redact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91488" y="15179040"/>
            <a:ext cx="9326880" cy="32918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PII, emails, SSNs, phone — Presidio-backed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505920" y="12618720"/>
            <a:ext cx="10424160" cy="6035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tool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54560" y="13167360"/>
            <a:ext cx="1645920" cy="1645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7066240" y="13277088"/>
            <a:ext cx="786384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600" b="1" i="0">
                <a:solidFill>
                  <a:srgbClr val="5D1682"/>
                </a:solidFill>
                <a:latin typeface="NVIDIA Sans Medium"/>
              </a:rPr>
              <a:t>Classify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64288" y="15179040"/>
            <a:ext cx="9326880" cy="32918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8 open classifiers — domain, quality, 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18653760"/>
            <a:ext cx="31455360" cy="9144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Each pillar is a Python module — you compose them into your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Quality Filtering — Heuristic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Fast structural filters that catch the obvious junk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60320" y="5852160"/>
            <a:ext cx="10424160" cy="5669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6510528"/>
            <a:ext cx="1463040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6583680"/>
            <a:ext cx="7498080" cy="153619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>
                <a:solidFill>
                  <a:srgbClr val="008564"/>
                </a:solidFill>
                <a:latin typeface="NVIDIA Sans Medium"/>
              </a:rPr>
              <a:t>Language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8412480"/>
            <a:ext cx="9326880" cy="27432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fastText langID; keep target languages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33120" y="5852160"/>
            <a:ext cx="10424160" cy="5669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o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1488" y="6510528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093440" y="6583680"/>
            <a:ext cx="7498080" cy="153619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>
                <a:solidFill>
                  <a:srgbClr val="008564"/>
                </a:solidFill>
                <a:latin typeface="NVIDIA Sans Medium"/>
              </a:rPr>
              <a:t>Length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91488" y="8412480"/>
            <a:ext cx="9326880" cy="27432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min/max chars; aggressive on short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05920" y="5852160"/>
            <a:ext cx="10424160" cy="5669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lassific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64288" y="6510528"/>
            <a:ext cx="1463040" cy="1463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066240" y="6583680"/>
            <a:ext cx="7498080" cy="153619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>
                <a:solidFill>
                  <a:srgbClr val="008564"/>
                </a:solidFill>
                <a:latin typeface="NVIDIA Sans Medium"/>
              </a:rPr>
              <a:t>Repetition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64288" y="8412480"/>
            <a:ext cx="9326880" cy="27432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n-gram repetition ratio threshold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12252960"/>
            <a:ext cx="10424160" cy="5669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accura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12911328"/>
            <a:ext cx="146304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20640" y="12984480"/>
            <a:ext cx="7498080" cy="153619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>
                <a:solidFill>
                  <a:srgbClr val="008564"/>
                </a:solidFill>
                <a:latin typeface="NVIDIA Sans Medium"/>
              </a:rPr>
              <a:t>Symbol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8688" y="14813280"/>
            <a:ext cx="9326880" cy="27432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fraction of non-alphanumeric chars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0" y="12252960"/>
            <a:ext cx="10424160" cy="5669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doc-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91488" y="12911328"/>
            <a:ext cx="1463040" cy="146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093440" y="12984480"/>
            <a:ext cx="7498080" cy="153619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>
                <a:solidFill>
                  <a:srgbClr val="008564"/>
                </a:solidFill>
                <a:latin typeface="NVIDIA Sans Medium"/>
              </a:rPr>
              <a:t>Stopword density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91488" y="14813280"/>
            <a:ext cx="9326880" cy="27432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language-specific stopword presence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505920" y="12252960"/>
            <a:ext cx="10424160" cy="5669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ight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64288" y="12911328"/>
            <a:ext cx="1463040" cy="1463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7066240" y="12984480"/>
            <a:ext cx="7498080" cy="153619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200" b="1" i="0">
                <a:solidFill>
                  <a:srgbClr val="008564"/>
                </a:solidFill>
                <a:latin typeface="NVIDIA Sans Medium"/>
              </a:rPr>
              <a:t>Perplexity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64288" y="14813280"/>
            <a:ext cx="9326880" cy="27432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score against a fast LM; reject outliers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18288000"/>
            <a:ext cx="31455360" cy="9144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All six run on GPU via RAPIDS · seconds per million 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Quality Filtering — Classifier-Based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Eight open classifiers ship with Curator (Apache 2.0 licensed)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7973568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lass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6291072"/>
            <a:ext cx="1463040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77440" y="6400800"/>
            <a:ext cx="5779008" cy="1645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8046720"/>
            <a:ext cx="6876288" cy="32918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26 classes: Finance, Health, Law, Science…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68128" y="5852160"/>
            <a:ext cx="7973568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ccur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2896" y="6291072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16768" y="6400800"/>
            <a:ext cx="5779008" cy="1645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16768" y="8046720"/>
            <a:ext cx="6876288" cy="32918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High / Medium / Low — annotator-trained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507456" y="5852160"/>
            <a:ext cx="7973568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docu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52224" y="6291072"/>
            <a:ext cx="1463040" cy="1463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9056096" y="6400800"/>
            <a:ext cx="5779008" cy="1645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Content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6096" y="8046720"/>
            <a:ext cx="6876288" cy="32918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11 types: Blogs, News, Reviews, Books…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846784" y="5852160"/>
            <a:ext cx="7973568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o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91552" y="6291072"/>
            <a:ext cx="146304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395424" y="6400800"/>
            <a:ext cx="5779008" cy="1645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Prompt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95424" y="8046720"/>
            <a:ext cx="6876288" cy="32918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11 task types + 6 complexity dimensions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12179808"/>
            <a:ext cx="7973568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ertificate-ribb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8" y="12618720"/>
            <a:ext cx="1463040" cy="146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377440" y="12728448"/>
            <a:ext cx="5779008" cy="1645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FineWeb Edu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14374368"/>
            <a:ext cx="6876288" cy="32918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Educational value score 0-5 (Nemotron-trained)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68128" y="12179808"/>
            <a:ext cx="7973568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ock-clo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12896" y="12618720"/>
            <a:ext cx="1463040" cy="1463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716768" y="12728448"/>
            <a:ext cx="5779008" cy="1645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Instruction Guard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6768" y="14374368"/>
            <a:ext cx="6876288" cy="32918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Flags malicious / jailbreak prompts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507456" y="12179808"/>
            <a:ext cx="7973568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lock-unlock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52224" y="12618720"/>
            <a:ext cx="1463040" cy="14630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9056096" y="12728448"/>
            <a:ext cx="5779008" cy="1645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Aegis Safety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056096" y="14374368"/>
            <a:ext cx="6876288" cy="32918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Content-safety scoring on instruction:response pairs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846784" y="12179808"/>
            <a:ext cx="7973568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glob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91552" y="12618720"/>
            <a:ext cx="1463040" cy="1463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7395424" y="12728448"/>
            <a:ext cx="5779008" cy="1645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Multilingual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395424" y="14374368"/>
            <a:ext cx="6876288" cy="32918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Domain + quality variants for non-English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18470880"/>
            <a:ext cx="32918400" cy="9144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Inference is GPU-parallel via RAPIDS — TBs of classification in hours, not 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PII Redaction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Strip personally-identifiable information before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5727680" cy="1170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6583680"/>
            <a:ext cx="13898880" cy="1645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Types handled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8595360"/>
            <a:ext cx="14264640" cy="1170432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 Email addresses → &lt;EMAIL&gt;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9765792"/>
            <a:ext cx="14264640" cy="1170432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 Phone numbers → &lt;PHONE&gt;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0936224"/>
            <a:ext cx="14264640" cy="1170432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 SSNs / national IDs → &lt;SSN&gt;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2106656"/>
            <a:ext cx="14264640" cy="1170432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 Credit card numbers → &lt;CC&gt;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3277088"/>
            <a:ext cx="14264640" cy="1170432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 IP addresses → &lt;IP&gt;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4447520"/>
            <a:ext cx="14264640" cy="1170432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 Person names → &lt;NAME&gt; (optional)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5617952"/>
            <a:ext cx="14264640" cy="1170432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 URLs → &lt;URL&gt; (optional)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6788384"/>
            <a:ext cx="14264640" cy="1170432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 Custom regex / NER spans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36640" y="6035040"/>
            <a:ext cx="1572768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5E5E5E"/>
                </a:solidFill>
                <a:latin typeface="NVIDIA Sans"/>
              </a:rPr>
              <a:t>Before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836640" y="7498079"/>
            <a:ext cx="1572768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385280" y="7863840"/>
            <a:ext cx="14630400" cy="36576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"Contact John Smith at john.smith@acme.com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 or call 415-555-0142. SSN: 123-45-6789."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36640" y="12618720"/>
            <a:ext cx="1572768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"/>
              </a:rPr>
              <a:t>After redaction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836640" y="14081760"/>
            <a:ext cx="1572768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385280" y="14447520"/>
            <a:ext cx="14630400" cy="36576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Consolas"/>
              </a:rPr>
              <a:t>"Contact &lt;NAME&gt; at &lt;EMAIL&gt;</a:t>
            </a:r>
          </a:p>
          <a:p>
            <a:pPr algn="l"/>
            <a:r>
              <a:rPr sz="4000" b="1" i="0">
                <a:solidFill>
                  <a:srgbClr val="76B900"/>
                </a:solidFill>
                <a:latin typeface="Consolas"/>
              </a:rPr>
              <a:t> or call &lt;PHONE&gt;. SSN: &lt;SSN&gt;."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Language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fastText-backed langID — single GPU classifies billions of docs in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4630400" cy="10607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6583680"/>
            <a:ext cx="12801600" cy="1645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8412480"/>
            <a:ext cx="12801600" cy="76809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Detects language per document with confidence score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176 languages supported (fastText lid.176)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Filter rule example: keep only docs with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    detected = 'en' AND confidence ≥ 0.85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Drops mixed-language and noise docs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GPU-parallel; processes ~10M docs / hour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  on a single A100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0" y="6035040"/>
            <a:ext cx="1645920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5E5E5E"/>
                </a:solidFill>
                <a:latin typeface="NVIDIA Sans"/>
              </a:rPr>
              <a:t>Sample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0" y="7498079"/>
            <a:ext cx="841248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"/>
              </a:rPr>
              <a:t>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0" y="7498079"/>
            <a:ext cx="256032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"/>
              </a:rPr>
              <a:t>Lang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0" y="7498079"/>
            <a:ext cx="329184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"/>
              </a:rPr>
              <a:t>Conf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0" y="7498079"/>
            <a:ext cx="164592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"/>
              </a:rPr>
              <a:t>Keep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0" y="8778240"/>
            <a:ext cx="841248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onsolas"/>
              </a:rPr>
              <a:t>"Cash deposits at the…"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0" y="8778240"/>
            <a:ext cx="256032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"/>
              </a:rPr>
              <a:t>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0" y="8778240"/>
            <a:ext cx="329184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0.99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0" y="8778240"/>
            <a:ext cx="164592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05120" y="10314432"/>
            <a:ext cx="841248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onsolas"/>
              </a:rPr>
              <a:t>"Dépôts en espèces aux…"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0" y="10314432"/>
            <a:ext cx="256032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"/>
              </a:rPr>
              <a:t>fr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0" y="10314432"/>
            <a:ext cx="329184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0.94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0" y="10314432"/>
            <a:ext cx="164592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890C58"/>
                </a:solidFill>
                <a:latin typeface="NVIDIA Sans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05120" y="11850624"/>
            <a:ext cx="841248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onsolas"/>
              </a:rPr>
              <a:t>"现金存款…"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3360" y="11850624"/>
            <a:ext cx="256032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"/>
              </a:rPr>
              <a:t>zh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0" y="11850624"/>
            <a:ext cx="329184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0.87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0" y="11850624"/>
            <a:ext cx="164592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890C58"/>
                </a:solidFill>
                <a:latin typeface="NVIDIA Sans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105120" y="13386816"/>
            <a:ext cx="841248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onsolas"/>
              </a:rPr>
              <a:t>"Cash @@@@@@@@ Buy now!!!"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883360" y="13386816"/>
            <a:ext cx="256032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"/>
              </a:rPr>
              <a:t>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43680" y="13386816"/>
            <a:ext cx="329184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0.42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0" y="13386816"/>
            <a:ext cx="164592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890C58"/>
                </a:solidFill>
                <a:latin typeface="NVIDIA Sans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105120" y="14923008"/>
            <a:ext cx="841248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onsolas"/>
              </a:rPr>
              <a:t>"Lorem ipsum dolor sit…"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883360" y="14923008"/>
            <a:ext cx="256032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"/>
              </a:rPr>
              <a:t>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43680" y="14923008"/>
            <a:ext cx="329184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0.91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0" y="14923008"/>
            <a:ext cx="1645920" cy="1316736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890C58"/>
                </a:solidFill>
                <a:latin typeface="NVIDIA Sans"/>
              </a:rPr>
              <a:t>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p12"/>
          <p:cNvSpPr txBox="1">
            <a:spLocks noGrp="1"/>
          </p:cNvSpPr>
          <p:nvPr>
            <p:ph type="title"/>
          </p:nvPr>
        </p:nvSpPr>
        <p:spPr>
          <a:xfrm>
            <a:off x="551233" y="381926"/>
            <a:ext cx="36024767" cy="240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err="1">
                <a:latin typeface="NVIDIA Sans"/>
                <a:ea typeface="NVIDIA Sans"/>
                <a:cs typeface="NVIDIA Sans"/>
                <a:sym typeface="NVIDIA Sans"/>
              </a:rPr>
              <a:t>NeMo</a:t>
            </a:r>
            <a:r>
              <a:rPr lang="en-US">
                <a:latin typeface="NVIDIA Sans"/>
                <a:ea typeface="NVIDIA Sans"/>
                <a:cs typeface="NVIDIA Sans"/>
                <a:sym typeface="NVIDIA Sans"/>
              </a:rPr>
              <a:t> Curator - </a:t>
            </a:r>
            <a:r>
              <a:rPr lang="en-US"/>
              <a:t>Classifier Models</a:t>
            </a:r>
            <a:endParaRPr/>
          </a:p>
        </p:txBody>
      </p:sp>
      <p:sp>
        <p:nvSpPr>
          <p:cNvPr id="2424" name="Google Shape;2424;p12"/>
          <p:cNvSpPr txBox="1"/>
          <p:nvPr/>
        </p:nvSpPr>
        <p:spPr>
          <a:xfrm>
            <a:off x="21026535" y="7757791"/>
            <a:ext cx="13307393" cy="6088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Supports 26 domain classes </a:t>
            </a: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  <a:p>
            <a:pPr marL="1409065" marR="0" lvl="1" indent="-951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Wingdings" pitchFamily="2" charset="2"/>
              <a:buChar char="Ø"/>
              <a:tabLst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kila"/>
                <a:ea typeface="Kokila"/>
                <a:cs typeface="Kokila"/>
                <a:sym typeface="Kokila"/>
              </a:rPr>
              <a:t>Top 10 classes : Finance, Health, Business and Industrial, Science, Law and Government, Internet and Telecom, Jobs and Education, News, Computers and Electronics, Shopping;</a:t>
            </a: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kila"/>
              <a:ea typeface="Kokila"/>
              <a:cs typeface="Kokila"/>
              <a:sym typeface="Arial"/>
            </a:endParaRPr>
          </a:p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Trained on 1 million Common Crawl samples &amp; 500k Wikipedia articles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Arial"/>
              </a:rPr>
              <a:t>Also available for </a:t>
            </a: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Arial"/>
                <a:hlinkClick r:id="rId3"/>
              </a:rPr>
              <a:t>multiple languages</a:t>
            </a: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Arial"/>
              </a:rPr>
              <a:t> </a:t>
            </a:r>
          </a:p>
          <a:p>
            <a:pPr marL="951230" marR="0" lvl="0" indent="-697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sp>
        <p:nvSpPr>
          <p:cNvPr id="2425" name="Google Shape;2425;p12"/>
          <p:cNvSpPr txBox="1"/>
          <p:nvPr/>
        </p:nvSpPr>
        <p:spPr>
          <a:xfrm>
            <a:off x="21026533" y="6746505"/>
            <a:ext cx="13307394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sng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 Medium"/>
                <a:ea typeface="NVIDIA Sans Medium"/>
                <a:cs typeface="NVIDIA Sans Medium"/>
                <a:sym typeface="NVIDIA Sans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Domain Classifier</a:t>
            </a:r>
            <a:endParaRPr kumimoji="0" lang="en-US" sz="4400" b="1" i="0" u="sng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 Medium"/>
              <a:ea typeface="NVIDIA Sans Medium"/>
              <a:cs typeface="NVIDIA Sans Medium"/>
              <a:sym typeface="Arial"/>
            </a:endParaRPr>
          </a:p>
        </p:txBody>
      </p:sp>
      <p:sp>
        <p:nvSpPr>
          <p:cNvPr id="2426" name="Google Shape;2426;p12"/>
          <p:cNvSpPr txBox="1"/>
          <p:nvPr/>
        </p:nvSpPr>
        <p:spPr>
          <a:xfrm>
            <a:off x="21025960" y="13921308"/>
            <a:ext cx="13307393" cy="688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951864" marR="0" lvl="0" indent="-95186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Classify quality of the document to ‘High’, ‘Medium’ or ‘Low’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951864" marR="0" lvl="0" indent="-951864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Training data annotated by humans on quality factors such as: content accuracy, clarity, coherence, grammar, depth of information and overall usefulness of the document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  <a:p>
            <a:pPr marL="951864" marR="0" lvl="0" indent="-697864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Noto Sans Symbols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2427" name="Google Shape;2427;p12"/>
          <p:cNvSpPr txBox="1"/>
          <p:nvPr/>
        </p:nvSpPr>
        <p:spPr>
          <a:xfrm>
            <a:off x="21025959" y="12951777"/>
            <a:ext cx="13307393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sng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 Medium"/>
                <a:ea typeface="NVIDIA Sans Medium"/>
                <a:cs typeface="NVIDIA Sans Medium"/>
                <a:sym typeface="NVIDIA Sans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Quality Classifier</a:t>
            </a:r>
            <a:endParaRPr kumimoji="0" lang="en-US" sz="4400" b="1" i="0" u="sng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 Medium"/>
              <a:ea typeface="NVIDIA Sans Medium"/>
              <a:cs typeface="NVIDIA Sans Medium"/>
              <a:sym typeface="Arial"/>
            </a:endParaRPr>
          </a:p>
        </p:txBody>
      </p:sp>
      <p:sp>
        <p:nvSpPr>
          <p:cNvPr id="2428" name="Google Shape;2428;p12"/>
          <p:cNvSpPr txBox="1"/>
          <p:nvPr/>
        </p:nvSpPr>
        <p:spPr>
          <a:xfrm>
            <a:off x="3316076" y="6737092"/>
            <a:ext cx="13067358" cy="7504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Accelerated inference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 </a:t>
            </a: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with RAPIDS powered distributed data classification module and intelligent batching 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Seamless scalability for classifying TBs of data 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Faster processing with parallelization across multiple GPUs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Lower memory and compute footprint with state-of-the-art open classifier models (Apache 2.0 license )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  <a:hlinkClick r:id="rId6"/>
              </a:rPr>
              <a:t>8 classifier models</a:t>
            </a: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 released</a:t>
            </a: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sp>
        <p:nvSpPr>
          <p:cNvPr id="2429" name="Google Shape;2429;p12"/>
          <p:cNvSpPr/>
          <p:nvPr/>
        </p:nvSpPr>
        <p:spPr>
          <a:xfrm>
            <a:off x="2331137" y="6527087"/>
            <a:ext cx="15042460" cy="11829324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12"/>
          <p:cNvSpPr txBox="1"/>
          <p:nvPr/>
        </p:nvSpPr>
        <p:spPr>
          <a:xfrm>
            <a:off x="2331135" y="5196381"/>
            <a:ext cx="15042462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 Medium"/>
                <a:ea typeface="NVIDIA Sans Medium"/>
                <a:cs typeface="NVIDIA Sans Medium"/>
                <a:sym typeface="NVIDIA Sans Medium"/>
              </a:rPr>
              <a:t>Value Proposition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31" name="Google Shape;2431;p12"/>
          <p:cNvSpPr txBox="1"/>
          <p:nvPr/>
        </p:nvSpPr>
        <p:spPr>
          <a:xfrm>
            <a:off x="19202403" y="5196381"/>
            <a:ext cx="15042462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 Medium"/>
                <a:ea typeface="NVIDIA Sans Medium"/>
                <a:cs typeface="NVIDIA Sans Medium"/>
                <a:sym typeface="NVIDIA Sans Medium"/>
              </a:rPr>
              <a:t>Classifier Models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32" name="Google Shape;2432;p12"/>
          <p:cNvSpPr/>
          <p:nvPr/>
        </p:nvSpPr>
        <p:spPr>
          <a:xfrm>
            <a:off x="20069932" y="6527087"/>
            <a:ext cx="15042462" cy="11829324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3" name="Google Shape;2433;p12"/>
          <p:cNvSpPr txBox="1"/>
          <p:nvPr/>
        </p:nvSpPr>
        <p:spPr>
          <a:xfrm>
            <a:off x="1257000" y="2782100"/>
            <a:ext cx="34062000" cy="10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Create high-quality data blends with RAPIDS accelerated inference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400" b="0" i="0" u="none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800" b="0" i="0" u="none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  <p:extLst>
      <p:ext uri="{BB962C8B-B14F-4D97-AF65-F5344CB8AC3E}">
        <p14:creationId xmlns:p14="http://schemas.microsoft.com/office/powerpoint/2010/main" val="2759178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2">
          <a:extLst>
            <a:ext uri="{FF2B5EF4-FFF2-40B4-BE49-F238E27FC236}">
              <a16:creationId xmlns:a16="http://schemas.microsoft.com/office/drawing/2014/main" id="{8E245973-7E30-5744-A54D-DCFE0F74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p12">
            <a:extLst>
              <a:ext uri="{FF2B5EF4-FFF2-40B4-BE49-F238E27FC236}">
                <a16:creationId xmlns:a16="http://schemas.microsoft.com/office/drawing/2014/main" id="{CB8D5BCD-2E19-AF2F-5CD7-2A915545C3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1233" y="381926"/>
            <a:ext cx="36024767" cy="240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err="1">
                <a:latin typeface="NVIDIA Sans"/>
                <a:ea typeface="NVIDIA Sans"/>
                <a:cs typeface="NVIDIA Sans"/>
                <a:sym typeface="NVIDIA Sans"/>
              </a:rPr>
              <a:t>NeMo</a:t>
            </a:r>
            <a:r>
              <a:rPr lang="en-US">
                <a:latin typeface="NVIDIA Sans"/>
                <a:ea typeface="NVIDIA Sans"/>
                <a:cs typeface="NVIDIA Sans"/>
                <a:sym typeface="NVIDIA Sans"/>
              </a:rPr>
              <a:t> Curator - </a:t>
            </a:r>
            <a:r>
              <a:rPr lang="en-US"/>
              <a:t>Classifier Models</a:t>
            </a:r>
            <a:endParaRPr/>
          </a:p>
        </p:txBody>
      </p:sp>
      <p:sp>
        <p:nvSpPr>
          <p:cNvPr id="2424" name="Google Shape;2424;p12">
            <a:extLst>
              <a:ext uri="{FF2B5EF4-FFF2-40B4-BE49-F238E27FC236}">
                <a16:creationId xmlns:a16="http://schemas.microsoft.com/office/drawing/2014/main" id="{EC0CF054-3D76-95F4-E2E3-DB2002784F24}"/>
              </a:ext>
            </a:extLst>
          </p:cNvPr>
          <p:cNvSpPr txBox="1"/>
          <p:nvPr/>
        </p:nvSpPr>
        <p:spPr>
          <a:xfrm>
            <a:off x="21157163" y="6680105"/>
            <a:ext cx="13731936" cy="521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NVIDIA Sans"/>
                <a:sym typeface="NVIDIA Sans"/>
              </a:rPr>
              <a:t>Categorize documents into 11 content types</a:t>
            </a: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cs typeface="NVIDIA Sans"/>
              <a:sym typeface="Arial"/>
            </a:endParaRPr>
          </a:p>
          <a:p>
            <a:pPr marL="1409065" marR="0" lvl="1" indent="-951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Wingdings" pitchFamily="2" charset="2"/>
              <a:buChar char="Ø"/>
              <a:tabLst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kila"/>
                <a:ea typeface="Kokila"/>
                <a:cs typeface="Kokila"/>
                <a:sym typeface="Kokila"/>
              </a:rPr>
              <a:t>Explanatory articles, News, Blogs, Boilerplate content, Analytical exposition, Online Comments, Reviews, Books &amp; literature, Conversational, and Personal Websites.</a:t>
            </a: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kila"/>
              <a:ea typeface="Kokila"/>
              <a:cs typeface="Kokila"/>
              <a:sym typeface="Arial"/>
            </a:endParaRPr>
          </a:p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NVIDIA Sans"/>
                <a:sym typeface="NVIDIA Sans"/>
              </a:rPr>
              <a:t>Useful for content management systems, digital publishers, recommendation systems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cs typeface="NVIDIA Sans"/>
              <a:sym typeface="Arial"/>
            </a:endParaRPr>
          </a:p>
          <a:p>
            <a:pPr marL="951230" marR="0" lvl="0" indent="-697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Noto Sans Symbols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sp>
        <p:nvSpPr>
          <p:cNvPr id="2425" name="Google Shape;2425;p12">
            <a:extLst>
              <a:ext uri="{FF2B5EF4-FFF2-40B4-BE49-F238E27FC236}">
                <a16:creationId xmlns:a16="http://schemas.microsoft.com/office/drawing/2014/main" id="{E61F15B5-0684-6C9C-7EA9-0172E14BA72B}"/>
              </a:ext>
            </a:extLst>
          </p:cNvPr>
          <p:cNvSpPr txBox="1"/>
          <p:nvPr/>
        </p:nvSpPr>
        <p:spPr>
          <a:xfrm>
            <a:off x="2901819" y="5701476"/>
            <a:ext cx="13307394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sng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 Medium"/>
                <a:ea typeface="NVIDIA Sans Medium"/>
                <a:cs typeface="NVIDIA Sans Medium"/>
                <a:sym typeface="NVIDIA Sans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 Task and Complexity Classifier</a:t>
            </a:r>
            <a:endParaRPr kumimoji="0" lang="en-US" sz="4400" b="1" i="0" u="sng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 Medium"/>
              <a:ea typeface="NVIDIA Sans Medium"/>
              <a:cs typeface="NVIDIA Sans Medium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0182BEC-29B2-0884-4E06-0F9DF8A61FB4}"/>
              </a:ext>
            </a:extLst>
          </p:cNvPr>
          <p:cNvGrpSpPr/>
          <p:nvPr/>
        </p:nvGrpSpPr>
        <p:grpSpPr>
          <a:xfrm>
            <a:off x="2901245" y="11972063"/>
            <a:ext cx="13862565" cy="6627450"/>
            <a:chOff x="21025959" y="11612834"/>
            <a:chExt cx="13862565" cy="6627450"/>
          </a:xfrm>
        </p:grpSpPr>
        <p:sp>
          <p:nvSpPr>
            <p:cNvPr id="2426" name="Google Shape;2426;p12">
              <a:extLst>
                <a:ext uri="{FF2B5EF4-FFF2-40B4-BE49-F238E27FC236}">
                  <a16:creationId xmlns:a16="http://schemas.microsoft.com/office/drawing/2014/main" id="{9AA97CC8-BE69-5843-C183-E032B8287D2F}"/>
                </a:ext>
              </a:extLst>
            </p:cNvPr>
            <p:cNvSpPr txBox="1"/>
            <p:nvPr/>
          </p:nvSpPr>
          <p:spPr>
            <a:xfrm>
              <a:off x="21156588" y="12582365"/>
              <a:ext cx="13731936" cy="5657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00" tIns="274300" rIns="91425" bIns="45700" anchor="t" anchorCtr="0">
              <a:spAutoFit/>
            </a:bodyPr>
            <a:lstStyle/>
            <a:p>
              <a:pPr marL="951230" marR="0" lvl="0" indent="-95123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Wingdings" pitchFamily="2" charset="2"/>
                <a:buChar char="Ø"/>
                <a:tabLst/>
                <a:defRPr/>
              </a:pPr>
              <a:r>
                <a:rPr kumimoji="0" 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/>
                  <a:cs typeface="NVIDIA Sans"/>
                  <a:sym typeface="NVIDIA Sans"/>
                </a:rPr>
                <a:t>Determine the educational value of a piece of text (score 0-5 from low to high).</a:t>
              </a: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NVIDIA Sans"/>
                <a:sym typeface="Arial"/>
              </a:endParaRPr>
            </a:p>
            <a:p>
              <a:pPr marL="951230" marR="0" lvl="0" indent="-951230" algn="l" defTabSz="914400" rtl="0" eaLnBrk="1" fontAlgn="auto" latinLnBrk="0" hangingPunct="1">
                <a:lnSpc>
                  <a:spcPct val="100000"/>
                </a:lnSpc>
                <a:spcBef>
                  <a:spcPts val="2003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Wingdings" pitchFamily="2" charset="2"/>
                <a:buChar char="Ø"/>
                <a:tabLst/>
                <a:defRPr/>
              </a:pPr>
              <a:r>
                <a:rPr kumimoji="0" 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/>
                  <a:cs typeface="NVIDIA Sans"/>
                  <a:sym typeface="NVIDIA Sans"/>
                </a:rPr>
                <a:t>Trained </a:t>
              </a:r>
              <a:r>
                <a:rPr kumimoji="0" 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/>
                  <a:cs typeface="Arial"/>
                  <a:sym typeface="NVIDIA Sans"/>
                </a:rPr>
                <a:t>using annotations from Nemotron-4-340B-Instruct </a:t>
              </a: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3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3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Arial"/>
              </a:endParaRPr>
            </a:p>
            <a:p>
              <a:pPr marL="951230" marR="0" lvl="0" indent="-697230" algn="l" defTabSz="914400" rtl="0" eaLnBrk="1" fontAlgn="auto" latinLnBrk="0" hangingPunct="1">
                <a:lnSpc>
                  <a:spcPct val="100000"/>
                </a:lnSpc>
                <a:spcBef>
                  <a:spcPts val="2003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Noto Sans Symbols"/>
                <a:buNone/>
                <a:tabLst/>
                <a:defRPr/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Arial"/>
              </a:endParaRPr>
            </a:p>
          </p:txBody>
        </p:sp>
        <p:sp>
          <p:nvSpPr>
            <p:cNvPr id="2427" name="Google Shape;2427;p12">
              <a:extLst>
                <a:ext uri="{FF2B5EF4-FFF2-40B4-BE49-F238E27FC236}">
                  <a16:creationId xmlns:a16="http://schemas.microsoft.com/office/drawing/2014/main" id="{844B60BE-AE97-054B-FDE4-0F86D0A309A9}"/>
                </a:ext>
              </a:extLst>
            </p:cNvPr>
            <p:cNvSpPr txBox="1"/>
            <p:nvPr/>
          </p:nvSpPr>
          <p:spPr>
            <a:xfrm>
              <a:off x="21025959" y="11612834"/>
              <a:ext cx="13307393" cy="10002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00" tIns="2743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400" b="1" i="0" u="sng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NVIDIA Sans Medium"/>
                  <a:ea typeface="NVIDIA Sans Medium"/>
                  <a:cs typeface="NVIDIA Sans Medium"/>
                  <a:sym typeface="NVIDIA Sans Medium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FineWeb Nemotron-4 Edu Classifier</a:t>
              </a:r>
              <a:endParaRPr kumimoji="0" lang="en-US" sz="4400" b="1" i="0" u="sng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 Medium"/>
                <a:ea typeface="NVIDIA Sans Medium"/>
                <a:cs typeface="NVIDIA Sans Medium"/>
                <a:sym typeface="Arial"/>
              </a:endParaRPr>
            </a:p>
          </p:txBody>
        </p:sp>
      </p:grpSp>
      <p:sp>
        <p:nvSpPr>
          <p:cNvPr id="2429" name="Google Shape;2429;p12">
            <a:extLst>
              <a:ext uri="{FF2B5EF4-FFF2-40B4-BE49-F238E27FC236}">
                <a16:creationId xmlns:a16="http://schemas.microsoft.com/office/drawing/2014/main" id="{3B034077-2B1A-6951-BEEE-8CB0331AE26A}"/>
              </a:ext>
            </a:extLst>
          </p:cNvPr>
          <p:cNvSpPr/>
          <p:nvPr/>
        </p:nvSpPr>
        <p:spPr>
          <a:xfrm>
            <a:off x="2331137" y="5384087"/>
            <a:ext cx="15042460" cy="11829324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2" name="Google Shape;2432;p12">
            <a:extLst>
              <a:ext uri="{FF2B5EF4-FFF2-40B4-BE49-F238E27FC236}">
                <a16:creationId xmlns:a16="http://schemas.microsoft.com/office/drawing/2014/main" id="{D7D6361F-A6C8-0AA9-D331-2903C2632A17}"/>
              </a:ext>
            </a:extLst>
          </p:cNvPr>
          <p:cNvSpPr/>
          <p:nvPr/>
        </p:nvSpPr>
        <p:spPr>
          <a:xfrm>
            <a:off x="20069932" y="5384087"/>
            <a:ext cx="15042462" cy="11829324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3" name="Google Shape;2433;p12">
            <a:extLst>
              <a:ext uri="{FF2B5EF4-FFF2-40B4-BE49-F238E27FC236}">
                <a16:creationId xmlns:a16="http://schemas.microsoft.com/office/drawing/2014/main" id="{BB0ACB51-F900-A899-8A16-BB71B81DFC60}"/>
              </a:ext>
            </a:extLst>
          </p:cNvPr>
          <p:cNvSpPr txBox="1"/>
          <p:nvPr/>
        </p:nvSpPr>
        <p:spPr>
          <a:xfrm>
            <a:off x="1257000" y="2782100"/>
            <a:ext cx="34062000" cy="10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Create high-quality data blends with RAPIDS accelerated inference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400" b="0" i="0" u="none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800" b="0" i="0" u="none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2" name="Google Shape;2424;p12">
            <a:extLst>
              <a:ext uri="{FF2B5EF4-FFF2-40B4-BE49-F238E27FC236}">
                <a16:creationId xmlns:a16="http://schemas.microsoft.com/office/drawing/2014/main" id="{A523B2A1-84DF-5452-0564-DF395D36838B}"/>
              </a:ext>
            </a:extLst>
          </p:cNvPr>
          <p:cNvSpPr txBox="1"/>
          <p:nvPr/>
        </p:nvSpPr>
        <p:spPr>
          <a:xfrm>
            <a:off x="3032449" y="6843391"/>
            <a:ext cx="13307393" cy="566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,Sans-Serif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Classify tasks across 11 categories</a:t>
            </a: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cs typeface="NVIDIA Sans"/>
              <a:sym typeface="Arial"/>
            </a:endParaRPr>
          </a:p>
          <a:p>
            <a:pPr marL="1408430" marR="0" lvl="1" indent="-951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,Sans-Serif" pitchFamily="2" charset="2"/>
              <a:buChar char="Ø"/>
              <a:tabLst/>
              <a:defRPr/>
            </a:pPr>
            <a:r>
              <a:rPr kumimoji="0" lang="en-US" sz="36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kila"/>
                <a:cs typeface="Kokila"/>
                <a:sym typeface="Arial"/>
              </a:rPr>
              <a:t>OpenQA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kila"/>
                <a:cs typeface="Kokila"/>
                <a:sym typeface="Arial"/>
              </a:rPr>
              <a:t>, Closed QA, Summarization, Text Generation, Code Generation, Chatbot, Classification, Rewrite, Brainstorming, Extraction, Other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okila"/>
              <a:cs typeface="Kokila"/>
              <a:sym typeface="Arial"/>
            </a:endParaRPr>
          </a:p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Compute complexity on 6 dimensions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  <a:p>
            <a:pPr marL="1408430" marR="0" lvl="1" indent="-951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kila"/>
                <a:cs typeface="Kokila"/>
                <a:sym typeface="Arial"/>
              </a:rPr>
              <a:t>Creativity, Domain Knowledge, Reasoning, Constraints, Contextual Knowledge, # of Few shots</a:t>
            </a:r>
          </a:p>
          <a:p>
            <a:pPr marL="951230" marR="0" lvl="0" indent="-697230" algn="l" defTabSz="914400" rtl="0" eaLnBrk="1" fontAlgn="auto" latinLnBrk="0" hangingPunct="1">
              <a:lnSpc>
                <a:spcPct val="100000"/>
              </a:lnSpc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sp>
        <p:nvSpPr>
          <p:cNvPr id="3" name="Google Shape;2425;p12">
            <a:extLst>
              <a:ext uri="{FF2B5EF4-FFF2-40B4-BE49-F238E27FC236}">
                <a16:creationId xmlns:a16="http://schemas.microsoft.com/office/drawing/2014/main" id="{74F9FFAF-5EDC-E0F8-935E-B547C3384113}"/>
              </a:ext>
            </a:extLst>
          </p:cNvPr>
          <p:cNvSpPr txBox="1"/>
          <p:nvPr/>
        </p:nvSpPr>
        <p:spPr>
          <a:xfrm>
            <a:off x="21157161" y="5734133"/>
            <a:ext cx="13307394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sng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 Medium"/>
                <a:ea typeface="NVIDIA Sans Medium"/>
                <a:cs typeface="NVIDIA Sans Medium"/>
                <a:sym typeface="NVIDIA Sans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Content Type Classifier</a:t>
            </a:r>
            <a:r>
              <a:rPr kumimoji="0" lang="en-US" sz="4400" b="1" i="0" u="sng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 Medium"/>
                <a:ea typeface="NVIDIA Sans Medium"/>
                <a:cs typeface="NVIDIA Sans Medium"/>
                <a:sym typeface="NVIDIA Sans Medium"/>
              </a:rPr>
              <a:t> 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 Medium"/>
              <a:ea typeface="NVIDIA Sans Medium"/>
              <a:cs typeface="NVIDIA Sans Medium"/>
              <a:sym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D86DDA-B36F-8EE6-166F-B553AA0445C2}"/>
              </a:ext>
            </a:extLst>
          </p:cNvPr>
          <p:cNvGrpSpPr/>
          <p:nvPr/>
        </p:nvGrpSpPr>
        <p:grpSpPr>
          <a:xfrm>
            <a:off x="21156587" y="11972062"/>
            <a:ext cx="13307394" cy="5396344"/>
            <a:chOff x="3031873" y="11841433"/>
            <a:chExt cx="13307394" cy="5396344"/>
          </a:xfrm>
        </p:grpSpPr>
        <p:sp>
          <p:nvSpPr>
            <p:cNvPr id="4" name="Google Shape;2426;p12">
              <a:extLst>
                <a:ext uri="{FF2B5EF4-FFF2-40B4-BE49-F238E27FC236}">
                  <a16:creationId xmlns:a16="http://schemas.microsoft.com/office/drawing/2014/main" id="{1B54FAC7-4CA4-BFD8-8B89-E6515B284283}"/>
                </a:ext>
              </a:extLst>
            </p:cNvPr>
            <p:cNvSpPr txBox="1"/>
            <p:nvPr/>
          </p:nvSpPr>
          <p:spPr>
            <a:xfrm>
              <a:off x="3031874" y="12810964"/>
              <a:ext cx="13307393" cy="44268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00" tIns="274300" rIns="91425" bIns="45700" anchor="t" anchorCtr="0">
              <a:spAutoFit/>
            </a:bodyPr>
            <a:lstStyle/>
            <a:p>
              <a:pPr marL="951230" marR="0" lvl="0" indent="-95123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Wingdings" pitchFamily="2" charset="2"/>
                <a:buChar char="Ø"/>
                <a:tabLst/>
                <a:defRPr/>
              </a:pPr>
              <a:r>
                <a:rPr kumimoji="0" 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/>
                  <a:cs typeface="NVIDIA Sans"/>
                  <a:sym typeface="NVIDIA Sans"/>
                </a:rPr>
                <a:t>Identify malicious prompts used for fine-tuning</a:t>
              </a: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NVIDIA Sans"/>
                <a:sym typeface="Arial"/>
              </a:endParaRPr>
            </a:p>
            <a:p>
              <a:pPr marL="951230" marR="0" lvl="0" indent="-951230" algn="l" defTabSz="914400" rtl="0" eaLnBrk="1" fontAlgn="auto" latinLnBrk="0" hangingPunct="1">
                <a:lnSpc>
                  <a:spcPct val="100000"/>
                </a:lnSpc>
                <a:spcBef>
                  <a:spcPts val="2003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Wingdings" pitchFamily="2" charset="2"/>
                <a:buChar char="Ø"/>
                <a:tabLst/>
                <a:defRPr/>
              </a:pPr>
              <a:r>
                <a:rPr kumimoji="0" 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/>
                  <a:cs typeface="NVIDIA Sans"/>
                  <a:sym typeface="NVIDIA Sans"/>
                </a:rPr>
                <a:t>Optimal use for </a:t>
              </a:r>
              <a:r>
                <a:rPr kumimoji="0" lang="en-US" sz="40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/>
                  <a:cs typeface="NVIDIA Sans"/>
                  <a:sym typeface="NVIDIA Sans"/>
                </a:rPr>
                <a:t>instruction:response</a:t>
              </a:r>
              <a:r>
                <a:rPr kumimoji="0" 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/>
                  <a:cs typeface="NVIDIA Sans"/>
                  <a:sym typeface="NVIDIA Sans"/>
                </a:rPr>
                <a:t> datasets</a:t>
              </a: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NVIDIA San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3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3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endParaRPr>
            </a:p>
            <a:p>
              <a:pPr marL="951230" marR="0" lvl="0" indent="-697230" algn="l" defTabSz="914400" rtl="0" eaLnBrk="1" fontAlgn="auto" latinLnBrk="0" hangingPunct="1">
                <a:lnSpc>
                  <a:spcPct val="100000"/>
                </a:lnSpc>
                <a:spcBef>
                  <a:spcPts val="2003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Noto Sans Symbols"/>
                <a:buNone/>
                <a:tabLst/>
                <a:defRPr/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Arial"/>
              </a:endParaRPr>
            </a:p>
          </p:txBody>
        </p:sp>
        <p:sp>
          <p:nvSpPr>
            <p:cNvPr id="5" name="Google Shape;2427;p12">
              <a:extLst>
                <a:ext uri="{FF2B5EF4-FFF2-40B4-BE49-F238E27FC236}">
                  <a16:creationId xmlns:a16="http://schemas.microsoft.com/office/drawing/2014/main" id="{83D08A80-3C0F-A6C4-79DF-DBF3132E2948}"/>
                </a:ext>
              </a:extLst>
            </p:cNvPr>
            <p:cNvSpPr txBox="1"/>
            <p:nvPr/>
          </p:nvSpPr>
          <p:spPr>
            <a:xfrm>
              <a:off x="3031873" y="11841433"/>
              <a:ext cx="13307393" cy="10002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00" tIns="2743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400" b="1" i="0" u="sng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NVIDIA Sans Medium"/>
                  <a:ea typeface="NVIDIA Sans Medium"/>
                  <a:cs typeface="NVIDIA Sans Medium"/>
                  <a:sym typeface="NVIDIA Sans Medium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Instruction Data Guard</a:t>
              </a:r>
              <a:endParaRPr kumimoji="0" lang="en-US" sz="4400" b="1" i="0" u="sng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 Medium"/>
                <a:ea typeface="NVIDIA Sans Medium"/>
                <a:cs typeface="NVIDIA Sans Medium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6387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11"/>
          <p:cNvSpPr txBox="1">
            <a:spLocks noGrp="1"/>
          </p:cNvSpPr>
          <p:nvPr>
            <p:ph type="title"/>
          </p:nvPr>
        </p:nvSpPr>
        <p:spPr>
          <a:xfrm>
            <a:off x="551233" y="381926"/>
            <a:ext cx="36024767" cy="240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err="1">
                <a:latin typeface="NVIDIA Sans"/>
                <a:ea typeface="NVIDIA Sans"/>
                <a:cs typeface="NVIDIA Sans"/>
                <a:sym typeface="NVIDIA Sans"/>
              </a:rPr>
              <a:t>NeMo</a:t>
            </a:r>
            <a:r>
              <a:rPr lang="en-US">
                <a:latin typeface="NVIDIA Sans"/>
                <a:ea typeface="NVIDIA Sans"/>
                <a:cs typeface="NVIDIA Sans"/>
                <a:sym typeface="NVIDIA Sans"/>
              </a:rPr>
              <a:t> Curator </a:t>
            </a:r>
            <a:r>
              <a:rPr lang="en-US"/>
              <a:t>- </a:t>
            </a:r>
            <a:r>
              <a:rPr lang="en-US">
                <a:latin typeface="NVIDIA Sans"/>
                <a:ea typeface="NVIDIA Sans"/>
                <a:cs typeface="NVIDIA Sans"/>
                <a:sym typeface="NVIDIA Sans"/>
              </a:rPr>
              <a:t>Deduplication</a:t>
            </a:r>
            <a:endParaRPr/>
          </a:p>
        </p:txBody>
      </p:sp>
      <p:sp>
        <p:nvSpPr>
          <p:cNvPr id="2408" name="Google Shape;2408;p11"/>
          <p:cNvSpPr txBox="1"/>
          <p:nvPr/>
        </p:nvSpPr>
        <p:spPr>
          <a:xfrm>
            <a:off x="2989505" y="7455549"/>
            <a:ext cx="13067358" cy="9146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951864" marR="0" lvl="0" indent="-95186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</a:pPr>
            <a:r>
              <a:rPr lang="en-US" sz="40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Accelerate on multi-node multi-GPU setups by leverage RAPIDS </a:t>
            </a:r>
            <a:endParaRPr sz="4000">
              <a:solidFill>
                <a:srgbClr val="000000"/>
              </a:solidFill>
              <a:latin typeface="NVIDIA Sans"/>
              <a:ea typeface="NVIDIA Sans"/>
              <a:cs typeface="NVIDIA Sans"/>
              <a:sym typeface="NVIDIA Sans"/>
            </a:endParaRPr>
          </a:p>
          <a:p>
            <a:pPr marL="951864" marR="0" lvl="0" indent="-951864" algn="l" rtl="0"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</a:pPr>
            <a:r>
              <a:rPr lang="en-US" sz="40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Scale up to 100+ TBs of data </a:t>
            </a:r>
            <a:endParaRPr sz="4000">
              <a:solidFill>
                <a:srgbClr val="FFFFFF"/>
              </a:solidFill>
              <a:latin typeface="NVIDIA Sans"/>
              <a:ea typeface="NVIDIA Sans"/>
              <a:cs typeface="NVIDIA Sans"/>
              <a:sym typeface="NVIDIA Sans"/>
            </a:endParaRPr>
          </a:p>
          <a:p>
            <a:pPr marL="951864" marR="0" lvl="0" indent="-951864" algn="l" rtl="0"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</a:pPr>
            <a:r>
              <a:rPr lang="en-US" sz="40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Get support for both</a:t>
            </a:r>
            <a:endParaRPr sz="4000">
              <a:solidFill>
                <a:srgbClr val="000000"/>
              </a:solidFill>
              <a:latin typeface="NVIDIA Sans"/>
              <a:ea typeface="NVIDIA Sans"/>
              <a:cs typeface="NVIDIA Sans"/>
              <a:sym typeface="NVIDIA Sans"/>
            </a:endParaRPr>
          </a:p>
          <a:p>
            <a:pPr marL="1409065" marR="0" lvl="1" indent="-951864" algn="l" rtl="0"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</a:pPr>
            <a:r>
              <a:rPr lang="en-US" sz="40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Lexical Deduplication: Uses text similarity, both Exact and Fuzzy</a:t>
            </a:r>
            <a:endParaRPr sz="4000" b="0" i="0" u="none" strike="noStrike" cap="none">
              <a:solidFill>
                <a:srgbClr val="000000"/>
              </a:solidFill>
              <a:latin typeface="NVIDIA Sans"/>
              <a:ea typeface="NVIDIA Sans"/>
              <a:cs typeface="NVIDIA Sans"/>
              <a:sym typeface="NVIDIA Sans"/>
            </a:endParaRPr>
          </a:p>
          <a:p>
            <a:pPr marL="1409065" marR="0" lvl="1" indent="-951864" algn="l" rtl="0"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</a:pPr>
            <a:r>
              <a:rPr lang="en-US" sz="40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Semantic Deduplication: Uses text meaning</a:t>
            </a:r>
          </a:p>
          <a:p>
            <a:pPr marL="1409065" marR="0" lvl="1" indent="-951864" algn="l" rtl="0"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</a:pPr>
            <a:endParaRPr lang="en-US" sz="4000" b="0" i="0" u="none" strike="noStrike" cap="none">
              <a:solidFill>
                <a:srgbClr val="000000"/>
              </a:solidFill>
              <a:latin typeface="NVIDIA Sans"/>
              <a:ea typeface="NVIDIA Sans"/>
              <a:cs typeface="NVIDIA Sans"/>
              <a:sym typeface="NVIDIA Sans"/>
            </a:endParaRPr>
          </a:p>
          <a:p>
            <a:pPr marL="457201" marR="0" lvl="1" algn="l" rtl="0"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</a:pPr>
            <a:endParaRPr lang="en-US" sz="4000" b="0" i="0" u="none" strike="noStrike" cap="none">
              <a:solidFill>
                <a:srgbClr val="000000"/>
              </a:solidFill>
              <a:latin typeface="NVIDIA Sans"/>
              <a:ea typeface="NVIDIA Sans"/>
              <a:cs typeface="NVIDIA Sans"/>
              <a:sym typeface="NVIDIA Sans"/>
            </a:endParaRPr>
          </a:p>
          <a:p>
            <a:pPr marL="1409065" lvl="2" indent="-951864">
              <a:spcBef>
                <a:spcPts val="2003"/>
              </a:spcBef>
              <a:buSzPts val="4000"/>
              <a:buFont typeface="Wingdings" pitchFamily="2" charset="2"/>
              <a:buChar char="Ø"/>
            </a:pPr>
            <a:endParaRPr lang="en-US" sz="4000" b="0" i="0" u="none" strike="noStrike" cap="none">
              <a:solidFill>
                <a:srgbClr val="000000"/>
              </a:solidFill>
              <a:latin typeface="NVIDIA Sans"/>
              <a:ea typeface="NVIDIA Sans"/>
              <a:cs typeface="NVIDIA Sans"/>
              <a:sym typeface="NVIDIA Sans"/>
            </a:endParaRPr>
          </a:p>
          <a:p>
            <a:pPr marL="1409065" lvl="2" indent="-951864">
              <a:spcBef>
                <a:spcPts val="2003"/>
              </a:spcBef>
              <a:buSzPts val="4000"/>
              <a:buFont typeface="Wingdings" pitchFamily="2" charset="2"/>
              <a:buChar char="Ø"/>
            </a:pPr>
            <a:endParaRPr sz="4000" b="0" i="0" u="none" strike="noStrike" cap="none">
              <a:solidFill>
                <a:srgbClr val="000000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2409" name="Google Shape;2409;p11"/>
          <p:cNvSpPr/>
          <p:nvPr/>
        </p:nvSpPr>
        <p:spPr>
          <a:xfrm>
            <a:off x="2331137" y="6527087"/>
            <a:ext cx="15042460" cy="104076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11"/>
          <p:cNvSpPr txBox="1"/>
          <p:nvPr/>
        </p:nvSpPr>
        <p:spPr>
          <a:xfrm>
            <a:off x="2331135" y="5196381"/>
            <a:ext cx="15042462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2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Value Proposition</a:t>
            </a:r>
            <a:endParaRPr/>
          </a:p>
        </p:txBody>
      </p:sp>
      <p:sp>
        <p:nvSpPr>
          <p:cNvPr id="2411" name="Google Shape;2411;p11"/>
          <p:cNvSpPr txBox="1"/>
          <p:nvPr/>
        </p:nvSpPr>
        <p:spPr>
          <a:xfrm>
            <a:off x="20519137" y="8004189"/>
            <a:ext cx="13067358" cy="4426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951864" marR="0" lvl="0" indent="-95186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</a:pPr>
            <a:r>
              <a:rPr lang="en-US" sz="40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Exact deduplication</a:t>
            </a:r>
            <a:endParaRPr/>
          </a:p>
          <a:p>
            <a:pPr marL="1409065" marR="0" lvl="1" indent="-951864" algn="l" rtl="0"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</a:pPr>
            <a:r>
              <a:rPr lang="en-US" sz="40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Hashing for each document</a:t>
            </a:r>
            <a:endParaRPr/>
          </a:p>
          <a:p>
            <a:pPr marL="951864" marR="0" lvl="0" indent="-951864" algn="l" rtl="0"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</a:pPr>
            <a:r>
              <a:rPr lang="en-US" sz="40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Fuzzy deduplication</a:t>
            </a:r>
            <a:endParaRPr/>
          </a:p>
          <a:p>
            <a:pPr marL="1409065" marR="0" lvl="1" indent="-951864" algn="l" rtl="0"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</a:pPr>
            <a:r>
              <a:rPr lang="en-US" sz="4000" b="0" i="0" u="none" strike="noStrike" cap="none" err="1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Minhash</a:t>
            </a:r>
            <a:r>
              <a:rPr lang="en-US" sz="40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, </a:t>
            </a:r>
            <a:r>
              <a:rPr lang="en-US" sz="4000" b="0" i="0" u="none" strike="noStrike" cap="none" err="1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Bucketization</a:t>
            </a:r>
            <a:r>
              <a:rPr lang="en-US" sz="4000" b="0" i="0" u="none" strike="noStrike" cap="none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 and Clustering</a:t>
            </a:r>
            <a:endParaRPr/>
          </a:p>
          <a:p>
            <a:pPr marL="1409065" marR="0" lvl="1" indent="-697864" algn="l" rtl="0">
              <a:spcBef>
                <a:spcPts val="2003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oto Sans Symbols"/>
              <a:buNone/>
            </a:pPr>
            <a:endParaRPr sz="4000" b="0" i="0" u="none" strike="noStrike" cap="none">
              <a:solidFill>
                <a:srgbClr val="000000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2412" name="Google Shape;2412;p11"/>
          <p:cNvSpPr/>
          <p:nvPr/>
        </p:nvSpPr>
        <p:spPr>
          <a:xfrm>
            <a:off x="20113169" y="6527087"/>
            <a:ext cx="15042460" cy="104076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3" name="Google Shape;2413;p11"/>
          <p:cNvSpPr txBox="1"/>
          <p:nvPr/>
        </p:nvSpPr>
        <p:spPr>
          <a:xfrm>
            <a:off x="20113167" y="5196381"/>
            <a:ext cx="15042462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2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Technical Details</a:t>
            </a:r>
            <a:endParaRPr/>
          </a:p>
        </p:txBody>
      </p:sp>
      <p:sp>
        <p:nvSpPr>
          <p:cNvPr id="2414" name="Google Shape;2414;p11"/>
          <p:cNvSpPr txBox="1"/>
          <p:nvPr/>
        </p:nvSpPr>
        <p:spPr>
          <a:xfrm>
            <a:off x="20519137" y="6807921"/>
            <a:ext cx="14636492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2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Lexical Deduplication</a:t>
            </a:r>
            <a:endParaRPr/>
          </a:p>
        </p:txBody>
      </p:sp>
      <p:sp>
        <p:nvSpPr>
          <p:cNvPr id="2415" name="Google Shape;2415;p11"/>
          <p:cNvSpPr txBox="1"/>
          <p:nvPr/>
        </p:nvSpPr>
        <p:spPr>
          <a:xfrm>
            <a:off x="20519137" y="13365272"/>
            <a:ext cx="13067358" cy="304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951864" marR="0" lvl="0" indent="-95186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</a:pPr>
            <a:r>
              <a:rPr lang="en-US" sz="40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Leverage embeddings to identify semantic documents</a:t>
            </a:r>
            <a:endParaRPr/>
          </a:p>
          <a:p>
            <a:pPr marL="951864" marR="0" lvl="0" indent="-951864" algn="l" rtl="0">
              <a:spcBef>
                <a:spcPts val="2003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</a:pPr>
            <a:r>
              <a:rPr lang="en-US" sz="40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Use SOTA </a:t>
            </a:r>
            <a:r>
              <a:rPr lang="en-US" sz="4000" err="1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NeMo</a:t>
            </a:r>
            <a:r>
              <a:rPr lang="en-US" sz="4000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 Retriever Text Embedding NIM or customize with your embedding model</a:t>
            </a:r>
            <a:endParaRPr/>
          </a:p>
        </p:txBody>
      </p:sp>
      <p:sp>
        <p:nvSpPr>
          <p:cNvPr id="2416" name="Google Shape;2416;p11"/>
          <p:cNvSpPr txBox="1"/>
          <p:nvPr/>
        </p:nvSpPr>
        <p:spPr>
          <a:xfrm>
            <a:off x="20519137" y="12169004"/>
            <a:ext cx="14636492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2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Semantic Deduplication</a:t>
            </a:r>
            <a:endParaRPr/>
          </a:p>
        </p:txBody>
      </p:sp>
      <p:sp>
        <p:nvSpPr>
          <p:cNvPr id="2417" name="Google Shape;2417;p11"/>
          <p:cNvSpPr txBox="1"/>
          <p:nvPr/>
        </p:nvSpPr>
        <p:spPr>
          <a:xfrm>
            <a:off x="1257000" y="2782100"/>
            <a:ext cx="34062000" cy="10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76B900"/>
                </a:solidFill>
                <a:latin typeface="NVIDIA Sans"/>
                <a:ea typeface="NVIDIA Sans"/>
                <a:cs typeface="NVIDIA Sans"/>
                <a:sym typeface="NVIDIA Sans"/>
              </a:rPr>
              <a:t>Scale across multi-node, multi-GPU setups, eliminating the need for iterative CPU processing</a:t>
            </a:r>
            <a:endParaRPr sz="18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rgbClr val="76B900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  <p:extLst>
      <p:ext uri="{BB962C8B-B14F-4D97-AF65-F5344CB8AC3E}">
        <p14:creationId xmlns:p14="http://schemas.microsoft.com/office/powerpoint/2010/main" val="3599654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Exact Deduplication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Byte-identical documents collapsed via hashing — fastest dedup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94560" y="5852160"/>
            <a:ext cx="16093440" cy="95097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6583680"/>
            <a:ext cx="14630400" cy="1645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8412480"/>
            <a:ext cx="14630400" cy="65836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1. Hash every document (MD5 / SHA-256)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2. Group by hash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3. Keep first occurrence, drop the rest</a:t>
            </a:r>
          </a:p>
          <a:p>
            <a:pPr algn="l"/>
            <a:endParaRPr sz="4400" b="0" i="0">
              <a:solidFill>
                <a:srgbClr val="000000"/>
              </a:solidFill>
              <a:latin typeface="NVIDIA Sans"/>
            </a:endParaRP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When it suffices: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  · documents are byte-identical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  · template-copy mirrors (e.g. EDGAR re-filings)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  · web-page re-syndication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0" y="6035040"/>
            <a:ext cx="1463040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400" b="1" i="0">
                <a:solidFill>
                  <a:srgbClr val="5E5E5E"/>
                </a:solidFill>
                <a:latin typeface="NVIDIA Sans"/>
              </a:rPr>
              <a:t>Before dedup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0" y="7498079"/>
            <a:ext cx="310896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482560" y="8046720"/>
            <a:ext cx="2377440" cy="658368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8C8C8C"/>
                </a:solidFill>
                <a:latin typeface="NVIDIA Sans"/>
              </a:rPr>
              <a:t>▬▬▬▬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82560" y="8705088"/>
            <a:ext cx="2377440" cy="658368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8C8C8C"/>
                </a:solidFill>
                <a:latin typeface="NVIDIA Sans"/>
              </a:rPr>
              <a:t>▬▬▬▬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82560" y="9363456"/>
            <a:ext cx="2377440" cy="658368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8C8C8C"/>
                </a:solidFill>
                <a:latin typeface="NVIDIA Sans"/>
              </a:rPr>
              <a:t>▬▬▬▬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0" y="11704320"/>
            <a:ext cx="3108960" cy="9144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200" b="1" i="0">
                <a:solidFill>
                  <a:srgbClr val="890C58"/>
                </a:solidFill>
                <a:latin typeface="Consolas"/>
              </a:rPr>
              <a:t>abc...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0" y="7498079"/>
            <a:ext cx="310896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140160" y="8046720"/>
            <a:ext cx="2377440" cy="658368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8C8C8C"/>
                </a:solidFill>
                <a:latin typeface="NVIDIA Sans"/>
              </a:rPr>
              <a:t>▬▬▬▬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0" y="8705088"/>
            <a:ext cx="2377440" cy="658368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8C8C8C"/>
                </a:solidFill>
                <a:latin typeface="NVIDIA Sans"/>
              </a:rPr>
              <a:t>▬▬▬▬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0" y="9363456"/>
            <a:ext cx="2377440" cy="658368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8C8C8C"/>
                </a:solidFill>
                <a:latin typeface="NVIDIA Sans"/>
              </a:rPr>
              <a:t>▬▬▬▬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0" y="11704320"/>
            <a:ext cx="3108960" cy="9144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200" b="1" i="0">
                <a:solidFill>
                  <a:srgbClr val="76B900"/>
                </a:solidFill>
                <a:latin typeface="Consolas"/>
              </a:rPr>
              <a:t>def...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0" y="7498079"/>
            <a:ext cx="310896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797760" y="8046720"/>
            <a:ext cx="2377440" cy="658368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8C8C8C"/>
                </a:solidFill>
                <a:latin typeface="NVIDIA Sans"/>
              </a:rPr>
              <a:t>▬▬▬▬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97760" y="8705088"/>
            <a:ext cx="2377440" cy="658368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8C8C8C"/>
                </a:solidFill>
                <a:latin typeface="NVIDIA Sans"/>
              </a:rPr>
              <a:t>▬▬▬▬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97760" y="9363456"/>
            <a:ext cx="2377440" cy="658368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8C8C8C"/>
                </a:solidFill>
                <a:latin typeface="NVIDIA Sans"/>
              </a:rPr>
              <a:t>▬▬▬▬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0" y="11704320"/>
            <a:ext cx="3108960" cy="9144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200" b="1" i="0">
                <a:solidFill>
                  <a:srgbClr val="890C58"/>
                </a:solidFill>
                <a:latin typeface="Consolas"/>
              </a:rPr>
              <a:t>abc...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0" y="7498079"/>
            <a:ext cx="310896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455360" y="8046720"/>
            <a:ext cx="2377440" cy="658368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8C8C8C"/>
                </a:solidFill>
                <a:latin typeface="NVIDIA Sans"/>
              </a:rPr>
              <a:t>▬▬▬▬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0" y="8705088"/>
            <a:ext cx="2377440" cy="658368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8C8C8C"/>
                </a:solidFill>
                <a:latin typeface="NVIDIA Sans"/>
              </a:rPr>
              <a:t>▬▬▬▬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455360" y="9363456"/>
            <a:ext cx="2377440" cy="658368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8C8C8C"/>
                </a:solidFill>
                <a:latin typeface="NVIDIA Sans"/>
              </a:rPr>
              <a:t>▬▬▬▬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0" y="11704320"/>
            <a:ext cx="3108960" cy="9144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200" b="1" i="0">
                <a:solidFill>
                  <a:srgbClr val="890C58"/>
                </a:solidFill>
                <a:latin typeface="Consolas"/>
              </a:rPr>
              <a:t>abc...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26334720" y="12984480"/>
            <a:ext cx="1463040" cy="1463040"/>
          </a:xfrm>
          <a:prstGeom prst="down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385280" y="14630400"/>
            <a:ext cx="1463040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400" b="1" i="0">
                <a:solidFill>
                  <a:srgbClr val="76B900"/>
                </a:solidFill>
                <a:latin typeface="NVIDIA Sans"/>
              </a:rPr>
              <a:t>After dedup — 2 unique kept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774400" y="15910559"/>
            <a:ext cx="31089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774400" y="16276320"/>
            <a:ext cx="310896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76B900"/>
                </a:solidFill>
                <a:latin typeface="NVIDIA Sans"/>
              </a:rPr>
              <a:t>keep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0" y="15910559"/>
            <a:ext cx="31089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00" y="16276320"/>
            <a:ext cx="310896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76B900"/>
                </a:solidFill>
                <a:latin typeface="NVIDIA Sans"/>
              </a:rPr>
              <a:t>keep</a:t>
            </a:r>
          </a:p>
        </p:txBody>
      </p:sp>
    </p:spTree>
    <p:extLst>
      <p:ext uri="{BB962C8B-B14F-4D97-AF65-F5344CB8AC3E}">
        <p14:creationId xmlns:p14="http://schemas.microsoft.com/office/powerpoint/2010/main" val="3350920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Fuzzy Deduplication — MinHash + LSH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Catches near-duplicates that exact dedup misses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94560" y="5852160"/>
            <a:ext cx="16093440" cy="10241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6583680"/>
            <a:ext cx="14630400" cy="16459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8412480"/>
            <a:ext cx="14630400" cy="73152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1. Compute MinHash signatures per doc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2. Locality-Sensitive Hashing buckets candidates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3. Connected-components clustering (cuGraph)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4. Keep one doc per cluster</a:t>
            </a:r>
          </a:p>
          <a:p>
            <a:pPr algn="l"/>
            <a:endParaRPr sz="4400" b="0" i="0">
              <a:solidFill>
                <a:srgbClr val="000000"/>
              </a:solidFill>
              <a:latin typeface="NVIDIA Sans"/>
            </a:endParaRP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Catches: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  · same text, different boilerplate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  · paraphrased or lightly-edited variants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  · cross-source re-publication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0" y="6035040"/>
            <a:ext cx="1463040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400" b="1" i="0">
                <a:solidFill>
                  <a:srgbClr val="5E5E5E"/>
                </a:solidFill>
                <a:latin typeface="NVIDIA Sans"/>
              </a:rPr>
              <a:t>Cluster of near-duplicates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48320" y="804672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848320" y="8046720"/>
            <a:ext cx="3108960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76B900"/>
                </a:solidFill>
                <a:latin typeface="NVIDIA Sans"/>
              </a:rPr>
              <a:t>▬▬▬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37440" y="877824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237440" y="8778240"/>
            <a:ext cx="3108960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CDCDCD"/>
                </a:solidFill>
                <a:latin typeface="NVIDIA Sans"/>
              </a:rPr>
              <a:t>▬▬▬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042880" y="1170432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042880" y="11704320"/>
            <a:ext cx="3108960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CDCDCD"/>
                </a:solidFill>
                <a:latin typeface="NVIDIA Sans"/>
              </a:rPr>
              <a:t>▬▬▬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163520" y="1060704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0" y="10607040"/>
            <a:ext cx="3108960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CDCDCD"/>
                </a:solidFill>
                <a:latin typeface="NVIDIA Sans"/>
              </a:rPr>
              <a:t>▬▬▬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968960" y="1353312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968960" y="13533120"/>
            <a:ext cx="3108960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CDCDCD"/>
                </a:solidFill>
                <a:latin typeface="NVIDIA Sans"/>
              </a:rPr>
              <a:t>▬▬▬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358080" y="1353312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358080" y="13533120"/>
            <a:ext cx="3108960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CDCDCD"/>
                </a:solidFill>
                <a:latin typeface="NVIDIA Sans"/>
              </a:rPr>
              <a:t>▬▬▬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0" y="7315200"/>
            <a:ext cx="12435840" cy="841248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385280" y="16276320"/>
            <a:ext cx="14630400" cy="18288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800" b="1" i="0">
                <a:solidFill>
                  <a:srgbClr val="76B900"/>
                </a:solidFill>
                <a:latin typeface="NVIDIA Sans"/>
              </a:rPr>
              <a:t>Keep one representative · drop 5</a:t>
            </a:r>
          </a:p>
        </p:txBody>
      </p:sp>
    </p:spTree>
    <p:extLst>
      <p:ext uri="{BB962C8B-B14F-4D97-AF65-F5344CB8AC3E}">
        <p14:creationId xmlns:p14="http://schemas.microsoft.com/office/powerpoint/2010/main" val="2720995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8">
          <a:extLst>
            <a:ext uri="{FF2B5EF4-FFF2-40B4-BE49-F238E27FC236}">
              <a16:creationId xmlns:a16="http://schemas.microsoft.com/office/drawing/2014/main" id="{1F5FFE92-3A79-A85C-8247-45E986FB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13">
            <a:extLst>
              <a:ext uri="{FF2B5EF4-FFF2-40B4-BE49-F238E27FC236}">
                <a16:creationId xmlns:a16="http://schemas.microsoft.com/office/drawing/2014/main" id="{FEF19E9A-2BF4-F32B-9D04-B0A36ED311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0189" y="518360"/>
            <a:ext cx="315468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rmAutofit/>
          </a:bodyPr>
          <a:lstStyle/>
          <a:p>
            <a:r>
              <a:rPr lang="en-US" err="1">
                <a:latin typeface="NVIDIA Sans"/>
                <a:ea typeface="NVIDIA Sans"/>
                <a:cs typeface="NVIDIA Sans"/>
                <a:sym typeface="NVIDIA Sans"/>
              </a:rPr>
              <a:t>NeMo</a:t>
            </a:r>
            <a:r>
              <a:rPr lang="en-US">
                <a:latin typeface="NVIDIA Sans"/>
                <a:ea typeface="NVIDIA Sans"/>
                <a:cs typeface="NVIDIA Sans"/>
                <a:sym typeface="NVIDIA Sans"/>
              </a:rPr>
              <a:t> Curator - Text: World-Class Benchmarks</a:t>
            </a:r>
            <a:endParaRPr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8" name="Google Shape;2439;p13">
            <a:extLst>
              <a:ext uri="{FF2B5EF4-FFF2-40B4-BE49-F238E27FC236}">
                <a16:creationId xmlns:a16="http://schemas.microsoft.com/office/drawing/2014/main" id="{0CE79E0C-9852-B59E-8D24-C52E1397336A}"/>
              </a:ext>
            </a:extLst>
          </p:cNvPr>
          <p:cNvSpPr/>
          <p:nvPr/>
        </p:nvSpPr>
        <p:spPr>
          <a:xfrm>
            <a:off x="903035" y="3849935"/>
            <a:ext cx="11072381" cy="1562476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455;p13">
            <a:extLst>
              <a:ext uri="{FF2B5EF4-FFF2-40B4-BE49-F238E27FC236}">
                <a16:creationId xmlns:a16="http://schemas.microsoft.com/office/drawing/2014/main" id="{CAF1A7D7-BB36-92DD-65AD-F660BDCB09F2}"/>
              </a:ext>
            </a:extLst>
          </p:cNvPr>
          <p:cNvSpPr txBox="1"/>
          <p:nvPr/>
        </p:nvSpPr>
        <p:spPr>
          <a:xfrm>
            <a:off x="903034" y="2537859"/>
            <a:ext cx="11072381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~16x Faster Processing </a:t>
            </a:r>
          </a:p>
        </p:txBody>
      </p:sp>
      <p:sp>
        <p:nvSpPr>
          <p:cNvPr id="14" name="Google Shape;2457;p13">
            <a:extLst>
              <a:ext uri="{FF2B5EF4-FFF2-40B4-BE49-F238E27FC236}">
                <a16:creationId xmlns:a16="http://schemas.microsoft.com/office/drawing/2014/main" id="{4A39C7C9-553F-8846-6BD2-51DCC862002F}"/>
              </a:ext>
            </a:extLst>
          </p:cNvPr>
          <p:cNvSpPr txBox="1"/>
          <p:nvPr/>
        </p:nvSpPr>
        <p:spPr>
          <a:xfrm>
            <a:off x="895975" y="14706740"/>
            <a:ext cx="11071287" cy="179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Processing time for fuzzy deduplication of RedPajama-v2 subset (8TB/1.96T tokens)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"/>
              <a:cs typeface="NVIDIA Sans"/>
              <a:sym typeface="Arial"/>
            </a:endParaRPr>
          </a:p>
        </p:txBody>
      </p:sp>
      <p:sp>
        <p:nvSpPr>
          <p:cNvPr id="2" name="Google Shape;2448;p13">
            <a:extLst>
              <a:ext uri="{FF2B5EF4-FFF2-40B4-BE49-F238E27FC236}">
                <a16:creationId xmlns:a16="http://schemas.microsoft.com/office/drawing/2014/main" id="{FEDAF506-F158-5EB8-4100-F5359750334C}"/>
              </a:ext>
            </a:extLst>
          </p:cNvPr>
          <p:cNvSpPr txBox="1"/>
          <p:nvPr/>
        </p:nvSpPr>
        <p:spPr>
          <a:xfrm>
            <a:off x="5926964" y="7623483"/>
            <a:ext cx="3899087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~16x faster</a:t>
            </a:r>
            <a:endParaRPr kumimoji="0" sz="4000" b="1" i="0" u="none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2459" name="Google Shape;2459;p13">
            <a:extLst>
              <a:ext uri="{FF2B5EF4-FFF2-40B4-BE49-F238E27FC236}">
                <a16:creationId xmlns:a16="http://schemas.microsoft.com/office/drawing/2014/main" id="{27071AA8-E301-3A12-0312-3F9A4D71F591}"/>
              </a:ext>
            </a:extLst>
          </p:cNvPr>
          <p:cNvSpPr/>
          <p:nvPr/>
        </p:nvSpPr>
        <p:spPr>
          <a:xfrm>
            <a:off x="2643453" y="4466130"/>
            <a:ext cx="1772857" cy="8046720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10.7</a:t>
            </a:r>
          </a:p>
        </p:txBody>
      </p:sp>
      <p:sp>
        <p:nvSpPr>
          <p:cNvPr id="2462" name="Google Shape;2462;p13">
            <a:extLst>
              <a:ext uri="{FF2B5EF4-FFF2-40B4-BE49-F238E27FC236}">
                <a16:creationId xmlns:a16="http://schemas.microsoft.com/office/drawing/2014/main" id="{969E6861-4A57-8D06-369B-BABB61129967}"/>
              </a:ext>
            </a:extLst>
          </p:cNvPr>
          <p:cNvSpPr txBox="1"/>
          <p:nvPr/>
        </p:nvSpPr>
        <p:spPr>
          <a:xfrm>
            <a:off x="7248329" y="12662932"/>
            <a:ext cx="3720084" cy="10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1016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Curator ‘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On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’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cxnSp>
        <p:nvCxnSpPr>
          <p:cNvPr id="2465" name="Google Shape;2465;p13">
            <a:extLst>
              <a:ext uri="{FF2B5EF4-FFF2-40B4-BE49-F238E27FC236}">
                <a16:creationId xmlns:a16="http://schemas.microsoft.com/office/drawing/2014/main" id="{350C5323-2095-304A-116E-7319CF63A334}"/>
              </a:ext>
            </a:extLst>
          </p:cNvPr>
          <p:cNvCxnSpPr>
            <a:cxnSpLocks/>
          </p:cNvCxnSpPr>
          <p:nvPr/>
        </p:nvCxnSpPr>
        <p:spPr>
          <a:xfrm>
            <a:off x="2221077" y="12689584"/>
            <a:ext cx="9276095" cy="0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67" name="Google Shape;2467;p13">
            <a:extLst>
              <a:ext uri="{FF2B5EF4-FFF2-40B4-BE49-F238E27FC236}">
                <a16:creationId xmlns:a16="http://schemas.microsoft.com/office/drawing/2014/main" id="{5F1E157C-1EE8-4A1C-11F5-C14776310B3F}"/>
              </a:ext>
            </a:extLst>
          </p:cNvPr>
          <p:cNvSpPr/>
          <p:nvPr/>
        </p:nvSpPr>
        <p:spPr>
          <a:xfrm>
            <a:off x="8261150" y="12103667"/>
            <a:ext cx="1755923" cy="475488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4000" b="1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EE4EEB0-926C-1560-0F65-93F9A366D3C4}"/>
              </a:ext>
            </a:extLst>
          </p:cNvPr>
          <p:cNvCxnSpPr>
            <a:cxnSpLocks/>
          </p:cNvCxnSpPr>
          <p:nvPr/>
        </p:nvCxnSpPr>
        <p:spPr>
          <a:xfrm>
            <a:off x="4447874" y="4512892"/>
            <a:ext cx="3827438" cy="7607044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oogle Shape;2458;p13">
            <a:extLst>
              <a:ext uri="{FF2B5EF4-FFF2-40B4-BE49-F238E27FC236}">
                <a16:creationId xmlns:a16="http://schemas.microsoft.com/office/drawing/2014/main" id="{AE085663-C6C1-CC09-A431-520C1CA01137}"/>
              </a:ext>
            </a:extLst>
          </p:cNvPr>
          <p:cNvGrpSpPr/>
          <p:nvPr/>
        </p:nvGrpSpPr>
        <p:grpSpPr>
          <a:xfrm>
            <a:off x="25364985" y="4466131"/>
            <a:ext cx="9416947" cy="9494513"/>
            <a:chOff x="14388887" y="7010899"/>
            <a:chExt cx="11428333" cy="9998434"/>
          </a:xfrm>
        </p:grpSpPr>
        <p:sp>
          <p:nvSpPr>
            <p:cNvPr id="44" name="Google Shape;2459;p13">
              <a:extLst>
                <a:ext uri="{FF2B5EF4-FFF2-40B4-BE49-F238E27FC236}">
                  <a16:creationId xmlns:a16="http://schemas.microsoft.com/office/drawing/2014/main" id="{BAFD7C08-A4B3-E6A3-39DC-B6B3A9B29AAD}"/>
                </a:ext>
              </a:extLst>
            </p:cNvPr>
            <p:cNvSpPr/>
            <p:nvPr/>
          </p:nvSpPr>
          <p:spPr>
            <a:xfrm>
              <a:off x="14901979" y="7010899"/>
              <a:ext cx="2151525" cy="8475731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rgbClr val="76B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2900" tIns="22900" rIns="22900" bIns="22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/>
                  <a:ea typeface="NVIDIA Sans"/>
                  <a:cs typeface="NVIDIA Sans"/>
                  <a:sym typeface="Arial"/>
                </a:rPr>
                <a:t>2.05</a:t>
              </a:r>
              <a:endParaRPr kumimoji="0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sp>
          <p:nvSpPr>
            <p:cNvPr id="45" name="Google Shape;2460;p13">
              <a:extLst>
                <a:ext uri="{FF2B5EF4-FFF2-40B4-BE49-F238E27FC236}">
                  <a16:creationId xmlns:a16="http://schemas.microsoft.com/office/drawing/2014/main" id="{3AEEFCEF-0860-A1A4-A2B9-98550B04DB26}"/>
                </a:ext>
              </a:extLst>
            </p:cNvPr>
            <p:cNvSpPr/>
            <p:nvPr/>
          </p:nvSpPr>
          <p:spPr>
            <a:xfrm>
              <a:off x="22412137" y="13420243"/>
              <a:ext cx="2151523" cy="2045207"/>
            </a:xfrm>
            <a:prstGeom prst="rect">
              <a:avLst/>
            </a:prstGeom>
            <a:solidFill>
              <a:srgbClr val="76B900"/>
            </a:solidFill>
            <a:ln w="9525" cap="flat" cmpd="sng">
              <a:solidFill>
                <a:srgbClr val="76B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2900" tIns="22900" rIns="22900" bIns="22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/>
                  <a:ea typeface="NVIDIA Sans"/>
                  <a:cs typeface="NVIDIA Sans"/>
                  <a:sym typeface="NVIDIA Sans"/>
                </a:rPr>
                <a:t>0.5</a:t>
              </a:r>
            </a:p>
          </p:txBody>
        </p:sp>
        <p:sp>
          <p:nvSpPr>
            <p:cNvPr id="46" name="Google Shape;2461;p13">
              <a:extLst>
                <a:ext uri="{FF2B5EF4-FFF2-40B4-BE49-F238E27FC236}">
                  <a16:creationId xmlns:a16="http://schemas.microsoft.com/office/drawing/2014/main" id="{C3F92530-5424-1BD6-1B11-70DFD63DE887}"/>
                </a:ext>
              </a:extLst>
            </p:cNvPr>
            <p:cNvSpPr txBox="1"/>
            <p:nvPr/>
          </p:nvSpPr>
          <p:spPr>
            <a:xfrm>
              <a:off x="15370416" y="15573172"/>
              <a:ext cx="1298460" cy="113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900" tIns="22900" rIns="22900" bIns="22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/>
                  <a:ea typeface="NVIDIA Sans"/>
                  <a:cs typeface="NVIDIA Sans"/>
                  <a:sym typeface="NVIDIA Sans"/>
                </a:rPr>
                <a:t>1</a:t>
              </a:r>
              <a:endPara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Arial"/>
              </a:endParaRPr>
            </a:p>
          </p:txBody>
        </p:sp>
        <p:cxnSp>
          <p:nvCxnSpPr>
            <p:cNvPr id="48" name="Google Shape;2465;p13">
              <a:extLst>
                <a:ext uri="{FF2B5EF4-FFF2-40B4-BE49-F238E27FC236}">
                  <a16:creationId xmlns:a16="http://schemas.microsoft.com/office/drawing/2014/main" id="{C7EA1A9C-120D-0078-A875-FA2A0E5C5B18}"/>
                </a:ext>
              </a:extLst>
            </p:cNvPr>
            <p:cNvCxnSpPr>
              <a:cxnSpLocks/>
            </p:cNvCxnSpPr>
            <p:nvPr/>
          </p:nvCxnSpPr>
          <p:spPr>
            <a:xfrm>
              <a:off x="14388887" y="15691335"/>
              <a:ext cx="11428333" cy="17832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9" name="Google Shape;2467;p13">
              <a:extLst>
                <a:ext uri="{FF2B5EF4-FFF2-40B4-BE49-F238E27FC236}">
                  <a16:creationId xmlns:a16="http://schemas.microsoft.com/office/drawing/2014/main" id="{C73C127B-BAC6-B4E7-B819-BD4144C193F3}"/>
                </a:ext>
              </a:extLst>
            </p:cNvPr>
            <p:cNvSpPr/>
            <p:nvPr/>
          </p:nvSpPr>
          <p:spPr>
            <a:xfrm>
              <a:off x="18679480" y="11618048"/>
              <a:ext cx="2110728" cy="3843851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rgbClr val="76B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2900" tIns="22900" rIns="22900" bIns="22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/>
                  <a:ea typeface="NVIDIA Sans"/>
                  <a:cs typeface="NVIDIA Sans"/>
                  <a:sym typeface="Arial"/>
                </a:rPr>
                <a:t>0.94</a:t>
              </a: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" name="Google Shape;2469;p13">
              <a:extLst>
                <a:ext uri="{FF2B5EF4-FFF2-40B4-BE49-F238E27FC236}">
                  <a16:creationId xmlns:a16="http://schemas.microsoft.com/office/drawing/2014/main" id="{413E3D73-F2B9-CBBD-CC8E-E656CCA55B1A}"/>
                </a:ext>
              </a:extLst>
            </p:cNvPr>
            <p:cNvSpPr txBox="1"/>
            <p:nvPr/>
          </p:nvSpPr>
          <p:spPr>
            <a:xfrm>
              <a:off x="19102943" y="15554522"/>
              <a:ext cx="1298460" cy="113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900" tIns="22900" rIns="22900" bIns="22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/>
                  <a:ea typeface="NVIDIA Sans"/>
                  <a:cs typeface="NVIDIA Sans"/>
                  <a:sym typeface="NVIDIA Sans"/>
                </a:rPr>
                <a:t>2</a:t>
              </a: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Arial"/>
              </a:endParaRPr>
            </a:p>
          </p:txBody>
        </p:sp>
        <p:sp>
          <p:nvSpPr>
            <p:cNvPr id="52" name="Google Shape;2470;p13">
              <a:extLst>
                <a:ext uri="{FF2B5EF4-FFF2-40B4-BE49-F238E27FC236}">
                  <a16:creationId xmlns:a16="http://schemas.microsoft.com/office/drawing/2014/main" id="{61B948F0-1845-A913-9755-5ADEA8FEDAF8}"/>
                </a:ext>
              </a:extLst>
            </p:cNvPr>
            <p:cNvSpPr txBox="1"/>
            <p:nvPr/>
          </p:nvSpPr>
          <p:spPr>
            <a:xfrm>
              <a:off x="22538510" y="15554521"/>
              <a:ext cx="1595190" cy="1065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900" tIns="22900" rIns="22900" bIns="22900" anchor="ctr" anchorCtr="0">
              <a:noAutofit/>
            </a:bodyPr>
            <a:lstStyle/>
            <a:p>
              <a:pPr marL="1016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/>
                  <a:ea typeface="NVIDIA Sans"/>
                  <a:cs typeface="NVIDIA Sans"/>
                  <a:sym typeface="NVIDIA Sans"/>
                </a:rPr>
                <a:t>4</a:t>
              </a: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Arial"/>
              </a:endParaRPr>
            </a:p>
          </p:txBody>
        </p:sp>
        <p:sp>
          <p:nvSpPr>
            <p:cNvPr id="53" name="Google Shape;2471;p13">
              <a:extLst>
                <a:ext uri="{FF2B5EF4-FFF2-40B4-BE49-F238E27FC236}">
                  <a16:creationId xmlns:a16="http://schemas.microsoft.com/office/drawing/2014/main" id="{66B89C40-5607-8839-520C-A6397434D3B8}"/>
                </a:ext>
              </a:extLst>
            </p:cNvPr>
            <p:cNvSpPr txBox="1"/>
            <p:nvPr/>
          </p:nvSpPr>
          <p:spPr>
            <a:xfrm>
              <a:off x="14821027" y="16506875"/>
              <a:ext cx="9328955" cy="502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900" tIns="22900" rIns="22900" bIns="2290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/>
                  <a:ea typeface="NVIDIA Sans"/>
                  <a:cs typeface="NVIDIA Sans"/>
                  <a:sym typeface="NVIDIA Sans"/>
                </a:rPr>
                <a:t>H100 nodes 80GB</a:t>
              </a:r>
              <a:endParaRPr kumimoji="0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</p:grpSp>
      <p:sp>
        <p:nvSpPr>
          <p:cNvPr id="54" name="Google Shape;2439;p13">
            <a:extLst>
              <a:ext uri="{FF2B5EF4-FFF2-40B4-BE49-F238E27FC236}">
                <a16:creationId xmlns:a16="http://schemas.microsoft.com/office/drawing/2014/main" id="{14F76859-1EFC-7A3B-8C3E-9B65B6303E0B}"/>
              </a:ext>
            </a:extLst>
          </p:cNvPr>
          <p:cNvSpPr/>
          <p:nvPr/>
        </p:nvSpPr>
        <p:spPr>
          <a:xfrm>
            <a:off x="24068514" y="3849935"/>
            <a:ext cx="11032276" cy="1562476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2455;p13">
            <a:extLst>
              <a:ext uri="{FF2B5EF4-FFF2-40B4-BE49-F238E27FC236}">
                <a16:creationId xmlns:a16="http://schemas.microsoft.com/office/drawing/2014/main" id="{7AA76CBD-DBB5-93C8-6FC1-318A122F1FEA}"/>
              </a:ext>
            </a:extLst>
          </p:cNvPr>
          <p:cNvSpPr txBox="1"/>
          <p:nvPr/>
        </p:nvSpPr>
        <p:spPr>
          <a:xfrm>
            <a:off x="24028408" y="2537859"/>
            <a:ext cx="11072381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cs typeface="NVIDIA Sans"/>
                <a:sym typeface="NVIDIA Sans"/>
              </a:rPr>
              <a:t>Near Linear Scaling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6" name="Google Shape;2457;p13">
            <a:extLst>
              <a:ext uri="{FF2B5EF4-FFF2-40B4-BE49-F238E27FC236}">
                <a16:creationId xmlns:a16="http://schemas.microsoft.com/office/drawing/2014/main" id="{B30410DF-3FC3-2245-BD96-00CF3C4D30F0}"/>
              </a:ext>
            </a:extLst>
          </p:cNvPr>
          <p:cNvSpPr txBox="1"/>
          <p:nvPr/>
        </p:nvSpPr>
        <p:spPr>
          <a:xfrm>
            <a:off x="24021349" y="14706740"/>
            <a:ext cx="11071287" cy="1743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Processing time for fuzzy deduplication of RedPajama-v2 subset (8TB/1.96T tokens)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"/>
              <a:cs typeface="NVIDIA Sans"/>
              <a:sym typeface="Arial"/>
            </a:endParaRPr>
          </a:p>
        </p:txBody>
      </p:sp>
      <p:sp>
        <p:nvSpPr>
          <p:cNvPr id="57" name="Google Shape;2472;p13">
            <a:extLst>
              <a:ext uri="{FF2B5EF4-FFF2-40B4-BE49-F238E27FC236}">
                <a16:creationId xmlns:a16="http://schemas.microsoft.com/office/drawing/2014/main" id="{2F7D6790-24FD-F49A-2E00-000D15B1EF40}"/>
              </a:ext>
            </a:extLst>
          </p:cNvPr>
          <p:cNvSpPr txBox="1"/>
          <p:nvPr/>
        </p:nvSpPr>
        <p:spPr>
          <a:xfrm>
            <a:off x="24035468" y="16699745"/>
            <a:ext cx="11057167" cy="225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Scaling on 1, 2, 4 H100 nodes 80GB</a:t>
            </a: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" name="Google Shape;2472;p13">
            <a:extLst>
              <a:ext uri="{FF2B5EF4-FFF2-40B4-BE49-F238E27FC236}">
                <a16:creationId xmlns:a16="http://schemas.microsoft.com/office/drawing/2014/main" id="{93B8BE1A-8A0D-F8EF-E328-44F6DEBA4759}"/>
              </a:ext>
            </a:extLst>
          </p:cNvPr>
          <p:cNvSpPr txBox="1"/>
          <p:nvPr/>
        </p:nvSpPr>
        <p:spPr>
          <a:xfrm>
            <a:off x="917155" y="16699745"/>
            <a:ext cx="11065321" cy="225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‘On’: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D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ata processed with </a:t>
            </a:r>
            <a:r>
              <a:rPr kumimoji="0" lang="en-US" sz="3600" b="0" i="0" u="none" strike="noStrike" kern="0" cap="none" spc="0" normalizeH="0" baseline="0" noProof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NeMo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 Curator on 3 H100 nodes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/>
              <a:cs typeface="NVIDIA San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‘Off’ : Data processed with a leading alternative library on CPUs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/>
              <a:cs typeface="NVIDIA Sans"/>
              <a:sym typeface="Arial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F4B2F35-E3CA-84C7-D2DB-760851BECFA2}"/>
              </a:ext>
            </a:extLst>
          </p:cNvPr>
          <p:cNvCxnSpPr>
            <a:cxnSpLocks/>
          </p:cNvCxnSpPr>
          <p:nvPr/>
        </p:nvCxnSpPr>
        <p:spPr>
          <a:xfrm>
            <a:off x="940825" y="14238399"/>
            <a:ext cx="11041651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6A14EB6-E67D-3B28-A84F-3707D3BA297E}"/>
              </a:ext>
            </a:extLst>
          </p:cNvPr>
          <p:cNvCxnSpPr>
            <a:cxnSpLocks/>
          </p:cNvCxnSpPr>
          <p:nvPr/>
        </p:nvCxnSpPr>
        <p:spPr>
          <a:xfrm>
            <a:off x="24063484" y="14238399"/>
            <a:ext cx="11041651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4" name="Google Shape;2448;p13">
            <a:extLst>
              <a:ext uri="{FF2B5EF4-FFF2-40B4-BE49-F238E27FC236}">
                <a16:creationId xmlns:a16="http://schemas.microsoft.com/office/drawing/2014/main" id="{F2C162BD-9B4A-FC6B-FA27-21DCB789BF70}"/>
              </a:ext>
            </a:extLst>
          </p:cNvPr>
          <p:cNvSpPr txBox="1"/>
          <p:nvPr/>
        </p:nvSpPr>
        <p:spPr>
          <a:xfrm>
            <a:off x="6666752" y="11213790"/>
            <a:ext cx="483042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NVIDIA Sans"/>
                <a:sym typeface="NVIDIA Sans"/>
              </a:rPr>
              <a:t>0.65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cs typeface="NVIDIA Sans"/>
              <a:sym typeface="Arial"/>
            </a:endParaRPr>
          </a:p>
        </p:txBody>
      </p:sp>
      <p:sp>
        <p:nvSpPr>
          <p:cNvPr id="22" name="Google Shape;2462;p13">
            <a:extLst>
              <a:ext uri="{FF2B5EF4-FFF2-40B4-BE49-F238E27FC236}">
                <a16:creationId xmlns:a16="http://schemas.microsoft.com/office/drawing/2014/main" id="{64D9F3C4-B7EA-B67A-B1FD-00943FFD2060}"/>
              </a:ext>
            </a:extLst>
          </p:cNvPr>
          <p:cNvSpPr txBox="1"/>
          <p:nvPr/>
        </p:nvSpPr>
        <p:spPr>
          <a:xfrm>
            <a:off x="1776089" y="12683953"/>
            <a:ext cx="3720084" cy="10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1016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Curator Off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cxnSp>
        <p:nvCxnSpPr>
          <p:cNvPr id="3" name="Google Shape;2465;p13">
            <a:extLst>
              <a:ext uri="{FF2B5EF4-FFF2-40B4-BE49-F238E27FC236}">
                <a16:creationId xmlns:a16="http://schemas.microsoft.com/office/drawing/2014/main" id="{802C0439-CAF6-00C4-1FA1-24159788B4E1}"/>
              </a:ext>
            </a:extLst>
          </p:cNvPr>
          <p:cNvCxnSpPr>
            <a:cxnSpLocks/>
          </p:cNvCxnSpPr>
          <p:nvPr/>
        </p:nvCxnSpPr>
        <p:spPr>
          <a:xfrm flipV="1">
            <a:off x="2230310" y="4380134"/>
            <a:ext cx="0" cy="8338025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" name="Google Shape;2465;p13">
            <a:extLst>
              <a:ext uri="{FF2B5EF4-FFF2-40B4-BE49-F238E27FC236}">
                <a16:creationId xmlns:a16="http://schemas.microsoft.com/office/drawing/2014/main" id="{EF02F41D-EA5F-A5EF-F9AD-3E157CF3B963}"/>
              </a:ext>
            </a:extLst>
          </p:cNvPr>
          <p:cNvCxnSpPr>
            <a:cxnSpLocks/>
          </p:cNvCxnSpPr>
          <p:nvPr/>
        </p:nvCxnSpPr>
        <p:spPr>
          <a:xfrm flipV="1">
            <a:off x="25364985" y="4370239"/>
            <a:ext cx="0" cy="8317297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" name="Google Shape;2462;p13">
            <a:extLst>
              <a:ext uri="{FF2B5EF4-FFF2-40B4-BE49-F238E27FC236}">
                <a16:creationId xmlns:a16="http://schemas.microsoft.com/office/drawing/2014/main" id="{E17D722F-D2DC-3DD2-5796-B43A24F7A1D9}"/>
              </a:ext>
            </a:extLst>
          </p:cNvPr>
          <p:cNvSpPr txBox="1"/>
          <p:nvPr/>
        </p:nvSpPr>
        <p:spPr>
          <a:xfrm rot="16200000">
            <a:off x="-2412777" y="8120727"/>
            <a:ext cx="8231302" cy="92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1016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Processing Time (</a:t>
            </a:r>
            <a:r>
              <a:rPr kumimoji="0" lang="en-US" sz="40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hrs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)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sp>
        <p:nvSpPr>
          <p:cNvPr id="13" name="Google Shape;2462;p13">
            <a:extLst>
              <a:ext uri="{FF2B5EF4-FFF2-40B4-BE49-F238E27FC236}">
                <a16:creationId xmlns:a16="http://schemas.microsoft.com/office/drawing/2014/main" id="{F4CD0CFB-6803-3CE1-65B5-9685924E85DC}"/>
              </a:ext>
            </a:extLst>
          </p:cNvPr>
          <p:cNvSpPr txBox="1"/>
          <p:nvPr/>
        </p:nvSpPr>
        <p:spPr>
          <a:xfrm rot="16200000">
            <a:off x="20865445" y="8058805"/>
            <a:ext cx="8196802" cy="10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1016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Processing Time (hrs)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sp>
        <p:nvSpPr>
          <p:cNvPr id="59" name="Google Shape;2439;p13">
            <a:extLst>
              <a:ext uri="{FF2B5EF4-FFF2-40B4-BE49-F238E27FC236}">
                <a16:creationId xmlns:a16="http://schemas.microsoft.com/office/drawing/2014/main" id="{462C11B3-4A9D-AACB-8555-8C4B956163E4}"/>
              </a:ext>
            </a:extLst>
          </p:cNvPr>
          <p:cNvSpPr/>
          <p:nvPr/>
        </p:nvSpPr>
        <p:spPr>
          <a:xfrm>
            <a:off x="12595781" y="3844680"/>
            <a:ext cx="11072381" cy="1562476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2455;p13">
            <a:extLst>
              <a:ext uri="{FF2B5EF4-FFF2-40B4-BE49-F238E27FC236}">
                <a16:creationId xmlns:a16="http://schemas.microsoft.com/office/drawing/2014/main" id="{77A77259-A894-1D95-9F2B-1106AD284716}"/>
              </a:ext>
            </a:extLst>
          </p:cNvPr>
          <p:cNvSpPr txBox="1"/>
          <p:nvPr/>
        </p:nvSpPr>
        <p:spPr>
          <a:xfrm>
            <a:off x="12595780" y="2532604"/>
            <a:ext cx="11072381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~40% TCO Savings</a:t>
            </a:r>
          </a:p>
        </p:txBody>
      </p:sp>
      <p:sp>
        <p:nvSpPr>
          <p:cNvPr id="61" name="Google Shape;2457;p13">
            <a:extLst>
              <a:ext uri="{FF2B5EF4-FFF2-40B4-BE49-F238E27FC236}">
                <a16:creationId xmlns:a16="http://schemas.microsoft.com/office/drawing/2014/main" id="{3AD59B25-4AA7-6FC8-BB50-2534969D7842}"/>
              </a:ext>
            </a:extLst>
          </p:cNvPr>
          <p:cNvSpPr txBox="1"/>
          <p:nvPr/>
        </p:nvSpPr>
        <p:spPr>
          <a:xfrm>
            <a:off x="12588721" y="14701485"/>
            <a:ext cx="11071287" cy="179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 panose="020B0503020203020204" pitchFamily="34" charset="0"/>
                <a:ea typeface="NVIDIA Sans"/>
                <a:cs typeface="NVIDIA Sans" panose="020B0503020203020204" pitchFamily="34" charset="0"/>
                <a:sym typeface="NVIDIA Sans"/>
              </a:rPr>
              <a:t>Processing time for fuzzy deduplication of RedPajama-v2 subset (8TB/1.78T tokens)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" panose="020B0503020203020204" pitchFamily="34" charset="0"/>
              <a:cs typeface="NVIDIA Sans" panose="020B0503020203020204" pitchFamily="34" charset="0"/>
              <a:sym typeface="Arial"/>
            </a:endParaRPr>
          </a:p>
        </p:txBody>
      </p:sp>
      <p:sp>
        <p:nvSpPr>
          <p:cNvPr id="62" name="Google Shape;2448;p13">
            <a:extLst>
              <a:ext uri="{FF2B5EF4-FFF2-40B4-BE49-F238E27FC236}">
                <a16:creationId xmlns:a16="http://schemas.microsoft.com/office/drawing/2014/main" id="{D85B9278-E38C-79F9-6593-1BE21858AD94}"/>
              </a:ext>
            </a:extLst>
          </p:cNvPr>
          <p:cNvSpPr txBox="1"/>
          <p:nvPr/>
        </p:nvSpPr>
        <p:spPr>
          <a:xfrm>
            <a:off x="17801973" y="5543996"/>
            <a:ext cx="3899087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~40% savings</a:t>
            </a:r>
            <a:endParaRPr kumimoji="0" sz="4000" b="1" i="0" u="none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63" name="Google Shape;2459;p13">
            <a:extLst>
              <a:ext uri="{FF2B5EF4-FFF2-40B4-BE49-F238E27FC236}">
                <a16:creationId xmlns:a16="http://schemas.microsoft.com/office/drawing/2014/main" id="{BD8270E4-6649-2F0F-3615-96614C69D4EE}"/>
              </a:ext>
            </a:extLst>
          </p:cNvPr>
          <p:cNvSpPr/>
          <p:nvPr/>
        </p:nvSpPr>
        <p:spPr>
          <a:xfrm>
            <a:off x="14336199" y="4460875"/>
            <a:ext cx="1772857" cy="8046720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$315</a:t>
            </a:r>
          </a:p>
        </p:txBody>
      </p:sp>
      <p:sp>
        <p:nvSpPr>
          <p:cNvPr id="2432" name="Google Shape;2462;p13">
            <a:extLst>
              <a:ext uri="{FF2B5EF4-FFF2-40B4-BE49-F238E27FC236}">
                <a16:creationId xmlns:a16="http://schemas.microsoft.com/office/drawing/2014/main" id="{7D189B27-D79F-1C70-37D3-CDDC0AEE1FA0}"/>
              </a:ext>
            </a:extLst>
          </p:cNvPr>
          <p:cNvSpPr txBox="1"/>
          <p:nvPr/>
        </p:nvSpPr>
        <p:spPr>
          <a:xfrm>
            <a:off x="18941075" y="12657677"/>
            <a:ext cx="3720084" cy="10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1016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Curator ‘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On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’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cxnSp>
        <p:nvCxnSpPr>
          <p:cNvPr id="2433" name="Google Shape;2465;p13">
            <a:extLst>
              <a:ext uri="{FF2B5EF4-FFF2-40B4-BE49-F238E27FC236}">
                <a16:creationId xmlns:a16="http://schemas.microsoft.com/office/drawing/2014/main" id="{9B3D2265-9B20-1918-510B-BE3F002E16A3}"/>
              </a:ext>
            </a:extLst>
          </p:cNvPr>
          <p:cNvCxnSpPr>
            <a:cxnSpLocks/>
          </p:cNvCxnSpPr>
          <p:nvPr/>
        </p:nvCxnSpPr>
        <p:spPr>
          <a:xfrm>
            <a:off x="13913823" y="12684329"/>
            <a:ext cx="9276095" cy="0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35" name="Google Shape;2467;p13">
            <a:extLst>
              <a:ext uri="{FF2B5EF4-FFF2-40B4-BE49-F238E27FC236}">
                <a16:creationId xmlns:a16="http://schemas.microsoft.com/office/drawing/2014/main" id="{4EAA7300-721E-294B-AF06-09E840C0AAED}"/>
              </a:ext>
            </a:extLst>
          </p:cNvPr>
          <p:cNvSpPr/>
          <p:nvPr/>
        </p:nvSpPr>
        <p:spPr>
          <a:xfrm>
            <a:off x="19956343" y="7656487"/>
            <a:ext cx="1755923" cy="4846320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$190</a:t>
            </a:r>
          </a:p>
        </p:txBody>
      </p:sp>
      <p:cxnSp>
        <p:nvCxnSpPr>
          <p:cNvPr id="2438" name="Straight Arrow Connector 2437">
            <a:extLst>
              <a:ext uri="{FF2B5EF4-FFF2-40B4-BE49-F238E27FC236}">
                <a16:creationId xmlns:a16="http://schemas.microsoft.com/office/drawing/2014/main" id="{1AEDD2D2-F761-C0F9-2EFC-36918C2952BA}"/>
              </a:ext>
            </a:extLst>
          </p:cNvPr>
          <p:cNvCxnSpPr>
            <a:cxnSpLocks/>
          </p:cNvCxnSpPr>
          <p:nvPr/>
        </p:nvCxnSpPr>
        <p:spPr>
          <a:xfrm>
            <a:off x="16140620" y="4507637"/>
            <a:ext cx="3815723" cy="314885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9" name="Google Shape;2472;p13">
            <a:extLst>
              <a:ext uri="{FF2B5EF4-FFF2-40B4-BE49-F238E27FC236}">
                <a16:creationId xmlns:a16="http://schemas.microsoft.com/office/drawing/2014/main" id="{82183180-2037-97C5-5051-A4FFE98A5594}"/>
              </a:ext>
            </a:extLst>
          </p:cNvPr>
          <p:cNvSpPr txBox="1"/>
          <p:nvPr/>
        </p:nvSpPr>
        <p:spPr>
          <a:xfrm>
            <a:off x="12609901" y="16694490"/>
            <a:ext cx="11065321" cy="225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‘On’: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D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ata processed with </a:t>
            </a:r>
            <a:r>
              <a:rPr kumimoji="0" lang="en-US" sz="3600" b="0" i="0" u="none" strike="noStrike" kern="0" cap="none" spc="0" normalizeH="0" baseline="0" noProof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NeMo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 Curator on 3 H100 nodes</a:t>
            </a: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NVIDIA Sans"/>
              <a:cs typeface="NVIDIA San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/>
              <a:cs typeface="NVIDIA San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‘Off’ : Data processed with a leading alternative library on CPUs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/>
              <a:cs typeface="NVIDIA Sans"/>
              <a:sym typeface="Arial"/>
            </a:endParaRPr>
          </a:p>
        </p:txBody>
      </p:sp>
      <p:cxnSp>
        <p:nvCxnSpPr>
          <p:cNvPr id="2442" name="Straight Connector 2441">
            <a:extLst>
              <a:ext uri="{FF2B5EF4-FFF2-40B4-BE49-F238E27FC236}">
                <a16:creationId xmlns:a16="http://schemas.microsoft.com/office/drawing/2014/main" id="{0594ABBC-1855-53C8-DD34-3CEADBBFA452}"/>
              </a:ext>
            </a:extLst>
          </p:cNvPr>
          <p:cNvCxnSpPr>
            <a:cxnSpLocks/>
          </p:cNvCxnSpPr>
          <p:nvPr/>
        </p:nvCxnSpPr>
        <p:spPr>
          <a:xfrm>
            <a:off x="12633571" y="14233144"/>
            <a:ext cx="11041651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4" name="Google Shape;2462;p13">
            <a:extLst>
              <a:ext uri="{FF2B5EF4-FFF2-40B4-BE49-F238E27FC236}">
                <a16:creationId xmlns:a16="http://schemas.microsoft.com/office/drawing/2014/main" id="{7BF94506-2B2E-045F-7294-ED2D14EB8EC9}"/>
              </a:ext>
            </a:extLst>
          </p:cNvPr>
          <p:cNvSpPr txBox="1"/>
          <p:nvPr/>
        </p:nvSpPr>
        <p:spPr>
          <a:xfrm>
            <a:off x="13468835" y="12678698"/>
            <a:ext cx="3720084" cy="10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1016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Curator Off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cxnSp>
        <p:nvCxnSpPr>
          <p:cNvPr id="2445" name="Google Shape;2465;p13">
            <a:extLst>
              <a:ext uri="{FF2B5EF4-FFF2-40B4-BE49-F238E27FC236}">
                <a16:creationId xmlns:a16="http://schemas.microsoft.com/office/drawing/2014/main" id="{AEB93942-1E88-7067-A413-A5FC3F85E663}"/>
              </a:ext>
            </a:extLst>
          </p:cNvPr>
          <p:cNvCxnSpPr>
            <a:cxnSpLocks/>
          </p:cNvCxnSpPr>
          <p:nvPr/>
        </p:nvCxnSpPr>
        <p:spPr>
          <a:xfrm flipV="1">
            <a:off x="13923056" y="4374879"/>
            <a:ext cx="0" cy="8338025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46" name="Google Shape;2462;p13">
            <a:extLst>
              <a:ext uri="{FF2B5EF4-FFF2-40B4-BE49-F238E27FC236}">
                <a16:creationId xmlns:a16="http://schemas.microsoft.com/office/drawing/2014/main" id="{065FBE49-23FA-A460-F32F-0982C74D0F91}"/>
              </a:ext>
            </a:extLst>
          </p:cNvPr>
          <p:cNvSpPr txBox="1"/>
          <p:nvPr/>
        </p:nvSpPr>
        <p:spPr>
          <a:xfrm rot="16200000">
            <a:off x="9279969" y="8115472"/>
            <a:ext cx="8231302" cy="92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1016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Total Cost of Ownership (TCO)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6529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Curator Pipeline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Python-composable stages; output is training-ready JSONL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7315200"/>
            <a:ext cx="4754880" cy="5852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ownload-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8046720"/>
            <a:ext cx="21945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10789920"/>
            <a:ext cx="4754880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NVIDIA Sans Medium"/>
              </a:rPr>
              <a:t>Download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627571" y="9692640"/>
            <a:ext cx="790042" cy="109728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61504" y="7315200"/>
            <a:ext cx="4754880" cy="5852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oc-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4" y="8046720"/>
            <a:ext cx="2194560" cy="2194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61504" y="10789920"/>
            <a:ext cx="4754880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NVIDIA Sans Medium"/>
              </a:rPr>
              <a:t>Extract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2260275" y="9692640"/>
            <a:ext cx="790042" cy="109728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094208" y="7315200"/>
            <a:ext cx="4754880" cy="5852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74368" y="8046720"/>
            <a:ext cx="2194560" cy="2194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094208" y="10789920"/>
            <a:ext cx="4754880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NVIDIA Sans Medium"/>
              </a:rPr>
              <a:t>LangID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7892979" y="9692640"/>
            <a:ext cx="790042" cy="109728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8726912" y="7315200"/>
            <a:ext cx="4754880" cy="5852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accura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7072" y="8046720"/>
            <a:ext cx="2194560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726912" y="10789920"/>
            <a:ext cx="4754880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NVIDIA Sans Medium"/>
              </a:rPr>
              <a:t>Filter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3525683" y="9692640"/>
            <a:ext cx="790042" cy="109728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4359616" y="7315200"/>
            <a:ext cx="4754880" cy="5852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lassific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39776" y="8046720"/>
            <a:ext cx="2194560" cy="21945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4359616" y="10789920"/>
            <a:ext cx="4754880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NVIDIA Sans Medium"/>
              </a:rPr>
              <a:t>Dedup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9158387" y="9692640"/>
            <a:ext cx="790042" cy="109728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9992320" y="7315200"/>
            <a:ext cx="4754880" cy="5852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ock-clo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72480" y="8046720"/>
            <a:ext cx="2194560" cy="21945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992320" y="10789920"/>
            <a:ext cx="4754880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NVIDIA Sans Medium"/>
              </a:rPr>
              <a:t>Redact + Classify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14630400"/>
            <a:ext cx="15361920" cy="31089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0" y="14630400"/>
            <a:ext cx="15361920" cy="31089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5E5E5E"/>
                </a:solidFill>
                <a:latin typeface="NVIDIA Sans"/>
              </a:rPr>
              <a:t>INPUT: raw text / PDFs / CSVs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385280" y="14630400"/>
            <a:ext cx="15361920" cy="310896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9385280" y="14630400"/>
            <a:ext cx="15361920" cy="31089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76B900"/>
                </a:solidFill>
                <a:latin typeface="NVIDIA Sans"/>
              </a:rPr>
              <a:t>OUTPUT: training-ready JSONL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Curator → NeMo Framework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No glue code — JSONL feeds AutoModel / Megatron-Bridge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94560" y="6583680"/>
            <a:ext cx="13898880" cy="9509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94560" y="7132320"/>
            <a:ext cx="1389888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6000" b="1" i="0">
                <a:solidFill>
                  <a:srgbClr val="76B900"/>
                </a:solidFill>
                <a:latin typeface="NVIDIA Sans Medium"/>
              </a:rPr>
              <a:t>NeMo Curator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9144000"/>
            <a:ext cx="12070080" cy="69494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Outputs canonical JSONL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One field per record: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  { id, text, metadata, ... }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Token-stats summary.json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Per-source provenance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Layer-segregated by use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(CPT level_1 / level_2 / SFT)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642080" y="10058400"/>
            <a:ext cx="3657600" cy="219456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42080" y="12435840"/>
            <a:ext cx="36576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1" i="0">
                <a:solidFill>
                  <a:srgbClr val="76B900"/>
                </a:solidFill>
                <a:latin typeface="Consolas"/>
              </a:rPr>
              <a:t>JSONL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848320" y="6583680"/>
            <a:ext cx="13533120" cy="9509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48320" y="7132320"/>
            <a:ext cx="1353312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6000" b="1" i="0">
                <a:solidFill>
                  <a:srgbClr val="008564"/>
                </a:solidFill>
                <a:latin typeface="NVIDIA Sans Medium"/>
              </a:rPr>
              <a:t>NeMo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0" y="9144000"/>
            <a:ext cx="11704320" cy="69494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AutoModel — HF-native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Megatron-Bridge — max scale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NeMo RL — post-training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NeMo Gym — recipe library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Same container reads JSONL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  with no schema munging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6824960"/>
            <a:ext cx="3218688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400" b="0" i="1">
                <a:solidFill>
                  <a:srgbClr val="5E5E5E"/>
                </a:solidFill>
                <a:latin typeface="NVIDIA Sans"/>
              </a:rPr>
              <a:t>One contract, one file format, no schema translation — Curator is built for NeMo from day 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FineWeb / Dolma Pattern — Joint Dedup, Segregated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How modern domain corpora avoid duplicate leakage across training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94560" y="6217920"/>
            <a:ext cx="15727680" cy="1170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94560" y="6766560"/>
            <a:ext cx="1572768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76B900"/>
                </a:solidFill>
                <a:latin typeface="NVIDIA Sans Medium"/>
              </a:rPr>
              <a:t>1. Joint dedup pool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8961120"/>
            <a:ext cx="13533120" cy="7315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40480" y="950976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9509760"/>
            <a:ext cx="25603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NVIDIA Sans"/>
              </a:rPr>
              <a:t>L1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950976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9509760"/>
            <a:ext cx="25603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NVIDIA Sans"/>
              </a:rPr>
              <a:t>L2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950976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0" y="9509760"/>
            <a:ext cx="25603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NVIDIA Sans"/>
              </a:rPr>
              <a:t>L2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618720" y="950976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618720" y="9509760"/>
            <a:ext cx="25603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NVIDIA Sans"/>
              </a:rPr>
              <a:t>L1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1115568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0" y="11155680"/>
            <a:ext cx="25603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NVIDIA Sans"/>
              </a:rPr>
              <a:t>L2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1115568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11155680"/>
            <a:ext cx="25603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NVIDIA Sans"/>
              </a:rPr>
              <a:t>L2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115568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11155680"/>
            <a:ext cx="25603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NVIDIA Sans"/>
              </a:rPr>
              <a:t>L1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618720" y="1115568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618720" y="11155680"/>
            <a:ext cx="25603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NVIDIA Sans"/>
              </a:rPr>
              <a:t>L2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16459200"/>
            <a:ext cx="1353312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All sources hash-compared once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653760" y="6217920"/>
            <a:ext cx="15727680" cy="1170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653760" y="6766560"/>
            <a:ext cx="1572768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76B900"/>
                </a:solidFill>
                <a:latin typeface="NVIDIA Sans Medium"/>
              </a:rPr>
              <a:t>2. Segregated write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751040" y="8961120"/>
            <a:ext cx="6217920" cy="7315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751040" y="9326880"/>
            <a:ext cx="621792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400" b="1" i="0">
                <a:solidFill>
                  <a:srgbClr val="76B900"/>
                </a:solidFill>
                <a:latin typeface="NVIDIA Sans"/>
              </a:rPr>
              <a:t>L1 — broad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299680" y="10789920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0299680" y="11960352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0299680" y="13130784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0299680" y="14301216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6700480" y="8961120"/>
            <a:ext cx="6217920" cy="7315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700480" y="9326880"/>
            <a:ext cx="621792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400" b="1" i="0">
                <a:solidFill>
                  <a:srgbClr val="008564"/>
                </a:solidFill>
                <a:latin typeface="NVIDIA Sans"/>
              </a:rPr>
              <a:t>L2 — AML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249120" y="10789920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 w="63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7249120" y="11960352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 w="63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7249120" y="13130784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 w="63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7249120" y="14301216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 w="63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751040" y="16459200"/>
            <a:ext cx="1316736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Each layer ships pure to training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18288000"/>
            <a:ext cx="32186880" cy="9144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Joint dedup eliminates L1↔L2 duplicates · Segregated write enables curriculum-style training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Our AML Corpus — L1 + L2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What Curator chews through for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6217920"/>
            <a:ext cx="15727680" cy="1207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6766560"/>
            <a:ext cx="1572768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6000" b="1" i="0">
                <a:solidFill>
                  <a:srgbClr val="76B900"/>
                </a:solidFill>
                <a:latin typeface="NVIDIA Sans Medium"/>
              </a:rPr>
              <a:t>L1 — Broad Financial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8778240"/>
            <a:ext cx="1572768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800" b="0" i="0">
                <a:solidFill>
                  <a:srgbClr val="5E5E5E"/>
                </a:solidFill>
                <a:latin typeface="NVIDIA Sans"/>
              </a:rPr>
              <a:t>3,157 M tokens · 8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0789920"/>
            <a:ext cx="1353312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"/>
              </a:rPr>
              <a:t>Source mix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2252960"/>
            <a:ext cx="10790651" cy="164592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12252960"/>
            <a:ext cx="10790651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NVIDIA Sans"/>
              </a:rPr>
              <a:t>EDGAR  89.4%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899611" y="12252960"/>
            <a:ext cx="1279429" cy="1645920"/>
          </a:xfrm>
          <a:prstGeom prst="roundRect">
            <a:avLst>
              <a:gd name="adj" fmla="val 4000"/>
            </a:avLst>
          </a:prstGeom>
          <a:solidFill>
            <a:srgbClr val="5E5E5E"/>
          </a:solidFill>
          <a:ln w="635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4081760"/>
            <a:ext cx="1207008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1">
                <a:solidFill>
                  <a:srgbClr val="5E5E5E"/>
                </a:solidFill>
                <a:latin typeface="NVIDIA Sans"/>
              </a:rPr>
              <a:t>+ 7 other sources · 10.6%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6459200"/>
            <a:ext cx="1353312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Goal: broad financial register fluency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653760" y="6217920"/>
            <a:ext cx="15727680" cy="1207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653760" y="6766560"/>
            <a:ext cx="1572768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6000" b="1" i="0">
                <a:solidFill>
                  <a:srgbClr val="008564"/>
                </a:solidFill>
                <a:latin typeface="NVIDIA Sans Medium"/>
              </a:rPr>
              <a:t>L2 — AML-Specific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0" y="8778240"/>
            <a:ext cx="1572768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800" b="0" i="0">
                <a:solidFill>
                  <a:srgbClr val="5E5E5E"/>
                </a:solidFill>
                <a:latin typeface="NVIDIA Sans"/>
              </a:rPr>
              <a:t>40.3 M tokens · 9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0" y="10789920"/>
            <a:ext cx="1353312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"/>
              </a:rPr>
              <a:t>Source mix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751040" y="12252960"/>
            <a:ext cx="6631228" cy="164592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 w="63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751040" y="12252960"/>
            <a:ext cx="6631228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NVIDIA Sans"/>
              </a:rPr>
              <a:t>FinCEN  49%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382268" y="12252960"/>
            <a:ext cx="6089904" cy="1645920"/>
          </a:xfrm>
          <a:prstGeom prst="roundRect">
            <a:avLst>
              <a:gd name="adj" fmla="val 4000"/>
            </a:avLst>
          </a:prstGeom>
          <a:solidFill>
            <a:srgbClr val="00B080"/>
          </a:solidFill>
          <a:ln w="6350">
            <a:solidFill>
              <a:srgbClr val="00B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382268" y="12252960"/>
            <a:ext cx="6089904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NVIDIA Sans"/>
              </a:rPr>
              <a:t>OFAC  45%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72172" y="12252960"/>
            <a:ext cx="811988" cy="1645920"/>
          </a:xfrm>
          <a:prstGeom prst="roundRect">
            <a:avLst>
              <a:gd name="adj" fmla="val 4000"/>
            </a:avLst>
          </a:prstGeom>
          <a:solidFill>
            <a:srgbClr val="5E5E5E"/>
          </a:solidFill>
          <a:ln w="635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751040" y="14081760"/>
            <a:ext cx="1353312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1">
                <a:solidFill>
                  <a:srgbClr val="5E5E5E"/>
                </a:solidFill>
                <a:latin typeface="NVIDIA Sans"/>
              </a:rPr>
              <a:t>+ FATF, courtlistener · 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751040" y="16459200"/>
            <a:ext cx="1353312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Goal: regulator-grade vocabulary + statute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Token Impact — Before vs After Curator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Joint dedup + quality filter on our L1+L2 pool (million tokens)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94560" y="12893040"/>
            <a:ext cx="24871680" cy="18288"/>
          </a:xfrm>
          <a:prstGeom prst="rect">
            <a:avLst/>
          </a:pr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94560" y="10789920"/>
            <a:ext cx="24871680" cy="18288"/>
          </a:xfrm>
          <a:prstGeom prst="rect">
            <a:avLst/>
          </a:pr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4560" y="8686800"/>
            <a:ext cx="24871680" cy="18288"/>
          </a:xfrm>
          <a:prstGeom prst="rect">
            <a:avLst/>
          </a:pr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94560" y="6583680"/>
            <a:ext cx="24871680" cy="18288"/>
          </a:xfrm>
          <a:prstGeom prst="rect">
            <a:avLst/>
          </a:pr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9597" y="6688935"/>
            <a:ext cx="2652979" cy="8307225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47104" y="9459765"/>
            <a:ext cx="2652979" cy="553639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9597" y="5408775"/>
            <a:ext cx="2652979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5E5E5E"/>
                </a:solidFill>
                <a:latin typeface="NVIDIA Sans"/>
              </a:rPr>
              <a:t>3157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8179605"/>
            <a:ext cx="2652979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76B900"/>
                </a:solidFill>
                <a:latin typeface="NVIDIA Sans"/>
              </a:rPr>
              <a:t>2104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5252192"/>
            <a:ext cx="8290560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NVIDIA Sans Medium"/>
              </a:rPr>
              <a:t>L1 broad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770157" y="14890906"/>
            <a:ext cx="2652979" cy="105254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4837664" y="14904063"/>
            <a:ext cx="2652979" cy="92097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70157" y="13610746"/>
            <a:ext cx="2652979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5E5E5E"/>
                </a:solidFill>
                <a:latin typeface="NVIDIA Sans"/>
              </a:rP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37664" y="13623903"/>
            <a:ext cx="2652979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76B900"/>
                </a:solidFill>
                <a:latin typeface="NVIDIA Sans"/>
              </a:rPr>
              <a:t>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85120" y="15252192"/>
            <a:ext cx="8290560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NVIDIA Sans Medium"/>
              </a:rPr>
              <a:t>L2 AML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060717" y="6583680"/>
            <a:ext cx="2652979" cy="8412480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3128224" y="9367667"/>
            <a:ext cx="2652979" cy="5628493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060717" y="5303520"/>
            <a:ext cx="2652979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5E5E5E"/>
                </a:solidFill>
                <a:latin typeface="NVIDIA Sans"/>
              </a:rPr>
              <a:t>3197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128224" y="8087507"/>
            <a:ext cx="2652979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76B900"/>
                </a:solidFill>
                <a:latin typeface="NVIDIA Sans"/>
              </a:rPr>
              <a:t>2139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75680" y="15252192"/>
            <a:ext cx="8290560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NVIDIA Sans Medium"/>
              </a:rPr>
              <a:t>Combined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14996160"/>
            <a:ext cx="24871680" cy="54864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972800" y="4937760"/>
            <a:ext cx="731520" cy="731520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200" y="4864608"/>
            <a:ext cx="3108960" cy="9144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Before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179040" y="4937760"/>
            <a:ext cx="731520" cy="7315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093440" y="4864608"/>
            <a:ext cx="2560320" cy="9144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76B900"/>
                </a:solidFill>
                <a:latin typeface="NVIDIA Sans"/>
              </a:rPr>
              <a:t>After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63520" y="6217920"/>
            <a:ext cx="6766560" cy="10972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346400" y="6583680"/>
            <a:ext cx="640080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 Medium"/>
              </a:rPr>
              <a:t>What dropped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29280" y="8412480"/>
            <a:ext cx="621792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33%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29280" y="9509760"/>
            <a:ext cx="621792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5E5E5E"/>
                </a:solidFill>
                <a:latin typeface="NVIDIA Sans"/>
              </a:rPr>
              <a:t>EDGAR cross-filing dupes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29280" y="10607040"/>
            <a:ext cx="621792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29280" y="11704320"/>
            <a:ext cx="621792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5E5E5E"/>
                </a:solidFill>
                <a:latin typeface="NVIDIA Sans"/>
              </a:rPr>
              <a:t>Low-quality boilerplate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29280" y="12801600"/>
            <a:ext cx="621792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529280" y="13898880"/>
            <a:ext cx="621792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5E5E5E"/>
                </a:solidFill>
                <a:latin typeface="NVIDIA Sans"/>
              </a:rPr>
              <a:t>Mid-confidence langID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0" y="14996160"/>
            <a:ext cx="621792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0.4%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29280" y="16093440"/>
            <a:ext cx="621792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200" b="0" i="0">
                <a:solidFill>
                  <a:srgbClr val="5E5E5E"/>
                </a:solidFill>
                <a:latin typeface="NVIDIA Sans"/>
              </a:rPr>
              <a:t>PII-heavy outliers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18470880"/>
            <a:ext cx="32186880" cy="9144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Indicative numbers — your AML hands-on (M5.2) reports the exact deltas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What Curator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Pick the right tool — Curator is the data prep, not the labeller or evaluator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60320" y="6217920"/>
            <a:ext cx="10424160" cy="10972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0" y="6217920"/>
            <a:ext cx="10424160" cy="1645920"/>
          </a:xfrm>
          <a:prstGeom prst="rect">
            <a:avLst/>
          </a:prstGeom>
          <a:solidFill>
            <a:srgbClr val="890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0" y="6217920"/>
            <a:ext cx="1042416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NVIDIA Sans Medium"/>
              </a:rPr>
              <a:t>NOT this</a:t>
            </a:r>
          </a:p>
        </p:txBody>
      </p:sp>
      <p:pic>
        <p:nvPicPr>
          <p:cNvPr id="9" name="Picture 8" descr="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8778240"/>
            <a:ext cx="292608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91840" y="12252960"/>
            <a:ext cx="896112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5200" b="1" i="0">
                <a:solidFill>
                  <a:srgbClr val="000000"/>
                </a:solidFill>
                <a:latin typeface="NVIDIA Sans Medium"/>
              </a:rPr>
              <a:t>NeMo Data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3715999"/>
            <a:ext cx="8961120" cy="18288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Synthesise labels / Q&amp;A pairs / preference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5544800"/>
            <a:ext cx="896112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76B900"/>
                </a:solidFill>
                <a:latin typeface="NVIDIA Sans Medium"/>
              </a:rPr>
              <a:t>→ use for SFT and RL corpora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533120" y="6217920"/>
            <a:ext cx="10424160" cy="10972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533120" y="6217920"/>
            <a:ext cx="10424160" cy="1645920"/>
          </a:xfrm>
          <a:prstGeom prst="rect">
            <a:avLst/>
          </a:prstGeom>
          <a:solidFill>
            <a:srgbClr val="890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0" y="6217920"/>
            <a:ext cx="1042416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NVIDIA Sans Medium"/>
              </a:rPr>
              <a:t>NOT this</a:t>
            </a:r>
          </a:p>
        </p:txBody>
      </p:sp>
      <p:pic>
        <p:nvPicPr>
          <p:cNvPr id="16" name="Picture 15" descr="accur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2160" y="8778240"/>
            <a:ext cx="2926080" cy="2926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264640" y="12252960"/>
            <a:ext cx="896112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5200" b="1" i="0">
                <a:solidFill>
                  <a:srgbClr val="000000"/>
                </a:solidFill>
                <a:latin typeface="NVIDIA Sans Medium"/>
              </a:rPr>
              <a:t>NeMo Evaluator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4640" y="13715999"/>
            <a:ext cx="8961120" cy="18288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Grade model outputs vs benchmarks or rubrics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0" y="15544800"/>
            <a:ext cx="896112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76B900"/>
                </a:solidFill>
                <a:latin typeface="NVIDIA Sans Medium"/>
              </a:rPr>
              <a:t>→ use after training to measure quality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505920" y="6217920"/>
            <a:ext cx="10424160" cy="10972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505920" y="6217920"/>
            <a:ext cx="10424160" cy="1645920"/>
          </a:xfrm>
          <a:prstGeom prst="rect">
            <a:avLst/>
          </a:prstGeom>
          <a:solidFill>
            <a:srgbClr val="890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505920" y="6217920"/>
            <a:ext cx="1042416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NVIDIA Sans Medium"/>
              </a:rPr>
              <a:t>NOT this</a:t>
            </a:r>
          </a:p>
        </p:txBody>
      </p:sp>
      <p:pic>
        <p:nvPicPr>
          <p:cNvPr id="23" name="Picture 22" descr="cloud-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4960" y="8778240"/>
            <a:ext cx="2926080" cy="29260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5237440" y="12252960"/>
            <a:ext cx="896112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5200" b="1" i="0">
                <a:solidFill>
                  <a:srgbClr val="000000"/>
                </a:solidFill>
                <a:latin typeface="NVIDIA Sans Medium"/>
              </a:rPr>
              <a:t>NeMo Retriever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7440" y="13715999"/>
            <a:ext cx="8961120" cy="18288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Embed + rerank for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37440" y="15544800"/>
            <a:ext cx="896112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76B900"/>
                </a:solidFill>
                <a:latin typeface="NVIDIA Sans Medium"/>
              </a:rPr>
              <a:t>→ use at inference time, not training-data prep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What You'll Do — M5.2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75 minutes of running Curator on a slice of the AML corpus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6217920"/>
            <a:ext cx="10789920" cy="5303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377440" y="6876288"/>
            <a:ext cx="1645920" cy="164592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6876288"/>
            <a:ext cx="164592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949440"/>
            <a:ext cx="78638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Load slice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8961120"/>
            <a:ext cx="9692640" cy="23774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Mount a 100-MB subset of L1 + L2 raw JSONL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984480" y="6217920"/>
            <a:ext cx="10789920" cy="5303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533120" y="6876288"/>
            <a:ext cx="1645920" cy="164592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33120" y="6876288"/>
            <a:ext cx="164592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0" y="6949440"/>
            <a:ext cx="78638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Run dedup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42848" y="8961120"/>
            <a:ext cx="9692640" cy="23774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Joint exact + fuzzy dedup with cuDF + cuGraph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40160" y="6217920"/>
            <a:ext cx="10789920" cy="5303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4688800" y="6876288"/>
            <a:ext cx="1645920" cy="164592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688800" y="6876288"/>
            <a:ext cx="164592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0" y="6949440"/>
            <a:ext cx="78638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Quality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98528" y="8961120"/>
            <a:ext cx="9692640" cy="23774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Heuristic + classifier; inspect the reject pile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12252960"/>
            <a:ext cx="10789920" cy="5303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77440" y="12911328"/>
            <a:ext cx="1645920" cy="164592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77440" y="12911328"/>
            <a:ext cx="164592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12984480"/>
            <a:ext cx="78638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Redact PII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14996160"/>
            <a:ext cx="9692640" cy="23774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Presidio-backed pass over financial entity records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984480" y="12252960"/>
            <a:ext cx="10789920" cy="5303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533120" y="12911328"/>
            <a:ext cx="1645920" cy="164592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533120" y="12911328"/>
            <a:ext cx="164592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0" y="12984480"/>
            <a:ext cx="78638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Write segregated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642848" y="14996160"/>
            <a:ext cx="9692640" cy="23774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L1 → cpt/level_1/  ·  L2 → cpt/level_2/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140160" y="12252960"/>
            <a:ext cx="10789920" cy="5303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4688800" y="12911328"/>
            <a:ext cx="1645920" cy="164592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688800" y="12911328"/>
            <a:ext cx="164592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00480" y="12984480"/>
            <a:ext cx="78638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Diff stats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798528" y="14996160"/>
            <a:ext cx="9692640" cy="23774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Compare token counts before / after; verify provenance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17922240"/>
            <a:ext cx="3291840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1" i="1">
                <a:solidFill>
                  <a:srgbClr val="76B900"/>
                </a:solidFill>
                <a:latin typeface="Consolas"/>
              </a:rPr>
              <a:t>Notebook: NB-2  ·  02_nemo_curator.ipynb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8046720"/>
            <a:ext cx="32918400" cy="29260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800" b="1" i="0">
                <a:solidFill>
                  <a:srgbClr val="76B900"/>
                </a:solidFill>
                <a:latin typeface="NVIDIA Sans Medium"/>
              </a:rPr>
              <a:t>From 300 GB of mess to trainable JSONL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1338560"/>
            <a:ext cx="32918400" cy="21945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5600" b="0" i="1">
                <a:solidFill>
                  <a:srgbClr val="5E5E5E"/>
                </a:solidFill>
                <a:latin typeface="NVIDIA Sans"/>
              </a:rPr>
              <a:t>Next up: NeMo Data Designer for SFT corpus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4000" dirty="0" err="1">
            <a:solidFill>
              <a:schemeClr val="tx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4000" dirty="0" err="1" smtClean="0">
            <a:solidFill>
              <a:schemeClr val="bg1"/>
            </a:solidFill>
            <a:latin typeface="NVIDIA Sans" panose="020B0503020203020204" pitchFamily="34" charset="0"/>
            <a:cs typeface="NVIDIA Sans" panose="020B05030202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Sans_Corp_Template_LIGHT_v2_NewKV.pptx" id="{2CB1BC51-CEBF-4125-BC6C-FB23D6874A8C}" vid="{0B679A5A-A7BB-445D-B89B-5017F750351A}"/>
    </a:ext>
  </a:extLst>
</a:theme>
</file>

<file path=ppt/theme/theme2.xml><?xml version="1.0" encoding="utf-8"?>
<a:theme xmlns:a="http://schemas.openxmlformats.org/drawingml/2006/main" name="1_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5EAE5F8329F47B840B6DEBAC2F43F" ma:contentTypeVersion="15" ma:contentTypeDescription="Create a new document." ma:contentTypeScope="" ma:versionID="39d09db77ad425bdbc3d080218c7c01e">
  <xsd:schema xmlns:xsd="http://www.w3.org/2001/XMLSchema" xmlns:xs="http://www.w3.org/2001/XMLSchema" xmlns:p="http://schemas.microsoft.com/office/2006/metadata/properties" xmlns:ns1="http://schemas.microsoft.com/sharepoint/v3" xmlns:ns2="2a5b1eea-32a8-4673-8d38-de3226caeee3" xmlns:ns3="f65afe6d-7162-4df4-ae98-80745cab72d4" targetNamespace="http://schemas.microsoft.com/office/2006/metadata/properties" ma:root="true" ma:fieldsID="262224961ea4106f8e7d0f360b05b90c" ns1:_="" ns2:_="" ns3:_="">
    <xsd:import namespace="http://schemas.microsoft.com/sharepoint/v3"/>
    <xsd:import namespace="2a5b1eea-32a8-4673-8d38-de3226caeee3"/>
    <xsd:import namespace="f65afe6d-7162-4df4-ae98-80745cab72d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b1eea-32a8-4673-8d38-de3226cae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04b2a00-2846-4002-b30b-85ebaf4c01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afe6d-7162-4df4-ae98-80745cab72d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9d4e2c1-4547-4ca0-9568-b573cd0c84c4}" ma:internalName="TaxCatchAll" ma:showField="CatchAllData" ma:web="f65afe6d-7162-4df4-ae98-80745cab7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65afe6d-7162-4df4-ae98-80745cab72d4" xsi:nil="true"/>
    <PublishingExpirationDate xmlns="http://schemas.microsoft.com/sharepoint/v3" xsi:nil="true"/>
    <PublishingStartDate xmlns="http://schemas.microsoft.com/sharepoint/v3" xsi:nil="true"/>
    <lcf76f155ced4ddcb4097134ff3c332f xmlns="2a5b1eea-32a8-4673-8d38-de3226caeee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B8F5C1-CC17-4575-A1B9-9EB541A76E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a5b1eea-32a8-4673-8d38-de3226caeee3"/>
    <ds:schemaRef ds:uri="f65afe6d-7162-4df4-ae98-80745cab72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4C7E1E-6C20-440E-941A-535F1A24C0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www.w3.org/XML/1998/namespace"/>
    <ds:schemaRef ds:uri="http://schemas.microsoft.com/office/2006/metadata/properties"/>
    <ds:schemaRef ds:uri="http://purl.org/dc/elements/1.1/"/>
    <ds:schemaRef ds:uri="f65afe6d-7162-4df4-ae98-80745cab72d4"/>
    <ds:schemaRef ds:uri="http://schemas.microsoft.com/office/infopath/2007/PartnerControls"/>
    <ds:schemaRef ds:uri="http://schemas.openxmlformats.org/package/2006/metadata/core-properties"/>
    <ds:schemaRef ds:uri="2a5b1eea-32a8-4673-8d38-de3226caeee3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65AC8C1-8675-4762-89BF-D102E51271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1990</TotalTime>
  <Words>2653</Words>
  <Application>Microsoft Macintosh PowerPoint</Application>
  <PresentationFormat>Custom</PresentationFormat>
  <Paragraphs>437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</vt:lpstr>
      <vt:lpstr>Consolas</vt:lpstr>
      <vt:lpstr>Kokila</vt:lpstr>
      <vt:lpstr>Noto Sans Symbols</vt:lpstr>
      <vt:lpstr>NVIDIA Sans</vt:lpstr>
      <vt:lpstr>NVIDIA Sans Light</vt:lpstr>
      <vt:lpstr>NVIDIA Sans Medium</vt:lpstr>
      <vt:lpstr>Roboto Mono</vt:lpstr>
      <vt:lpstr>Trebuchet MS</vt:lpstr>
      <vt:lpstr>Wingdings</vt:lpstr>
      <vt:lpstr>Wingdings,Sans-Serif</vt:lpstr>
      <vt:lpstr>Title Only</vt:lpstr>
      <vt:lpstr>1_Title Only</vt:lpstr>
      <vt:lpstr>NeMo Curator</vt:lpstr>
      <vt:lpstr>NeMo Curator -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NeMo Curator - Classifier Models</vt:lpstr>
      <vt:lpstr>NeMo Curator - Classifier Models</vt:lpstr>
      <vt:lpstr>NeMo Curator - Deduplication</vt:lpstr>
      <vt:lpstr>PowerPoint Presentation</vt:lpstr>
      <vt:lpstr>PowerPoint Presentation</vt:lpstr>
      <vt:lpstr>NeMo Curator - Text: World-Class Benchmarks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Spillman</dc:creator>
  <cp:lastModifiedBy>Swaminathan B S</cp:lastModifiedBy>
  <cp:revision>16</cp:revision>
  <dcterms:created xsi:type="dcterms:W3CDTF">2023-07-05T16:37:04Z</dcterms:created>
  <dcterms:modified xsi:type="dcterms:W3CDTF">2026-06-01T11:07:00Z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0x010100A145EAE5F8329F47B840B6DEBAC2F43F</vt:lpwstr>
  </property>
  <property fmtid="{D5CDD505-2E9C-101B-9397-08002B2CF9AE}" pid="3" name="MediaServiceImageTags">
    <vt:lpwstr/>
  </property>
</Properties>
</file>
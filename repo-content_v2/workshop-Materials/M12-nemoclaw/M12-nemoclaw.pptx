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4"/>
  </p:notesMasterIdLst>
  <p:handoutMasterIdLst>
    <p:handoutMasterId r:id="rId25"/>
  </p:handoutMasterIdLst>
  <p:sldIdLst>
    <p:sldId id="266" r:id="rId5"/>
    <p:sldId id="267" r:id="rId6"/>
    <p:sldId id="268" r:id="rId7"/>
    <p:sldId id="269" r:id="rId8"/>
    <p:sldId id="270" r:id="rId9"/>
    <p:sldId id="257" r:id="rId10"/>
    <p:sldId id="258" r:id="rId11"/>
    <p:sldId id="259" r:id="rId12"/>
    <p:sldId id="261" r:id="rId13"/>
    <p:sldId id="262" r:id="rId14"/>
    <p:sldId id="263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65" r:id="rId23"/>
  </p:sldIdLst>
  <p:sldSz cx="36576000" cy="2057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D1D1D1"/>
    <a:srgbClr val="C0C0C0"/>
    <a:srgbClr val="B8B8B8"/>
    <a:srgbClr val="151617"/>
    <a:srgbClr val="FAC200"/>
    <a:srgbClr val="9E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699" autoAdjust="0"/>
    <p:restoredTop sz="96391" autoAdjust="0"/>
  </p:normalViewPr>
  <p:slideViewPr>
    <p:cSldViewPr snapToGrid="0">
      <p:cViewPr varScale="1">
        <p:scale>
          <a:sx n="41" d="100"/>
          <a:sy n="41" d="100"/>
        </p:scale>
        <p:origin x="768" y="216"/>
      </p:cViewPr>
      <p:guideLst/>
    </p:cSldViewPr>
  </p:slideViewPr>
  <p:outlineViewPr>
    <p:cViewPr>
      <p:scale>
        <a:sx n="33" d="100"/>
        <a:sy n="33" d="100"/>
      </p:scale>
      <p:origin x="0" y="-1581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83" d="100"/>
          <a:sy n="83" d="100"/>
        </p:scale>
        <p:origin x="2214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234FAB7-7DF1-470D-9D24-E6B58A84B80C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77346" y="8736014"/>
            <a:ext cx="963023" cy="331788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E88521-8FCE-4BCB-8B67-37305855271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C0846B-0977-4E9D-973A-F0EA2C10623B}" type="datetimeFigureOut">
              <a:rPr lang="en-US" smtClean="0">
                <a:latin typeface="NVIDIA Sans" panose="020B0503020203020204" pitchFamily="34" charset="0"/>
                <a:cs typeface="NVIDIA Sans" panose="020B0503020203020204" pitchFamily="34" charset="0"/>
              </a:rPr>
              <a:t>6/3/26</a:t>
            </a:fld>
            <a:endParaRPr lang="en-US">
              <a:latin typeface="NVIDIA Sans" panose="020B0503020203020204" pitchFamily="34" charset="0"/>
              <a:cs typeface="NVIDIA Sans" panose="020B0503020203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0820F8-FB5B-4060-9702-8BB4F61830F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l"/>
            <a:fld id="{6212FBFF-564E-4199-8DDC-2B82D308BF1D}" type="slidenum">
              <a:rPr lang="en-US" smtClean="0">
                <a:latin typeface="NVIDIA Sans" panose="020B0503020203020204" pitchFamily="34" charset="0"/>
                <a:cs typeface="NVIDIA Sans" panose="020B0503020203020204" pitchFamily="34" charset="0"/>
              </a:rPr>
              <a:pPr algn="l"/>
              <a:t>‹#›</a:t>
            </a:fld>
            <a:endParaRPr lang="en-US">
              <a:latin typeface="NVIDIA Sans" panose="020B0503020203020204" pitchFamily="34" charset="0"/>
              <a:cs typeface="NVIDIA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20782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fld id="{354A8664-169C-4436-81C8-E492002C26A5}" type="datetimeFigureOut">
              <a:rPr lang="en-US" smtClean="0"/>
              <a:pPr/>
              <a:t>6/3/26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fld id="{A93AD357-0C40-4436-9D38-C47D60C1C9C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23E2AA-C3B7-40F1-8870-35AD3374F0C6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77346" y="8736014"/>
            <a:ext cx="963023" cy="331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8938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NVIDIA Sans" panose="020B0503020203020204" pitchFamily="34" charset="0"/>
        <a:ea typeface="+mn-ea"/>
        <a:cs typeface="NVIDIA Sans" panose="020B0503020203020204" pitchFamily="34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NVIDIA Sans" panose="020B0503020203020204" pitchFamily="34" charset="0"/>
        <a:ea typeface="+mn-ea"/>
        <a:cs typeface="NVIDIA Sans" panose="020B0503020203020204" pitchFamily="34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NVIDIA Sans" panose="020B0503020203020204" pitchFamily="34" charset="0"/>
        <a:ea typeface="+mn-ea"/>
        <a:cs typeface="NVIDIA Sans" panose="020B0503020203020204" pitchFamily="34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NVIDIA Sans" panose="020B0503020203020204" pitchFamily="34" charset="0"/>
        <a:ea typeface="+mn-ea"/>
        <a:cs typeface="NVIDIA Sans" panose="020B0503020203020204" pitchFamily="34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NVIDIA Sans" panose="020B0503020203020204" pitchFamily="34" charset="0"/>
        <a:ea typeface="+mn-ea"/>
        <a:cs typeface="NVIDIA Sans" panose="020B0503020203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Frame the problem before introducing NemoClaw. Agents are useful exactly because they have broad access; safety is about *bounded* access, not blocking access.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9390322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Single sentence pitch: one-command-install that adds privacy + security controls to an existing OpenClaw agent. The alpha banner is important — set expectations.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0202573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Four-layer mental model. The two middle layers (NemoClaw + OpenShell) are what NVIDIA adds.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8690178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Container-style isolation but with explicit policy enforcement on every action — stronger than vanilla Docker.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7784216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Deny-by-default is the security posture. The TUI is your human-in-the-loop approval mechanism — minutes of pain, decades of safety.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7078960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Privacy router is the headline feature. Local by default; cloud only when explicitly policy-allowed and the gateway is the chokepoint.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7500068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62FD2D-961E-9785-E62B-9391D2125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DE4476-8A82-9039-C9C8-72D12C287B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1BCD1D-129A-7A1F-6D34-55905D8623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19411E-49A3-6A1C-476B-A678409E62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42740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Transition to the live demo. Open a fresh terminal, run the install command live. Let attendees watch the TUI approval flow when an un-allowlisted endpoint is requested — that's the visceral 'aha' moment for sandbox-based safety.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reen and white background&#10;&#10;Description automatically generated">
            <a:extLst>
              <a:ext uri="{FF2B5EF4-FFF2-40B4-BE49-F238E27FC236}">
                <a16:creationId xmlns:a16="http://schemas.microsoft.com/office/drawing/2014/main" id="{07D900F6-F9C5-E13E-B321-472E2C0645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  <p:pic>
        <p:nvPicPr>
          <p:cNvPr id="3" name="Picture 2" descr="A picture containing graphics, logo, symbol, graphic design&#10;&#10;Description automatically generated">
            <a:extLst>
              <a:ext uri="{FF2B5EF4-FFF2-40B4-BE49-F238E27FC236}">
                <a16:creationId xmlns:a16="http://schemas.microsoft.com/office/drawing/2014/main" id="{AC2F1390-BF3D-835C-3CE7-1F9507746CD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125" y="773531"/>
            <a:ext cx="8365991" cy="288231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7BDD93D-C8D9-AAAA-C193-4F162992EEF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13012" y="2983577"/>
            <a:ext cx="19282214" cy="4937760"/>
          </a:xfrm>
        </p:spPr>
        <p:txBody>
          <a:bodyPr anchor="b">
            <a:normAutofit/>
          </a:bodyPr>
          <a:lstStyle>
            <a:lvl1pPr algn="l">
              <a:defRPr sz="8800" b="1" cap="none" baseline="0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84FDDD85-BD02-911B-1C62-433286994A1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13012" y="7941727"/>
            <a:ext cx="19282214" cy="170383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4400" b="0" cap="none" baseline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None/>
              <a:defRPr sz="6000"/>
            </a:lvl2pPr>
            <a:lvl3pPr marL="2743200" indent="0" algn="ctr">
              <a:buNone/>
              <a:defRPr sz="5400"/>
            </a:lvl3pPr>
            <a:lvl4pPr marL="4114800" indent="0" algn="ctr">
              <a:buNone/>
              <a:defRPr sz="4800"/>
            </a:lvl4pPr>
            <a:lvl5pPr marL="5486400" indent="0" algn="ctr">
              <a:buNone/>
              <a:defRPr sz="4800"/>
            </a:lvl5pPr>
            <a:lvl6pPr marL="6858000" indent="0" algn="ctr">
              <a:buNone/>
              <a:defRPr sz="4800"/>
            </a:lvl6pPr>
            <a:lvl7pPr marL="8229600" indent="0" algn="ctr">
              <a:buNone/>
              <a:defRPr sz="4800"/>
            </a:lvl7pPr>
            <a:lvl8pPr marL="9601200" indent="0" algn="ctr">
              <a:buNone/>
              <a:defRPr sz="4800"/>
            </a:lvl8pPr>
            <a:lvl9pPr marL="10972800" indent="0" algn="ctr">
              <a:buNone/>
              <a:defRPr sz="4800"/>
            </a:lvl9pPr>
          </a:lstStyle>
          <a:p>
            <a:r>
              <a:rPr lang="en-US" dirty="0"/>
              <a:t>Click to Add Subtitle/Name/Date</a:t>
            </a:r>
          </a:p>
        </p:txBody>
      </p:sp>
    </p:spTree>
    <p:extLst>
      <p:ext uri="{BB962C8B-B14F-4D97-AF65-F5344CB8AC3E}">
        <p14:creationId xmlns:p14="http://schemas.microsoft.com/office/powerpoint/2010/main" val="1478713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:a14="http://schemas.microsoft.com/office/drawing/2010/main"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A4ED154-5FFA-3349-E601-C5300B6737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57545933-CFED-CEA2-1D6E-C227DD92729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F434B88-2544-75AC-CBB8-19A1035D125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14600" y="4846320"/>
            <a:ext cx="31546800" cy="13651992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57990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nt Testing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A4ED154-5FFA-3349-E601-C5300B6737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57545933-CFED-CEA2-1D6E-C227DD92729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F434B88-2544-75AC-CBB8-19A1035D125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14600" y="4846320"/>
            <a:ext cx="31546800" cy="13651992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870B57E-B314-99BB-8DF8-2672644B4F4E}"/>
              </a:ext>
            </a:extLst>
          </p:cNvPr>
          <p:cNvSpPr/>
          <p:nvPr userDrawn="1"/>
        </p:nvSpPr>
        <p:spPr>
          <a:xfrm>
            <a:off x="15000920" y="10556523"/>
            <a:ext cx="11020290" cy="749209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>
              <a:lnSpc>
                <a:spcPct val="90000"/>
              </a:lnSpc>
            </a:pPr>
            <a:endParaRPr lang="en-US" sz="9600" b="1" dirty="0" err="1">
              <a:solidFill>
                <a:schemeClr val="tx1"/>
              </a:solidFill>
              <a:latin typeface="NVIDIA Sans" panose="020B0503020203020204" pitchFamily="34" charset="0"/>
              <a:cs typeface="NVIDIA Sans" panose="020B0503020203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F3F80E6-5287-D931-0053-EF9F8579EE4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87422" y="10556523"/>
            <a:ext cx="11022523" cy="7864522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D89DD87-13E1-B25F-EBCC-2BC52BA4AACF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15951796" y="11141440"/>
            <a:ext cx="9273032" cy="2550828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tx2"/>
              </a:buClr>
              <a:buFontTx/>
              <a:buNone/>
              <a:defRPr sz="9600" b="1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914400" indent="0">
              <a:buClr>
                <a:schemeClr val="tx2"/>
              </a:buClr>
              <a:buFontTx/>
              <a:buNone/>
              <a:defRPr sz="9600" b="1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1828800" indent="0">
              <a:buClr>
                <a:schemeClr val="tx2"/>
              </a:buClr>
              <a:buFontTx/>
              <a:buNone/>
              <a:defRPr sz="9600" b="1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2743200" indent="0">
              <a:buClr>
                <a:schemeClr val="tx2"/>
              </a:buClr>
              <a:buFontTx/>
              <a:buNone/>
              <a:defRPr sz="9600" b="1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3657600" indent="0">
              <a:buClr>
                <a:schemeClr val="tx2"/>
              </a:buClr>
              <a:buFontTx/>
              <a:buNone/>
              <a:defRPr sz="9600" b="1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0B869C1B-4BC1-3F4F-4B38-F2FBE6DA6157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5951796" y="13730012"/>
            <a:ext cx="9273032" cy="2550828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tx2"/>
              </a:buClr>
              <a:buFontTx/>
              <a:buNone/>
              <a:defRPr sz="96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914400" indent="0">
              <a:buClr>
                <a:schemeClr val="tx2"/>
              </a:buClr>
              <a:buFontTx/>
              <a:buNone/>
              <a:defRPr sz="9600" b="1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1828800" indent="0">
              <a:buClr>
                <a:schemeClr val="tx2"/>
              </a:buClr>
              <a:buFontTx/>
              <a:buNone/>
              <a:defRPr sz="9600" b="1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2743200" indent="0">
              <a:buClr>
                <a:schemeClr val="tx2"/>
              </a:buClr>
              <a:buFontTx/>
              <a:buNone/>
              <a:defRPr sz="9600" b="1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3657600" indent="0">
              <a:buClr>
                <a:schemeClr val="tx2"/>
              </a:buClr>
              <a:buFontTx/>
              <a:buNone/>
              <a:defRPr sz="9600" b="1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</p:txBody>
      </p:sp>
    </p:spTree>
    <p:extLst>
      <p:ext uri="{BB962C8B-B14F-4D97-AF65-F5344CB8AC3E}">
        <p14:creationId xmlns:p14="http://schemas.microsoft.com/office/powerpoint/2010/main" val="1039441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A4ED154-5FFA-3349-E601-C5300B6737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57545933-CFED-CEA2-1D6E-C227DD92729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953729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IDENT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0B5A3B7-671E-C83C-D30C-891E7AC206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B591E553-3F88-CE75-0B41-84F0FCE66A2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74C6155-7E24-522A-D9BC-0187CC5320D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14600" y="4846320"/>
            <a:ext cx="31546800" cy="13651992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E4777A-F626-7644-27B7-BFAC0B981393}"/>
              </a:ext>
            </a:extLst>
          </p:cNvPr>
          <p:cNvSpPr txBox="1"/>
          <p:nvPr userDrawn="1"/>
        </p:nvSpPr>
        <p:spPr>
          <a:xfrm>
            <a:off x="708485" y="19635786"/>
            <a:ext cx="6504666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300" dirty="0">
                <a:solidFill>
                  <a:schemeClr val="bg1"/>
                </a:solidFill>
                <a:latin typeface="NVIDIA Sans Medium" panose="020B0603020203020204" pitchFamily="34" charset="0"/>
                <a:cs typeface="NVIDIA Sans Medium" panose="020B0603020203020204" pitchFamily="34" charset="0"/>
              </a:rPr>
              <a:t>NVIDIA CONFIDENTIAL. DO NOT DISTRIBUTE.</a:t>
            </a:r>
          </a:p>
        </p:txBody>
      </p:sp>
    </p:spTree>
    <p:extLst>
      <p:ext uri="{BB962C8B-B14F-4D97-AF65-F5344CB8AC3E}">
        <p14:creationId xmlns:p14="http://schemas.microsoft.com/office/powerpoint/2010/main" val="2655459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ING_Title, Subtitle,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248F5163-CB61-79FB-F160-F5D40ECCE6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>
            <a:normAutofit/>
          </a:bodyPr>
          <a:lstStyle>
            <a:lvl1pPr>
              <a:defRPr sz="7200" b="1" cap="none"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A4DE4CF-0F8A-C449-EB63-E6FB16955E7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14600" y="4873752"/>
            <a:ext cx="31546800" cy="13651992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EB67495D-7B41-2537-BC39-7393489E5BF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884427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IDENTIAL_Co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1BB3E37-708E-211E-579F-07C9AF797C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>
            <a:normAutofit/>
          </a:bodyPr>
          <a:lstStyle>
            <a:lvl1pPr>
              <a:defRPr sz="7200" b="1" cap="none"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00FC4D5-AB7A-23D7-9D7B-80DEBB4B5F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14600" y="4873752"/>
            <a:ext cx="31546800" cy="13651992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E46F2B23-740A-C60D-727C-DC63D8F8D8F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9AAC10-E9F2-1A13-3A59-F02BCBD31C18}"/>
              </a:ext>
            </a:extLst>
          </p:cNvPr>
          <p:cNvSpPr txBox="1"/>
          <p:nvPr userDrawn="1"/>
        </p:nvSpPr>
        <p:spPr>
          <a:xfrm>
            <a:off x="708485" y="19635786"/>
            <a:ext cx="6504666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300" dirty="0">
                <a:solidFill>
                  <a:schemeClr val="bg1"/>
                </a:solidFill>
                <a:latin typeface="NVIDIA Sans Medium" panose="020B0603020203020204" pitchFamily="34" charset="0"/>
                <a:cs typeface="NVIDIA Sans Medium" panose="020B0603020203020204" pitchFamily="34" charset="0"/>
              </a:rPr>
              <a:t>NVIDIA CONFIDENTIAL. DO NOT DISTRIBUTE.</a:t>
            </a:r>
          </a:p>
        </p:txBody>
      </p:sp>
    </p:spTree>
    <p:extLst>
      <p:ext uri="{BB962C8B-B14F-4D97-AF65-F5344CB8AC3E}">
        <p14:creationId xmlns:p14="http://schemas.microsoft.com/office/powerpoint/2010/main" val="3653953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CD6812F5-ABE3-E984-84D2-2BCF62F749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C8D5FFB6-C6A8-037E-5413-097EB66C5C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2EAC335-6BA5-09DF-D45A-2D1E4919D60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14600" y="4846320"/>
            <a:ext cx="15215615" cy="13651992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587F3906-FA1F-F5DB-AEEC-275E973390EF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8845785" y="4846320"/>
            <a:ext cx="15215615" cy="13651992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28003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IDENTIAL_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402BC1FA-1DB5-2C7E-04B8-FED750886E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A2AEF98B-5FB8-3A4F-796B-DD99AF3F272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251F2F2-6278-B4DF-1110-A1875E182B4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14600" y="4846320"/>
            <a:ext cx="15215615" cy="13651992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B4011BA-8847-33A7-3882-701220150547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8845785" y="4846320"/>
            <a:ext cx="15215615" cy="13651992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CB4AC74-E8E5-AA23-89B3-FDB8D3DEFA54}"/>
              </a:ext>
            </a:extLst>
          </p:cNvPr>
          <p:cNvSpPr txBox="1"/>
          <p:nvPr userDrawn="1"/>
        </p:nvSpPr>
        <p:spPr>
          <a:xfrm>
            <a:off x="708485" y="19635786"/>
            <a:ext cx="6504666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300" dirty="0">
                <a:solidFill>
                  <a:schemeClr val="bg1"/>
                </a:solidFill>
                <a:latin typeface="NVIDIA Sans Medium" panose="020B0603020203020204" pitchFamily="34" charset="0"/>
                <a:cs typeface="NVIDIA Sans Medium" panose="020B0603020203020204" pitchFamily="34" charset="0"/>
              </a:rPr>
              <a:t>NVIDIA CONFIDENTIAL. DO NOT DISTRIBUTE.</a:t>
            </a:r>
          </a:p>
        </p:txBody>
      </p:sp>
    </p:spTree>
    <p:extLst>
      <p:ext uri="{BB962C8B-B14F-4D97-AF65-F5344CB8AC3E}">
        <p14:creationId xmlns:p14="http://schemas.microsoft.com/office/powerpoint/2010/main" val="2969517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Left - Tex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5">
            <a:extLst>
              <a:ext uri="{FF2B5EF4-FFF2-40B4-BE49-F238E27FC236}">
                <a16:creationId xmlns:a16="http://schemas.microsoft.com/office/drawing/2014/main" id="{9ECDE791-270C-BF8C-81C1-76A0831C1A1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6413163" cy="20574000"/>
          </a:xfrm>
          <a:prstGeom prst="rect">
            <a:avLst/>
          </a:prstGeom>
          <a:solidFill>
            <a:schemeClr val="tx1">
              <a:lumMod val="95000"/>
              <a:alpha val="61000"/>
            </a:scheme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lang="en-US" sz="4000">
                <a:solidFill>
                  <a:schemeClr val="bg1"/>
                </a:solidFill>
                <a:latin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B145783C-AD8B-1C6E-6189-2C6A7ED49E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129248" y="302065"/>
            <a:ext cx="14639544" cy="3365695"/>
          </a:xfrm>
        </p:spPr>
        <p:txBody>
          <a:bodyPr>
            <a:normAutofit/>
          </a:bodyPr>
          <a:lstStyle>
            <a:lvl1pPr algn="l">
              <a:spcBef>
                <a:spcPts val="600"/>
              </a:spcBef>
              <a:spcAft>
                <a:spcPts val="600"/>
              </a:spcAft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27C7C90A-73D6-E171-33CA-4E89BA293C6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9129248" y="6988192"/>
            <a:ext cx="14639544" cy="11345523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293474C4-48DE-3777-A7E6-66A14FC6BB3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129248" y="3731768"/>
            <a:ext cx="14639544" cy="1408176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600"/>
              </a:spcBef>
              <a:spcAft>
                <a:spcPts val="600"/>
              </a:spcAft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1FA87B4-E089-FC07-89C2-EA0620853B79}"/>
              </a:ext>
            </a:extLst>
          </p:cNvPr>
          <p:cNvCxnSpPr>
            <a:cxnSpLocks/>
          </p:cNvCxnSpPr>
          <p:nvPr userDrawn="1"/>
        </p:nvCxnSpPr>
        <p:spPr>
          <a:xfrm>
            <a:off x="16413162" y="5693228"/>
            <a:ext cx="17282478" cy="0"/>
          </a:xfrm>
          <a:prstGeom prst="line">
            <a:avLst/>
          </a:prstGeom>
          <a:ln w="317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4941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Left - Text Right NO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F02E9B9-4BF5-6080-A68D-577B3CFA398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9129248" y="6988192"/>
            <a:ext cx="14639544" cy="11345523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8D73545-7C20-075B-2C1C-DF7F4214DAD6}"/>
              </a:ext>
            </a:extLst>
          </p:cNvPr>
          <p:cNvCxnSpPr>
            <a:cxnSpLocks/>
          </p:cNvCxnSpPr>
          <p:nvPr userDrawn="1"/>
        </p:nvCxnSpPr>
        <p:spPr>
          <a:xfrm>
            <a:off x="16413162" y="5693228"/>
            <a:ext cx="17282478" cy="0"/>
          </a:xfrm>
          <a:prstGeom prst="line">
            <a:avLst/>
          </a:prstGeom>
          <a:ln w="317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itle 1">
            <a:extLst>
              <a:ext uri="{FF2B5EF4-FFF2-40B4-BE49-F238E27FC236}">
                <a16:creationId xmlns:a16="http://schemas.microsoft.com/office/drawing/2014/main" id="{CA42E39E-F558-16B2-B1CE-93D204E345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129248" y="1218776"/>
            <a:ext cx="14639544" cy="3365695"/>
          </a:xfrm>
        </p:spPr>
        <p:txBody>
          <a:bodyPr>
            <a:normAutofit/>
          </a:bodyPr>
          <a:lstStyle>
            <a:lvl1pPr algn="l">
              <a:spcBef>
                <a:spcPts val="600"/>
              </a:spcBef>
              <a:spcAft>
                <a:spcPts val="600"/>
              </a:spcAft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16075D2-4650-7EB1-4F7E-447F77C0652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6413163" cy="20574000"/>
          </a:xfrm>
          <a:prstGeom prst="rect">
            <a:avLst/>
          </a:prstGeom>
          <a:solidFill>
            <a:schemeClr val="tx1">
              <a:lumMod val="95000"/>
              <a:alpha val="61000"/>
            </a:scheme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lang="en-US" sz="4000">
                <a:solidFill>
                  <a:schemeClr val="bg1"/>
                </a:solidFill>
                <a:latin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690247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Right - Text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8B60F29-EAFD-D95F-11A7-522A796CA55D}"/>
              </a:ext>
            </a:extLst>
          </p:cNvPr>
          <p:cNvSpPr/>
          <p:nvPr userDrawn="1"/>
        </p:nvSpPr>
        <p:spPr>
          <a:xfrm>
            <a:off x="32964120" y="18928080"/>
            <a:ext cx="3611880" cy="16459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17" name="Picture Placeholder 5">
            <a:extLst>
              <a:ext uri="{FF2B5EF4-FFF2-40B4-BE49-F238E27FC236}">
                <a16:creationId xmlns:a16="http://schemas.microsoft.com/office/drawing/2014/main" id="{EF5E0159-2062-54D4-B444-4F04EED230C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0162837" y="0"/>
            <a:ext cx="16413163" cy="20574000"/>
          </a:xfrm>
          <a:prstGeom prst="rect">
            <a:avLst/>
          </a:prstGeom>
          <a:solidFill>
            <a:schemeClr val="tx1">
              <a:lumMod val="95000"/>
              <a:alpha val="61000"/>
            </a:scheme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lang="en-US" sz="4000">
                <a:solidFill>
                  <a:schemeClr val="bg1"/>
                </a:solidFill>
                <a:latin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1A7D3A0-47E2-AF7B-E89C-6F90C67A89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96896" y="302065"/>
            <a:ext cx="14639544" cy="3365695"/>
          </a:xfrm>
        </p:spPr>
        <p:txBody>
          <a:bodyPr>
            <a:normAutofit/>
          </a:bodyPr>
          <a:lstStyle>
            <a:lvl1pPr algn="l">
              <a:spcBef>
                <a:spcPts val="600"/>
              </a:spcBef>
              <a:spcAft>
                <a:spcPts val="600"/>
              </a:spcAft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7F9A406-CE29-3A8D-BC16-6BD86203C8E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96896" y="6988192"/>
            <a:ext cx="14639544" cy="11345523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26CCF06A-1AE0-649C-7FD4-A4AD4CCADD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96896" y="3731768"/>
            <a:ext cx="14639544" cy="1408176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600"/>
              </a:spcBef>
              <a:spcAft>
                <a:spcPts val="600"/>
              </a:spcAft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028BF97-25AA-1462-7737-C9F688962248}"/>
              </a:ext>
            </a:extLst>
          </p:cNvPr>
          <p:cNvGrpSpPr/>
          <p:nvPr userDrawn="1"/>
        </p:nvGrpSpPr>
        <p:grpSpPr>
          <a:xfrm>
            <a:off x="0" y="19504414"/>
            <a:ext cx="2330569" cy="1082936"/>
            <a:chOff x="0" y="19504414"/>
            <a:chExt cx="2330569" cy="1082936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DE7F96C-8641-759A-C4B4-91D493A323B7}"/>
                </a:ext>
              </a:extLst>
            </p:cNvPr>
            <p:cNvSpPr/>
            <p:nvPr userDrawn="1"/>
          </p:nvSpPr>
          <p:spPr>
            <a:xfrm>
              <a:off x="0" y="19697679"/>
              <a:ext cx="155448" cy="88967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 lang="en-US" sz="4000" dirty="0" err="1">
                <a:solidFill>
                  <a:schemeClr val="tx1"/>
                </a:solidFill>
                <a:latin typeface="NVIDIA Sans" panose="020B0503020203020204" pitchFamily="34" charset="0"/>
              </a:endParaRPr>
            </a:p>
          </p:txBody>
        </p:sp>
        <p:pic>
          <p:nvPicPr>
            <p:cNvPr id="15" name="Picture 14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D2AD3A61-7583-56FE-D581-B662F99B0A3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7131" y="19504414"/>
              <a:ext cx="2003438" cy="690238"/>
            </a:xfrm>
            <a:prstGeom prst="rect">
              <a:avLst/>
            </a:prstGeom>
          </p:spPr>
        </p:pic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B55D1BC-2F32-1320-2F7E-E97C10EFE149}"/>
              </a:ext>
            </a:extLst>
          </p:cNvPr>
          <p:cNvCxnSpPr>
            <a:cxnSpLocks/>
          </p:cNvCxnSpPr>
          <p:nvPr userDrawn="1"/>
        </p:nvCxnSpPr>
        <p:spPr>
          <a:xfrm>
            <a:off x="0" y="5693228"/>
            <a:ext cx="17236440" cy="0"/>
          </a:xfrm>
          <a:prstGeom prst="line">
            <a:avLst/>
          </a:prstGeom>
          <a:ln w="317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2758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:a14="http://schemas.microsoft.com/office/drawing/2010/main" xmlns="">
      <p:transition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ING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23CD4AC-6599-9139-48AD-37DCAEFC9C0F}"/>
              </a:ext>
            </a:extLst>
          </p:cNvPr>
          <p:cNvSpPr/>
          <p:nvPr userDrawn="1"/>
        </p:nvSpPr>
        <p:spPr>
          <a:xfrm>
            <a:off x="32689800" y="18333715"/>
            <a:ext cx="3886200" cy="224028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F8CE70B-4A73-2CDA-4106-8F959E3578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96896" y="302065"/>
            <a:ext cx="14639544" cy="3365695"/>
          </a:xfrm>
        </p:spPr>
        <p:txBody>
          <a:bodyPr>
            <a:normAutofit/>
          </a:bodyPr>
          <a:lstStyle>
            <a:lvl1pPr algn="l">
              <a:spcBef>
                <a:spcPts val="600"/>
              </a:spcBef>
              <a:spcAft>
                <a:spcPts val="600"/>
              </a:spcAft>
              <a:defRPr sz="7200" b="1" cap="none"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5303E50-8A83-54D2-8D06-1904385F2BC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96896" y="6988192"/>
            <a:ext cx="14639544" cy="11345523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21B69A0B-9760-28C1-5DE8-5EE814EF524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96896" y="3731768"/>
            <a:ext cx="14639544" cy="1408176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600"/>
              </a:spcBef>
              <a:spcAft>
                <a:spcPts val="600"/>
              </a:spcAft>
              <a:buFontTx/>
              <a:buNone/>
              <a:defRPr sz="4800">
                <a:solidFill>
                  <a:schemeClr val="tx2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265C1B2-04C0-DFB7-6EBD-AB040BF7DEFF}"/>
              </a:ext>
            </a:extLst>
          </p:cNvPr>
          <p:cNvSpPr/>
          <p:nvPr userDrawn="1"/>
        </p:nvSpPr>
        <p:spPr>
          <a:xfrm>
            <a:off x="20162837" y="0"/>
            <a:ext cx="16413163" cy="20573998"/>
          </a:xfrm>
          <a:prstGeom prst="rect">
            <a:avLst/>
          </a:prstGeom>
          <a:solidFill>
            <a:schemeClr val="tx1">
              <a:lumMod val="95000"/>
            </a:schemeClr>
          </a:solidFill>
          <a:ln w="9525">
            <a:noFill/>
          </a:ln>
        </p:spPr>
        <p:txBody>
          <a:bodyPr tIns="2194560" anchor="ctr"/>
          <a:lstStyle/>
          <a:p>
            <a:pPr lvl="0" indent="0" algn="ctr" defTabSz="2743200">
              <a:lnSpc>
                <a:spcPct val="90000"/>
              </a:lnSpc>
              <a:spcBef>
                <a:spcPts val="3000"/>
              </a:spcBef>
              <a:buFontTx/>
              <a:buNone/>
            </a:pPr>
            <a:endParaRPr lang="en-US" sz="4000" dirty="0" err="1">
              <a:solidFill>
                <a:schemeClr val="bg2"/>
              </a:solidFill>
              <a:latin typeface="NVIDIA Sans" panose="020B0503020203020204" pitchFamily="34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1C472DC-2279-F186-008D-6EC9A40B3DCA}"/>
              </a:ext>
            </a:extLst>
          </p:cNvPr>
          <p:cNvGrpSpPr/>
          <p:nvPr userDrawn="1"/>
        </p:nvGrpSpPr>
        <p:grpSpPr>
          <a:xfrm>
            <a:off x="0" y="19504414"/>
            <a:ext cx="2330569" cy="1082936"/>
            <a:chOff x="0" y="19504414"/>
            <a:chExt cx="2330569" cy="10829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DF31711-1359-3AFC-3118-FB20395A8CC3}"/>
                </a:ext>
              </a:extLst>
            </p:cNvPr>
            <p:cNvSpPr/>
            <p:nvPr userDrawn="1"/>
          </p:nvSpPr>
          <p:spPr>
            <a:xfrm>
              <a:off x="0" y="19697679"/>
              <a:ext cx="155448" cy="88967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 lang="en-US" sz="4000" dirty="0" err="1">
                <a:solidFill>
                  <a:schemeClr val="tx1"/>
                </a:solidFill>
                <a:latin typeface="NVIDIA Sans" panose="020B0503020203020204" pitchFamily="34" charset="0"/>
              </a:endParaRPr>
            </a:p>
          </p:txBody>
        </p:sp>
        <p:pic>
          <p:nvPicPr>
            <p:cNvPr id="15" name="Picture 14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0C69E3B1-A791-DCBA-5395-FDEBE9D6995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7131" y="19504414"/>
              <a:ext cx="2003438" cy="690238"/>
            </a:xfrm>
            <a:prstGeom prst="rect">
              <a:avLst/>
            </a:prstGeom>
          </p:spPr>
        </p:pic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EDC2502-4915-5E9A-D92C-046E02303113}"/>
              </a:ext>
            </a:extLst>
          </p:cNvPr>
          <p:cNvCxnSpPr>
            <a:cxnSpLocks/>
          </p:cNvCxnSpPr>
          <p:nvPr userDrawn="1"/>
        </p:nvCxnSpPr>
        <p:spPr>
          <a:xfrm>
            <a:off x="0" y="5693228"/>
            <a:ext cx="17236440" cy="0"/>
          </a:xfrm>
          <a:prstGeom prst="line">
            <a:avLst/>
          </a:prstGeom>
          <a:ln w="317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1698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:a14="http://schemas.microsoft.com/office/drawing/2010/main" xmlns="">
      <p:transition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eft NO SUBTITLE -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B94EE8E-8499-E649-9D65-52E13C0DE2CB}"/>
              </a:ext>
            </a:extLst>
          </p:cNvPr>
          <p:cNvSpPr/>
          <p:nvPr userDrawn="1"/>
        </p:nvSpPr>
        <p:spPr>
          <a:xfrm>
            <a:off x="32964120" y="18928080"/>
            <a:ext cx="3611880" cy="16459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9224051-F6A0-1C68-72F2-09CC08062F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96896" y="1218776"/>
            <a:ext cx="14639544" cy="3365695"/>
          </a:xfrm>
        </p:spPr>
        <p:txBody>
          <a:bodyPr>
            <a:normAutofit/>
          </a:bodyPr>
          <a:lstStyle>
            <a:lvl1pPr algn="l">
              <a:spcBef>
                <a:spcPts val="600"/>
              </a:spcBef>
              <a:spcAft>
                <a:spcPts val="600"/>
              </a:spcAft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3684755-C5FC-AC50-65BB-81DB0D4B45C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96896" y="6988192"/>
            <a:ext cx="14639544" cy="11345523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3C3B833-0169-9942-0C34-3173DDB88C15}"/>
              </a:ext>
            </a:extLst>
          </p:cNvPr>
          <p:cNvGrpSpPr/>
          <p:nvPr userDrawn="1"/>
        </p:nvGrpSpPr>
        <p:grpSpPr>
          <a:xfrm>
            <a:off x="0" y="19504414"/>
            <a:ext cx="2330569" cy="1082936"/>
            <a:chOff x="0" y="19504414"/>
            <a:chExt cx="2330569" cy="10829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2A304D4-014C-60EE-E0A3-7A7D03BDE871}"/>
                </a:ext>
              </a:extLst>
            </p:cNvPr>
            <p:cNvSpPr/>
            <p:nvPr userDrawn="1"/>
          </p:nvSpPr>
          <p:spPr>
            <a:xfrm>
              <a:off x="0" y="19697679"/>
              <a:ext cx="155448" cy="88967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 lang="en-US" sz="4000" dirty="0" err="1">
                <a:solidFill>
                  <a:schemeClr val="tx1"/>
                </a:solidFill>
                <a:latin typeface="NVIDIA Sans" panose="020B0503020203020204" pitchFamily="34" charset="0"/>
              </a:endParaRPr>
            </a:p>
          </p:txBody>
        </p:sp>
        <p:pic>
          <p:nvPicPr>
            <p:cNvPr id="13" name="Picture 12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56AC6FBB-55BD-E1DC-D634-E645384BD9A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7131" y="19504414"/>
              <a:ext cx="2003438" cy="690238"/>
            </a:xfrm>
            <a:prstGeom prst="rect">
              <a:avLst/>
            </a:prstGeom>
          </p:spPr>
        </p:pic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303C766-949A-7CC3-8AB3-538B5C8F7C60}"/>
              </a:ext>
            </a:extLst>
          </p:cNvPr>
          <p:cNvCxnSpPr>
            <a:cxnSpLocks/>
          </p:cNvCxnSpPr>
          <p:nvPr userDrawn="1"/>
        </p:nvCxnSpPr>
        <p:spPr>
          <a:xfrm>
            <a:off x="0" y="5693228"/>
            <a:ext cx="17236440" cy="0"/>
          </a:xfrm>
          <a:prstGeom prst="line">
            <a:avLst/>
          </a:prstGeom>
          <a:ln w="317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Picture Placeholder 5">
            <a:extLst>
              <a:ext uri="{FF2B5EF4-FFF2-40B4-BE49-F238E27FC236}">
                <a16:creationId xmlns:a16="http://schemas.microsoft.com/office/drawing/2014/main" id="{54F47D23-438F-22E0-F300-A852BA1BDCA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0162837" y="0"/>
            <a:ext cx="16413163" cy="20574000"/>
          </a:xfrm>
          <a:prstGeom prst="rect">
            <a:avLst/>
          </a:prstGeom>
          <a:solidFill>
            <a:schemeClr val="tx1">
              <a:lumMod val="95000"/>
              <a:alpha val="61000"/>
            </a:scheme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lang="en-US" sz="4000">
                <a:solidFill>
                  <a:schemeClr val="bg1"/>
                </a:solidFill>
                <a:latin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776656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:a14="http://schemas.microsoft.com/office/drawing/2010/main" xmlns="">
      <p:transition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eft TITLE ONLY -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8F6DF6B-AA28-1E18-7D69-34A1E206799E}"/>
              </a:ext>
            </a:extLst>
          </p:cNvPr>
          <p:cNvSpPr/>
          <p:nvPr userDrawn="1"/>
        </p:nvSpPr>
        <p:spPr>
          <a:xfrm>
            <a:off x="32964120" y="18928080"/>
            <a:ext cx="3611880" cy="16459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DF8B1F53-1589-33D7-3C32-077E788C624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422623" y="0"/>
            <a:ext cx="20153377" cy="20574000"/>
          </a:xfrm>
          <a:prstGeom prst="rect">
            <a:avLst/>
          </a:prstGeom>
          <a:solidFill>
            <a:schemeClr val="tx1">
              <a:lumMod val="95000"/>
              <a:alpha val="61000"/>
            </a:scheme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lang="en-US" sz="4000">
                <a:solidFill>
                  <a:schemeClr val="bg1"/>
                </a:solidFill>
                <a:latin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0F4C1EF-D7E4-3702-6092-EFE862FFBF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96896" y="8604153"/>
            <a:ext cx="12179806" cy="3365695"/>
          </a:xfrm>
        </p:spPr>
        <p:txBody>
          <a:bodyPr anchor="ctr">
            <a:normAutofit/>
          </a:bodyPr>
          <a:lstStyle>
            <a:lvl1pPr algn="l">
              <a:spcBef>
                <a:spcPts val="600"/>
              </a:spcBef>
              <a:spcAft>
                <a:spcPts val="600"/>
              </a:spcAft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E137DE7-1D7A-32A3-A88D-722BA52766C9}"/>
              </a:ext>
            </a:extLst>
          </p:cNvPr>
          <p:cNvGrpSpPr/>
          <p:nvPr userDrawn="1"/>
        </p:nvGrpSpPr>
        <p:grpSpPr>
          <a:xfrm>
            <a:off x="0" y="19504414"/>
            <a:ext cx="2330569" cy="1082936"/>
            <a:chOff x="0" y="19504414"/>
            <a:chExt cx="2330569" cy="1082936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907B295-1243-2BBD-AC77-7002AC68B56D}"/>
                </a:ext>
              </a:extLst>
            </p:cNvPr>
            <p:cNvSpPr/>
            <p:nvPr userDrawn="1"/>
          </p:nvSpPr>
          <p:spPr>
            <a:xfrm>
              <a:off x="0" y="19697679"/>
              <a:ext cx="155448" cy="88967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 lang="en-US" sz="4000" dirty="0" err="1">
                <a:solidFill>
                  <a:schemeClr val="tx1"/>
                </a:solidFill>
                <a:latin typeface="NVIDIA Sans" panose="020B0503020203020204" pitchFamily="34" charset="0"/>
              </a:endParaRPr>
            </a:p>
          </p:txBody>
        </p:sp>
        <p:pic>
          <p:nvPicPr>
            <p:cNvPr id="10" name="Picture 9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9F124724-C9CF-DF8A-9FE0-CE1C65F9B0D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7131" y="19504414"/>
              <a:ext cx="2003438" cy="69023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72325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:a14="http://schemas.microsoft.com/office/drawing/2010/main" xmlns="">
      <p:transition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eft NO BULLETS - Image Righ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5C5DADC-C505-F594-3ED9-E07FA6C3859F}"/>
              </a:ext>
            </a:extLst>
          </p:cNvPr>
          <p:cNvSpPr/>
          <p:nvPr userDrawn="1"/>
        </p:nvSpPr>
        <p:spPr>
          <a:xfrm>
            <a:off x="32964120" y="18928080"/>
            <a:ext cx="3611880" cy="16459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21B97FD-6C93-BC60-D63A-B88F2C3C23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96896" y="6829593"/>
            <a:ext cx="12143232" cy="3365695"/>
          </a:xfrm>
        </p:spPr>
        <p:txBody>
          <a:bodyPr anchor="b">
            <a:normAutofit/>
          </a:bodyPr>
          <a:lstStyle>
            <a:lvl1pPr algn="l">
              <a:spcBef>
                <a:spcPts val="600"/>
              </a:spcBef>
              <a:spcAft>
                <a:spcPts val="600"/>
              </a:spcAft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9BB0DECC-5F4B-7918-876B-2BF2EA6527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96896" y="10283120"/>
            <a:ext cx="12143232" cy="1408176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600"/>
              </a:spcBef>
              <a:spcAft>
                <a:spcPts val="600"/>
              </a:spcAft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4FD8965-93AC-C44D-A13A-AA1A59E48E89}"/>
              </a:ext>
            </a:extLst>
          </p:cNvPr>
          <p:cNvGrpSpPr/>
          <p:nvPr userDrawn="1"/>
        </p:nvGrpSpPr>
        <p:grpSpPr>
          <a:xfrm>
            <a:off x="0" y="19504414"/>
            <a:ext cx="2330569" cy="1082936"/>
            <a:chOff x="0" y="19504414"/>
            <a:chExt cx="2330569" cy="10829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376025B-4D61-0E71-7F02-BE092B8B6E56}"/>
                </a:ext>
              </a:extLst>
            </p:cNvPr>
            <p:cNvSpPr/>
            <p:nvPr userDrawn="1"/>
          </p:nvSpPr>
          <p:spPr>
            <a:xfrm>
              <a:off x="0" y="19697679"/>
              <a:ext cx="155448" cy="88967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 lang="en-US" sz="4000" dirty="0" err="1">
                <a:solidFill>
                  <a:schemeClr val="tx1"/>
                </a:solidFill>
                <a:latin typeface="NVIDIA Sans" panose="020B0503020203020204" pitchFamily="34" charset="0"/>
              </a:endParaRPr>
            </a:p>
          </p:txBody>
        </p:sp>
        <p:pic>
          <p:nvPicPr>
            <p:cNvPr id="15" name="Picture 14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3868D588-6D8B-CDEB-A2E0-D376E5C6CEF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7131" y="19504414"/>
              <a:ext cx="2003438" cy="690238"/>
            </a:xfrm>
            <a:prstGeom prst="rect">
              <a:avLst/>
            </a:prstGeom>
          </p:spPr>
        </p:pic>
      </p:grpSp>
      <p:sp>
        <p:nvSpPr>
          <p:cNvPr id="16" name="Picture Placeholder 5">
            <a:extLst>
              <a:ext uri="{FF2B5EF4-FFF2-40B4-BE49-F238E27FC236}">
                <a16:creationId xmlns:a16="http://schemas.microsoft.com/office/drawing/2014/main" id="{822DB8DA-38BC-95A4-39B5-5464378B460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422623" y="0"/>
            <a:ext cx="20153377" cy="20574000"/>
          </a:xfrm>
          <a:prstGeom prst="rect">
            <a:avLst/>
          </a:prstGeom>
          <a:solidFill>
            <a:schemeClr val="tx1">
              <a:lumMod val="95000"/>
              <a:alpha val="61000"/>
            </a:scheme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lang="en-US" sz="4000">
                <a:solidFill>
                  <a:schemeClr val="bg1"/>
                </a:solidFill>
                <a:latin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397368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:a14="http://schemas.microsoft.com/office/drawing/2010/main" xmlns="">
      <p:transition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Im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6FA34CC3-F5EE-3A8A-AA13-FC23B233BC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1A682B68-3659-B898-36D3-E447501FB6E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359F3285-DAE4-EEAA-1022-7AE1DD168FD5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6062650" y="4849813"/>
            <a:ext cx="24450701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3ACFA6DD-1412-CA3C-15F4-ED8AD6B2B859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6062650" y="17063961"/>
            <a:ext cx="24450701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A36BBB72-064F-A97E-FE2D-2916C4D3DAF2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6062650" y="17751568"/>
            <a:ext cx="24450701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930681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w/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9904B512-77C9-3A9F-0589-67D0C765FDC0}"/>
              </a:ext>
            </a:extLst>
          </p:cNvPr>
          <p:cNvSpPr>
            <a:spLocks noGrp="1"/>
          </p:cNvSpPr>
          <p:nvPr>
            <p:ph idx="31" hasCustomPrompt="1"/>
          </p:nvPr>
        </p:nvSpPr>
        <p:spPr>
          <a:xfrm>
            <a:off x="19354800" y="6919968"/>
            <a:ext cx="15583596" cy="7879524"/>
          </a:xfrm>
          <a:prstGeom prst="rect">
            <a:avLst/>
          </a:prstGeom>
        </p:spPr>
        <p:txBody>
          <a:bodyPr anchor="ctr"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FC8AA277-6DD1-2CCF-12CD-C2AD75B0A14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637604" y="4849813"/>
            <a:ext cx="16345595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4DD79B1E-BCCA-42A9-FF20-7B376772A569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1637604" y="17063961"/>
            <a:ext cx="16345595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38FAA03E-2924-5648-AA06-0B8C894A49DD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1637604" y="17751568"/>
            <a:ext cx="16345595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A4A33F69-6DBC-F1DB-EAD6-D5B9002DFD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0430B97A-31FA-023E-3290-2B9B63D0059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4282953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up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9BBA88D4-0997-C5B9-36CF-9B1633F8B5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CE739272-8253-AD42-BD05-8F666D49821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278AB0E9-F286-1C40-1AD6-B85103B0AF6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637604" y="4849813"/>
            <a:ext cx="16345595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1FC3074C-54D1-DCE0-426E-97BA7CD58B85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18592799" y="4849813"/>
            <a:ext cx="16345595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F25477F0-8392-CEDA-19F2-0A29016EECC0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1637604" y="17063961"/>
            <a:ext cx="16345595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DA2AF85A-9EEE-C062-1006-74D7741E330F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1637604" y="17751568"/>
            <a:ext cx="16345595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39E96633-6475-1F2C-E726-28BE8668FBC5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18592805" y="17063961"/>
            <a:ext cx="16346278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F2428D4D-F13F-B280-6137-8C32CD9EEF0B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18592805" y="17751568"/>
            <a:ext cx="16346278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985611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up Image Layout with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C16114AB-138A-4EAC-3492-E7D7CA151D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4B79CE2D-84D0-541E-C116-5E768BBF94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3431A644-F8BA-5000-F78A-9BB8A4809E2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637604" y="4849813"/>
            <a:ext cx="8832277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B46989B9-88FE-F861-A0B6-8F80720B5C7E}"/>
              </a:ext>
            </a:extLst>
          </p:cNvPr>
          <p:cNvSpPr>
            <a:spLocks noGrp="1"/>
          </p:cNvSpPr>
          <p:nvPr>
            <p:ph idx="31" hasCustomPrompt="1"/>
          </p:nvPr>
        </p:nvSpPr>
        <p:spPr>
          <a:xfrm>
            <a:off x="11058350" y="6919968"/>
            <a:ext cx="6924849" cy="7879524"/>
          </a:xfrm>
          <a:prstGeom prst="rect">
            <a:avLst/>
          </a:prstGeom>
        </p:spPr>
        <p:txBody>
          <a:bodyPr anchor="ctr"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973B8B69-1B16-2A38-932F-E517F5C05291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18592805" y="4849813"/>
            <a:ext cx="8832277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660E8F47-2868-457B-7861-466422E34231}"/>
              </a:ext>
            </a:extLst>
          </p:cNvPr>
          <p:cNvSpPr>
            <a:spLocks noGrp="1"/>
          </p:cNvSpPr>
          <p:nvPr>
            <p:ph idx="35" hasCustomPrompt="1"/>
          </p:nvPr>
        </p:nvSpPr>
        <p:spPr>
          <a:xfrm>
            <a:off x="28013551" y="6919968"/>
            <a:ext cx="6924849" cy="7879524"/>
          </a:xfrm>
          <a:prstGeom prst="rect">
            <a:avLst/>
          </a:prstGeom>
        </p:spPr>
        <p:txBody>
          <a:bodyPr anchor="ctr"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3B5FB899-4F67-DA8C-A516-B71387137DB8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1637604" y="17063961"/>
            <a:ext cx="8832277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B1A5AAD0-2B0D-F6DE-8C5D-5C0625FD55A7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1637604" y="17751568"/>
            <a:ext cx="8832277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DBD83B1D-F849-2310-DE25-451C7BD75C53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18592805" y="17063961"/>
            <a:ext cx="8832646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E0292527-B9F3-D59F-1575-33C8C564E870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18592805" y="17751568"/>
            <a:ext cx="8832646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801177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up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1">
            <a:extLst>
              <a:ext uri="{FF2B5EF4-FFF2-40B4-BE49-F238E27FC236}">
                <a16:creationId xmlns:a16="http://schemas.microsoft.com/office/drawing/2014/main" id="{06EC4D90-EA3E-9A18-FEA5-3EEF50715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3BFC61ED-E368-EADF-A0C1-3AE9904C789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5FE98CD1-AB1E-1E7B-2FF4-F7E242CBAB87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24148473" y="4849813"/>
            <a:ext cx="10789920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Picture Placeholder 2">
            <a:extLst>
              <a:ext uri="{FF2B5EF4-FFF2-40B4-BE49-F238E27FC236}">
                <a16:creationId xmlns:a16="http://schemas.microsoft.com/office/drawing/2014/main" id="{CCCE8B13-298C-67A4-073D-4636A3BCE7A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2893038" y="4849813"/>
            <a:ext cx="10789920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Picture Placeholder 2">
            <a:extLst>
              <a:ext uri="{FF2B5EF4-FFF2-40B4-BE49-F238E27FC236}">
                <a16:creationId xmlns:a16="http://schemas.microsoft.com/office/drawing/2014/main" id="{F9FA27DB-2E4D-388B-2F4A-FE708B1D264C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637604" y="4849813"/>
            <a:ext cx="10789920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C5E18C58-3C84-ECE1-A164-6A5FF953635E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1653110" y="17063961"/>
            <a:ext cx="1078992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6D55A3EC-8AF3-3222-5E82-1A74FA5AB0D5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1653110" y="17751568"/>
            <a:ext cx="1078992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6" name="Text Placeholder 7">
            <a:extLst>
              <a:ext uri="{FF2B5EF4-FFF2-40B4-BE49-F238E27FC236}">
                <a16:creationId xmlns:a16="http://schemas.microsoft.com/office/drawing/2014/main" id="{5F9A555E-B5A7-F2B9-6D6D-E24CAD68B927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12893040" y="17063961"/>
            <a:ext cx="1078992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EFC4CC4C-42B6-5D87-37D6-FE779B1ABFEB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12893040" y="17751568"/>
            <a:ext cx="1078992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8" name="Text Placeholder 7">
            <a:extLst>
              <a:ext uri="{FF2B5EF4-FFF2-40B4-BE49-F238E27FC236}">
                <a16:creationId xmlns:a16="http://schemas.microsoft.com/office/drawing/2014/main" id="{E4DE79F6-DE99-BDFD-033A-5AB8981A3A0E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24132970" y="17063961"/>
            <a:ext cx="10790371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9" name="Text Placeholder 7">
            <a:extLst>
              <a:ext uri="{FF2B5EF4-FFF2-40B4-BE49-F238E27FC236}">
                <a16:creationId xmlns:a16="http://schemas.microsoft.com/office/drawing/2014/main" id="{E6F712D3-EAE3-8A7F-010B-AFEF00AE6B00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24132970" y="17751568"/>
            <a:ext cx="10790371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068062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up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>
            <a:extLst>
              <a:ext uri="{FF2B5EF4-FFF2-40B4-BE49-F238E27FC236}">
                <a16:creationId xmlns:a16="http://schemas.microsoft.com/office/drawing/2014/main" id="{459D9FFB-F331-2BA3-76DB-D0D67666F2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4737A17E-9A03-1AA3-D59C-3833F19EFE4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7FF59CD9-73FD-415B-F082-C27D3FC74CC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8520757" y="4849813"/>
            <a:ext cx="7982985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 typeface="NVIDIA Sans" panose="020B0503020203020204" pitchFamily="34" charset="0"/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1" name="Picture Placeholder 2">
            <a:extLst>
              <a:ext uri="{FF2B5EF4-FFF2-40B4-BE49-F238E27FC236}">
                <a16:creationId xmlns:a16="http://schemas.microsoft.com/office/drawing/2014/main" id="{90082BEB-34AF-6104-9172-84A9393C73A1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0072254" y="4849813"/>
            <a:ext cx="7982985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 typeface="NVIDIA Sans" panose="020B0503020203020204" pitchFamily="34" charset="0"/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9" name="Picture Placeholder 2">
            <a:extLst>
              <a:ext uri="{FF2B5EF4-FFF2-40B4-BE49-F238E27FC236}">
                <a16:creationId xmlns:a16="http://schemas.microsoft.com/office/drawing/2014/main" id="{1ACBD8DD-E9B6-20E0-AF99-F566611D5259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1637606" y="4849813"/>
            <a:ext cx="7969130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 typeface="NVIDIA Sans" panose="020B0503020203020204" pitchFamily="34" charset="0"/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2">
            <a:extLst>
              <a:ext uri="{FF2B5EF4-FFF2-40B4-BE49-F238E27FC236}">
                <a16:creationId xmlns:a16="http://schemas.microsoft.com/office/drawing/2014/main" id="{3F34C73B-16DF-6108-33FA-2019F4A18A96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26969260" y="4849813"/>
            <a:ext cx="7969133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 typeface="NVIDIA Sans" panose="020B0503020203020204" pitchFamily="34" charset="0"/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Text Placeholder 7">
            <a:extLst>
              <a:ext uri="{FF2B5EF4-FFF2-40B4-BE49-F238E27FC236}">
                <a16:creationId xmlns:a16="http://schemas.microsoft.com/office/drawing/2014/main" id="{2A0C0A2B-E05B-6582-22E0-E2FB87D4F5FE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10087333" y="17063961"/>
            <a:ext cx="7967906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2" name="Text Placeholder 7">
            <a:extLst>
              <a:ext uri="{FF2B5EF4-FFF2-40B4-BE49-F238E27FC236}">
                <a16:creationId xmlns:a16="http://schemas.microsoft.com/office/drawing/2014/main" id="{F252818C-30B9-BEAB-C34B-3FDB45B07855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1630527" y="17063961"/>
            <a:ext cx="794697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3" name="Text Placeholder 7">
            <a:extLst>
              <a:ext uri="{FF2B5EF4-FFF2-40B4-BE49-F238E27FC236}">
                <a16:creationId xmlns:a16="http://schemas.microsoft.com/office/drawing/2014/main" id="{E94F7E10-2AF0-1049-A3BD-C3667BA1A7B7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10087333" y="17751568"/>
            <a:ext cx="7967906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4" name="Text Placeholder 7">
            <a:extLst>
              <a:ext uri="{FF2B5EF4-FFF2-40B4-BE49-F238E27FC236}">
                <a16:creationId xmlns:a16="http://schemas.microsoft.com/office/drawing/2014/main" id="{CCE2100E-D959-41B2-929B-D1BC55772019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1630527" y="17751568"/>
            <a:ext cx="794697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5" name="Text Placeholder 7">
            <a:extLst>
              <a:ext uri="{FF2B5EF4-FFF2-40B4-BE49-F238E27FC236}">
                <a16:creationId xmlns:a16="http://schemas.microsoft.com/office/drawing/2014/main" id="{F9556000-DFCA-8B90-EBBC-359C95C3B361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18527529" y="17063961"/>
            <a:ext cx="794697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6" name="Text Placeholder 7">
            <a:extLst>
              <a:ext uri="{FF2B5EF4-FFF2-40B4-BE49-F238E27FC236}">
                <a16:creationId xmlns:a16="http://schemas.microsoft.com/office/drawing/2014/main" id="{80DB8C8F-25FA-6C95-C2D7-C138BAA32B50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18527529" y="17751568"/>
            <a:ext cx="794697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7" name="Text Placeholder 7">
            <a:extLst>
              <a:ext uri="{FF2B5EF4-FFF2-40B4-BE49-F238E27FC236}">
                <a16:creationId xmlns:a16="http://schemas.microsoft.com/office/drawing/2014/main" id="{63D94597-BF94-1410-90DE-B1569E6B339A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26976037" y="17063961"/>
            <a:ext cx="7947304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8" name="Text Placeholder 7">
            <a:extLst>
              <a:ext uri="{FF2B5EF4-FFF2-40B4-BE49-F238E27FC236}">
                <a16:creationId xmlns:a16="http://schemas.microsoft.com/office/drawing/2014/main" id="{BF06A1A9-1746-181C-9E88-1422CE2DFEC1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26976037" y="17751568"/>
            <a:ext cx="7947304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135586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-up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>
            <a:extLst>
              <a:ext uri="{FF2B5EF4-FFF2-40B4-BE49-F238E27FC236}">
                <a16:creationId xmlns:a16="http://schemas.microsoft.com/office/drawing/2014/main" id="{8907B76C-DA4A-68FA-C798-F3D3ED6D3E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2891393" y="4849814"/>
            <a:ext cx="1078992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80A5F7E9-98C2-BE12-2CFF-1D4269C21CEF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645583" y="4849814"/>
            <a:ext cx="1078992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C40D16D0-F1BB-6699-BB7A-3010F14B4E5E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4148473" y="4849814"/>
            <a:ext cx="1078992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669BAFFD-DE29-C3FE-3E3D-0742C54E776F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1656844" y="9981886"/>
            <a:ext cx="1077865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6F8CDCB5-2334-0382-7EDF-D6A8C4C37919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1656844" y="10669493"/>
            <a:ext cx="1077865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3E8130F2-A049-2C2C-49C2-814F60E02EF5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2894348" y="9981886"/>
            <a:ext cx="1077865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2EF59D26-21AA-0628-FEAE-B2017AD93D46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12894348" y="10669493"/>
            <a:ext cx="1077865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6" name="Text Placeholder 7">
            <a:extLst>
              <a:ext uri="{FF2B5EF4-FFF2-40B4-BE49-F238E27FC236}">
                <a16:creationId xmlns:a16="http://schemas.microsoft.com/office/drawing/2014/main" id="{FA27073E-24AC-35B6-4579-F3553211D14F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24151315" y="9981886"/>
            <a:ext cx="1077910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B7137105-F7C8-86F9-A19D-CC0280C95516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24151315" y="10669493"/>
            <a:ext cx="1077910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8" name="Picture Placeholder 2">
            <a:extLst>
              <a:ext uri="{FF2B5EF4-FFF2-40B4-BE49-F238E27FC236}">
                <a16:creationId xmlns:a16="http://schemas.microsoft.com/office/drawing/2014/main" id="{C215F7B2-F4E2-412D-DB90-96FF4E146F17}"/>
              </a:ext>
            </a:extLst>
          </p:cNvPr>
          <p:cNvSpPr>
            <a:spLocks noGrp="1"/>
          </p:cNvSpPr>
          <p:nvPr>
            <p:ph type="pic" sz="quarter" idx="75"/>
          </p:nvPr>
        </p:nvSpPr>
        <p:spPr>
          <a:xfrm>
            <a:off x="18520757" y="11931888"/>
            <a:ext cx="1078992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 typeface="NVIDIA Sans" panose="020B0503020203020204" pitchFamily="34" charset="0"/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8" name="Picture Placeholder 2">
            <a:extLst>
              <a:ext uri="{FF2B5EF4-FFF2-40B4-BE49-F238E27FC236}">
                <a16:creationId xmlns:a16="http://schemas.microsoft.com/office/drawing/2014/main" id="{F6B1B50B-4191-7EA1-DD61-A96EBE2A0C65}"/>
              </a:ext>
            </a:extLst>
          </p:cNvPr>
          <p:cNvSpPr>
            <a:spLocks noGrp="1"/>
          </p:cNvSpPr>
          <p:nvPr>
            <p:ph type="pic" sz="quarter" idx="76"/>
          </p:nvPr>
        </p:nvSpPr>
        <p:spPr>
          <a:xfrm>
            <a:off x="7265320" y="11931888"/>
            <a:ext cx="10789919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 typeface="NVIDIA Sans" panose="020B0503020203020204" pitchFamily="34" charset="0"/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9" name="Text Placeholder 7">
            <a:extLst>
              <a:ext uri="{FF2B5EF4-FFF2-40B4-BE49-F238E27FC236}">
                <a16:creationId xmlns:a16="http://schemas.microsoft.com/office/drawing/2014/main" id="{65B4C94D-3029-61DE-18DE-8A6472E970BD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7276587" y="17063961"/>
            <a:ext cx="10778651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50" name="Text Placeholder 7">
            <a:extLst>
              <a:ext uri="{FF2B5EF4-FFF2-40B4-BE49-F238E27FC236}">
                <a16:creationId xmlns:a16="http://schemas.microsoft.com/office/drawing/2014/main" id="{CE518717-6ECD-F803-EEF8-2B2D7CF9EB49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7276587" y="17751568"/>
            <a:ext cx="10778651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1" name="Text Placeholder 7">
            <a:extLst>
              <a:ext uri="{FF2B5EF4-FFF2-40B4-BE49-F238E27FC236}">
                <a16:creationId xmlns:a16="http://schemas.microsoft.com/office/drawing/2014/main" id="{C5D8EE17-AD94-2DE2-C337-573533395DAF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18533554" y="17063961"/>
            <a:ext cx="1077910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52" name="Text Placeholder 7">
            <a:extLst>
              <a:ext uri="{FF2B5EF4-FFF2-40B4-BE49-F238E27FC236}">
                <a16:creationId xmlns:a16="http://schemas.microsoft.com/office/drawing/2014/main" id="{85A95BB1-6B72-7CA5-06BB-430623F1D273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18533554" y="17751568"/>
            <a:ext cx="1077910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3" name="Title 1">
            <a:extLst>
              <a:ext uri="{FF2B5EF4-FFF2-40B4-BE49-F238E27FC236}">
                <a16:creationId xmlns:a16="http://schemas.microsoft.com/office/drawing/2014/main" id="{8DC5F873-F78F-F1B6-1AFB-37B1EE5098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4" name="Text Placeholder 7">
            <a:extLst>
              <a:ext uri="{FF2B5EF4-FFF2-40B4-BE49-F238E27FC236}">
                <a16:creationId xmlns:a16="http://schemas.microsoft.com/office/drawing/2014/main" id="{8631CFA9-583B-6069-2D7A-BD83D75791B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714430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up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B1953C1A-70BD-1EAA-9874-87A836A8195E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2891393" y="4849814"/>
            <a:ext cx="1078992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2">
            <a:extLst>
              <a:ext uri="{FF2B5EF4-FFF2-40B4-BE49-F238E27FC236}">
                <a16:creationId xmlns:a16="http://schemas.microsoft.com/office/drawing/2014/main" id="{9252F9A9-D932-EDF6-7A48-D5D93A404550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645583" y="4849814"/>
            <a:ext cx="1078992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2" name="Picture Placeholder 2">
            <a:extLst>
              <a:ext uri="{FF2B5EF4-FFF2-40B4-BE49-F238E27FC236}">
                <a16:creationId xmlns:a16="http://schemas.microsoft.com/office/drawing/2014/main" id="{D0D95889-F2DB-3BC9-69A2-99832FFC9845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4148473" y="4849814"/>
            <a:ext cx="1078992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3" name="Text Placeholder 7">
            <a:extLst>
              <a:ext uri="{FF2B5EF4-FFF2-40B4-BE49-F238E27FC236}">
                <a16:creationId xmlns:a16="http://schemas.microsoft.com/office/drawing/2014/main" id="{20BBE6F4-0357-A4FD-1E64-134C0BB676E5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1656844" y="9981886"/>
            <a:ext cx="1077865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4" name="Text Placeholder 7">
            <a:extLst>
              <a:ext uri="{FF2B5EF4-FFF2-40B4-BE49-F238E27FC236}">
                <a16:creationId xmlns:a16="http://schemas.microsoft.com/office/drawing/2014/main" id="{BFAE3A57-5BF4-79B4-4629-2CC735C71FE5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1656844" y="10669493"/>
            <a:ext cx="1077865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5" name="Text Placeholder 7">
            <a:extLst>
              <a:ext uri="{FF2B5EF4-FFF2-40B4-BE49-F238E27FC236}">
                <a16:creationId xmlns:a16="http://schemas.microsoft.com/office/drawing/2014/main" id="{99A50CCA-B5CD-F9AE-216F-C421A1BD9F04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2894348" y="9981886"/>
            <a:ext cx="1077865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6" name="Text Placeholder 7">
            <a:extLst>
              <a:ext uri="{FF2B5EF4-FFF2-40B4-BE49-F238E27FC236}">
                <a16:creationId xmlns:a16="http://schemas.microsoft.com/office/drawing/2014/main" id="{757508AA-A2C8-98B6-81F3-50D83C5092CF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12894348" y="10669493"/>
            <a:ext cx="1077865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7" name="Text Placeholder 7">
            <a:extLst>
              <a:ext uri="{FF2B5EF4-FFF2-40B4-BE49-F238E27FC236}">
                <a16:creationId xmlns:a16="http://schemas.microsoft.com/office/drawing/2014/main" id="{F4222A90-C423-A76E-E4A1-DC33CE530C35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24151315" y="9981886"/>
            <a:ext cx="1077910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54" name="Text Placeholder 7">
            <a:extLst>
              <a:ext uri="{FF2B5EF4-FFF2-40B4-BE49-F238E27FC236}">
                <a16:creationId xmlns:a16="http://schemas.microsoft.com/office/drawing/2014/main" id="{4209A868-D6F4-3E49-A6A2-D0B83BADF3A9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24151315" y="10669493"/>
            <a:ext cx="1077910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5" name="Picture Placeholder 2">
            <a:extLst>
              <a:ext uri="{FF2B5EF4-FFF2-40B4-BE49-F238E27FC236}">
                <a16:creationId xmlns:a16="http://schemas.microsoft.com/office/drawing/2014/main" id="{9C37E9B7-863B-6FEB-5E35-885ED1194BFF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12902654" y="11931889"/>
            <a:ext cx="1078992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6" name="Picture Placeholder 2">
            <a:extLst>
              <a:ext uri="{FF2B5EF4-FFF2-40B4-BE49-F238E27FC236}">
                <a16:creationId xmlns:a16="http://schemas.microsoft.com/office/drawing/2014/main" id="{577FA631-E033-ADBD-0DC9-D0DB5E39C199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>
          <a:xfrm>
            <a:off x="1656844" y="11931889"/>
            <a:ext cx="1078992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7" name="Picture Placeholder 2">
            <a:extLst>
              <a:ext uri="{FF2B5EF4-FFF2-40B4-BE49-F238E27FC236}">
                <a16:creationId xmlns:a16="http://schemas.microsoft.com/office/drawing/2014/main" id="{381881A2-4556-E0E7-4976-CE4CA8B44BD2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>
          <a:xfrm>
            <a:off x="24159734" y="11931889"/>
            <a:ext cx="1078992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8" name="Text Placeholder 7">
            <a:extLst>
              <a:ext uri="{FF2B5EF4-FFF2-40B4-BE49-F238E27FC236}">
                <a16:creationId xmlns:a16="http://schemas.microsoft.com/office/drawing/2014/main" id="{3E8E5407-C49C-0C9D-34F8-F6F0488021F6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1668105" y="17063961"/>
            <a:ext cx="1077865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59" name="Text Placeholder 7">
            <a:extLst>
              <a:ext uri="{FF2B5EF4-FFF2-40B4-BE49-F238E27FC236}">
                <a16:creationId xmlns:a16="http://schemas.microsoft.com/office/drawing/2014/main" id="{22DA5A94-C231-4766-8AC7-EF73C16EBD61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1668105" y="17751568"/>
            <a:ext cx="1077865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60" name="Text Placeholder 7">
            <a:extLst>
              <a:ext uri="{FF2B5EF4-FFF2-40B4-BE49-F238E27FC236}">
                <a16:creationId xmlns:a16="http://schemas.microsoft.com/office/drawing/2014/main" id="{00B4030C-05CF-B466-BA8F-C340617A5787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12905609" y="17063961"/>
            <a:ext cx="1077865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61" name="Text Placeholder 7">
            <a:extLst>
              <a:ext uri="{FF2B5EF4-FFF2-40B4-BE49-F238E27FC236}">
                <a16:creationId xmlns:a16="http://schemas.microsoft.com/office/drawing/2014/main" id="{894CEECC-D038-E547-DC3E-DE08CED8E7DA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12905609" y="17751568"/>
            <a:ext cx="1077865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62" name="Text Placeholder 7">
            <a:extLst>
              <a:ext uri="{FF2B5EF4-FFF2-40B4-BE49-F238E27FC236}">
                <a16:creationId xmlns:a16="http://schemas.microsoft.com/office/drawing/2014/main" id="{194DC10A-126A-4CF6-0FD2-5B6BB2EFDEBD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24162576" y="17063961"/>
            <a:ext cx="1077910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63" name="Text Placeholder 7">
            <a:extLst>
              <a:ext uri="{FF2B5EF4-FFF2-40B4-BE49-F238E27FC236}">
                <a16:creationId xmlns:a16="http://schemas.microsoft.com/office/drawing/2014/main" id="{57F8B789-2F41-F510-798B-CCE7F38AB05B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24162576" y="17751568"/>
            <a:ext cx="1077910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64" name="Title 1">
            <a:extLst>
              <a:ext uri="{FF2B5EF4-FFF2-40B4-BE49-F238E27FC236}">
                <a16:creationId xmlns:a16="http://schemas.microsoft.com/office/drawing/2014/main" id="{01540E5A-2872-4A69-C821-D69B87963A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5" name="Text Placeholder 7">
            <a:extLst>
              <a:ext uri="{FF2B5EF4-FFF2-40B4-BE49-F238E27FC236}">
                <a16:creationId xmlns:a16="http://schemas.microsoft.com/office/drawing/2014/main" id="{C4FBCAD5-F75E-2024-91A6-AF69090C6A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237050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-up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544D2068-6849-9B7C-6BC5-5E5F7AA4A62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4335071" y="17059122"/>
            <a:ext cx="795528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CBD648D6-A7DD-1281-7F44-26AAC46ED23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886573" y="17059122"/>
            <a:ext cx="7970338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CA889FC2-EEE4-383A-34F1-AA6640C2BEE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4335071" y="17727056"/>
            <a:ext cx="795528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6" name="Text Placeholder 7">
            <a:extLst>
              <a:ext uri="{FF2B5EF4-FFF2-40B4-BE49-F238E27FC236}">
                <a16:creationId xmlns:a16="http://schemas.microsoft.com/office/drawing/2014/main" id="{97DD1B20-C6FB-A50F-E2B0-453434ECCBA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886573" y="17727056"/>
            <a:ext cx="7970338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7" name="Picture Placeholder 2">
            <a:extLst>
              <a:ext uri="{FF2B5EF4-FFF2-40B4-BE49-F238E27FC236}">
                <a16:creationId xmlns:a16="http://schemas.microsoft.com/office/drawing/2014/main" id="{AE5F378B-4650-A769-498F-70E97D832944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5886573" y="11926198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2">
            <a:extLst>
              <a:ext uri="{FF2B5EF4-FFF2-40B4-BE49-F238E27FC236}">
                <a16:creationId xmlns:a16="http://schemas.microsoft.com/office/drawing/2014/main" id="{4D0EBD50-D183-BA46-8F9A-CA94A31E251D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14335074" y="11926198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8" name="Picture Placeholder 2">
            <a:extLst>
              <a:ext uri="{FF2B5EF4-FFF2-40B4-BE49-F238E27FC236}">
                <a16:creationId xmlns:a16="http://schemas.microsoft.com/office/drawing/2014/main" id="{B28D2A90-D084-131D-BC81-F32026B9D485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22783576" y="11926198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9" name="Text Placeholder 7">
            <a:extLst>
              <a:ext uri="{FF2B5EF4-FFF2-40B4-BE49-F238E27FC236}">
                <a16:creationId xmlns:a16="http://schemas.microsoft.com/office/drawing/2014/main" id="{C31F641B-69D7-D8F7-664B-8DC4432B48D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2783575" y="17059122"/>
            <a:ext cx="7951467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50" name="Text Placeholder 7">
            <a:extLst>
              <a:ext uri="{FF2B5EF4-FFF2-40B4-BE49-F238E27FC236}">
                <a16:creationId xmlns:a16="http://schemas.microsoft.com/office/drawing/2014/main" id="{523F0B05-8C96-0447-48C6-977D2CE1092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22783575" y="17727056"/>
            <a:ext cx="7951467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1" name="Picture Placeholder 2">
            <a:extLst>
              <a:ext uri="{FF2B5EF4-FFF2-40B4-BE49-F238E27FC236}">
                <a16:creationId xmlns:a16="http://schemas.microsoft.com/office/drawing/2014/main" id="{450F6A7B-55D2-E137-09E7-D5EB0FECCA2C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8534610" y="4849814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2" name="Picture Placeholder 2">
            <a:extLst>
              <a:ext uri="{FF2B5EF4-FFF2-40B4-BE49-F238E27FC236}">
                <a16:creationId xmlns:a16="http://schemas.microsoft.com/office/drawing/2014/main" id="{36E7E436-EF57-51FD-A8FB-FDA402DAB660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0086108" y="4849814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3" name="Picture Placeholder 2">
            <a:extLst>
              <a:ext uri="{FF2B5EF4-FFF2-40B4-BE49-F238E27FC236}">
                <a16:creationId xmlns:a16="http://schemas.microsoft.com/office/drawing/2014/main" id="{11D06D85-EEB0-0A4E-44A0-04EB0FDA4913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>
          <a:xfrm>
            <a:off x="1637606" y="4849814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5" name="Picture Placeholder 2">
            <a:extLst>
              <a:ext uri="{FF2B5EF4-FFF2-40B4-BE49-F238E27FC236}">
                <a16:creationId xmlns:a16="http://schemas.microsoft.com/office/drawing/2014/main" id="{9CAB601B-BE03-84B9-C2D3-F9A9DD36F0DA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6983113" y="4849814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6" name="Text Placeholder 7">
            <a:extLst>
              <a:ext uri="{FF2B5EF4-FFF2-40B4-BE49-F238E27FC236}">
                <a16:creationId xmlns:a16="http://schemas.microsoft.com/office/drawing/2014/main" id="{2901EEFF-A05E-86EF-2959-BEBE7506CE37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10094409" y="9981886"/>
            <a:ext cx="794697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67" name="Text Placeholder 7">
            <a:extLst>
              <a:ext uri="{FF2B5EF4-FFF2-40B4-BE49-F238E27FC236}">
                <a16:creationId xmlns:a16="http://schemas.microsoft.com/office/drawing/2014/main" id="{CA5DE0BE-2247-E600-19F8-62852DE95A34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637603" y="9981886"/>
            <a:ext cx="794697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68" name="Text Placeholder 7">
            <a:extLst>
              <a:ext uri="{FF2B5EF4-FFF2-40B4-BE49-F238E27FC236}">
                <a16:creationId xmlns:a16="http://schemas.microsoft.com/office/drawing/2014/main" id="{7D33E875-82FA-EFBA-E610-7A1BB8D8E0D0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10094409" y="10669493"/>
            <a:ext cx="794697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69" name="Text Placeholder 7">
            <a:extLst>
              <a:ext uri="{FF2B5EF4-FFF2-40B4-BE49-F238E27FC236}">
                <a16:creationId xmlns:a16="http://schemas.microsoft.com/office/drawing/2014/main" id="{16E04D83-5D56-3ED0-0106-291190FF16C1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1637603" y="10669493"/>
            <a:ext cx="794697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70" name="Text Placeholder 7">
            <a:extLst>
              <a:ext uri="{FF2B5EF4-FFF2-40B4-BE49-F238E27FC236}">
                <a16:creationId xmlns:a16="http://schemas.microsoft.com/office/drawing/2014/main" id="{B72D7370-4F41-FFA7-2106-37908325FCCD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18534605" y="9981886"/>
            <a:ext cx="794697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71" name="Text Placeholder 7">
            <a:extLst>
              <a:ext uri="{FF2B5EF4-FFF2-40B4-BE49-F238E27FC236}">
                <a16:creationId xmlns:a16="http://schemas.microsoft.com/office/drawing/2014/main" id="{AFF43D71-DEF4-2B0C-C6B4-BCAFBD852717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8534605" y="10669493"/>
            <a:ext cx="794697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72" name="Text Placeholder 7">
            <a:extLst>
              <a:ext uri="{FF2B5EF4-FFF2-40B4-BE49-F238E27FC236}">
                <a16:creationId xmlns:a16="http://schemas.microsoft.com/office/drawing/2014/main" id="{F818D8AD-CFB5-A8CB-CABB-19C1B1AFE5BA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26983113" y="9981886"/>
            <a:ext cx="7947304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73" name="Text Placeholder 7">
            <a:extLst>
              <a:ext uri="{FF2B5EF4-FFF2-40B4-BE49-F238E27FC236}">
                <a16:creationId xmlns:a16="http://schemas.microsoft.com/office/drawing/2014/main" id="{23409FA5-2A41-C5C8-6575-A607630F90FC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26983113" y="10669493"/>
            <a:ext cx="7947304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74" name="Title 1">
            <a:extLst>
              <a:ext uri="{FF2B5EF4-FFF2-40B4-BE49-F238E27FC236}">
                <a16:creationId xmlns:a16="http://schemas.microsoft.com/office/drawing/2014/main" id="{3B193957-7130-A79D-273C-851474BDCD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5" name="Text Placeholder 7">
            <a:extLst>
              <a:ext uri="{FF2B5EF4-FFF2-40B4-BE49-F238E27FC236}">
                <a16:creationId xmlns:a16="http://schemas.microsoft.com/office/drawing/2014/main" id="{DA822B21-EE98-CD37-EC99-C8836B3004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590059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-up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icture Placeholder 2">
            <a:extLst>
              <a:ext uri="{FF2B5EF4-FFF2-40B4-BE49-F238E27FC236}">
                <a16:creationId xmlns:a16="http://schemas.microsoft.com/office/drawing/2014/main" id="{5EA57D4F-DD4C-CA06-8F17-B354B7AF0AE5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1637603" y="11926198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2" name="Picture Placeholder 2">
            <a:extLst>
              <a:ext uri="{FF2B5EF4-FFF2-40B4-BE49-F238E27FC236}">
                <a16:creationId xmlns:a16="http://schemas.microsoft.com/office/drawing/2014/main" id="{06F88D93-EC5D-0F4F-2D03-D40CFF157D49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10086104" y="11926198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3" name="Picture Placeholder 2">
            <a:extLst>
              <a:ext uri="{FF2B5EF4-FFF2-40B4-BE49-F238E27FC236}">
                <a16:creationId xmlns:a16="http://schemas.microsoft.com/office/drawing/2014/main" id="{E2460103-C7AD-1E73-A79D-2130A59BA43E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18534606" y="11926198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4" name="Picture Placeholder 2">
            <a:extLst>
              <a:ext uri="{FF2B5EF4-FFF2-40B4-BE49-F238E27FC236}">
                <a16:creationId xmlns:a16="http://schemas.microsoft.com/office/drawing/2014/main" id="{CB4626F4-FF48-A6FD-42A0-87CB9D35E8BB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8534610" y="4849814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5" name="Picture Placeholder 2">
            <a:extLst>
              <a:ext uri="{FF2B5EF4-FFF2-40B4-BE49-F238E27FC236}">
                <a16:creationId xmlns:a16="http://schemas.microsoft.com/office/drawing/2014/main" id="{EBBF469D-EB9A-C1CD-A4E0-EFCD4EF63ED8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0086108" y="4849814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6" name="Picture Placeholder 2">
            <a:extLst>
              <a:ext uri="{FF2B5EF4-FFF2-40B4-BE49-F238E27FC236}">
                <a16:creationId xmlns:a16="http://schemas.microsoft.com/office/drawing/2014/main" id="{398E7A27-AB90-AE4B-9C41-537061139935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>
          <a:xfrm>
            <a:off x="1637606" y="4849814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7" name="Picture Placeholder 2">
            <a:extLst>
              <a:ext uri="{FF2B5EF4-FFF2-40B4-BE49-F238E27FC236}">
                <a16:creationId xmlns:a16="http://schemas.microsoft.com/office/drawing/2014/main" id="{375CDD23-925E-31A1-C3FF-2D6ED9D05AAB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6983113" y="4849814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4" name="Picture Placeholder 2">
            <a:extLst>
              <a:ext uri="{FF2B5EF4-FFF2-40B4-BE49-F238E27FC236}">
                <a16:creationId xmlns:a16="http://schemas.microsoft.com/office/drawing/2014/main" id="{15BDAD05-3EAC-DFAA-EDD1-1D9E9C002116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26968061" y="11926198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5" name="Text Placeholder 7">
            <a:extLst>
              <a:ext uri="{FF2B5EF4-FFF2-40B4-BE49-F238E27FC236}">
                <a16:creationId xmlns:a16="http://schemas.microsoft.com/office/drawing/2014/main" id="{2360B2E4-D618-5423-3E76-F376EBCA0102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10094409" y="9981886"/>
            <a:ext cx="794697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56" name="Text Placeholder 7">
            <a:extLst>
              <a:ext uri="{FF2B5EF4-FFF2-40B4-BE49-F238E27FC236}">
                <a16:creationId xmlns:a16="http://schemas.microsoft.com/office/drawing/2014/main" id="{AD06D986-4434-AF51-6805-3B97BBB76942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637603" y="9981886"/>
            <a:ext cx="794697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57" name="Text Placeholder 7">
            <a:extLst>
              <a:ext uri="{FF2B5EF4-FFF2-40B4-BE49-F238E27FC236}">
                <a16:creationId xmlns:a16="http://schemas.microsoft.com/office/drawing/2014/main" id="{1F515353-8B00-746C-A2DE-32E93A0F1A02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10094409" y="10669493"/>
            <a:ext cx="794697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8" name="Text Placeholder 7">
            <a:extLst>
              <a:ext uri="{FF2B5EF4-FFF2-40B4-BE49-F238E27FC236}">
                <a16:creationId xmlns:a16="http://schemas.microsoft.com/office/drawing/2014/main" id="{5744BB22-B21A-41F1-3AC0-E5405D3F38B9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1637603" y="10669493"/>
            <a:ext cx="794697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9" name="Text Placeholder 7">
            <a:extLst>
              <a:ext uri="{FF2B5EF4-FFF2-40B4-BE49-F238E27FC236}">
                <a16:creationId xmlns:a16="http://schemas.microsoft.com/office/drawing/2014/main" id="{8435F4BE-979D-A31E-822F-BE5B89134C2E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18534605" y="9981886"/>
            <a:ext cx="794697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60" name="Text Placeholder 7">
            <a:extLst>
              <a:ext uri="{FF2B5EF4-FFF2-40B4-BE49-F238E27FC236}">
                <a16:creationId xmlns:a16="http://schemas.microsoft.com/office/drawing/2014/main" id="{677BC232-CE11-33FD-E959-01E1784345E8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8534605" y="10669493"/>
            <a:ext cx="794697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61" name="Text Placeholder 7">
            <a:extLst>
              <a:ext uri="{FF2B5EF4-FFF2-40B4-BE49-F238E27FC236}">
                <a16:creationId xmlns:a16="http://schemas.microsoft.com/office/drawing/2014/main" id="{44F4CD93-1747-0EB8-E78A-72E497AAB234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26983113" y="9981886"/>
            <a:ext cx="7947304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62" name="Text Placeholder 7">
            <a:extLst>
              <a:ext uri="{FF2B5EF4-FFF2-40B4-BE49-F238E27FC236}">
                <a16:creationId xmlns:a16="http://schemas.microsoft.com/office/drawing/2014/main" id="{1A697863-003A-44B9-586E-527F58EF7822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26983113" y="10669493"/>
            <a:ext cx="7947304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63" name="Text Placeholder 7">
            <a:extLst>
              <a:ext uri="{FF2B5EF4-FFF2-40B4-BE49-F238E27FC236}">
                <a16:creationId xmlns:a16="http://schemas.microsoft.com/office/drawing/2014/main" id="{F51F4D18-0362-FD9E-AC25-A4A81A8B19E3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10087333" y="17059122"/>
            <a:ext cx="794697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64" name="Text Placeholder 7">
            <a:extLst>
              <a:ext uri="{FF2B5EF4-FFF2-40B4-BE49-F238E27FC236}">
                <a16:creationId xmlns:a16="http://schemas.microsoft.com/office/drawing/2014/main" id="{53B0CD77-A671-31CB-AC75-0C7EC845BB12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1630527" y="17059122"/>
            <a:ext cx="794697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75" name="Text Placeholder 7">
            <a:extLst>
              <a:ext uri="{FF2B5EF4-FFF2-40B4-BE49-F238E27FC236}">
                <a16:creationId xmlns:a16="http://schemas.microsoft.com/office/drawing/2014/main" id="{D5373FC8-B0DB-5978-E125-CA5A68C02573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10087333" y="17746729"/>
            <a:ext cx="794697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76" name="Text Placeholder 7">
            <a:extLst>
              <a:ext uri="{FF2B5EF4-FFF2-40B4-BE49-F238E27FC236}">
                <a16:creationId xmlns:a16="http://schemas.microsoft.com/office/drawing/2014/main" id="{E6B03167-9698-83DC-3B32-0493773EDDC2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1630527" y="17746729"/>
            <a:ext cx="794697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77" name="Text Placeholder 7">
            <a:extLst>
              <a:ext uri="{FF2B5EF4-FFF2-40B4-BE49-F238E27FC236}">
                <a16:creationId xmlns:a16="http://schemas.microsoft.com/office/drawing/2014/main" id="{A6B7D653-72EF-B0B1-6654-9E4D6E8DCA75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18527529" y="17059122"/>
            <a:ext cx="794697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78" name="Text Placeholder 7">
            <a:extLst>
              <a:ext uri="{FF2B5EF4-FFF2-40B4-BE49-F238E27FC236}">
                <a16:creationId xmlns:a16="http://schemas.microsoft.com/office/drawing/2014/main" id="{68246EB6-5778-F487-E211-E6E38EDCBD39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18527529" y="17746729"/>
            <a:ext cx="794697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79" name="Text Placeholder 7">
            <a:extLst>
              <a:ext uri="{FF2B5EF4-FFF2-40B4-BE49-F238E27FC236}">
                <a16:creationId xmlns:a16="http://schemas.microsoft.com/office/drawing/2014/main" id="{46E19FE0-274C-8D86-A257-C3C9C6050C55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26976037" y="17059122"/>
            <a:ext cx="7947304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80" name="Text Placeholder 7">
            <a:extLst>
              <a:ext uri="{FF2B5EF4-FFF2-40B4-BE49-F238E27FC236}">
                <a16:creationId xmlns:a16="http://schemas.microsoft.com/office/drawing/2014/main" id="{6EE28B31-BBFD-198B-6E2A-89E9C4CCFA8B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26976037" y="17746729"/>
            <a:ext cx="7947304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81" name="Title 1">
            <a:extLst>
              <a:ext uri="{FF2B5EF4-FFF2-40B4-BE49-F238E27FC236}">
                <a16:creationId xmlns:a16="http://schemas.microsoft.com/office/drawing/2014/main" id="{7782373E-DEA5-D3FA-DF0B-FC71246BA4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2" name="Text Placeholder 7">
            <a:extLst>
              <a:ext uri="{FF2B5EF4-FFF2-40B4-BE49-F238E27FC236}">
                <a16:creationId xmlns:a16="http://schemas.microsoft.com/office/drawing/2014/main" id="{66E4B878-2BFA-C852-759E-04F4BD4E453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959063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-up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AC8872D6-E3D9-128D-6975-7E43AE049DD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1782110" y="17059122"/>
            <a:ext cx="626148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8" name="Text Placeholder 7">
            <a:extLst>
              <a:ext uri="{FF2B5EF4-FFF2-40B4-BE49-F238E27FC236}">
                <a16:creationId xmlns:a16="http://schemas.microsoft.com/office/drawing/2014/main" id="{124D63DA-1ECC-62E5-3223-DD9853116B9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037420" y="17059122"/>
            <a:ext cx="625484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8" name="Text Placeholder 7">
            <a:extLst>
              <a:ext uri="{FF2B5EF4-FFF2-40B4-BE49-F238E27FC236}">
                <a16:creationId xmlns:a16="http://schemas.microsoft.com/office/drawing/2014/main" id="{4296C6CE-75C2-58D3-2077-098855EC507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782110" y="17727056"/>
            <a:ext cx="626148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9" name="Text Placeholder 7">
            <a:extLst>
              <a:ext uri="{FF2B5EF4-FFF2-40B4-BE49-F238E27FC236}">
                <a16:creationId xmlns:a16="http://schemas.microsoft.com/office/drawing/2014/main" id="{CB889168-9CA5-7858-11A4-7E282071DDD1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037420" y="17727056"/>
            <a:ext cx="625484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0" name="Picture Placeholder 2">
            <a:extLst>
              <a:ext uri="{FF2B5EF4-FFF2-40B4-BE49-F238E27FC236}">
                <a16:creationId xmlns:a16="http://schemas.microsoft.com/office/drawing/2014/main" id="{3F8F5E2E-FAA9-873C-63EB-B4940E3D4908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5021177" y="11926198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1" name="Picture Placeholder 2">
            <a:extLst>
              <a:ext uri="{FF2B5EF4-FFF2-40B4-BE49-F238E27FC236}">
                <a16:creationId xmlns:a16="http://schemas.microsoft.com/office/drawing/2014/main" id="{119A3EE3-90A6-60F9-3E78-60D1CE1FB244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11779715" y="11926198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2" name="Picture Placeholder 2">
            <a:extLst>
              <a:ext uri="{FF2B5EF4-FFF2-40B4-BE49-F238E27FC236}">
                <a16:creationId xmlns:a16="http://schemas.microsoft.com/office/drawing/2014/main" id="{C639A2E5-6B54-F354-C964-79CE29BEB3D6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25286158" y="11926198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3" name="Text Placeholder 7">
            <a:extLst>
              <a:ext uri="{FF2B5EF4-FFF2-40B4-BE49-F238E27FC236}">
                <a16:creationId xmlns:a16="http://schemas.microsoft.com/office/drawing/2014/main" id="{405A4B4F-FDD8-68B8-BEC0-2C9F5E7703BC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8532409" y="17059122"/>
            <a:ext cx="6263641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65" name="Text Placeholder 7">
            <a:extLst>
              <a:ext uri="{FF2B5EF4-FFF2-40B4-BE49-F238E27FC236}">
                <a16:creationId xmlns:a16="http://schemas.microsoft.com/office/drawing/2014/main" id="{6A9D8994-57AB-FC46-F970-8A9BC7CAD26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8532409" y="17727056"/>
            <a:ext cx="6263641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66" name="Picture Placeholder 2">
            <a:extLst>
              <a:ext uri="{FF2B5EF4-FFF2-40B4-BE49-F238E27FC236}">
                <a16:creationId xmlns:a16="http://schemas.microsoft.com/office/drawing/2014/main" id="{34A2868F-2DD9-684C-4C82-813EEBD15ACA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5152060" y="4848840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7" name="Picture Placeholder 2">
            <a:extLst>
              <a:ext uri="{FF2B5EF4-FFF2-40B4-BE49-F238E27FC236}">
                <a16:creationId xmlns:a16="http://schemas.microsoft.com/office/drawing/2014/main" id="{D2FB10F1-37BA-6882-EBF3-73F1E627FFB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394833" y="4848840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8" name="Picture Placeholder 2">
            <a:extLst>
              <a:ext uri="{FF2B5EF4-FFF2-40B4-BE49-F238E27FC236}">
                <a16:creationId xmlns:a16="http://schemas.microsoft.com/office/drawing/2014/main" id="{F7972475-48C0-DE70-4A42-09E610902CE7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>
          <a:xfrm>
            <a:off x="1637606" y="4848840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9" name="Picture Placeholder 2">
            <a:extLst>
              <a:ext uri="{FF2B5EF4-FFF2-40B4-BE49-F238E27FC236}">
                <a16:creationId xmlns:a16="http://schemas.microsoft.com/office/drawing/2014/main" id="{03F70687-E13E-779B-ECD8-584B6FB4FB10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1909287" y="4848840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0" name="Picture Placeholder 2">
            <a:extLst>
              <a:ext uri="{FF2B5EF4-FFF2-40B4-BE49-F238E27FC236}">
                <a16:creationId xmlns:a16="http://schemas.microsoft.com/office/drawing/2014/main" id="{EB21B6ED-31E4-7226-13B1-F2AA1B5EC045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28666515" y="4848840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1" name="Picture Placeholder 2">
            <a:extLst>
              <a:ext uri="{FF2B5EF4-FFF2-40B4-BE49-F238E27FC236}">
                <a16:creationId xmlns:a16="http://schemas.microsoft.com/office/drawing/2014/main" id="{6C21D96F-4A3F-E55C-9A59-55E018F25D9C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18527620" y="11926198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2" name="Text Placeholder 7">
            <a:extLst>
              <a:ext uri="{FF2B5EF4-FFF2-40B4-BE49-F238E27FC236}">
                <a16:creationId xmlns:a16="http://schemas.microsoft.com/office/drawing/2014/main" id="{485D12D2-2B06-3201-0659-EE86413C68DB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25307424" y="17059122"/>
            <a:ext cx="626364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73" name="Text Placeholder 7">
            <a:extLst>
              <a:ext uri="{FF2B5EF4-FFF2-40B4-BE49-F238E27FC236}">
                <a16:creationId xmlns:a16="http://schemas.microsoft.com/office/drawing/2014/main" id="{7241A741-AE7C-3428-6194-0F6E94BF06FB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307424" y="17727056"/>
            <a:ext cx="626364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74" name="Text Placeholder 7">
            <a:extLst>
              <a:ext uri="{FF2B5EF4-FFF2-40B4-BE49-F238E27FC236}">
                <a16:creationId xmlns:a16="http://schemas.microsoft.com/office/drawing/2014/main" id="{8D28CF82-511F-AF83-F5D5-77ECB99010E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15141913" y="9981886"/>
            <a:ext cx="626364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81" name="Text Placeholder 7">
            <a:extLst>
              <a:ext uri="{FF2B5EF4-FFF2-40B4-BE49-F238E27FC236}">
                <a16:creationId xmlns:a16="http://schemas.microsoft.com/office/drawing/2014/main" id="{1439B33F-68A6-6AFE-68C2-8A0B706EE9E2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8391957" y="9981886"/>
            <a:ext cx="6263639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82" name="Text Placeholder 7">
            <a:extLst>
              <a:ext uri="{FF2B5EF4-FFF2-40B4-BE49-F238E27FC236}">
                <a16:creationId xmlns:a16="http://schemas.microsoft.com/office/drawing/2014/main" id="{1B9EFC83-50E5-49BB-B838-4F101E95ABDC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15141913" y="10669493"/>
            <a:ext cx="626364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83" name="Text Placeholder 7">
            <a:extLst>
              <a:ext uri="{FF2B5EF4-FFF2-40B4-BE49-F238E27FC236}">
                <a16:creationId xmlns:a16="http://schemas.microsoft.com/office/drawing/2014/main" id="{BFB3F389-B76A-63C4-BC38-E857B1B0979C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8391957" y="10669493"/>
            <a:ext cx="6263639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84" name="Text Placeholder 7">
            <a:extLst>
              <a:ext uri="{FF2B5EF4-FFF2-40B4-BE49-F238E27FC236}">
                <a16:creationId xmlns:a16="http://schemas.microsoft.com/office/drawing/2014/main" id="{8AAEBAC8-FBC5-9068-A8B4-AEE29F8FC0A3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21900662" y="9981886"/>
            <a:ext cx="626364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85" name="Text Placeholder 7">
            <a:extLst>
              <a:ext uri="{FF2B5EF4-FFF2-40B4-BE49-F238E27FC236}">
                <a16:creationId xmlns:a16="http://schemas.microsoft.com/office/drawing/2014/main" id="{A17BBB11-F155-8A2D-2741-A48639DDC938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21900662" y="10669493"/>
            <a:ext cx="626364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86" name="Text Placeholder 7">
            <a:extLst>
              <a:ext uri="{FF2B5EF4-FFF2-40B4-BE49-F238E27FC236}">
                <a16:creationId xmlns:a16="http://schemas.microsoft.com/office/drawing/2014/main" id="{74BB25EE-CFA9-E005-5BB1-CAC4EA6436EA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28666515" y="9981886"/>
            <a:ext cx="626390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87" name="Text Placeholder 7">
            <a:extLst>
              <a:ext uri="{FF2B5EF4-FFF2-40B4-BE49-F238E27FC236}">
                <a16:creationId xmlns:a16="http://schemas.microsoft.com/office/drawing/2014/main" id="{3505C59D-AFAD-58D3-4166-F5257E096C44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28666515" y="10669493"/>
            <a:ext cx="626390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88" name="Text Placeholder 7">
            <a:extLst>
              <a:ext uri="{FF2B5EF4-FFF2-40B4-BE49-F238E27FC236}">
                <a16:creationId xmlns:a16="http://schemas.microsoft.com/office/drawing/2014/main" id="{9183A493-96AB-21A4-F2F2-55F4C25B4A32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1637606" y="9981886"/>
            <a:ext cx="6263639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89" name="Text Placeholder 7">
            <a:extLst>
              <a:ext uri="{FF2B5EF4-FFF2-40B4-BE49-F238E27FC236}">
                <a16:creationId xmlns:a16="http://schemas.microsoft.com/office/drawing/2014/main" id="{39F09929-49C9-A912-1E78-C37DD2A4005F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1637606" y="10669493"/>
            <a:ext cx="6263639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90" name="Title 1">
            <a:extLst>
              <a:ext uri="{FF2B5EF4-FFF2-40B4-BE49-F238E27FC236}">
                <a16:creationId xmlns:a16="http://schemas.microsoft.com/office/drawing/2014/main" id="{2700C3A0-30EC-1996-7732-DE4E1CF959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1" name="Text Placeholder 7">
            <a:extLst>
              <a:ext uri="{FF2B5EF4-FFF2-40B4-BE49-F238E27FC236}">
                <a16:creationId xmlns:a16="http://schemas.microsoft.com/office/drawing/2014/main" id="{A0EDA14A-3243-B144-7B6A-EA7981E5DC1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818591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-up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Placeholder 7">
            <a:extLst>
              <a:ext uri="{FF2B5EF4-FFF2-40B4-BE49-F238E27FC236}">
                <a16:creationId xmlns:a16="http://schemas.microsoft.com/office/drawing/2014/main" id="{E9B94E87-6C45-B9E5-F5AE-D69D71E616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382295" y="17059122"/>
            <a:ext cx="626148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0" name="Text Placeholder 7">
            <a:extLst>
              <a:ext uri="{FF2B5EF4-FFF2-40B4-BE49-F238E27FC236}">
                <a16:creationId xmlns:a16="http://schemas.microsoft.com/office/drawing/2014/main" id="{960A4EC5-468D-A3E6-9294-084BA073A23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637605" y="17059122"/>
            <a:ext cx="625484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2" name="Text Placeholder 7">
            <a:extLst>
              <a:ext uri="{FF2B5EF4-FFF2-40B4-BE49-F238E27FC236}">
                <a16:creationId xmlns:a16="http://schemas.microsoft.com/office/drawing/2014/main" id="{7AB65765-2201-817D-E699-AB8E899F5A05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382295" y="17727056"/>
            <a:ext cx="626148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4" name="Text Placeholder 7">
            <a:extLst>
              <a:ext uri="{FF2B5EF4-FFF2-40B4-BE49-F238E27FC236}">
                <a16:creationId xmlns:a16="http://schemas.microsoft.com/office/drawing/2014/main" id="{A54B1517-FE34-AAC0-C4EE-52F7D477D2D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637605" y="17727056"/>
            <a:ext cx="625484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5" name="Picture Placeholder 2">
            <a:extLst>
              <a:ext uri="{FF2B5EF4-FFF2-40B4-BE49-F238E27FC236}">
                <a16:creationId xmlns:a16="http://schemas.microsoft.com/office/drawing/2014/main" id="{30BC2C71-2AC1-DDC7-734C-63EE3CA218F6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1637605" y="11926198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6" name="Picture Placeholder 2">
            <a:extLst>
              <a:ext uri="{FF2B5EF4-FFF2-40B4-BE49-F238E27FC236}">
                <a16:creationId xmlns:a16="http://schemas.microsoft.com/office/drawing/2014/main" id="{4A5495BC-7C50-8C58-B54F-D3C882FECC10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8396143" y="11926198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7" name="Picture Placeholder 2">
            <a:extLst>
              <a:ext uri="{FF2B5EF4-FFF2-40B4-BE49-F238E27FC236}">
                <a16:creationId xmlns:a16="http://schemas.microsoft.com/office/drawing/2014/main" id="{48C56C91-18A4-7D8E-94FC-6714566B099C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21902586" y="11926198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4" name="Text Placeholder 7">
            <a:extLst>
              <a:ext uri="{FF2B5EF4-FFF2-40B4-BE49-F238E27FC236}">
                <a16:creationId xmlns:a16="http://schemas.microsoft.com/office/drawing/2014/main" id="{528A02C1-AD1D-1EE4-C6AC-3B590D527780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5132594" y="17059122"/>
            <a:ext cx="6263641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55" name="Text Placeholder 7">
            <a:extLst>
              <a:ext uri="{FF2B5EF4-FFF2-40B4-BE49-F238E27FC236}">
                <a16:creationId xmlns:a16="http://schemas.microsoft.com/office/drawing/2014/main" id="{F1D675D5-3EFF-B8AD-BA35-187E996A9B67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5132594" y="17727056"/>
            <a:ext cx="6263641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6" name="Picture Placeholder 2">
            <a:extLst>
              <a:ext uri="{FF2B5EF4-FFF2-40B4-BE49-F238E27FC236}">
                <a16:creationId xmlns:a16="http://schemas.microsoft.com/office/drawing/2014/main" id="{F1029ABF-1C3A-2F51-92CB-AA5A3AC353FE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5152060" y="4848840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7" name="Picture Placeholder 2">
            <a:extLst>
              <a:ext uri="{FF2B5EF4-FFF2-40B4-BE49-F238E27FC236}">
                <a16:creationId xmlns:a16="http://schemas.microsoft.com/office/drawing/2014/main" id="{8FE2B66F-F99F-570D-A31D-3578C4B3B17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394833" y="4848840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8" name="Picture Placeholder 2">
            <a:extLst>
              <a:ext uri="{FF2B5EF4-FFF2-40B4-BE49-F238E27FC236}">
                <a16:creationId xmlns:a16="http://schemas.microsoft.com/office/drawing/2014/main" id="{42FEAB60-4C6E-41A0-FC52-815836156837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>
          <a:xfrm>
            <a:off x="1637606" y="4848840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9" name="Picture Placeholder 2">
            <a:extLst>
              <a:ext uri="{FF2B5EF4-FFF2-40B4-BE49-F238E27FC236}">
                <a16:creationId xmlns:a16="http://schemas.microsoft.com/office/drawing/2014/main" id="{A2963118-2A95-082A-4DFF-6C0DA33F59BA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1909287" y="4848840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0" name="Picture Placeholder 2">
            <a:extLst>
              <a:ext uri="{FF2B5EF4-FFF2-40B4-BE49-F238E27FC236}">
                <a16:creationId xmlns:a16="http://schemas.microsoft.com/office/drawing/2014/main" id="{F1791F3A-0E82-06A9-0588-000305CD1590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28666515" y="4848840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1" name="Picture Placeholder 2">
            <a:extLst>
              <a:ext uri="{FF2B5EF4-FFF2-40B4-BE49-F238E27FC236}">
                <a16:creationId xmlns:a16="http://schemas.microsoft.com/office/drawing/2014/main" id="{7E0D42E0-350E-2247-45F3-56D42F8A4B66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15144048" y="11926198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2" name="Text Placeholder 7">
            <a:extLst>
              <a:ext uri="{FF2B5EF4-FFF2-40B4-BE49-F238E27FC236}">
                <a16:creationId xmlns:a16="http://schemas.microsoft.com/office/drawing/2014/main" id="{A7640883-7B53-617D-BE12-A19E85F82D7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21907609" y="17059122"/>
            <a:ext cx="626364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63" name="Text Placeholder 7">
            <a:extLst>
              <a:ext uri="{FF2B5EF4-FFF2-40B4-BE49-F238E27FC236}">
                <a16:creationId xmlns:a16="http://schemas.microsoft.com/office/drawing/2014/main" id="{D9B189E3-4BDB-A032-87AD-39D194013B83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1907609" y="17727056"/>
            <a:ext cx="626364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64" name="Text Placeholder 7">
            <a:extLst>
              <a:ext uri="{FF2B5EF4-FFF2-40B4-BE49-F238E27FC236}">
                <a16:creationId xmlns:a16="http://schemas.microsoft.com/office/drawing/2014/main" id="{2A34B9E8-CFB0-ABCC-D2C4-A8F174FDB901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15141913" y="9981886"/>
            <a:ext cx="626364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75" name="Text Placeholder 7">
            <a:extLst>
              <a:ext uri="{FF2B5EF4-FFF2-40B4-BE49-F238E27FC236}">
                <a16:creationId xmlns:a16="http://schemas.microsoft.com/office/drawing/2014/main" id="{716C5C95-2BC4-4D5A-9F5E-FA8B8CECBF63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8391957" y="9981886"/>
            <a:ext cx="6263639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76" name="Text Placeholder 7">
            <a:extLst>
              <a:ext uri="{FF2B5EF4-FFF2-40B4-BE49-F238E27FC236}">
                <a16:creationId xmlns:a16="http://schemas.microsoft.com/office/drawing/2014/main" id="{471A9256-6A6C-5C2D-1DEA-813569F4D299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15141913" y="10669493"/>
            <a:ext cx="626364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77" name="Text Placeholder 7">
            <a:extLst>
              <a:ext uri="{FF2B5EF4-FFF2-40B4-BE49-F238E27FC236}">
                <a16:creationId xmlns:a16="http://schemas.microsoft.com/office/drawing/2014/main" id="{43D755B0-CB88-73DF-77BE-F524AF555427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8391957" y="10669493"/>
            <a:ext cx="6263639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78" name="Text Placeholder 7">
            <a:extLst>
              <a:ext uri="{FF2B5EF4-FFF2-40B4-BE49-F238E27FC236}">
                <a16:creationId xmlns:a16="http://schemas.microsoft.com/office/drawing/2014/main" id="{3198CB65-E1BB-0862-2BBA-EDF38803C3B4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21900662" y="9981886"/>
            <a:ext cx="626364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79" name="Text Placeholder 7">
            <a:extLst>
              <a:ext uri="{FF2B5EF4-FFF2-40B4-BE49-F238E27FC236}">
                <a16:creationId xmlns:a16="http://schemas.microsoft.com/office/drawing/2014/main" id="{D76AC962-A132-DA02-DE26-644561C88B3B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21900662" y="10669493"/>
            <a:ext cx="626364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80" name="Text Placeholder 7">
            <a:extLst>
              <a:ext uri="{FF2B5EF4-FFF2-40B4-BE49-F238E27FC236}">
                <a16:creationId xmlns:a16="http://schemas.microsoft.com/office/drawing/2014/main" id="{7EC2D322-35AF-3168-CAE7-F7242C22DE6D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28666515" y="9981886"/>
            <a:ext cx="626390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90" name="Text Placeholder 7">
            <a:extLst>
              <a:ext uri="{FF2B5EF4-FFF2-40B4-BE49-F238E27FC236}">
                <a16:creationId xmlns:a16="http://schemas.microsoft.com/office/drawing/2014/main" id="{B0179DD1-4F77-A229-F54C-117D786F649E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28666515" y="10669493"/>
            <a:ext cx="626390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91" name="Picture Placeholder 2">
            <a:extLst>
              <a:ext uri="{FF2B5EF4-FFF2-40B4-BE49-F238E27FC236}">
                <a16:creationId xmlns:a16="http://schemas.microsoft.com/office/drawing/2014/main" id="{1B3ED7E6-3440-4DEC-6512-E64B9960C25B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28661124" y="11926198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2" name="Text Placeholder 7">
            <a:extLst>
              <a:ext uri="{FF2B5EF4-FFF2-40B4-BE49-F238E27FC236}">
                <a16:creationId xmlns:a16="http://schemas.microsoft.com/office/drawing/2014/main" id="{9C3AE372-0E56-771E-CCB5-C1E77A38D343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28644881" y="17103569"/>
            <a:ext cx="626390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93" name="Text Placeholder 7">
            <a:extLst>
              <a:ext uri="{FF2B5EF4-FFF2-40B4-BE49-F238E27FC236}">
                <a16:creationId xmlns:a16="http://schemas.microsoft.com/office/drawing/2014/main" id="{F415D1AB-B98D-8EC8-08B0-3DAD5A3D8CB4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28644881" y="17791176"/>
            <a:ext cx="626390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94" name="Text Placeholder 7">
            <a:extLst>
              <a:ext uri="{FF2B5EF4-FFF2-40B4-BE49-F238E27FC236}">
                <a16:creationId xmlns:a16="http://schemas.microsoft.com/office/drawing/2014/main" id="{5A71691E-DD29-C12F-E295-A972376CE117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1637606" y="9981886"/>
            <a:ext cx="6263639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95" name="Text Placeholder 7">
            <a:extLst>
              <a:ext uri="{FF2B5EF4-FFF2-40B4-BE49-F238E27FC236}">
                <a16:creationId xmlns:a16="http://schemas.microsoft.com/office/drawing/2014/main" id="{909DF864-DBFA-F92D-B685-429A430B2601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1637606" y="10669493"/>
            <a:ext cx="6263639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96" name="Title 1">
            <a:extLst>
              <a:ext uri="{FF2B5EF4-FFF2-40B4-BE49-F238E27FC236}">
                <a16:creationId xmlns:a16="http://schemas.microsoft.com/office/drawing/2014/main" id="{4AD4D5AB-34C6-812D-8AD2-BF8272B628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7" name="Text Placeholder 7">
            <a:extLst>
              <a:ext uri="{FF2B5EF4-FFF2-40B4-BE49-F238E27FC236}">
                <a16:creationId xmlns:a16="http://schemas.microsoft.com/office/drawing/2014/main" id="{B1FCE4BF-7751-CC7B-D446-A5791D382E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322413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se Cas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BFC72E11-DD16-4EAC-A294-E115038AA2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377920F6-AC26-4611-AAD3-44D6CEA3FBA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36576000" cy="20574000"/>
          </a:xfrm>
          <a:prstGeom prst="rect">
            <a:avLst/>
          </a:prstGeom>
          <a:solidFill>
            <a:schemeClr val="tx1">
              <a:lumMod val="95000"/>
            </a:schemeClr>
          </a:solidFill>
          <a:ln w="19050">
            <a:noFill/>
          </a:ln>
        </p:spPr>
        <p:txBody>
          <a:bodyPr tIns="0" bIns="4206240" anchor="ctr"/>
          <a:lstStyle>
            <a:lvl1pPr marL="0" indent="0" algn="ctr">
              <a:buFontTx/>
              <a:buNone/>
              <a:defRPr sz="72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1130100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:a14="http://schemas.microsoft.com/office/drawing/2010/main" xmlns="">
      <p:transition/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emo - Im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BFC72E11-DD16-4EAC-A294-E115038AA2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377920F6-AC26-4611-AAD3-44D6CEA3FBA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36576000" cy="20574000"/>
          </a:xfrm>
          <a:prstGeom prst="rect">
            <a:avLst/>
          </a:prstGeom>
          <a:solidFill>
            <a:schemeClr val="tx1">
              <a:lumMod val="95000"/>
            </a:schemeClr>
          </a:solidFill>
          <a:ln w="19050">
            <a:noFill/>
          </a:ln>
        </p:spPr>
        <p:txBody>
          <a:bodyPr tIns="0" bIns="4206240" anchor="ctr"/>
          <a:lstStyle>
            <a:lvl1pPr marL="0" indent="0" algn="ctr">
              <a:buFontTx/>
              <a:buNone/>
              <a:defRPr sz="72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add image of video/demo</a:t>
            </a:r>
          </a:p>
        </p:txBody>
      </p:sp>
    </p:spTree>
    <p:extLst>
      <p:ext uri="{BB962C8B-B14F-4D97-AF65-F5344CB8AC3E}">
        <p14:creationId xmlns:p14="http://schemas.microsoft.com/office/powerpoint/2010/main" val="3390819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:a14="http://schemas.microsoft.com/office/drawing/2010/main" xmlns="">
      <p:transition/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- Insert Video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F834EEA-7CA3-4C82-B29B-3EA15B8822C9}"/>
              </a:ext>
            </a:extLst>
          </p:cNvPr>
          <p:cNvSpPr/>
          <p:nvPr userDrawn="1"/>
        </p:nvSpPr>
        <p:spPr>
          <a:xfrm>
            <a:off x="0" y="0"/>
            <a:ext cx="36576000" cy="20574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17" name="Media Placeholder 7">
            <a:extLst>
              <a:ext uri="{FF2B5EF4-FFF2-40B4-BE49-F238E27FC236}">
                <a16:creationId xmlns:a16="http://schemas.microsoft.com/office/drawing/2014/main" id="{95086AA8-FFA8-416F-AD2F-0B7223809227}"/>
              </a:ext>
            </a:extLst>
          </p:cNvPr>
          <p:cNvSpPr>
            <a:spLocks noGrp="1"/>
          </p:cNvSpPr>
          <p:nvPr>
            <p:ph type="media" sz="quarter" idx="11" hasCustomPrompt="1"/>
          </p:nvPr>
        </p:nvSpPr>
        <p:spPr>
          <a:xfrm>
            <a:off x="0" y="0"/>
            <a:ext cx="36576000" cy="20574000"/>
          </a:xfrm>
          <a:prstGeom prst="rect">
            <a:avLst/>
          </a:prstGeom>
          <a:solidFill>
            <a:schemeClr val="tx1">
              <a:lumMod val="95000"/>
            </a:schemeClr>
          </a:solidFill>
          <a:ln w="19050">
            <a:noFill/>
          </a:ln>
        </p:spPr>
        <p:txBody>
          <a:bodyPr tIns="0" bIns="4206240" anchor="ctr"/>
          <a:lstStyle>
            <a:lvl1pPr marL="0" indent="0" algn="ctr">
              <a:buFontTx/>
              <a:buNone/>
              <a:defRPr lang="en-US" sz="8400" b="1" dirty="0">
                <a:solidFill>
                  <a:schemeClr val="bg1"/>
                </a:solidFill>
                <a:latin typeface="+mn-lt"/>
              </a:defRPr>
            </a:lvl1pPr>
          </a:lstStyle>
          <a:p>
            <a:pPr marL="857250" lvl="0" indent="-857250" algn="ctr"/>
            <a:r>
              <a:rPr lang="en-US" dirty="0"/>
              <a:t>Click to add video</a:t>
            </a:r>
          </a:p>
        </p:txBody>
      </p:sp>
    </p:spTree>
    <p:extLst>
      <p:ext uri="{BB962C8B-B14F-4D97-AF65-F5344CB8AC3E}">
        <p14:creationId xmlns:p14="http://schemas.microsoft.com/office/powerpoint/2010/main" val="2602793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een and white background&#10;&#10;Description automatically generated">
            <a:extLst>
              <a:ext uri="{FF2B5EF4-FFF2-40B4-BE49-F238E27FC236}">
                <a16:creationId xmlns:a16="http://schemas.microsoft.com/office/drawing/2014/main" id="{708A9C7D-B92D-A13B-AE0E-7F3EA434A1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F1316F0-7ADD-BB87-23BE-740C3B3B0100}"/>
              </a:ext>
            </a:extLst>
          </p:cNvPr>
          <p:cNvSpPr/>
          <p:nvPr userDrawn="1"/>
        </p:nvSpPr>
        <p:spPr>
          <a:xfrm>
            <a:off x="0" y="6963916"/>
            <a:ext cx="36576000" cy="13610084"/>
          </a:xfrm>
          <a:prstGeom prst="rect">
            <a:avLst/>
          </a:prstGeom>
          <a:gradFill>
            <a:gsLst>
              <a:gs pos="78000">
                <a:srgbClr val="FFFFFF">
                  <a:alpha val="55000"/>
                </a:srgbClr>
              </a:gs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B1478E8-E56F-B47D-1F5A-CBA4655161C3}"/>
              </a:ext>
            </a:extLst>
          </p:cNvPr>
          <p:cNvCxnSpPr/>
          <p:nvPr userDrawn="1"/>
        </p:nvCxnSpPr>
        <p:spPr>
          <a:xfrm>
            <a:off x="0" y="11329275"/>
            <a:ext cx="36576000" cy="0"/>
          </a:xfrm>
          <a:prstGeom prst="line">
            <a:avLst/>
          </a:prstGeom>
          <a:ln w="508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itle 1">
            <a:extLst>
              <a:ext uri="{FF2B5EF4-FFF2-40B4-BE49-F238E27FC236}">
                <a16:creationId xmlns:a16="http://schemas.microsoft.com/office/drawing/2014/main" id="{47CCEE02-87E6-1F2B-7676-44BDF7788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CB50D318-3396-F41C-08C9-6F12DDA735C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0660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:a14="http://schemas.microsoft.com/office/drawing/2010/main" xmlns="">
      <p:transition/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x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een and white background&#10;&#10;Description automatically generated">
            <a:extLst>
              <a:ext uri="{FF2B5EF4-FFF2-40B4-BE49-F238E27FC236}">
                <a16:creationId xmlns:a16="http://schemas.microsoft.com/office/drawing/2014/main" id="{868E8BC8-DCAA-6E80-5181-5371045BDE5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046080A-6CDE-3FF2-A128-47CFF5F0C9C5}"/>
              </a:ext>
            </a:extLst>
          </p:cNvPr>
          <p:cNvSpPr/>
          <p:nvPr userDrawn="1"/>
        </p:nvSpPr>
        <p:spPr>
          <a:xfrm>
            <a:off x="0" y="6963916"/>
            <a:ext cx="36576000" cy="13610084"/>
          </a:xfrm>
          <a:prstGeom prst="rect">
            <a:avLst/>
          </a:prstGeom>
          <a:gradFill>
            <a:gsLst>
              <a:gs pos="78000">
                <a:srgbClr val="FFFFFF">
                  <a:alpha val="55000"/>
                </a:srgbClr>
              </a:gs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47CCEE02-87E6-1F2B-7676-44BDF7788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CB50D318-3396-F41C-08C9-6F12DDA735C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947985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:a14="http://schemas.microsoft.com/office/drawing/2010/main" xmlns="">
      <p:transition/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w/ Imag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een and white background&#10;&#10;Description automatically generated">
            <a:extLst>
              <a:ext uri="{FF2B5EF4-FFF2-40B4-BE49-F238E27FC236}">
                <a16:creationId xmlns:a16="http://schemas.microsoft.com/office/drawing/2014/main" id="{19281CF6-82C4-D591-C93F-79BF14277C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C0EE250-813A-B3FC-C9DB-11B6E237EC3B}"/>
              </a:ext>
            </a:extLst>
          </p:cNvPr>
          <p:cNvSpPr/>
          <p:nvPr userDrawn="1"/>
        </p:nvSpPr>
        <p:spPr>
          <a:xfrm>
            <a:off x="0" y="6963916"/>
            <a:ext cx="36576000" cy="13610084"/>
          </a:xfrm>
          <a:prstGeom prst="rect">
            <a:avLst/>
          </a:prstGeom>
          <a:gradFill>
            <a:gsLst>
              <a:gs pos="78000">
                <a:srgbClr val="FFFFFF">
                  <a:alpha val="55000"/>
                </a:srgbClr>
              </a:gs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47CCEE02-87E6-1F2B-7676-44BDF7788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CB50D318-3396-F41C-08C9-6F12DDA735C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81A4C02-2335-3840-A0B5-647FE4372B5A}"/>
              </a:ext>
            </a:extLst>
          </p:cNvPr>
          <p:cNvCxnSpPr/>
          <p:nvPr userDrawn="1"/>
        </p:nvCxnSpPr>
        <p:spPr>
          <a:xfrm>
            <a:off x="0" y="12517118"/>
            <a:ext cx="36576000" cy="0"/>
          </a:xfrm>
          <a:prstGeom prst="line">
            <a:avLst/>
          </a:prstGeom>
          <a:ln w="508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327B64A9-49B7-26AE-EEC1-3DFB7714FDF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104900" y="8828853"/>
            <a:ext cx="6172214" cy="4209393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>
                    <a:lumMod val="50000"/>
                  </a:schemeClr>
                </a:solidFill>
                <a:latin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65B24A7F-7007-8F97-B7C8-699C593826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04901" y="7235683"/>
            <a:ext cx="6172213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BE9F7FB4-6AA0-B491-27B8-845C8CCE95D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104900" y="7947588"/>
            <a:ext cx="6172214" cy="679755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831C6138-3339-1502-9812-8B9B39AF6DD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104901" y="6492954"/>
            <a:ext cx="6172213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7200" b="0" cap="none" baseline="0">
                <a:solidFill>
                  <a:schemeClr val="bg1"/>
                </a:solidFill>
                <a:latin typeface="NVIDIA Sans Light" panose="020B0303020203020204" pitchFamily="34" charset="0"/>
                <a:cs typeface="NVIDIA Sans Light" panose="020B03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Year</a:t>
            </a:r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56B4F135-9336-3722-2593-739C386518BC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8153396" y="12016056"/>
            <a:ext cx="6172214" cy="4209393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>
                    <a:lumMod val="50000"/>
                  </a:schemeClr>
                </a:solidFill>
                <a:latin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016A6D24-C230-8F9B-A12F-04BF3B073AA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153397" y="10422886"/>
            <a:ext cx="6172213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36F5CC89-1592-52B8-63DE-F83AAF64EB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153396" y="11134791"/>
            <a:ext cx="6172214" cy="679755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71F14B17-DED6-D507-0F6F-0880EA7DD56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153397" y="9680157"/>
            <a:ext cx="6172213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7200" b="0" cap="none" baseline="0">
                <a:solidFill>
                  <a:schemeClr val="bg1"/>
                </a:solidFill>
                <a:latin typeface="NVIDIA Sans Light" panose="020B0303020203020204" pitchFamily="34" charset="0"/>
                <a:cs typeface="NVIDIA Sans Light" panose="020B03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Year</a:t>
            </a:r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549A52FF-8F33-D50C-49C1-0A55140F3322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15163793" y="8828853"/>
            <a:ext cx="6172214" cy="4209393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>
                    <a:lumMod val="50000"/>
                  </a:schemeClr>
                </a:solidFill>
                <a:latin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C5D8802B-FD04-DC3F-D5E6-9A1D927089A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5163794" y="7235683"/>
            <a:ext cx="6172213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A4956259-B8C8-1248-4F09-69EFFCCA6C29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5163793" y="7947588"/>
            <a:ext cx="6172214" cy="679755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3A510AB1-7D48-519B-BE8D-994DD848CCC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5163794" y="6492954"/>
            <a:ext cx="6172213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7200" b="0" cap="none" baseline="0">
                <a:solidFill>
                  <a:schemeClr val="bg1"/>
                </a:solidFill>
                <a:latin typeface="NVIDIA Sans Light" panose="020B0303020203020204" pitchFamily="34" charset="0"/>
                <a:cs typeface="NVIDIA Sans Light" panose="020B03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Year</a:t>
            </a:r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0F3F011E-890F-E527-A5CB-421C1CE541C0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22212297" y="12016056"/>
            <a:ext cx="6172214" cy="4209393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>
                    <a:lumMod val="50000"/>
                  </a:schemeClr>
                </a:solidFill>
                <a:latin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D1CAB8F0-0055-E057-4C4A-7B3C6F7B941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22212298" y="10422886"/>
            <a:ext cx="6172213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D8F5B73D-560B-E470-3B25-EAD525666BE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2212297" y="11134791"/>
            <a:ext cx="6172214" cy="679755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1960F0BA-603E-23D9-F49B-C5B4462632D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2212298" y="9680157"/>
            <a:ext cx="6172213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7200" b="0" cap="none" baseline="0">
                <a:solidFill>
                  <a:schemeClr val="bg1"/>
                </a:solidFill>
                <a:latin typeface="NVIDIA Sans Light" panose="020B0303020203020204" pitchFamily="34" charset="0"/>
                <a:cs typeface="NVIDIA Sans Light" panose="020B03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Year</a:t>
            </a:r>
          </a:p>
        </p:txBody>
      </p:sp>
      <p:sp>
        <p:nvSpPr>
          <p:cNvPr id="32" name="Picture Placeholder 2">
            <a:extLst>
              <a:ext uri="{FF2B5EF4-FFF2-40B4-BE49-F238E27FC236}">
                <a16:creationId xmlns:a16="http://schemas.microsoft.com/office/drawing/2014/main" id="{BBA2ABA5-D670-2BB6-7840-47F6198C0D4D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29298902" y="8828853"/>
            <a:ext cx="6172214" cy="4209393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>
                    <a:lumMod val="50000"/>
                  </a:schemeClr>
                </a:solidFill>
                <a:latin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CBEE0231-5854-76AF-A0C6-70879C2EA774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9298903" y="7235683"/>
            <a:ext cx="6172213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0376ABB2-52CB-85AB-C186-532F75164A98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29298902" y="7947588"/>
            <a:ext cx="6172214" cy="679755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63880F57-14E0-B28C-BF79-E4DCF3B7D679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29298903" y="6492954"/>
            <a:ext cx="6172213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7200" b="0" cap="none" baseline="0">
                <a:solidFill>
                  <a:schemeClr val="bg1"/>
                </a:solidFill>
                <a:latin typeface="NVIDIA Sans Light" panose="020B0303020203020204" pitchFamily="34" charset="0"/>
                <a:cs typeface="NVIDIA Sans Light" panose="020B03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Year</a:t>
            </a:r>
          </a:p>
        </p:txBody>
      </p:sp>
    </p:spTree>
    <p:extLst>
      <p:ext uri="{BB962C8B-B14F-4D97-AF65-F5344CB8AC3E}">
        <p14:creationId xmlns:p14="http://schemas.microsoft.com/office/powerpoint/2010/main" val="589048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:a14="http://schemas.microsoft.com/office/drawing/2010/main" xmlns="">
      <p:transition/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- LONG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reen and white background&#10;&#10;Description automatically generated">
            <a:extLst>
              <a:ext uri="{FF2B5EF4-FFF2-40B4-BE49-F238E27FC236}">
                <a16:creationId xmlns:a16="http://schemas.microsoft.com/office/drawing/2014/main" id="{3BFE9B15-7828-3FC3-BCF0-23F89A1309F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36576003" cy="2057400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D79F16E-B355-8896-6563-603510529C31}"/>
              </a:ext>
            </a:extLst>
          </p:cNvPr>
          <p:cNvSpPr/>
          <p:nvPr userDrawn="1"/>
        </p:nvSpPr>
        <p:spPr>
          <a:xfrm>
            <a:off x="0" y="4143768"/>
            <a:ext cx="36576000" cy="2151778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C5A15EA-E928-94AA-543D-8EA2FF0183F9}"/>
              </a:ext>
            </a:extLst>
          </p:cNvPr>
          <p:cNvSpPr/>
          <p:nvPr userDrawn="1"/>
        </p:nvSpPr>
        <p:spPr>
          <a:xfrm flipV="1">
            <a:off x="0" y="15269900"/>
            <a:ext cx="36576000" cy="4218249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3F43A3E-D43D-124C-0C49-E1D720395FC6}"/>
              </a:ext>
            </a:extLst>
          </p:cNvPr>
          <p:cNvSpPr/>
          <p:nvPr userDrawn="1"/>
        </p:nvSpPr>
        <p:spPr>
          <a:xfrm>
            <a:off x="0" y="1068230"/>
            <a:ext cx="36576000" cy="4218249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CD9C284-B78C-1241-4B2A-F563F642D07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58753" y="13434560"/>
            <a:ext cx="24258494" cy="104392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FontTx/>
              <a:buNone/>
              <a:defRPr sz="4400" i="1" cap="none" baseline="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3" indent="0" algn="l">
              <a:lnSpc>
                <a:spcPct val="90000"/>
              </a:lnSpc>
              <a:buFontTx/>
              <a:buNone/>
              <a:defRPr sz="7539" cap="all" baseline="0">
                <a:solidFill>
                  <a:schemeClr val="tx2"/>
                </a:solidFill>
                <a:latin typeface="NVIDIA Sans" panose="020B0503020203020204" pitchFamily="34" charset="0"/>
              </a:defRPr>
            </a:lvl2pPr>
            <a:lvl3pPr marL="4883581" indent="0" algn="l">
              <a:lnSpc>
                <a:spcPct val="90000"/>
              </a:lnSpc>
              <a:buFontTx/>
              <a:buNone/>
              <a:defRPr sz="7539" cap="all" baseline="0">
                <a:solidFill>
                  <a:schemeClr val="tx2"/>
                </a:solidFill>
                <a:latin typeface="NVIDIA Sans" panose="020B0503020203020204" pitchFamily="34" charset="0"/>
              </a:defRPr>
            </a:lvl3pPr>
            <a:lvl4pPr marL="6933729" indent="0">
              <a:buNone/>
              <a:defRPr/>
            </a:lvl4pPr>
          </a:lstStyle>
          <a:p>
            <a:pPr lvl="0"/>
            <a:r>
              <a:rPr lang="en-US" dirty="0"/>
              <a:t>— Quote source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434FF7EA-90ED-54BC-F712-E8CE0FF23DF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58754" y="5706208"/>
            <a:ext cx="24258494" cy="73070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90000"/>
              </a:lnSpc>
              <a:spcBef>
                <a:spcPts val="0"/>
              </a:spcBef>
              <a:buFontTx/>
              <a:buNone/>
              <a:defRPr sz="12000" cap="none" baseline="0">
                <a:solidFill>
                  <a:schemeClr val="bg1"/>
                </a:solidFill>
                <a:latin typeface="NVIDIA Sans Light" panose="020B0303020203020204" pitchFamily="34" charset="0"/>
                <a:cs typeface="NVIDIA Sans Light" panose="020B0303020203020204" pitchFamily="34" charset="0"/>
              </a:defRPr>
            </a:lvl1pPr>
            <a:lvl2pPr marL="2562793" indent="0" algn="l">
              <a:lnSpc>
                <a:spcPct val="90000"/>
              </a:lnSpc>
              <a:buFontTx/>
              <a:buNone/>
              <a:defRPr sz="7539" cap="all" baseline="0">
                <a:solidFill>
                  <a:schemeClr val="tx2"/>
                </a:solidFill>
                <a:latin typeface="NVIDIA Sans" panose="020B0503020203020204" pitchFamily="34" charset="0"/>
              </a:defRPr>
            </a:lvl2pPr>
            <a:lvl3pPr marL="4883581" indent="0" algn="l">
              <a:lnSpc>
                <a:spcPct val="90000"/>
              </a:lnSpc>
              <a:buFontTx/>
              <a:buNone/>
              <a:defRPr sz="7539" cap="all" baseline="0">
                <a:solidFill>
                  <a:schemeClr val="tx2"/>
                </a:solidFill>
                <a:latin typeface="NVIDIA Sans" panose="020B0503020203020204" pitchFamily="34" charset="0"/>
              </a:defRPr>
            </a:lvl3pPr>
            <a:lvl4pPr marL="6933729" indent="0">
              <a:buNone/>
              <a:defRPr/>
            </a:lvl4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9D91CB-444B-B15F-7D27-F8959442EE8D}"/>
              </a:ext>
            </a:extLst>
          </p:cNvPr>
          <p:cNvSpPr txBox="1"/>
          <p:nvPr userDrawn="1"/>
        </p:nvSpPr>
        <p:spPr>
          <a:xfrm rot="10800000">
            <a:off x="17582278" y="12276665"/>
            <a:ext cx="1468672" cy="45089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700" dirty="0">
                <a:solidFill>
                  <a:schemeClr val="tx2"/>
                </a:solidFill>
                <a:latin typeface="NVIDIA Sans Light" panose="020B0303020203020204" pitchFamily="34" charset="0"/>
                <a:cs typeface="NVIDIA Sans Light" panose="020B0303020203020204" pitchFamily="34" charset="0"/>
              </a:rPr>
              <a:t>“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A168394-A768-2D2C-2FE6-DB4613D6BDFB}"/>
              </a:ext>
            </a:extLst>
          </p:cNvPr>
          <p:cNvCxnSpPr>
            <a:cxnSpLocks/>
          </p:cNvCxnSpPr>
          <p:nvPr userDrawn="1"/>
        </p:nvCxnSpPr>
        <p:spPr>
          <a:xfrm>
            <a:off x="6158753" y="15523509"/>
            <a:ext cx="11394911" cy="0"/>
          </a:xfrm>
          <a:prstGeom prst="line">
            <a:avLst/>
          </a:prstGeom>
          <a:ln w="317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CF7CCAE-8B92-5A79-CBAF-C805450DD64B}"/>
              </a:ext>
            </a:extLst>
          </p:cNvPr>
          <p:cNvCxnSpPr>
            <a:cxnSpLocks/>
          </p:cNvCxnSpPr>
          <p:nvPr userDrawn="1"/>
        </p:nvCxnSpPr>
        <p:spPr>
          <a:xfrm>
            <a:off x="19022336" y="15523509"/>
            <a:ext cx="11394911" cy="0"/>
          </a:xfrm>
          <a:prstGeom prst="line">
            <a:avLst/>
          </a:prstGeom>
          <a:ln w="317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F9A1B02-4A67-4CC9-F283-AC371711F42A}"/>
              </a:ext>
            </a:extLst>
          </p:cNvPr>
          <p:cNvGrpSpPr/>
          <p:nvPr userDrawn="1"/>
        </p:nvGrpSpPr>
        <p:grpSpPr>
          <a:xfrm>
            <a:off x="6158753" y="3796809"/>
            <a:ext cx="24258494" cy="4508927"/>
            <a:chOff x="6158753" y="6234204"/>
            <a:chExt cx="24258494" cy="450892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A3E7C50-8DF7-896F-E1BB-D5842FE7F8E9}"/>
                </a:ext>
              </a:extLst>
            </p:cNvPr>
            <p:cNvSpPr txBox="1"/>
            <p:nvPr userDrawn="1"/>
          </p:nvSpPr>
          <p:spPr>
            <a:xfrm>
              <a:off x="17553664" y="6234204"/>
              <a:ext cx="1468672" cy="45089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8700" dirty="0">
                  <a:solidFill>
                    <a:schemeClr val="tx2"/>
                  </a:solidFill>
                  <a:latin typeface="NVIDIA Sans Light" panose="020B0303020203020204" pitchFamily="34" charset="0"/>
                  <a:cs typeface="NVIDIA Sans Light" panose="020B0303020203020204" pitchFamily="34" charset="0"/>
                </a:rPr>
                <a:t>“</a:t>
              </a:r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C4E42D4-651A-0018-08AF-103C03C79F4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158753" y="7454586"/>
              <a:ext cx="11394911" cy="0"/>
            </a:xfrm>
            <a:prstGeom prst="line">
              <a:avLst/>
            </a:prstGeom>
            <a:ln w="317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85DE2FD7-58D2-230B-D513-D6416CD17B3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9022336" y="7454586"/>
              <a:ext cx="11394911" cy="0"/>
            </a:xfrm>
            <a:prstGeom prst="line">
              <a:avLst/>
            </a:prstGeom>
            <a:ln w="317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3130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:a14="http://schemas.microsoft.com/office/drawing/2010/main" xmlns="">
      <p:transition/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- SHO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green and white background&#10;&#10;Description automatically generated">
            <a:extLst>
              <a:ext uri="{FF2B5EF4-FFF2-40B4-BE49-F238E27FC236}">
                <a16:creationId xmlns:a16="http://schemas.microsoft.com/office/drawing/2014/main" id="{61701B74-047D-F92D-ADA0-7BF31D83E2A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36576003" cy="2057400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85FB945-6B24-57D3-B359-4FC5884B9E2A}"/>
              </a:ext>
            </a:extLst>
          </p:cNvPr>
          <p:cNvSpPr/>
          <p:nvPr userDrawn="1"/>
        </p:nvSpPr>
        <p:spPr>
          <a:xfrm>
            <a:off x="0" y="4143768"/>
            <a:ext cx="36576000" cy="2151778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E0A1354-6E59-B3D9-5AE9-EFF6955F88F2}"/>
              </a:ext>
            </a:extLst>
          </p:cNvPr>
          <p:cNvSpPr/>
          <p:nvPr userDrawn="1"/>
        </p:nvSpPr>
        <p:spPr>
          <a:xfrm flipV="1">
            <a:off x="0" y="15269900"/>
            <a:ext cx="36576000" cy="4218249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0807B0F-0A81-6159-CB17-9A246F14A280}"/>
              </a:ext>
            </a:extLst>
          </p:cNvPr>
          <p:cNvSpPr/>
          <p:nvPr userDrawn="1"/>
        </p:nvSpPr>
        <p:spPr>
          <a:xfrm>
            <a:off x="0" y="1068230"/>
            <a:ext cx="36576000" cy="4218249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688F64-F571-BC4C-9D1B-F87497A44084}"/>
              </a:ext>
            </a:extLst>
          </p:cNvPr>
          <p:cNvSpPr/>
          <p:nvPr userDrawn="1"/>
        </p:nvSpPr>
        <p:spPr>
          <a:xfrm>
            <a:off x="0" y="4143768"/>
            <a:ext cx="36576000" cy="2151778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79BB071F-1DED-7BC0-205E-742D1CC39A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58753" y="11878330"/>
            <a:ext cx="24258494" cy="104392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FontTx/>
              <a:buNone/>
              <a:defRPr sz="4400" i="1" cap="none" baseline="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3" indent="0" algn="l">
              <a:lnSpc>
                <a:spcPct val="90000"/>
              </a:lnSpc>
              <a:buFontTx/>
              <a:buNone/>
              <a:defRPr sz="7539" cap="all" baseline="0">
                <a:solidFill>
                  <a:schemeClr val="tx2"/>
                </a:solidFill>
                <a:latin typeface="NVIDIA Sans" panose="020B0503020203020204" pitchFamily="34" charset="0"/>
              </a:defRPr>
            </a:lvl2pPr>
            <a:lvl3pPr marL="4883581" indent="0" algn="l">
              <a:lnSpc>
                <a:spcPct val="90000"/>
              </a:lnSpc>
              <a:buFontTx/>
              <a:buNone/>
              <a:defRPr sz="7539" cap="all" baseline="0">
                <a:solidFill>
                  <a:schemeClr val="tx2"/>
                </a:solidFill>
                <a:latin typeface="NVIDIA Sans" panose="020B0503020203020204" pitchFamily="34" charset="0"/>
              </a:defRPr>
            </a:lvl3pPr>
            <a:lvl4pPr marL="6933729" indent="0">
              <a:buNone/>
              <a:defRPr/>
            </a:lvl4pPr>
          </a:lstStyle>
          <a:p>
            <a:pPr lvl="0"/>
            <a:r>
              <a:rPr lang="en-US" dirty="0"/>
              <a:t>— Quote source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652C8912-97F2-5FEC-2170-801AFD44E79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58754" y="7053551"/>
            <a:ext cx="24258494" cy="440322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90000"/>
              </a:lnSpc>
              <a:spcBef>
                <a:spcPts val="0"/>
              </a:spcBef>
              <a:buFontTx/>
              <a:buNone/>
              <a:defRPr sz="12000" cap="none" baseline="0">
                <a:solidFill>
                  <a:schemeClr val="bg1"/>
                </a:solidFill>
                <a:latin typeface="NVIDIA Sans Light" panose="020B0303020203020204" pitchFamily="34" charset="0"/>
                <a:cs typeface="NVIDIA Sans Light" panose="020B0303020203020204" pitchFamily="34" charset="0"/>
              </a:defRPr>
            </a:lvl1pPr>
            <a:lvl2pPr marL="2562793" indent="0" algn="l">
              <a:lnSpc>
                <a:spcPct val="90000"/>
              </a:lnSpc>
              <a:buFontTx/>
              <a:buNone/>
              <a:defRPr sz="7539" cap="all" baseline="0">
                <a:solidFill>
                  <a:schemeClr val="tx2"/>
                </a:solidFill>
                <a:latin typeface="NVIDIA Sans" panose="020B0503020203020204" pitchFamily="34" charset="0"/>
              </a:defRPr>
            </a:lvl2pPr>
            <a:lvl3pPr marL="4883581" indent="0" algn="l">
              <a:lnSpc>
                <a:spcPct val="90000"/>
              </a:lnSpc>
              <a:buFontTx/>
              <a:buNone/>
              <a:defRPr sz="7539" cap="all" baseline="0">
                <a:solidFill>
                  <a:schemeClr val="tx2"/>
                </a:solidFill>
                <a:latin typeface="NVIDIA Sans" panose="020B0503020203020204" pitchFamily="34" charset="0"/>
              </a:defRPr>
            </a:lvl3pPr>
            <a:lvl4pPr marL="6933729" indent="0">
              <a:buNone/>
              <a:defRPr/>
            </a:lvl4pPr>
          </a:lstStyle>
          <a:p>
            <a:pPr lvl="0"/>
            <a:r>
              <a:rPr lang="en-US" dirty="0"/>
              <a:t>Click to add quote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4182597-2C50-3A4E-9225-0ED4ED207042}"/>
              </a:ext>
            </a:extLst>
          </p:cNvPr>
          <p:cNvGrpSpPr/>
          <p:nvPr userDrawn="1"/>
        </p:nvGrpSpPr>
        <p:grpSpPr>
          <a:xfrm>
            <a:off x="6158753" y="5267062"/>
            <a:ext cx="24258494" cy="10102852"/>
            <a:chOff x="6158753" y="6264684"/>
            <a:chExt cx="24258494" cy="10102852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09B0E8CB-44E4-719C-A5CF-735DA9699441}"/>
                </a:ext>
              </a:extLst>
            </p:cNvPr>
            <p:cNvGrpSpPr/>
            <p:nvPr userDrawn="1"/>
          </p:nvGrpSpPr>
          <p:grpSpPr>
            <a:xfrm>
              <a:off x="17553664" y="6264684"/>
              <a:ext cx="1497286" cy="10102852"/>
              <a:chOff x="17553664" y="5634063"/>
              <a:chExt cx="1497286" cy="10102852"/>
            </a:xfrm>
          </p:grpSpPr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31D0B919-1FC7-23E4-68BE-05C833FAB722}"/>
                  </a:ext>
                </a:extLst>
              </p:cNvPr>
              <p:cNvSpPr txBox="1"/>
              <p:nvPr/>
            </p:nvSpPr>
            <p:spPr>
              <a:xfrm>
                <a:off x="17553664" y="5634063"/>
                <a:ext cx="1468672" cy="45089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8700" dirty="0">
                    <a:solidFill>
                      <a:schemeClr val="tx2"/>
                    </a:solidFill>
                    <a:latin typeface="NVIDIA Sans Light" panose="020B0303020203020204" pitchFamily="34" charset="0"/>
                    <a:cs typeface="NVIDIA Sans Light" panose="020B0303020203020204" pitchFamily="34" charset="0"/>
                  </a:rPr>
                  <a:t>“</a:t>
                </a: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4BD82AED-32A6-66BD-FAD0-B98CE3AFC77E}"/>
                  </a:ext>
                </a:extLst>
              </p:cNvPr>
              <p:cNvSpPr txBox="1"/>
              <p:nvPr/>
            </p:nvSpPr>
            <p:spPr>
              <a:xfrm rot="10800000">
                <a:off x="17582278" y="11227988"/>
                <a:ext cx="1468672" cy="45089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8700" dirty="0">
                    <a:solidFill>
                      <a:schemeClr val="tx2"/>
                    </a:solidFill>
                    <a:latin typeface="NVIDIA Sans Light" panose="020B0303020203020204" pitchFamily="34" charset="0"/>
                    <a:cs typeface="NVIDIA Sans Light" panose="020B0303020203020204" pitchFamily="34" charset="0"/>
                  </a:rPr>
                  <a:t>“</a:t>
                </a:r>
              </a:p>
            </p:txBody>
          </p:sp>
        </p:grp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91EC44D-F0B4-790F-3089-A3B3D01B77A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158753" y="7454586"/>
              <a:ext cx="11394911" cy="0"/>
            </a:xfrm>
            <a:prstGeom prst="line">
              <a:avLst/>
            </a:prstGeom>
            <a:ln w="317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A7DAC6E7-C5E7-D30C-B66F-007182DE7AC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9022336" y="7454586"/>
              <a:ext cx="11394911" cy="0"/>
            </a:xfrm>
            <a:prstGeom prst="line">
              <a:avLst/>
            </a:prstGeom>
            <a:ln w="317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77AA061-58A0-8C4F-C050-0B149A72E61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158753" y="15144241"/>
              <a:ext cx="11394911" cy="0"/>
            </a:xfrm>
            <a:prstGeom prst="line">
              <a:avLst/>
            </a:prstGeom>
            <a:ln w="317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916F238-457C-1E6C-1D73-143F4C3F616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9022336" y="15144241"/>
              <a:ext cx="11394911" cy="0"/>
            </a:xfrm>
            <a:prstGeom prst="line">
              <a:avLst/>
            </a:prstGeom>
            <a:ln w="317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44065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:a14="http://schemas.microsoft.com/office/drawing/2010/main" xmlns="">
      <p:transition/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green curved lines with a bright light behind them&#10;&#10;Description automatically generated">
            <a:extLst>
              <a:ext uri="{FF2B5EF4-FFF2-40B4-BE49-F238E27FC236}">
                <a16:creationId xmlns:a16="http://schemas.microsoft.com/office/drawing/2014/main" id="{F807122B-A2F6-379E-64FD-A4985E493AF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08" r="51136" b="926"/>
          <a:stretch/>
        </p:blipFill>
        <p:spPr>
          <a:xfrm>
            <a:off x="0" y="0"/>
            <a:ext cx="17150706" cy="20574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EFDB0CE-6D06-5D9D-4F40-64EBE09315DF}"/>
              </a:ext>
            </a:extLst>
          </p:cNvPr>
          <p:cNvSpPr/>
          <p:nvPr userDrawn="1"/>
        </p:nvSpPr>
        <p:spPr>
          <a:xfrm>
            <a:off x="0" y="0"/>
            <a:ext cx="17150706" cy="20574000"/>
          </a:xfrm>
          <a:prstGeom prst="rect">
            <a:avLst/>
          </a:prstGeom>
          <a:solidFill>
            <a:schemeClr val="tx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714B981-6D72-A82B-BB74-685EAD4F2156}"/>
              </a:ext>
            </a:extLst>
          </p:cNvPr>
          <p:cNvSpPr/>
          <p:nvPr userDrawn="1"/>
        </p:nvSpPr>
        <p:spPr>
          <a:xfrm>
            <a:off x="17204620" y="5394960"/>
            <a:ext cx="566928" cy="151790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0587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4="http://schemas.microsoft.com/office/drawing/2010/main" xmlns:a16="http://schemas.microsoft.com/office/drawing/2014/main" xmlns="">
      <p:transition/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-up of green and white&#10;&#10;Description automatically generated">
            <a:extLst>
              <a:ext uri="{FF2B5EF4-FFF2-40B4-BE49-F238E27FC236}">
                <a16:creationId xmlns:a16="http://schemas.microsoft.com/office/drawing/2014/main" id="{F680AE5A-C426-36FD-E875-65C352F89B6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6AD3F4-3771-EC4B-882B-5E3EA6379A9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73866" y="1865236"/>
            <a:ext cx="18476688" cy="5943600"/>
          </a:xfrm>
          <a:prstGeom prst="rect">
            <a:avLst/>
          </a:prstGeom>
        </p:spPr>
        <p:txBody>
          <a:bodyPr anchor="b"/>
          <a:lstStyle>
            <a:lvl1pPr marL="0" indent="0" algn="l">
              <a:spcBef>
                <a:spcPts val="0"/>
              </a:spcBef>
              <a:buFontTx/>
              <a:buNone/>
              <a:defRPr lang="en-US" sz="9000" b="1" kern="0" cap="none" baseline="0" dirty="0" smtClean="0">
                <a:solidFill>
                  <a:schemeClr val="bg1"/>
                </a:solidFill>
                <a:latin typeface="NVIDIA Sans" panose="020B0503020203020204" pitchFamily="34" charset="0"/>
                <a:ea typeface="+mj-ea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lang="en-US" sz="8000" b="1" kern="0" cap="all" baseline="0" dirty="0" smtClean="0">
                <a:solidFill>
                  <a:schemeClr val="tx1"/>
                </a:solidFill>
                <a:latin typeface="NVIDIA Sans" panose="020B0503020203020204" pitchFamily="34" charset="0"/>
                <a:ea typeface="+mj-ea"/>
                <a:cs typeface="+mj-cs"/>
              </a:defRPr>
            </a:lvl2pPr>
            <a:lvl3pPr marL="4883584" indent="0">
              <a:buFontTx/>
              <a:buNone/>
              <a:defRPr lang="en-US" sz="8000" b="1" kern="0" cap="all" baseline="0" dirty="0" smtClean="0">
                <a:solidFill>
                  <a:schemeClr val="tx1"/>
                </a:solidFill>
                <a:latin typeface="NVIDIA Sans" panose="020B0503020203020204" pitchFamily="34" charset="0"/>
                <a:ea typeface="+mj-ea"/>
                <a:cs typeface="+mj-cs"/>
              </a:defRPr>
            </a:lvl3pPr>
            <a:lvl4pPr marL="6933729" indent="0">
              <a:buFontTx/>
              <a:buNone/>
              <a:defRPr lang="en-US" sz="8000" b="1" kern="0" cap="all" baseline="0" dirty="0" smtClean="0">
                <a:solidFill>
                  <a:schemeClr val="tx1"/>
                </a:solidFill>
                <a:latin typeface="NVIDIA Sans" panose="020B0503020203020204" pitchFamily="34" charset="0"/>
                <a:ea typeface="+mj-ea"/>
                <a:cs typeface="+mj-cs"/>
              </a:defRPr>
            </a:lvl4pPr>
            <a:lvl5pPr marL="8471409" indent="0">
              <a:buFontTx/>
              <a:buNone/>
              <a:defRPr lang="en-US" sz="8000" b="1" kern="0" cap="all" baseline="0" dirty="0">
                <a:solidFill>
                  <a:schemeClr val="tx1"/>
                </a:solidFill>
                <a:latin typeface="NVIDIA Sans" panose="020B0503020203020204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91690F0-C869-92D8-B1E3-3151C511786C}"/>
              </a:ext>
            </a:extLst>
          </p:cNvPr>
          <p:cNvSpPr/>
          <p:nvPr userDrawn="1"/>
        </p:nvSpPr>
        <p:spPr>
          <a:xfrm>
            <a:off x="-1" y="0"/>
            <a:ext cx="566928" cy="74980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3221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:a14="http://schemas.microsoft.com/office/drawing/2010/main" xmlns="">
      <p:transition/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bar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5068417-0A49-4E97-BD32-9EE897037421}"/>
              </a:ext>
            </a:extLst>
          </p:cNvPr>
          <p:cNvSpPr/>
          <p:nvPr userDrawn="1"/>
        </p:nvSpPr>
        <p:spPr>
          <a:xfrm>
            <a:off x="0" y="0"/>
            <a:ext cx="36576000" cy="20574000"/>
          </a:xfrm>
          <a:prstGeom prst="rect">
            <a:avLst/>
          </a:prstGeom>
          <a:solidFill>
            <a:srgbClr val="9E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CE798D4-9140-2EC5-6DC9-6C6A5F5737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34260" y="10771999"/>
            <a:ext cx="22733876" cy="5476186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Bef>
                <a:spcPts val="0"/>
              </a:spcBef>
              <a:buFontTx/>
              <a:buNone/>
              <a:defRPr sz="4400" cap="none" baseline="0">
                <a:solidFill>
                  <a:schemeClr val="tx1"/>
                </a:solidFill>
                <a:latin typeface="NVIDIA Sans Medium" panose="020B0603020203020204" pitchFamily="34" charset="0"/>
                <a:cs typeface="NVIDIA Sans Medium" panose="020B0603020203020204" pitchFamily="34" charset="0"/>
              </a:defRPr>
            </a:lvl1pPr>
            <a:lvl2pPr marL="2562793" indent="0" algn="l">
              <a:lnSpc>
                <a:spcPct val="90000"/>
              </a:lnSpc>
              <a:buFontTx/>
              <a:buNone/>
              <a:defRPr sz="7539" cap="all" baseline="0">
                <a:solidFill>
                  <a:schemeClr val="tx2"/>
                </a:solidFill>
                <a:latin typeface="NVIDIA Sans" panose="020B0503020203020204" pitchFamily="34" charset="0"/>
              </a:defRPr>
            </a:lvl2pPr>
            <a:lvl3pPr marL="4883581" indent="0" algn="l">
              <a:lnSpc>
                <a:spcPct val="90000"/>
              </a:lnSpc>
              <a:buFontTx/>
              <a:buNone/>
              <a:defRPr sz="7539" cap="all" baseline="0">
                <a:solidFill>
                  <a:schemeClr val="tx2"/>
                </a:solidFill>
                <a:latin typeface="NVIDIA Sans" panose="020B0503020203020204" pitchFamily="34" charset="0"/>
              </a:defRPr>
            </a:lvl3pPr>
            <a:lvl4pPr marL="6933729" indent="0">
              <a:buNone/>
              <a:defRPr/>
            </a:lvl4pPr>
          </a:lstStyle>
          <a:p>
            <a:pPr lvl="0"/>
            <a:r>
              <a:rPr lang="en-US" dirty="0"/>
              <a:t>Edit Text Style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FAAD9D4-FB4F-9DA0-9C5E-7AD5B9D1B7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34260" y="9024760"/>
            <a:ext cx="22733877" cy="1754266"/>
          </a:xfrm>
          <a:prstGeom prst="rect">
            <a:avLst/>
          </a:prstGeom>
        </p:spPr>
        <p:txBody>
          <a:bodyPr/>
          <a:lstStyle>
            <a:lvl1pPr algn="l">
              <a:defRPr sz="12000" b="0" cap="none">
                <a:solidFill>
                  <a:schemeClr val="tx1"/>
                </a:solidFill>
                <a:latin typeface="NVIDIA Sans Light" panose="020B0303020203020204" pitchFamily="34" charset="0"/>
                <a:cs typeface="NVIDIA Sans Light" panose="020B0303020203020204" pitchFamily="34" charset="0"/>
              </a:defRPr>
            </a:lvl1pPr>
          </a:lstStyle>
          <a:p>
            <a:r>
              <a:rPr lang="en-US" dirty="0"/>
              <a:t>Click to add text</a:t>
            </a:r>
          </a:p>
        </p:txBody>
      </p:sp>
      <p:pic>
        <p:nvPicPr>
          <p:cNvPr id="11" name="Picture 10" descr="A close up of a logo&#10;&#10;Description automatically generated">
            <a:extLst>
              <a:ext uri="{FF2B5EF4-FFF2-40B4-BE49-F238E27FC236}">
                <a16:creationId xmlns:a16="http://schemas.microsoft.com/office/drawing/2014/main" id="{71DC9D6B-A1D3-6E9D-3F5B-25ABC3B87F4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193140" y="6248046"/>
            <a:ext cx="2357259" cy="2357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405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="">
      <p:transition/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een and white background&#10;&#10;Description automatically generated">
            <a:extLst>
              <a:ext uri="{FF2B5EF4-FFF2-40B4-BE49-F238E27FC236}">
                <a16:creationId xmlns:a16="http://schemas.microsoft.com/office/drawing/2014/main" id="{59444DC2-EE0C-D166-FB2A-0933A4B046B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  <p:pic>
        <p:nvPicPr>
          <p:cNvPr id="3" name="Picture 2" descr="A picture containing graphics, logo, symbol, graphic design&#10;&#10;Description automatically generated">
            <a:extLst>
              <a:ext uri="{FF2B5EF4-FFF2-40B4-BE49-F238E27FC236}">
                <a16:creationId xmlns:a16="http://schemas.microsoft.com/office/drawing/2014/main" id="{9BB9031F-8728-8968-10CA-E5BDE38FC76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125" y="773531"/>
            <a:ext cx="8365991" cy="2882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155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:a14="http://schemas.microsoft.com/office/drawing/2010/main" xmlns="">
      <p:transition/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035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image" Target="../media/image1.png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14600" y="0"/>
            <a:ext cx="31546800" cy="2514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Add Title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1DA1210-4468-5B83-C91A-BBA62AF1227D}"/>
              </a:ext>
            </a:extLst>
          </p:cNvPr>
          <p:cNvGrpSpPr/>
          <p:nvPr userDrawn="1"/>
        </p:nvGrpSpPr>
        <p:grpSpPr>
          <a:xfrm>
            <a:off x="34061399" y="19504414"/>
            <a:ext cx="2514601" cy="1072783"/>
            <a:chOff x="34061399" y="19504414"/>
            <a:chExt cx="2514601" cy="107278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76547AF-589A-45F3-BD57-EACA3BF60CFD}"/>
                </a:ext>
              </a:extLst>
            </p:cNvPr>
            <p:cNvSpPr/>
            <p:nvPr userDrawn="1"/>
          </p:nvSpPr>
          <p:spPr>
            <a:xfrm>
              <a:off x="36420552" y="19687526"/>
              <a:ext cx="155448" cy="88967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 lang="en-US" sz="4000" dirty="0" err="1">
                <a:solidFill>
                  <a:schemeClr val="tx1"/>
                </a:solidFill>
                <a:latin typeface="NVIDIA Sans" panose="020B0503020203020204" pitchFamily="34" charset="0"/>
              </a:endParaRPr>
            </a:p>
          </p:txBody>
        </p:sp>
        <p:pic>
          <p:nvPicPr>
            <p:cNvPr id="9" name="Picture 8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0F64E9CA-B4B2-365B-092F-3051F7475EA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061399" y="19504414"/>
              <a:ext cx="2003438" cy="69023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324075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722" r:id="rId3"/>
    <p:sldLayoutId id="2147483718" r:id="rId4"/>
    <p:sldLayoutId id="2147483681" r:id="rId5"/>
    <p:sldLayoutId id="2147483680" r:id="rId6"/>
    <p:sldLayoutId id="2147483682" r:id="rId7"/>
    <p:sldLayoutId id="2147483683" r:id="rId8"/>
    <p:sldLayoutId id="2147483705" r:id="rId9"/>
    <p:sldLayoutId id="2147483685" r:id="rId10"/>
    <p:sldLayoutId id="2147483686" r:id="rId11"/>
    <p:sldLayoutId id="2147483687" r:id="rId12"/>
    <p:sldLayoutId id="2147483691" r:id="rId13"/>
    <p:sldLayoutId id="2147483688" r:id="rId14"/>
    <p:sldLayoutId id="2147483690" r:id="rId15"/>
    <p:sldLayoutId id="2147483689" r:id="rId16"/>
    <p:sldLayoutId id="2147483692" r:id="rId17"/>
    <p:sldLayoutId id="2147483693" r:id="rId18"/>
    <p:sldLayoutId id="2147483709" r:id="rId19"/>
    <p:sldLayoutId id="2147483723" r:id="rId20"/>
    <p:sldLayoutId id="2147483710" r:id="rId21"/>
    <p:sldLayoutId id="2147483711" r:id="rId22"/>
    <p:sldLayoutId id="2147483712" r:id="rId23"/>
    <p:sldLayoutId id="2147483713" r:id="rId24"/>
    <p:sldLayoutId id="2147483714" r:id="rId25"/>
    <p:sldLayoutId id="2147483715" r:id="rId26"/>
    <p:sldLayoutId id="2147483716" r:id="rId27"/>
    <p:sldLayoutId id="2147483717" r:id="rId28"/>
    <p:sldLayoutId id="2147483695" r:id="rId29"/>
    <p:sldLayoutId id="2147483721" r:id="rId30"/>
    <p:sldLayoutId id="2147483694" r:id="rId31"/>
    <p:sldLayoutId id="2147483719" r:id="rId32"/>
    <p:sldLayoutId id="2147483724" r:id="rId33"/>
    <p:sldLayoutId id="2147483720" r:id="rId34"/>
    <p:sldLayoutId id="2147483672" r:id="rId35"/>
    <p:sldLayoutId id="2147483708" r:id="rId36"/>
    <p:sldLayoutId id="2147483725" r:id="rId37"/>
    <p:sldLayoutId id="2147483679" r:id="rId38"/>
    <p:sldLayoutId id="2147483676" r:id="rId39"/>
    <p:sldLayoutId id="2147483684" r:id="rId40"/>
    <p:sldLayoutId id="2147483726" r:id="rId41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:a16="http://schemas.microsoft.com/office/drawing/2014/main" xmlns:a14="http://schemas.microsoft.com/office/drawing/2010/main" xmlns="">
      <p:transition/>
    </mc:Fallback>
  </mc:AlternateContent>
  <p:txStyles>
    <p:titleStyle>
      <a:lvl1pPr algn="ctr" defTabSz="2743200" rtl="0" eaLnBrk="1" latinLnBrk="0" hangingPunct="1">
        <a:lnSpc>
          <a:spcPct val="90000"/>
        </a:lnSpc>
        <a:spcBef>
          <a:spcPct val="0"/>
        </a:spcBef>
        <a:buNone/>
        <a:defRPr sz="7200" b="1" kern="1200" cap="none" baseline="0">
          <a:solidFill>
            <a:schemeClr val="bg1"/>
          </a:solidFill>
          <a:latin typeface="NVIDIA Sans" panose="020B0503020203020204" pitchFamily="34" charset="0"/>
          <a:ea typeface="+mj-ea"/>
          <a:cs typeface="NVIDIA Sans" panose="020B0503020203020204" pitchFamily="34" charset="0"/>
        </a:defRPr>
      </a:lvl1pPr>
    </p:titleStyle>
    <p:bodyStyle>
      <a:lvl1pPr marL="685800" indent="-685800" algn="l" defTabSz="2743200" rtl="0" eaLnBrk="1" latinLnBrk="0" hangingPunct="1">
        <a:lnSpc>
          <a:spcPct val="90000"/>
        </a:lnSpc>
        <a:spcBef>
          <a:spcPts val="3000"/>
        </a:spcBef>
        <a:buFont typeface="NVIDIA Sans" panose="020B0503020203020204" pitchFamily="34" charset="0"/>
        <a:buChar char="•"/>
        <a:defRPr sz="8400" kern="1200">
          <a:solidFill>
            <a:schemeClr val="tx1"/>
          </a:solidFill>
          <a:latin typeface="+mn-lt"/>
          <a:ea typeface="+mn-ea"/>
          <a:cs typeface="+mn-cs"/>
        </a:defRPr>
      </a:lvl1pPr>
      <a:lvl2pPr marL="2057400" indent="-685800" algn="l" defTabSz="2743200" rtl="0" eaLnBrk="1" latinLnBrk="0" hangingPunct="1">
        <a:lnSpc>
          <a:spcPct val="90000"/>
        </a:lnSpc>
        <a:spcBef>
          <a:spcPts val="1500"/>
        </a:spcBef>
        <a:buFont typeface="NVIDIA Sans" panose="020B0503020203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2pPr>
      <a:lvl3pPr marL="3429000" indent="-685800" algn="l" defTabSz="2743200" rtl="0" eaLnBrk="1" latinLnBrk="0" hangingPunct="1">
        <a:lnSpc>
          <a:spcPct val="90000"/>
        </a:lnSpc>
        <a:spcBef>
          <a:spcPts val="1500"/>
        </a:spcBef>
        <a:buFont typeface="NVIDIA Sans" panose="020B0503020203020204" pitchFamily="34" charset="0"/>
        <a:buChar char="•"/>
        <a:defRPr sz="6000" kern="1200">
          <a:solidFill>
            <a:schemeClr val="tx1"/>
          </a:solidFill>
          <a:latin typeface="+mn-lt"/>
          <a:ea typeface="+mn-ea"/>
          <a:cs typeface="+mn-cs"/>
        </a:defRPr>
      </a:lvl3pPr>
      <a:lvl4pPr marL="4800600" indent="-685800" algn="l" defTabSz="2743200" rtl="0" eaLnBrk="1" latinLnBrk="0" hangingPunct="1">
        <a:lnSpc>
          <a:spcPct val="90000"/>
        </a:lnSpc>
        <a:spcBef>
          <a:spcPts val="1500"/>
        </a:spcBef>
        <a:buFont typeface="NVIDIA Sans" panose="020B0503020203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4pPr>
      <a:lvl5pPr marL="6172200" indent="-685800" algn="l" defTabSz="2743200" rtl="0" eaLnBrk="1" latinLnBrk="0" hangingPunct="1">
        <a:lnSpc>
          <a:spcPct val="90000"/>
        </a:lnSpc>
        <a:spcBef>
          <a:spcPts val="1500"/>
        </a:spcBef>
        <a:buFont typeface="NVIDIA Sans" panose="020B0503020203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5pPr>
      <a:lvl6pPr marL="7543800" indent="-685800" algn="l" defTabSz="2743200" rtl="0" eaLnBrk="1" latinLnBrk="0" hangingPunct="1">
        <a:lnSpc>
          <a:spcPct val="90000"/>
        </a:lnSpc>
        <a:spcBef>
          <a:spcPts val="1500"/>
        </a:spcBef>
        <a:buFont typeface="NVIDIA Sans" panose="020B0503020203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6pPr>
      <a:lvl7pPr marL="8915400" indent="-685800" algn="l" defTabSz="2743200" rtl="0" eaLnBrk="1" latinLnBrk="0" hangingPunct="1">
        <a:lnSpc>
          <a:spcPct val="90000"/>
        </a:lnSpc>
        <a:spcBef>
          <a:spcPts val="1500"/>
        </a:spcBef>
        <a:buFont typeface="NVIDIA Sans" panose="020B0503020203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7pPr>
      <a:lvl8pPr marL="10287000" indent="-685800" algn="l" defTabSz="2743200" rtl="0" eaLnBrk="1" latinLnBrk="0" hangingPunct="1">
        <a:lnSpc>
          <a:spcPct val="90000"/>
        </a:lnSpc>
        <a:spcBef>
          <a:spcPts val="1500"/>
        </a:spcBef>
        <a:buFont typeface="NVIDIA Sans" panose="020B0503020203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8pPr>
      <a:lvl9pPr marL="11658600" indent="-685800" algn="l" defTabSz="2743200" rtl="0" eaLnBrk="1" latinLnBrk="0" hangingPunct="1">
        <a:lnSpc>
          <a:spcPct val="90000"/>
        </a:lnSpc>
        <a:spcBef>
          <a:spcPts val="1500"/>
        </a:spcBef>
        <a:buFont typeface="NVIDIA Sans" panose="020B0503020203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2pPr>
      <a:lvl3pPr marL="27432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3pPr>
      <a:lvl4pPr marL="41148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4pPr>
      <a:lvl5pPr marL="54864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5pPr>
      <a:lvl6pPr marL="68580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6pPr>
      <a:lvl7pPr marL="82296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7pPr>
      <a:lvl8pPr marL="96012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8pPr>
      <a:lvl9pPr marL="109728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1.xml"/><Relationship Id="rId5" Type="http://schemas.openxmlformats.org/officeDocument/2006/relationships/image" Target="../media/image13.png"/><Relationship Id="rId4" Type="http://schemas.openxmlformats.org/officeDocument/2006/relationships/image" Target="../media/image1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1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5.png"/><Relationship Id="rId18" Type="http://schemas.openxmlformats.org/officeDocument/2006/relationships/image" Target="../media/image40.png"/><Relationship Id="rId3" Type="http://schemas.openxmlformats.org/officeDocument/2006/relationships/image" Target="../media/image25.png"/><Relationship Id="rId21" Type="http://schemas.openxmlformats.org/officeDocument/2006/relationships/image" Target="../media/image43.pn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17" Type="http://schemas.openxmlformats.org/officeDocument/2006/relationships/image" Target="../media/image39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38.png"/><Relationship Id="rId20" Type="http://schemas.openxmlformats.org/officeDocument/2006/relationships/image" Target="../media/image42.png"/><Relationship Id="rId1" Type="http://schemas.openxmlformats.org/officeDocument/2006/relationships/slideLayout" Target="../slideLayouts/slideLayout41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24" Type="http://schemas.openxmlformats.org/officeDocument/2006/relationships/image" Target="../media/image46.png"/><Relationship Id="rId5" Type="http://schemas.openxmlformats.org/officeDocument/2006/relationships/image" Target="../media/image27.png"/><Relationship Id="rId15" Type="http://schemas.openxmlformats.org/officeDocument/2006/relationships/image" Target="../media/image37.png"/><Relationship Id="rId23" Type="http://schemas.openxmlformats.org/officeDocument/2006/relationships/image" Target="../media/image45.png"/><Relationship Id="rId10" Type="http://schemas.openxmlformats.org/officeDocument/2006/relationships/image" Target="../media/image32.png"/><Relationship Id="rId19" Type="http://schemas.openxmlformats.org/officeDocument/2006/relationships/image" Target="../media/image41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Relationship Id="rId14" Type="http://schemas.openxmlformats.org/officeDocument/2006/relationships/image" Target="../media/image36.png"/><Relationship Id="rId22" Type="http://schemas.openxmlformats.org/officeDocument/2006/relationships/image" Target="../media/image4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13" Type="http://schemas.openxmlformats.org/officeDocument/2006/relationships/image" Target="../media/image57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12" Type="http://schemas.openxmlformats.org/officeDocument/2006/relationships/image" Target="../media/image56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60.png"/><Relationship Id="rId1" Type="http://schemas.openxmlformats.org/officeDocument/2006/relationships/slideLayout" Target="../slideLayouts/slideLayout41.xml"/><Relationship Id="rId6" Type="http://schemas.openxmlformats.org/officeDocument/2006/relationships/image" Target="../media/image50.png"/><Relationship Id="rId11" Type="http://schemas.openxmlformats.org/officeDocument/2006/relationships/image" Target="../media/image55.png"/><Relationship Id="rId5" Type="http://schemas.openxmlformats.org/officeDocument/2006/relationships/image" Target="../media/image49.png"/><Relationship Id="rId15" Type="http://schemas.openxmlformats.org/officeDocument/2006/relationships/image" Target="../media/image59.png"/><Relationship Id="rId10" Type="http://schemas.openxmlformats.org/officeDocument/2006/relationships/image" Target="../media/image54.png"/><Relationship Id="rId4" Type="http://schemas.openxmlformats.org/officeDocument/2006/relationships/image" Target="../media/image48.png"/><Relationship Id="rId9" Type="http://schemas.openxmlformats.org/officeDocument/2006/relationships/image" Target="../media/image53.png"/><Relationship Id="rId14" Type="http://schemas.openxmlformats.org/officeDocument/2006/relationships/image" Target="../media/image5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image" Target="../media/image75.png"/><Relationship Id="rId18" Type="http://schemas.openxmlformats.org/officeDocument/2006/relationships/image" Target="../media/image80.png"/><Relationship Id="rId3" Type="http://schemas.openxmlformats.org/officeDocument/2006/relationships/image" Target="../media/image65.png"/><Relationship Id="rId21" Type="http://schemas.openxmlformats.org/officeDocument/2006/relationships/image" Target="../media/image83.png"/><Relationship Id="rId7" Type="http://schemas.openxmlformats.org/officeDocument/2006/relationships/image" Target="../media/image69.png"/><Relationship Id="rId12" Type="http://schemas.openxmlformats.org/officeDocument/2006/relationships/image" Target="../media/image74.png"/><Relationship Id="rId17" Type="http://schemas.openxmlformats.org/officeDocument/2006/relationships/image" Target="../media/image79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78.png"/><Relationship Id="rId20" Type="http://schemas.openxmlformats.org/officeDocument/2006/relationships/image" Target="../media/image82.png"/><Relationship Id="rId1" Type="http://schemas.openxmlformats.org/officeDocument/2006/relationships/slideLayout" Target="../slideLayouts/slideLayout41.xml"/><Relationship Id="rId6" Type="http://schemas.openxmlformats.org/officeDocument/2006/relationships/image" Target="../media/image68.png"/><Relationship Id="rId11" Type="http://schemas.openxmlformats.org/officeDocument/2006/relationships/image" Target="../media/image73.png"/><Relationship Id="rId5" Type="http://schemas.openxmlformats.org/officeDocument/2006/relationships/image" Target="../media/image67.png"/><Relationship Id="rId15" Type="http://schemas.openxmlformats.org/officeDocument/2006/relationships/image" Target="../media/image77.png"/><Relationship Id="rId10" Type="http://schemas.openxmlformats.org/officeDocument/2006/relationships/image" Target="../media/image72.png"/><Relationship Id="rId19" Type="http://schemas.openxmlformats.org/officeDocument/2006/relationships/image" Target="../media/image81.png"/><Relationship Id="rId4" Type="http://schemas.openxmlformats.org/officeDocument/2006/relationships/image" Target="../media/image66.png"/><Relationship Id="rId9" Type="http://schemas.openxmlformats.org/officeDocument/2006/relationships/image" Target="../media/image71.png"/><Relationship Id="rId14" Type="http://schemas.openxmlformats.org/officeDocument/2006/relationships/image" Target="../media/image7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3" Type="http://schemas.openxmlformats.org/officeDocument/2006/relationships/image" Target="../media/image47.png"/><Relationship Id="rId7" Type="http://schemas.openxmlformats.org/officeDocument/2006/relationships/image" Target="../media/image8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1.xml"/><Relationship Id="rId6" Type="http://schemas.openxmlformats.org/officeDocument/2006/relationships/image" Target="../media/image86.png"/><Relationship Id="rId11" Type="http://schemas.openxmlformats.org/officeDocument/2006/relationships/image" Target="../media/image91.png"/><Relationship Id="rId5" Type="http://schemas.openxmlformats.org/officeDocument/2006/relationships/image" Target="../media/image85.png"/><Relationship Id="rId10" Type="http://schemas.openxmlformats.org/officeDocument/2006/relationships/image" Target="../media/image90.png"/><Relationship Id="rId4" Type="http://schemas.openxmlformats.org/officeDocument/2006/relationships/image" Target="../media/image84.png"/><Relationship Id="rId9" Type="http://schemas.openxmlformats.org/officeDocument/2006/relationships/image" Target="../media/image8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13" Type="http://schemas.openxmlformats.org/officeDocument/2006/relationships/image" Target="../media/image101.png"/><Relationship Id="rId3" Type="http://schemas.openxmlformats.org/officeDocument/2006/relationships/image" Target="../media/image47.png"/><Relationship Id="rId7" Type="http://schemas.openxmlformats.org/officeDocument/2006/relationships/image" Target="../media/image95.png"/><Relationship Id="rId12" Type="http://schemas.openxmlformats.org/officeDocument/2006/relationships/image" Target="../media/image10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1.xml"/><Relationship Id="rId6" Type="http://schemas.openxmlformats.org/officeDocument/2006/relationships/image" Target="../media/image94.png"/><Relationship Id="rId11" Type="http://schemas.openxmlformats.org/officeDocument/2006/relationships/image" Target="../media/image99.png"/><Relationship Id="rId5" Type="http://schemas.openxmlformats.org/officeDocument/2006/relationships/image" Target="../media/image93.png"/><Relationship Id="rId10" Type="http://schemas.openxmlformats.org/officeDocument/2006/relationships/image" Target="../media/image98.png"/><Relationship Id="rId4" Type="http://schemas.openxmlformats.org/officeDocument/2006/relationships/image" Target="../media/image92.png"/><Relationship Id="rId9" Type="http://schemas.openxmlformats.org/officeDocument/2006/relationships/image" Target="../media/image97.png"/><Relationship Id="rId14" Type="http://schemas.openxmlformats.org/officeDocument/2006/relationships/image" Target="../media/image10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png"/><Relationship Id="rId13" Type="http://schemas.openxmlformats.org/officeDocument/2006/relationships/image" Target="../media/image113.png"/><Relationship Id="rId3" Type="http://schemas.openxmlformats.org/officeDocument/2006/relationships/image" Target="../media/image103.png"/><Relationship Id="rId7" Type="http://schemas.openxmlformats.org/officeDocument/2006/relationships/image" Target="../media/image107.png"/><Relationship Id="rId12" Type="http://schemas.openxmlformats.org/officeDocument/2006/relationships/image" Target="../media/image1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1.xml"/><Relationship Id="rId6" Type="http://schemas.openxmlformats.org/officeDocument/2006/relationships/image" Target="../media/image106.png"/><Relationship Id="rId11" Type="http://schemas.openxmlformats.org/officeDocument/2006/relationships/image" Target="../media/image111.png"/><Relationship Id="rId5" Type="http://schemas.openxmlformats.org/officeDocument/2006/relationships/image" Target="../media/image105.png"/><Relationship Id="rId15" Type="http://schemas.openxmlformats.org/officeDocument/2006/relationships/image" Target="../media/image115.png"/><Relationship Id="rId10" Type="http://schemas.openxmlformats.org/officeDocument/2006/relationships/image" Target="../media/image110.png"/><Relationship Id="rId4" Type="http://schemas.openxmlformats.org/officeDocument/2006/relationships/image" Target="../media/image104.png"/><Relationship Id="rId9" Type="http://schemas.openxmlformats.org/officeDocument/2006/relationships/image" Target="../media/image109.png"/><Relationship Id="rId14" Type="http://schemas.openxmlformats.org/officeDocument/2006/relationships/image" Target="../media/image114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png"/><Relationship Id="rId13" Type="http://schemas.openxmlformats.org/officeDocument/2006/relationships/image" Target="../media/image110.png"/><Relationship Id="rId18" Type="http://schemas.openxmlformats.org/officeDocument/2006/relationships/image" Target="../media/image129.png"/><Relationship Id="rId3" Type="http://schemas.openxmlformats.org/officeDocument/2006/relationships/image" Target="../media/image47.png"/><Relationship Id="rId21" Type="http://schemas.openxmlformats.org/officeDocument/2006/relationships/image" Target="../media/image131.png"/><Relationship Id="rId7" Type="http://schemas.openxmlformats.org/officeDocument/2006/relationships/image" Target="../media/image119.png"/><Relationship Id="rId12" Type="http://schemas.openxmlformats.org/officeDocument/2006/relationships/image" Target="../media/image124.png"/><Relationship Id="rId17" Type="http://schemas.openxmlformats.org/officeDocument/2006/relationships/image" Target="../media/image128.png"/><Relationship Id="rId2" Type="http://schemas.openxmlformats.org/officeDocument/2006/relationships/notesSlide" Target="../notesSlides/notesSlide17.xml"/><Relationship Id="rId16" Type="http://schemas.openxmlformats.org/officeDocument/2006/relationships/image" Target="../media/image127.png"/><Relationship Id="rId20" Type="http://schemas.openxmlformats.org/officeDocument/2006/relationships/image" Target="../media/image130.png"/><Relationship Id="rId1" Type="http://schemas.openxmlformats.org/officeDocument/2006/relationships/slideLayout" Target="../slideLayouts/slideLayout41.xml"/><Relationship Id="rId6" Type="http://schemas.openxmlformats.org/officeDocument/2006/relationships/image" Target="../media/image118.png"/><Relationship Id="rId11" Type="http://schemas.openxmlformats.org/officeDocument/2006/relationships/image" Target="../media/image123.png"/><Relationship Id="rId5" Type="http://schemas.openxmlformats.org/officeDocument/2006/relationships/image" Target="../media/image117.png"/><Relationship Id="rId15" Type="http://schemas.openxmlformats.org/officeDocument/2006/relationships/image" Target="../media/image126.png"/><Relationship Id="rId10" Type="http://schemas.openxmlformats.org/officeDocument/2006/relationships/image" Target="../media/image122.png"/><Relationship Id="rId19" Type="http://schemas.openxmlformats.org/officeDocument/2006/relationships/image" Target="../media/image113.png"/><Relationship Id="rId4" Type="http://schemas.openxmlformats.org/officeDocument/2006/relationships/image" Target="../media/image116.png"/><Relationship Id="rId9" Type="http://schemas.openxmlformats.org/officeDocument/2006/relationships/image" Target="../media/image121.png"/><Relationship Id="rId14" Type="http://schemas.openxmlformats.org/officeDocument/2006/relationships/image" Target="../media/image125.png"/><Relationship Id="rId22" Type="http://schemas.openxmlformats.org/officeDocument/2006/relationships/image" Target="../media/image13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1.xml"/><Relationship Id="rId4" Type="http://schemas.openxmlformats.org/officeDocument/2006/relationships/image" Target="../media/image12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" y="0"/>
            <a:ext cx="36575085" cy="2057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5400"/>
          </a:p>
        </p:txBody>
      </p:sp>
      <p:sp>
        <p:nvSpPr>
          <p:cNvPr id="3" name="Shape 1"/>
          <p:cNvSpPr/>
          <p:nvPr/>
        </p:nvSpPr>
        <p:spPr>
          <a:xfrm>
            <a:off x="2" y="0"/>
            <a:ext cx="36575085" cy="2057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5400"/>
          </a:p>
        </p:txBody>
      </p:sp>
      <p:sp>
        <p:nvSpPr>
          <p:cNvPr id="4" name="Shape 2"/>
          <p:cNvSpPr/>
          <p:nvPr/>
        </p:nvSpPr>
        <p:spPr>
          <a:xfrm>
            <a:off x="2" y="0"/>
            <a:ext cx="36575085" cy="20574000"/>
          </a:xfrm>
          <a:prstGeom prst="rect">
            <a:avLst/>
          </a:prstGeom>
          <a:solidFill>
            <a:srgbClr val="FFFFFF">
              <a:alpha val="8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540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1829715" y="11200485"/>
            <a:ext cx="20574000" cy="57606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 l="1" r="1"/>
          <a:stretch/>
        </p:blipFill>
        <p:spPr>
          <a:xfrm>
            <a:off x="-2" y="0"/>
            <a:ext cx="36575085" cy="20574000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rcRect l="225" r="225"/>
          <a:stretch/>
        </p:blipFill>
        <p:spPr>
          <a:xfrm>
            <a:off x="1143917" y="743408"/>
            <a:ext cx="8344815" cy="2885847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829715" y="6572706"/>
            <a:ext cx="26803806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400" b="1" kern="0" spc="-66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NVIDIA NemoClaw</a:t>
            </a:r>
            <a:endParaRPr lang="en-US" sz="8400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23F3006B-D9A0-2446-23F0-6AE93678B2E9}"/>
              </a:ext>
            </a:extLst>
          </p:cNvPr>
          <p:cNvSpPr txBox="1">
            <a:spLocks/>
          </p:cNvSpPr>
          <p:nvPr/>
        </p:nvSpPr>
        <p:spPr>
          <a:xfrm>
            <a:off x="1418419" y="9435084"/>
            <a:ext cx="19282214" cy="1703832"/>
          </a:xfrm>
          <a:prstGeom prst="rect">
            <a:avLst/>
          </a:prstGeom>
        </p:spPr>
        <p:txBody>
          <a:bodyPr/>
          <a:lstStyle>
            <a:lvl1pPr marL="685800" indent="-685800" algn="l" defTabSz="2743200" rtl="0" eaLnBrk="1" latinLnBrk="0" hangingPunct="1">
              <a:lnSpc>
                <a:spcPct val="90000"/>
              </a:lnSpc>
              <a:spcBef>
                <a:spcPts val="3000"/>
              </a:spcBef>
              <a:buFont typeface="NVIDIA Sans" panose="020B0503020203020204" pitchFamily="34" charset="0"/>
              <a:buChar char="•"/>
              <a:defRPr sz="8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57400" indent="-685800" algn="l" defTabSz="2743200" rtl="0" eaLnBrk="1" latinLnBrk="0" hangingPunct="1">
              <a:lnSpc>
                <a:spcPct val="90000"/>
              </a:lnSpc>
              <a:spcBef>
                <a:spcPts val="1500"/>
              </a:spcBef>
              <a:buFont typeface="NVIDIA Sans" panose="020B0503020203020204" pitchFamily="34" charset="0"/>
              <a:buChar char="•"/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429000" indent="-685800" algn="l" defTabSz="2743200" rtl="0" eaLnBrk="1" latinLnBrk="0" hangingPunct="1">
              <a:lnSpc>
                <a:spcPct val="90000"/>
              </a:lnSpc>
              <a:spcBef>
                <a:spcPts val="1500"/>
              </a:spcBef>
              <a:buFont typeface="NVIDIA Sans" panose="020B0503020203020204" pitchFamily="34" charset="0"/>
              <a:buChar char="•"/>
              <a:defRPr sz="6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800600" indent="-685800" algn="l" defTabSz="2743200" rtl="0" eaLnBrk="1" latinLnBrk="0" hangingPunct="1">
              <a:lnSpc>
                <a:spcPct val="90000"/>
              </a:lnSpc>
              <a:spcBef>
                <a:spcPts val="1500"/>
              </a:spcBef>
              <a:buFont typeface="NVIDIA Sans" panose="020B0503020203020204" pitchFamily="34" charset="0"/>
              <a:buChar char="•"/>
              <a:defRPr sz="5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172200" indent="-685800" algn="l" defTabSz="2743200" rtl="0" eaLnBrk="1" latinLnBrk="0" hangingPunct="1">
              <a:lnSpc>
                <a:spcPct val="90000"/>
              </a:lnSpc>
              <a:spcBef>
                <a:spcPts val="1500"/>
              </a:spcBef>
              <a:buFont typeface="NVIDIA Sans" panose="020B0503020203020204" pitchFamily="34" charset="0"/>
              <a:buChar char="•"/>
              <a:defRPr sz="5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543800" indent="-685800" algn="l" defTabSz="2743200" rtl="0" eaLnBrk="1" latinLnBrk="0" hangingPunct="1">
              <a:lnSpc>
                <a:spcPct val="90000"/>
              </a:lnSpc>
              <a:spcBef>
                <a:spcPts val="1500"/>
              </a:spcBef>
              <a:buFont typeface="NVIDIA Sans" panose="020B0503020203020204" pitchFamily="34" charset="0"/>
              <a:buChar char="•"/>
              <a:defRPr sz="5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8915400" indent="-685800" algn="l" defTabSz="2743200" rtl="0" eaLnBrk="1" latinLnBrk="0" hangingPunct="1">
              <a:lnSpc>
                <a:spcPct val="90000"/>
              </a:lnSpc>
              <a:spcBef>
                <a:spcPts val="1500"/>
              </a:spcBef>
              <a:buFont typeface="NVIDIA Sans" panose="020B0503020203020204" pitchFamily="34" charset="0"/>
              <a:buChar char="•"/>
              <a:defRPr sz="5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287000" indent="-685800" algn="l" defTabSz="2743200" rtl="0" eaLnBrk="1" latinLnBrk="0" hangingPunct="1">
              <a:lnSpc>
                <a:spcPct val="90000"/>
              </a:lnSpc>
              <a:spcBef>
                <a:spcPts val="1500"/>
              </a:spcBef>
              <a:buFont typeface="NVIDIA Sans" panose="020B0503020203020204" pitchFamily="34" charset="0"/>
              <a:buChar char="•"/>
              <a:defRPr sz="5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1658600" indent="-685800" algn="l" defTabSz="2743200" rtl="0" eaLnBrk="1" latinLnBrk="0" hangingPunct="1">
              <a:lnSpc>
                <a:spcPct val="90000"/>
              </a:lnSpc>
              <a:spcBef>
                <a:spcPts val="1500"/>
              </a:spcBef>
              <a:buFont typeface="NVIDIA Sans" panose="020B0503020203020204" pitchFamily="34" charset="0"/>
              <a:buChar char="•"/>
              <a:defRPr sz="5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6600" dirty="0">
                <a:solidFill>
                  <a:schemeClr val="bg1"/>
                </a:solidFill>
              </a:rPr>
              <a:t>Safer always-on autonomous agents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" y="0"/>
            <a:ext cx="36575085" cy="2057400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5400"/>
          </a:p>
        </p:txBody>
      </p:sp>
      <p:sp>
        <p:nvSpPr>
          <p:cNvPr id="3" name="Shape 1"/>
          <p:cNvSpPr/>
          <p:nvPr/>
        </p:nvSpPr>
        <p:spPr>
          <a:xfrm>
            <a:off x="2" y="0"/>
            <a:ext cx="36575085" cy="2057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5400"/>
          </a:p>
        </p:txBody>
      </p:sp>
      <p:sp>
        <p:nvSpPr>
          <p:cNvPr id="4" name="Shape 2"/>
          <p:cNvSpPr/>
          <p:nvPr/>
        </p:nvSpPr>
        <p:spPr>
          <a:xfrm>
            <a:off x="2" y="2"/>
            <a:ext cx="36575085" cy="1829715"/>
          </a:xfrm>
          <a:prstGeom prst="rect">
            <a:avLst/>
          </a:prstGeom>
          <a:solidFill>
            <a:srgbClr val="76B9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540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l="-398" r="-398"/>
          <a:stretch/>
        </p:blipFill>
        <p:spPr>
          <a:xfrm>
            <a:off x="1999796" y="3143706"/>
            <a:ext cx="172821" cy="1514520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91329" y="3459174"/>
            <a:ext cx="31546800" cy="14829738"/>
          </a:xfrm>
          <a:prstGeom prst="roundRect">
            <a:avLst>
              <a:gd name="adj" fmla="val 1283"/>
            </a:avLst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5400"/>
          </a:p>
        </p:txBody>
      </p:sp>
      <p:sp>
        <p:nvSpPr>
          <p:cNvPr id="7" name="Text 4"/>
          <p:cNvSpPr txBox="1"/>
          <p:nvPr/>
        </p:nvSpPr>
        <p:spPr>
          <a:xfrm>
            <a:off x="400508" y="2"/>
            <a:ext cx="35776815" cy="18297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7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Agenda</a:t>
            </a:r>
            <a:endParaRPr lang="en-US" sz="5700" dirty="0"/>
          </a:p>
        </p:txBody>
      </p:sp>
      <p:sp>
        <p:nvSpPr>
          <p:cNvPr id="9" name="Text 6"/>
          <p:cNvSpPr txBox="1"/>
          <p:nvPr/>
        </p:nvSpPr>
        <p:spPr>
          <a:xfrm>
            <a:off x="3789857" y="4317795"/>
            <a:ext cx="11439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900" b="1" dirty="0">
                <a:solidFill>
                  <a:srgbClr val="76B9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1.</a:t>
            </a:r>
            <a:endParaRPr lang="en-US" sz="3900" dirty="0"/>
          </a:p>
        </p:txBody>
      </p:sp>
      <p:sp>
        <p:nvSpPr>
          <p:cNvPr id="10" name="Text 7"/>
          <p:cNvSpPr txBox="1"/>
          <p:nvPr/>
        </p:nvSpPr>
        <p:spPr>
          <a:xfrm>
            <a:off x="5103846" y="4317795"/>
            <a:ext cx="1197681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9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What is OpenClaw and its core capabilities</a:t>
            </a:r>
            <a:endParaRPr lang="en-US" sz="3900" dirty="0"/>
          </a:p>
        </p:txBody>
      </p:sp>
      <p:sp>
        <p:nvSpPr>
          <p:cNvPr id="11" name="Text 8"/>
          <p:cNvSpPr txBox="1"/>
          <p:nvPr/>
        </p:nvSpPr>
        <p:spPr>
          <a:xfrm>
            <a:off x="3789857" y="5500116"/>
            <a:ext cx="11439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900" b="1" dirty="0">
                <a:solidFill>
                  <a:srgbClr val="76B9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2.</a:t>
            </a:r>
            <a:endParaRPr lang="en-US" sz="3900" dirty="0"/>
          </a:p>
        </p:txBody>
      </p:sp>
      <p:sp>
        <p:nvSpPr>
          <p:cNvPr id="12" name="Text 9"/>
          <p:cNvSpPr txBox="1"/>
          <p:nvPr/>
        </p:nvSpPr>
        <p:spPr>
          <a:xfrm>
            <a:off x="5103846" y="5500116"/>
            <a:ext cx="114528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9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How OpenClaw works — end-to-end flow</a:t>
            </a:r>
            <a:endParaRPr lang="en-US" sz="3900" dirty="0"/>
          </a:p>
        </p:txBody>
      </p:sp>
      <p:sp>
        <p:nvSpPr>
          <p:cNvPr id="13" name="Text 10"/>
          <p:cNvSpPr txBox="1"/>
          <p:nvPr/>
        </p:nvSpPr>
        <p:spPr>
          <a:xfrm>
            <a:off x="3789857" y="6682434"/>
            <a:ext cx="11439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900" b="1" dirty="0">
                <a:solidFill>
                  <a:srgbClr val="76B9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3.</a:t>
            </a:r>
            <a:endParaRPr lang="en-US" sz="3900" dirty="0"/>
          </a:p>
        </p:txBody>
      </p:sp>
      <p:sp>
        <p:nvSpPr>
          <p:cNvPr id="14" name="Text 11"/>
          <p:cNvSpPr txBox="1"/>
          <p:nvPr/>
        </p:nvSpPr>
        <p:spPr>
          <a:xfrm>
            <a:off x="5103848" y="6682434"/>
            <a:ext cx="1425915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9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problem with OpenClaw in enterprise contexts</a:t>
            </a:r>
            <a:endParaRPr lang="en-US" sz="3900" dirty="0"/>
          </a:p>
        </p:txBody>
      </p:sp>
      <p:sp>
        <p:nvSpPr>
          <p:cNvPr id="15" name="Text 12"/>
          <p:cNvSpPr txBox="1"/>
          <p:nvPr/>
        </p:nvSpPr>
        <p:spPr>
          <a:xfrm>
            <a:off x="3789857" y="7864752"/>
            <a:ext cx="11439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900" b="1" dirty="0">
                <a:solidFill>
                  <a:srgbClr val="76B9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4.</a:t>
            </a:r>
            <a:endParaRPr lang="en-US" sz="3900" dirty="0"/>
          </a:p>
        </p:txBody>
      </p:sp>
      <p:sp>
        <p:nvSpPr>
          <p:cNvPr id="16" name="Text 13"/>
          <p:cNvSpPr txBox="1"/>
          <p:nvPr/>
        </p:nvSpPr>
        <p:spPr>
          <a:xfrm>
            <a:off x="5103846" y="7864752"/>
            <a:ext cx="106299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9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What is NemoClaw and what it solves</a:t>
            </a:r>
            <a:endParaRPr lang="en-US" sz="3900" dirty="0"/>
          </a:p>
        </p:txBody>
      </p:sp>
      <p:sp>
        <p:nvSpPr>
          <p:cNvPr id="17" name="Text 14"/>
          <p:cNvSpPr txBox="1"/>
          <p:nvPr/>
        </p:nvSpPr>
        <p:spPr>
          <a:xfrm>
            <a:off x="3789857" y="9049815"/>
            <a:ext cx="11439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900" b="1" dirty="0">
                <a:solidFill>
                  <a:srgbClr val="76B9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5.</a:t>
            </a:r>
            <a:endParaRPr lang="en-US" sz="3900" dirty="0"/>
          </a:p>
        </p:txBody>
      </p:sp>
      <p:sp>
        <p:nvSpPr>
          <p:cNvPr id="18" name="Text 15"/>
          <p:cNvSpPr txBox="1"/>
          <p:nvPr/>
        </p:nvSpPr>
        <p:spPr>
          <a:xfrm>
            <a:off x="5103848" y="9049815"/>
            <a:ext cx="155457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9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Security features that make NemoClaw enterprise-grade</a:t>
            </a:r>
            <a:endParaRPr lang="en-US" sz="3900" dirty="0"/>
          </a:p>
        </p:txBody>
      </p:sp>
      <p:sp>
        <p:nvSpPr>
          <p:cNvPr id="19" name="Text 16"/>
          <p:cNvSpPr txBox="1"/>
          <p:nvPr/>
        </p:nvSpPr>
        <p:spPr>
          <a:xfrm>
            <a:off x="3789857" y="10232136"/>
            <a:ext cx="11439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900" b="1" dirty="0">
                <a:solidFill>
                  <a:srgbClr val="76B9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6.</a:t>
            </a:r>
            <a:endParaRPr lang="en-US" sz="3900" dirty="0"/>
          </a:p>
        </p:txBody>
      </p:sp>
      <p:sp>
        <p:nvSpPr>
          <p:cNvPr id="20" name="Text 17"/>
          <p:cNvSpPr txBox="1"/>
          <p:nvPr/>
        </p:nvSpPr>
        <p:spPr>
          <a:xfrm>
            <a:off x="5103846" y="10232136"/>
            <a:ext cx="1013338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9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NemoClaw end-to-end functionality</a:t>
            </a:r>
            <a:endParaRPr lang="en-US" sz="3900" dirty="0"/>
          </a:p>
        </p:txBody>
      </p:sp>
      <p:sp>
        <p:nvSpPr>
          <p:cNvPr id="21" name="Text 18"/>
          <p:cNvSpPr txBox="1"/>
          <p:nvPr/>
        </p:nvSpPr>
        <p:spPr>
          <a:xfrm>
            <a:off x="3789857" y="11414454"/>
            <a:ext cx="11439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900" b="1" dirty="0">
                <a:solidFill>
                  <a:srgbClr val="76B9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7.</a:t>
            </a:r>
            <a:endParaRPr lang="en-US" sz="3900" dirty="0"/>
          </a:p>
        </p:txBody>
      </p:sp>
      <p:sp>
        <p:nvSpPr>
          <p:cNvPr id="22" name="Text 19"/>
          <p:cNvSpPr txBox="1"/>
          <p:nvPr/>
        </p:nvSpPr>
        <p:spPr>
          <a:xfrm>
            <a:off x="5103846" y="11414454"/>
            <a:ext cx="16870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9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Demo</a:t>
            </a:r>
            <a:endParaRPr lang="en-US" sz="3900" dirty="0"/>
          </a:p>
        </p:txBody>
      </p:sp>
      <p:sp>
        <p:nvSpPr>
          <p:cNvPr id="23" name="Text 20"/>
          <p:cNvSpPr txBox="1"/>
          <p:nvPr/>
        </p:nvSpPr>
        <p:spPr>
          <a:xfrm>
            <a:off x="3789857" y="12596772"/>
            <a:ext cx="11439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900" b="1" dirty="0">
                <a:solidFill>
                  <a:srgbClr val="76B9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8.</a:t>
            </a:r>
            <a:endParaRPr lang="en-US" sz="3900" dirty="0"/>
          </a:p>
        </p:txBody>
      </p:sp>
      <p:sp>
        <p:nvSpPr>
          <p:cNvPr id="24" name="Text 21"/>
          <p:cNvSpPr txBox="1"/>
          <p:nvPr/>
        </p:nvSpPr>
        <p:spPr>
          <a:xfrm>
            <a:off x="5103846" y="12596772"/>
            <a:ext cx="1397386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9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What’s in it for an enterprise — art of the possible</a:t>
            </a:r>
            <a:endParaRPr lang="en-US" sz="3900" dirty="0"/>
          </a:p>
        </p:txBody>
      </p:sp>
      <p:sp>
        <p:nvSpPr>
          <p:cNvPr id="25" name="Text 22"/>
          <p:cNvSpPr txBox="1"/>
          <p:nvPr/>
        </p:nvSpPr>
        <p:spPr>
          <a:xfrm>
            <a:off x="3789857" y="13779093"/>
            <a:ext cx="11439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900" b="1" dirty="0">
                <a:solidFill>
                  <a:srgbClr val="76B9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9.</a:t>
            </a:r>
            <a:endParaRPr lang="en-US" sz="3900" dirty="0"/>
          </a:p>
        </p:txBody>
      </p:sp>
      <p:sp>
        <p:nvSpPr>
          <p:cNvPr id="26" name="Text 23"/>
          <p:cNvSpPr txBox="1"/>
          <p:nvPr/>
        </p:nvSpPr>
        <p:spPr>
          <a:xfrm>
            <a:off x="5103846" y="13779093"/>
            <a:ext cx="164043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9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End-to-end reference architecture for enterprise integration</a:t>
            </a:r>
            <a:endParaRPr lang="en-US" sz="3900" dirty="0"/>
          </a:p>
        </p:txBody>
      </p:sp>
      <p:sp>
        <p:nvSpPr>
          <p:cNvPr id="27" name="Text 24"/>
          <p:cNvSpPr txBox="1"/>
          <p:nvPr/>
        </p:nvSpPr>
        <p:spPr>
          <a:xfrm>
            <a:off x="3789857" y="14961411"/>
            <a:ext cx="11439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900" b="1" dirty="0">
                <a:solidFill>
                  <a:srgbClr val="76B9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10.</a:t>
            </a:r>
            <a:endParaRPr lang="en-US" sz="3900" dirty="0"/>
          </a:p>
        </p:txBody>
      </p:sp>
      <p:sp>
        <p:nvSpPr>
          <p:cNvPr id="28" name="Text 25"/>
          <p:cNvSpPr txBox="1"/>
          <p:nvPr/>
        </p:nvSpPr>
        <p:spPr>
          <a:xfrm>
            <a:off x="5103846" y="14961411"/>
            <a:ext cx="1344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9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Q&amp;A</a:t>
            </a:r>
            <a:endParaRPr lang="en-US" sz="3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" y="0"/>
            <a:ext cx="36575085" cy="2057400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5400"/>
          </a:p>
        </p:txBody>
      </p:sp>
      <p:sp>
        <p:nvSpPr>
          <p:cNvPr id="3" name="Shape 1"/>
          <p:cNvSpPr/>
          <p:nvPr/>
        </p:nvSpPr>
        <p:spPr>
          <a:xfrm>
            <a:off x="2" y="0"/>
            <a:ext cx="36575085" cy="2057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5400"/>
          </a:p>
        </p:txBody>
      </p:sp>
      <p:sp>
        <p:nvSpPr>
          <p:cNvPr id="4" name="Shape 2"/>
          <p:cNvSpPr/>
          <p:nvPr/>
        </p:nvSpPr>
        <p:spPr>
          <a:xfrm>
            <a:off x="2" y="2"/>
            <a:ext cx="36575085" cy="1829715"/>
          </a:xfrm>
          <a:prstGeom prst="rect">
            <a:avLst/>
          </a:prstGeom>
          <a:solidFill>
            <a:srgbClr val="76B9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5400"/>
          </a:p>
        </p:txBody>
      </p:sp>
      <p:sp>
        <p:nvSpPr>
          <p:cNvPr id="5" name="Shape 3"/>
          <p:cNvSpPr/>
          <p:nvPr/>
        </p:nvSpPr>
        <p:spPr>
          <a:xfrm>
            <a:off x="1999796" y="2400302"/>
            <a:ext cx="32690715" cy="3544215"/>
          </a:xfrm>
          <a:prstGeom prst="roundRect">
            <a:avLst>
              <a:gd name="adj" fmla="val 19974"/>
            </a:avLst>
          </a:prstGeom>
          <a:solidFill>
            <a:srgbClr val="E8F5E9"/>
          </a:solidFill>
          <a:ln w="254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540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402" r="-402"/>
          <a:stretch/>
        </p:blipFill>
        <p:spPr>
          <a:xfrm>
            <a:off x="2010158" y="7198157"/>
            <a:ext cx="162459" cy="12517221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573123" y="7316117"/>
            <a:ext cx="32117385" cy="12517221"/>
          </a:xfrm>
          <a:prstGeom prst="roundRect">
            <a:avLst>
              <a:gd name="adj" fmla="val 1801"/>
            </a:avLst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5400"/>
          </a:p>
        </p:txBody>
      </p:sp>
      <p:sp>
        <p:nvSpPr>
          <p:cNvPr id="8" name="Shape 5"/>
          <p:cNvSpPr/>
          <p:nvPr/>
        </p:nvSpPr>
        <p:spPr>
          <a:xfrm>
            <a:off x="3143706" y="7886702"/>
            <a:ext cx="7486194" cy="5659221"/>
          </a:xfrm>
          <a:prstGeom prst="roundRect">
            <a:avLst>
              <a:gd name="adj" fmla="val 6855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 sz="5400"/>
          </a:p>
        </p:txBody>
      </p:sp>
      <p:sp>
        <p:nvSpPr>
          <p:cNvPr id="9" name="Shape 6"/>
          <p:cNvSpPr/>
          <p:nvPr/>
        </p:nvSpPr>
        <p:spPr>
          <a:xfrm>
            <a:off x="11088015" y="7886702"/>
            <a:ext cx="7486194" cy="5659221"/>
          </a:xfrm>
          <a:prstGeom prst="roundRect">
            <a:avLst>
              <a:gd name="adj" fmla="val 6855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 sz="5400"/>
          </a:p>
        </p:txBody>
      </p:sp>
      <p:sp>
        <p:nvSpPr>
          <p:cNvPr id="10" name="Shape 7"/>
          <p:cNvSpPr/>
          <p:nvPr/>
        </p:nvSpPr>
        <p:spPr>
          <a:xfrm>
            <a:off x="19032321" y="7886702"/>
            <a:ext cx="7486194" cy="5659221"/>
          </a:xfrm>
          <a:prstGeom prst="roundRect">
            <a:avLst>
              <a:gd name="adj" fmla="val 6855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 sz="5400"/>
          </a:p>
        </p:txBody>
      </p:sp>
      <p:sp>
        <p:nvSpPr>
          <p:cNvPr id="11" name="Shape 8"/>
          <p:cNvSpPr/>
          <p:nvPr/>
        </p:nvSpPr>
        <p:spPr>
          <a:xfrm>
            <a:off x="26973885" y="7886702"/>
            <a:ext cx="7486194" cy="5659221"/>
          </a:xfrm>
          <a:prstGeom prst="roundRect">
            <a:avLst>
              <a:gd name="adj" fmla="val 6855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 sz="5400"/>
          </a:p>
        </p:txBody>
      </p:sp>
      <p:sp>
        <p:nvSpPr>
          <p:cNvPr id="12" name="Shape 9"/>
          <p:cNvSpPr/>
          <p:nvPr/>
        </p:nvSpPr>
        <p:spPr>
          <a:xfrm>
            <a:off x="3143706" y="13773608"/>
            <a:ext cx="7486194" cy="5659221"/>
          </a:xfrm>
          <a:prstGeom prst="roundRect">
            <a:avLst>
              <a:gd name="adj" fmla="val 6855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 sz="5400"/>
          </a:p>
        </p:txBody>
      </p:sp>
      <p:sp>
        <p:nvSpPr>
          <p:cNvPr id="13" name="Shape 10"/>
          <p:cNvSpPr/>
          <p:nvPr/>
        </p:nvSpPr>
        <p:spPr>
          <a:xfrm>
            <a:off x="11088015" y="13773608"/>
            <a:ext cx="7486194" cy="5659221"/>
          </a:xfrm>
          <a:prstGeom prst="roundRect">
            <a:avLst>
              <a:gd name="adj" fmla="val 6855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 sz="5400"/>
          </a:p>
        </p:txBody>
      </p:sp>
      <p:sp>
        <p:nvSpPr>
          <p:cNvPr id="14" name="Shape 11"/>
          <p:cNvSpPr/>
          <p:nvPr/>
        </p:nvSpPr>
        <p:spPr>
          <a:xfrm>
            <a:off x="19032321" y="13773608"/>
            <a:ext cx="7486194" cy="5659221"/>
          </a:xfrm>
          <a:prstGeom prst="roundRect">
            <a:avLst>
              <a:gd name="adj" fmla="val 6855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 sz="5400"/>
          </a:p>
        </p:txBody>
      </p:sp>
      <p:sp>
        <p:nvSpPr>
          <p:cNvPr id="15" name="Shape 12"/>
          <p:cNvSpPr/>
          <p:nvPr/>
        </p:nvSpPr>
        <p:spPr>
          <a:xfrm>
            <a:off x="26973885" y="13773608"/>
            <a:ext cx="7486194" cy="5659221"/>
          </a:xfrm>
          <a:prstGeom prst="roundRect">
            <a:avLst>
              <a:gd name="adj" fmla="val 6855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 sz="5400"/>
          </a:p>
        </p:txBody>
      </p:sp>
      <p:sp>
        <p:nvSpPr>
          <p:cNvPr id="16" name="Text 13"/>
          <p:cNvSpPr txBox="1"/>
          <p:nvPr/>
        </p:nvSpPr>
        <p:spPr>
          <a:xfrm>
            <a:off x="9891978" y="370332"/>
            <a:ext cx="16802100" cy="108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What is OpenClaw — Core Capabilities</a:t>
            </a:r>
            <a:endParaRPr lang="en-US" sz="630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rcRect t="-2283" b="-2283"/>
          <a:stretch/>
        </p:blipFill>
        <p:spPr>
          <a:xfrm>
            <a:off x="2858417" y="3486608"/>
            <a:ext cx="1201521" cy="1256385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4572915" y="3313785"/>
            <a:ext cx="29376930" cy="1602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5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OpenClaw</a:t>
            </a:r>
            <a:r>
              <a:rPr lang="en-US" sz="45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is an open-source autonomous AI agent platform that can plan, execute, and iterate on complex tasks without continuous human input. </a:t>
            </a:r>
            <a:endParaRPr lang="en-US" sz="4500" dirty="0"/>
          </a:p>
        </p:txBody>
      </p:sp>
      <p:sp>
        <p:nvSpPr>
          <p:cNvPr id="19" name="Text 15"/>
          <p:cNvSpPr txBox="1"/>
          <p:nvPr/>
        </p:nvSpPr>
        <p:spPr>
          <a:xfrm>
            <a:off x="2573123" y="6229806"/>
            <a:ext cx="323478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900" b="1" kern="0" spc="66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Core capabilities </a:t>
            </a:r>
            <a:endParaRPr lang="en-US" sz="39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rcRect t="-6250" b="-6250"/>
          <a:stretch/>
        </p:blipFill>
        <p:spPr>
          <a:xfrm>
            <a:off x="3601821" y="8344815"/>
            <a:ext cx="971094" cy="971094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4858208" y="8287206"/>
            <a:ext cx="5601615" cy="573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3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Task Planning</a:t>
            </a:r>
            <a:endParaRPr lang="en-US" sz="3300" dirty="0"/>
          </a:p>
        </p:txBody>
      </p:sp>
      <p:sp>
        <p:nvSpPr>
          <p:cNvPr id="22" name="Text 17"/>
          <p:cNvSpPr txBox="1"/>
          <p:nvPr/>
        </p:nvSpPr>
        <p:spPr>
          <a:xfrm>
            <a:off x="4858208" y="8915402"/>
            <a:ext cx="5587899" cy="831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dirty="0">
                <a:solidFill>
                  <a:srgbClr val="2B2B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Turns a goal into a step-by-step plan</a:t>
            </a:r>
            <a:endParaRPr lang="en-US" sz="2700" dirty="0"/>
          </a:p>
        </p:txBody>
      </p:sp>
      <p:sp>
        <p:nvSpPr>
          <p:cNvPr id="23" name="Text 18"/>
          <p:cNvSpPr txBox="1"/>
          <p:nvPr/>
        </p:nvSpPr>
        <p:spPr>
          <a:xfrm>
            <a:off x="3601821" y="9944100"/>
            <a:ext cx="6803136" cy="10588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Decomposes complex tasks into an executable sequence.</a:t>
            </a:r>
            <a:endParaRPr lang="en-US" sz="2700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rcRect t="-6550" b="-6550"/>
          <a:stretch/>
        </p:blipFill>
        <p:spPr>
          <a:xfrm>
            <a:off x="11543387" y="8344815"/>
            <a:ext cx="858621" cy="971094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2802517" y="8287206"/>
            <a:ext cx="5601615" cy="573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3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Tool Invocation</a:t>
            </a:r>
            <a:endParaRPr lang="en-US" sz="3300" dirty="0"/>
          </a:p>
        </p:txBody>
      </p:sp>
      <p:sp>
        <p:nvSpPr>
          <p:cNvPr id="26" name="Text 20"/>
          <p:cNvSpPr txBox="1"/>
          <p:nvPr/>
        </p:nvSpPr>
        <p:spPr>
          <a:xfrm>
            <a:off x="12802515" y="8915402"/>
            <a:ext cx="6394398" cy="430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dirty="0">
                <a:solidFill>
                  <a:srgbClr val="2B2B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Uses shell, files, APIs, web tools</a:t>
            </a:r>
            <a:endParaRPr lang="en-US" sz="2700" dirty="0"/>
          </a:p>
        </p:txBody>
      </p:sp>
      <p:sp>
        <p:nvSpPr>
          <p:cNvPr id="27" name="Text 21"/>
          <p:cNvSpPr txBox="1"/>
          <p:nvPr/>
        </p:nvSpPr>
        <p:spPr>
          <a:xfrm>
            <a:off x="11543385" y="9944100"/>
            <a:ext cx="6803136" cy="10588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Calls commands and services autonomously to move work forward.</a:t>
            </a:r>
            <a:endParaRPr lang="en-US" sz="2700" dirty="0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rcRect t="-6550" b="-6550"/>
          <a:stretch/>
        </p:blipFill>
        <p:spPr>
          <a:xfrm>
            <a:off x="19487696" y="8344815"/>
            <a:ext cx="858621" cy="971094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20746823" y="8287206"/>
            <a:ext cx="5601615" cy="573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3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Multi-step Exec</a:t>
            </a:r>
            <a:endParaRPr lang="en-US" sz="3300" dirty="0"/>
          </a:p>
        </p:txBody>
      </p:sp>
      <p:sp>
        <p:nvSpPr>
          <p:cNvPr id="30" name="Text 23"/>
          <p:cNvSpPr txBox="1"/>
          <p:nvPr/>
        </p:nvSpPr>
        <p:spPr>
          <a:xfrm>
            <a:off x="20746821" y="8915402"/>
            <a:ext cx="5771694" cy="430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dirty="0">
                <a:solidFill>
                  <a:srgbClr val="2B2B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Chains actions across steps</a:t>
            </a:r>
            <a:endParaRPr lang="en-US" sz="2700" dirty="0"/>
          </a:p>
        </p:txBody>
      </p:sp>
      <p:sp>
        <p:nvSpPr>
          <p:cNvPr id="31" name="Text 24"/>
          <p:cNvSpPr txBox="1"/>
          <p:nvPr/>
        </p:nvSpPr>
        <p:spPr>
          <a:xfrm>
            <a:off x="19487694" y="9944100"/>
            <a:ext cx="6803136" cy="10588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Feeds outputs into next decisions and iterates to completion.</a:t>
            </a:r>
            <a:endParaRPr lang="en-US" sz="2700" dirty="0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rcRect t="-5871" b="-5871"/>
          <a:stretch/>
        </p:blipFill>
        <p:spPr>
          <a:xfrm>
            <a:off x="27432000" y="8344815"/>
            <a:ext cx="1086306" cy="971094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28688387" y="8287206"/>
            <a:ext cx="5601615" cy="573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3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Session Context</a:t>
            </a:r>
            <a:endParaRPr lang="en-US" sz="3300" dirty="0"/>
          </a:p>
        </p:txBody>
      </p:sp>
      <p:sp>
        <p:nvSpPr>
          <p:cNvPr id="34" name="Text 26"/>
          <p:cNvSpPr txBox="1"/>
          <p:nvPr/>
        </p:nvSpPr>
        <p:spPr>
          <a:xfrm>
            <a:off x="28688387" y="8915402"/>
            <a:ext cx="5601615" cy="430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dirty="0">
                <a:solidFill>
                  <a:srgbClr val="2B2B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Remembers within a session</a:t>
            </a:r>
            <a:endParaRPr lang="en-US" sz="2700" dirty="0"/>
          </a:p>
        </p:txBody>
      </p:sp>
      <p:sp>
        <p:nvSpPr>
          <p:cNvPr id="35" name="Text 27"/>
          <p:cNvSpPr txBox="1"/>
          <p:nvPr/>
        </p:nvSpPr>
        <p:spPr>
          <a:xfrm>
            <a:off x="27432000" y="9944100"/>
            <a:ext cx="6803136" cy="10588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Maintains conversation and task state across multi-turn work.</a:t>
            </a:r>
            <a:endParaRPr lang="en-US" sz="2700" dirty="0"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rcRect t="-6250" b="-6250"/>
          <a:stretch/>
        </p:blipFill>
        <p:spPr>
          <a:xfrm>
            <a:off x="3601821" y="14231721"/>
            <a:ext cx="971094" cy="971094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4858208" y="14174115"/>
            <a:ext cx="5601615" cy="573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3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Skills</a:t>
            </a:r>
            <a:endParaRPr lang="en-US" sz="3300" dirty="0"/>
          </a:p>
        </p:txBody>
      </p:sp>
      <p:sp>
        <p:nvSpPr>
          <p:cNvPr id="38" name="Text 29"/>
          <p:cNvSpPr txBox="1"/>
          <p:nvPr/>
        </p:nvSpPr>
        <p:spPr>
          <a:xfrm>
            <a:off x="4858208" y="14802308"/>
            <a:ext cx="5601615" cy="430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dirty="0">
                <a:solidFill>
                  <a:srgbClr val="2B2B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Markdown-defined workflows</a:t>
            </a:r>
            <a:endParaRPr lang="en-US" sz="2700" dirty="0"/>
          </a:p>
        </p:txBody>
      </p:sp>
      <p:sp>
        <p:nvSpPr>
          <p:cNvPr id="39" name="Text 30"/>
          <p:cNvSpPr txBox="1"/>
          <p:nvPr/>
        </p:nvSpPr>
        <p:spPr>
          <a:xfrm>
            <a:off x="3601821" y="15831006"/>
            <a:ext cx="6803136" cy="10588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Loads reusable skills that encode domain runbooks.</a:t>
            </a:r>
            <a:endParaRPr lang="en-US" sz="2700" dirty="0"/>
          </a:p>
        </p:txBody>
      </p:sp>
      <p:pic>
        <p:nvPicPr>
          <p:cNvPr id="40" name="Image 7" descr="preencoded.png"/>
          <p:cNvPicPr>
            <a:picLocks noChangeAspect="1"/>
          </p:cNvPicPr>
          <p:nvPr/>
        </p:nvPicPr>
        <p:blipFill>
          <a:blip r:embed="rId10"/>
          <a:srcRect t="-6550" b="-6550"/>
          <a:stretch/>
        </p:blipFill>
        <p:spPr>
          <a:xfrm>
            <a:off x="11543387" y="14231721"/>
            <a:ext cx="858621" cy="971094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12802517" y="14174115"/>
            <a:ext cx="5601615" cy="573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3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Inference Flex</a:t>
            </a:r>
            <a:endParaRPr lang="en-US" sz="3300" dirty="0"/>
          </a:p>
        </p:txBody>
      </p:sp>
      <p:sp>
        <p:nvSpPr>
          <p:cNvPr id="42" name="Text 32"/>
          <p:cNvSpPr txBox="1"/>
          <p:nvPr/>
        </p:nvSpPr>
        <p:spPr>
          <a:xfrm>
            <a:off x="12802517" y="14802308"/>
            <a:ext cx="5601615" cy="430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dirty="0">
                <a:solidFill>
                  <a:srgbClr val="2B2B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Local or cloud models</a:t>
            </a:r>
            <a:endParaRPr lang="en-US" sz="2700" dirty="0"/>
          </a:p>
        </p:txBody>
      </p:sp>
      <p:sp>
        <p:nvSpPr>
          <p:cNvPr id="43" name="Text 33"/>
          <p:cNvSpPr txBox="1"/>
          <p:nvPr/>
        </p:nvSpPr>
        <p:spPr>
          <a:xfrm>
            <a:off x="11543385" y="15831006"/>
            <a:ext cx="6803136" cy="10588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Supports Nemotron, OpenAI, Anthropic, Gemini, or local Ollama.</a:t>
            </a:r>
            <a:endParaRPr lang="en-US" sz="2700" dirty="0"/>
          </a:p>
        </p:txBody>
      </p:sp>
      <p:pic>
        <p:nvPicPr>
          <p:cNvPr id="44" name="Image 8" descr="preencoded.png"/>
          <p:cNvPicPr>
            <a:picLocks noChangeAspect="1"/>
          </p:cNvPicPr>
          <p:nvPr/>
        </p:nvPicPr>
        <p:blipFill>
          <a:blip r:embed="rId11"/>
          <a:srcRect t="-6250" b="-6250"/>
          <a:stretch/>
        </p:blipFill>
        <p:spPr>
          <a:xfrm>
            <a:off x="19487694" y="14231721"/>
            <a:ext cx="971094" cy="971094"/>
          </a:xfrm>
          <a:prstGeom prst="rect">
            <a:avLst/>
          </a:prstGeom>
        </p:spPr>
      </p:pic>
      <p:sp>
        <p:nvSpPr>
          <p:cNvPr id="45" name="Text 34"/>
          <p:cNvSpPr txBox="1"/>
          <p:nvPr/>
        </p:nvSpPr>
        <p:spPr>
          <a:xfrm>
            <a:off x="20746823" y="14174115"/>
            <a:ext cx="5601615" cy="573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3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Always-on</a:t>
            </a:r>
            <a:endParaRPr lang="en-US" sz="3300" dirty="0"/>
          </a:p>
        </p:txBody>
      </p:sp>
      <p:sp>
        <p:nvSpPr>
          <p:cNvPr id="46" name="Text 35"/>
          <p:cNvSpPr txBox="1"/>
          <p:nvPr/>
        </p:nvSpPr>
        <p:spPr>
          <a:xfrm>
            <a:off x="20746823" y="14802308"/>
            <a:ext cx="5944515" cy="430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dirty="0">
                <a:solidFill>
                  <a:srgbClr val="2B2B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Acts on triggers</a:t>
            </a:r>
            <a:endParaRPr lang="en-US" sz="2700" dirty="0"/>
          </a:p>
        </p:txBody>
      </p:sp>
      <p:sp>
        <p:nvSpPr>
          <p:cNvPr id="47" name="Text 36"/>
          <p:cNvSpPr txBox="1"/>
          <p:nvPr/>
        </p:nvSpPr>
        <p:spPr>
          <a:xfrm>
            <a:off x="19487694" y="15831006"/>
            <a:ext cx="6803136" cy="10588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Runs persistently—doesn’t stop at suggestions.</a:t>
            </a:r>
            <a:endParaRPr lang="en-US" sz="2700" dirty="0"/>
          </a:p>
        </p:txBody>
      </p:sp>
      <p:pic>
        <p:nvPicPr>
          <p:cNvPr id="48" name="Image 9" descr="preencoded.png"/>
          <p:cNvPicPr>
            <a:picLocks noChangeAspect="1"/>
          </p:cNvPicPr>
          <p:nvPr/>
        </p:nvPicPr>
        <p:blipFill>
          <a:blip r:embed="rId12"/>
          <a:srcRect t="-5871" b="-5871"/>
          <a:stretch/>
        </p:blipFill>
        <p:spPr>
          <a:xfrm>
            <a:off x="27432000" y="14231721"/>
            <a:ext cx="1086306" cy="971094"/>
          </a:xfrm>
          <a:prstGeom prst="rect">
            <a:avLst/>
          </a:prstGeom>
        </p:spPr>
      </p:pic>
      <p:sp>
        <p:nvSpPr>
          <p:cNvPr id="49" name="Text 37"/>
          <p:cNvSpPr txBox="1"/>
          <p:nvPr/>
        </p:nvSpPr>
        <p:spPr>
          <a:xfrm>
            <a:off x="28688387" y="14174115"/>
            <a:ext cx="5601615" cy="573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3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Autonomy</a:t>
            </a:r>
            <a:endParaRPr lang="en-US" sz="3300" dirty="0"/>
          </a:p>
        </p:txBody>
      </p:sp>
      <p:sp>
        <p:nvSpPr>
          <p:cNvPr id="50" name="Text 38"/>
          <p:cNvSpPr txBox="1"/>
          <p:nvPr/>
        </p:nvSpPr>
        <p:spPr>
          <a:xfrm>
            <a:off x="28688387" y="14802308"/>
            <a:ext cx="5944515" cy="430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dirty="0">
                <a:solidFill>
                  <a:srgbClr val="2B2B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Executes vs suggests</a:t>
            </a:r>
            <a:endParaRPr lang="en-US" sz="2700" dirty="0"/>
          </a:p>
        </p:txBody>
      </p:sp>
      <p:sp>
        <p:nvSpPr>
          <p:cNvPr id="51" name="Text 39"/>
          <p:cNvSpPr txBox="1"/>
          <p:nvPr/>
        </p:nvSpPr>
        <p:spPr>
          <a:xfrm>
            <a:off x="27432000" y="15831006"/>
            <a:ext cx="6803136" cy="10588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Key differentiator: full task chains with minimal human hand-holding.</a:t>
            </a:r>
            <a:endParaRPr lang="en-US" sz="2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" y="0"/>
            <a:ext cx="36575085" cy="2057400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5400"/>
          </a:p>
        </p:txBody>
      </p:sp>
      <p:sp>
        <p:nvSpPr>
          <p:cNvPr id="3" name="Shape 1"/>
          <p:cNvSpPr/>
          <p:nvPr/>
        </p:nvSpPr>
        <p:spPr>
          <a:xfrm>
            <a:off x="2" y="0"/>
            <a:ext cx="36575085" cy="2057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5400"/>
          </a:p>
        </p:txBody>
      </p:sp>
      <p:sp>
        <p:nvSpPr>
          <p:cNvPr id="4" name="Shape 2"/>
          <p:cNvSpPr/>
          <p:nvPr/>
        </p:nvSpPr>
        <p:spPr>
          <a:xfrm>
            <a:off x="2" y="2"/>
            <a:ext cx="36575085" cy="1829715"/>
          </a:xfrm>
          <a:prstGeom prst="rect">
            <a:avLst/>
          </a:prstGeom>
          <a:solidFill>
            <a:srgbClr val="76B9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540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l="-398" r="-398"/>
          <a:stretch/>
        </p:blipFill>
        <p:spPr>
          <a:xfrm>
            <a:off x="1999796" y="2627985"/>
            <a:ext cx="172821" cy="1480230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573123" y="2627988"/>
            <a:ext cx="32117385" cy="14744694"/>
          </a:xfrm>
          <a:prstGeom prst="roundRect">
            <a:avLst>
              <a:gd name="adj" fmla="val 1268"/>
            </a:avLst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540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 t="-400" b="-400"/>
          <a:stretch/>
        </p:blipFill>
        <p:spPr>
          <a:xfrm>
            <a:off x="3429000" y="3656687"/>
            <a:ext cx="20574000" cy="172821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>
            <a:alphaModFix amt="25000"/>
          </a:blip>
          <a:srcRect t="-400" b="-400"/>
          <a:stretch/>
        </p:blipFill>
        <p:spPr>
          <a:xfrm>
            <a:off x="3429000" y="3656687"/>
            <a:ext cx="20574000" cy="172821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3999585" y="4485132"/>
            <a:ext cx="6114594" cy="2685594"/>
          </a:xfrm>
          <a:prstGeom prst="roundRect">
            <a:avLst>
              <a:gd name="adj" fmla="val 34773"/>
            </a:avLst>
          </a:prstGeom>
          <a:solidFill>
            <a:srgbClr val="E8F5E9"/>
          </a:solidFill>
          <a:ln w="254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540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rcRect t="-379" b="-379"/>
          <a:stretch/>
        </p:blipFill>
        <p:spPr>
          <a:xfrm>
            <a:off x="10287000" y="5659223"/>
            <a:ext cx="1086306" cy="115215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11288268" y="5458970"/>
            <a:ext cx="400506" cy="458115"/>
          </a:xfrm>
          <a:prstGeom prst="rect">
            <a:avLst/>
          </a:prstGeom>
          <a:noFill/>
          <a:ln w="1016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5400"/>
          </a:p>
        </p:txBody>
      </p:sp>
      <p:sp>
        <p:nvSpPr>
          <p:cNvPr id="12" name="Shape 6"/>
          <p:cNvSpPr/>
          <p:nvPr/>
        </p:nvSpPr>
        <p:spPr>
          <a:xfrm>
            <a:off x="11716206" y="4485132"/>
            <a:ext cx="6114594" cy="2685594"/>
          </a:xfrm>
          <a:prstGeom prst="roundRect">
            <a:avLst>
              <a:gd name="adj" fmla="val 34773"/>
            </a:avLst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540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6"/>
          <a:srcRect t="-379" b="-379"/>
          <a:stretch/>
        </p:blipFill>
        <p:spPr>
          <a:xfrm>
            <a:off x="18003621" y="5659223"/>
            <a:ext cx="1086306" cy="115215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19002147" y="5458970"/>
            <a:ext cx="400506" cy="458115"/>
          </a:xfrm>
          <a:prstGeom prst="rect">
            <a:avLst/>
          </a:prstGeom>
          <a:noFill/>
          <a:ln w="1016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5400"/>
          </a:p>
        </p:txBody>
      </p:sp>
      <p:sp>
        <p:nvSpPr>
          <p:cNvPr id="15" name="Shape 8"/>
          <p:cNvSpPr/>
          <p:nvPr/>
        </p:nvSpPr>
        <p:spPr>
          <a:xfrm>
            <a:off x="19430085" y="4485132"/>
            <a:ext cx="6114594" cy="2685594"/>
          </a:xfrm>
          <a:prstGeom prst="roundRect">
            <a:avLst>
              <a:gd name="adj" fmla="val 34773"/>
            </a:avLst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540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7"/>
          <a:srcRect l="-369" r="-369"/>
          <a:stretch/>
        </p:blipFill>
        <p:spPr>
          <a:xfrm>
            <a:off x="22346108" y="7173468"/>
            <a:ext cx="115215" cy="743406"/>
          </a:xfrm>
          <a:prstGeom prst="rect">
            <a:avLst/>
          </a:prstGeom>
        </p:spPr>
      </p:pic>
      <p:sp>
        <p:nvSpPr>
          <p:cNvPr id="17" name="Shape 9"/>
          <p:cNvSpPr/>
          <p:nvPr/>
        </p:nvSpPr>
        <p:spPr>
          <a:xfrm>
            <a:off x="22145855" y="7829094"/>
            <a:ext cx="458115" cy="400506"/>
          </a:xfrm>
          <a:prstGeom prst="rect">
            <a:avLst/>
          </a:prstGeom>
          <a:noFill/>
          <a:ln w="177800">
            <a:solidFill>
              <a:srgbClr val="8C8C8C"/>
            </a:solidFill>
            <a:prstDash val="solid"/>
          </a:ln>
        </p:spPr>
        <p:txBody>
          <a:bodyPr/>
          <a:lstStyle/>
          <a:p>
            <a:endParaRPr lang="en-US" sz="5400"/>
          </a:p>
        </p:txBody>
      </p:sp>
      <p:sp>
        <p:nvSpPr>
          <p:cNvPr id="18" name="Shape 10"/>
          <p:cNvSpPr/>
          <p:nvPr/>
        </p:nvSpPr>
        <p:spPr>
          <a:xfrm>
            <a:off x="7428585" y="7914132"/>
            <a:ext cx="18116094" cy="7258506"/>
          </a:xfrm>
          <a:prstGeom prst="roundRect">
            <a:avLst>
              <a:gd name="adj" fmla="val 5356"/>
            </a:avLst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5400"/>
          </a:p>
        </p:txBody>
      </p:sp>
      <p:sp>
        <p:nvSpPr>
          <p:cNvPr id="19" name="Shape 11"/>
          <p:cNvSpPr/>
          <p:nvPr/>
        </p:nvSpPr>
        <p:spPr>
          <a:xfrm>
            <a:off x="8344817" y="9343338"/>
            <a:ext cx="16289121" cy="5428794"/>
          </a:xfrm>
          <a:prstGeom prst="roundRect">
            <a:avLst>
              <a:gd name="adj" fmla="val 36793"/>
            </a:avLst>
          </a:prstGeom>
          <a:noFill/>
          <a:ln w="254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 sz="5400"/>
          </a:p>
        </p:txBody>
      </p:sp>
      <p:sp>
        <p:nvSpPr>
          <p:cNvPr id="20" name="Shape 12"/>
          <p:cNvSpPr/>
          <p:nvPr/>
        </p:nvSpPr>
        <p:spPr>
          <a:xfrm>
            <a:off x="14286585" y="9722153"/>
            <a:ext cx="4400094" cy="2272455"/>
          </a:xfrm>
          <a:prstGeom prst="roundRect">
            <a:avLst>
              <a:gd name="adj" fmla="val 33333"/>
            </a:avLst>
          </a:prstGeom>
          <a:solidFill>
            <a:srgbClr val="E8F5E9"/>
          </a:solidFill>
          <a:ln w="254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5400"/>
          </a:p>
        </p:txBody>
      </p:sp>
      <p:sp>
        <p:nvSpPr>
          <p:cNvPr id="21" name="Shape 13"/>
          <p:cNvSpPr/>
          <p:nvPr/>
        </p:nvSpPr>
        <p:spPr>
          <a:xfrm>
            <a:off x="9115655" y="12932940"/>
            <a:ext cx="4572915" cy="1356390"/>
          </a:xfrm>
          <a:prstGeom prst="roundRect">
            <a:avLst>
              <a:gd name="adj" fmla="val 74667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 sz="5400"/>
          </a:p>
        </p:txBody>
      </p:sp>
      <p:sp>
        <p:nvSpPr>
          <p:cNvPr id="22" name="Shape 14"/>
          <p:cNvSpPr/>
          <p:nvPr/>
        </p:nvSpPr>
        <p:spPr>
          <a:xfrm>
            <a:off x="13888823" y="13057632"/>
            <a:ext cx="4570173" cy="1265616"/>
          </a:xfrm>
          <a:prstGeom prst="roundRect">
            <a:avLst>
              <a:gd name="adj" fmla="val 74667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 sz="5400"/>
          </a:p>
        </p:txBody>
      </p:sp>
      <p:sp>
        <p:nvSpPr>
          <p:cNvPr id="23" name="Shape 15"/>
          <p:cNvSpPr/>
          <p:nvPr/>
        </p:nvSpPr>
        <p:spPr>
          <a:xfrm>
            <a:off x="19430087" y="13057632"/>
            <a:ext cx="4572915" cy="1231698"/>
          </a:xfrm>
          <a:prstGeom prst="roundRect">
            <a:avLst>
              <a:gd name="adj" fmla="val 74667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 sz="5400"/>
          </a:p>
        </p:txBody>
      </p:sp>
      <p:sp>
        <p:nvSpPr>
          <p:cNvPr id="24" name="Shape 16"/>
          <p:cNvSpPr/>
          <p:nvPr/>
        </p:nvSpPr>
        <p:spPr>
          <a:xfrm>
            <a:off x="9455811" y="9704196"/>
            <a:ext cx="4460442" cy="2224734"/>
          </a:xfrm>
          <a:prstGeom prst="roundRect">
            <a:avLst>
              <a:gd name="adj" fmla="val 34773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 sz="5400"/>
          </a:p>
        </p:txBody>
      </p:sp>
      <p:sp>
        <p:nvSpPr>
          <p:cNvPr id="25" name="Shape 17"/>
          <p:cNvSpPr/>
          <p:nvPr/>
        </p:nvSpPr>
        <p:spPr>
          <a:xfrm>
            <a:off x="19572735" y="9704196"/>
            <a:ext cx="3771900" cy="2224734"/>
          </a:xfrm>
          <a:prstGeom prst="roundRect">
            <a:avLst>
              <a:gd name="adj" fmla="val 34773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 sz="5400"/>
          </a:p>
        </p:txBody>
      </p:sp>
      <p:sp>
        <p:nvSpPr>
          <p:cNvPr id="26" name="Shape 18"/>
          <p:cNvSpPr/>
          <p:nvPr/>
        </p:nvSpPr>
        <p:spPr>
          <a:xfrm>
            <a:off x="26288087" y="3771900"/>
            <a:ext cx="7771485" cy="11343132"/>
          </a:xfrm>
          <a:prstGeom prst="roundRect">
            <a:avLst>
              <a:gd name="adj" fmla="val 4153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 sz="5400"/>
          </a:p>
        </p:txBody>
      </p:sp>
      <p:sp>
        <p:nvSpPr>
          <p:cNvPr id="27" name="Shape 19"/>
          <p:cNvSpPr/>
          <p:nvPr/>
        </p:nvSpPr>
        <p:spPr>
          <a:xfrm>
            <a:off x="26861417" y="4973421"/>
            <a:ext cx="6630315" cy="2743200"/>
          </a:xfrm>
          <a:prstGeom prst="roundRect">
            <a:avLst>
              <a:gd name="adj" fmla="val 29167"/>
            </a:avLst>
          </a:prstGeom>
          <a:solidFill>
            <a:srgbClr val="FFFFFF"/>
          </a:solidFill>
          <a:ln w="12700">
            <a:solidFill>
              <a:srgbClr val="E1E1E1"/>
            </a:solidFill>
            <a:prstDash val="solid"/>
          </a:ln>
        </p:spPr>
        <p:txBody>
          <a:bodyPr/>
          <a:lstStyle/>
          <a:p>
            <a:endParaRPr lang="en-US" sz="5400"/>
          </a:p>
        </p:txBody>
      </p:sp>
      <p:sp>
        <p:nvSpPr>
          <p:cNvPr id="28" name="Shape 20"/>
          <p:cNvSpPr/>
          <p:nvPr/>
        </p:nvSpPr>
        <p:spPr>
          <a:xfrm>
            <a:off x="26861417" y="7944306"/>
            <a:ext cx="6630315" cy="2457906"/>
          </a:xfrm>
          <a:prstGeom prst="roundRect">
            <a:avLst>
              <a:gd name="adj" fmla="val 36337"/>
            </a:avLst>
          </a:prstGeom>
          <a:solidFill>
            <a:srgbClr val="FFFFFF"/>
          </a:solidFill>
          <a:ln w="12700">
            <a:solidFill>
              <a:srgbClr val="E1E1E1"/>
            </a:solidFill>
            <a:prstDash val="solid"/>
          </a:ln>
        </p:spPr>
        <p:txBody>
          <a:bodyPr/>
          <a:lstStyle/>
          <a:p>
            <a:endParaRPr lang="en-US" sz="5400"/>
          </a:p>
        </p:txBody>
      </p:sp>
      <p:sp>
        <p:nvSpPr>
          <p:cNvPr id="29" name="Shape 21"/>
          <p:cNvSpPr/>
          <p:nvPr/>
        </p:nvSpPr>
        <p:spPr>
          <a:xfrm>
            <a:off x="26861417" y="10629900"/>
            <a:ext cx="6630315" cy="2457906"/>
          </a:xfrm>
          <a:prstGeom prst="roundRect">
            <a:avLst>
              <a:gd name="adj" fmla="val 36337"/>
            </a:avLst>
          </a:prstGeom>
          <a:solidFill>
            <a:srgbClr val="FFFFFF"/>
          </a:solidFill>
          <a:ln w="12700">
            <a:solidFill>
              <a:srgbClr val="E1E1E1"/>
            </a:solidFill>
            <a:prstDash val="solid"/>
          </a:ln>
        </p:spPr>
        <p:txBody>
          <a:bodyPr/>
          <a:lstStyle/>
          <a:p>
            <a:endParaRPr lang="en-US" sz="5400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8"/>
          <a:srcRect t="-436" b="-436"/>
          <a:stretch/>
        </p:blipFill>
        <p:spPr>
          <a:xfrm>
            <a:off x="25532454" y="11145623"/>
            <a:ext cx="777762" cy="142647"/>
          </a:xfrm>
          <a:prstGeom prst="rect">
            <a:avLst/>
          </a:prstGeom>
        </p:spPr>
      </p:pic>
      <p:sp>
        <p:nvSpPr>
          <p:cNvPr id="31" name="Shape 22"/>
          <p:cNvSpPr/>
          <p:nvPr/>
        </p:nvSpPr>
        <p:spPr>
          <a:xfrm>
            <a:off x="26002794" y="11000234"/>
            <a:ext cx="400506" cy="458115"/>
          </a:xfrm>
          <a:prstGeom prst="rect">
            <a:avLst/>
          </a:prstGeom>
          <a:noFill/>
          <a:ln w="1016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5400"/>
          </a:p>
        </p:txBody>
      </p:sp>
      <p:sp>
        <p:nvSpPr>
          <p:cNvPr id="32" name="Shape 23"/>
          <p:cNvSpPr/>
          <p:nvPr/>
        </p:nvSpPr>
        <p:spPr>
          <a:xfrm>
            <a:off x="3999585" y="15719540"/>
            <a:ext cx="21545094" cy="1256385"/>
          </a:xfrm>
          <a:prstGeom prst="roundRect">
            <a:avLst>
              <a:gd name="adj" fmla="val 119095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 sz="5400"/>
          </a:p>
        </p:txBody>
      </p:sp>
      <p:sp>
        <p:nvSpPr>
          <p:cNvPr id="33" name="Shape 24"/>
          <p:cNvSpPr/>
          <p:nvPr/>
        </p:nvSpPr>
        <p:spPr>
          <a:xfrm>
            <a:off x="2573123" y="17773190"/>
            <a:ext cx="32062521" cy="2145183"/>
          </a:xfrm>
          <a:prstGeom prst="roundRect">
            <a:avLst>
              <a:gd name="adj" fmla="val 23469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 sz="5400"/>
          </a:p>
        </p:txBody>
      </p:sp>
      <p:sp>
        <p:nvSpPr>
          <p:cNvPr id="34" name="Text 25"/>
          <p:cNvSpPr txBox="1"/>
          <p:nvPr/>
        </p:nvSpPr>
        <p:spPr>
          <a:xfrm>
            <a:off x="9839861" y="400506"/>
            <a:ext cx="16917315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7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How OpenClaw Works — End-to-End Flow</a:t>
            </a:r>
            <a:endParaRPr lang="en-US" sz="5700" dirty="0"/>
          </a:p>
        </p:txBody>
      </p:sp>
      <p:pic>
        <p:nvPicPr>
          <p:cNvPr id="35" name="Image 7" descr="preencoded.png"/>
          <p:cNvPicPr>
            <a:picLocks noChangeAspect="1"/>
          </p:cNvPicPr>
          <p:nvPr/>
        </p:nvPicPr>
        <p:blipFill>
          <a:blip r:embed="rId9"/>
          <a:srcRect t="-10616" b="-10616"/>
          <a:stretch/>
        </p:blipFill>
        <p:spPr>
          <a:xfrm>
            <a:off x="4457702" y="5286147"/>
            <a:ext cx="801015" cy="971094"/>
          </a:xfrm>
          <a:prstGeom prst="rect">
            <a:avLst/>
          </a:prstGeom>
        </p:spPr>
      </p:pic>
      <p:sp>
        <p:nvSpPr>
          <p:cNvPr id="36" name="Text 26"/>
          <p:cNvSpPr txBox="1"/>
          <p:nvPr/>
        </p:nvSpPr>
        <p:spPr>
          <a:xfrm>
            <a:off x="5801870" y="4773170"/>
            <a:ext cx="4630521" cy="5157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1) Input</a:t>
            </a:r>
            <a:endParaRPr lang="en-US" sz="2700" dirty="0"/>
          </a:p>
        </p:txBody>
      </p:sp>
      <p:sp>
        <p:nvSpPr>
          <p:cNvPr id="37" name="Text 27"/>
          <p:cNvSpPr txBox="1"/>
          <p:nvPr/>
        </p:nvSpPr>
        <p:spPr>
          <a:xfrm>
            <a:off x="5801870" y="5458970"/>
            <a:ext cx="4230015" cy="831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2B2B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User goal / trigger</a:t>
            </a:r>
            <a:endParaRPr lang="en-US" sz="2400" dirty="0"/>
          </a:p>
          <a:p>
            <a:r>
              <a:rPr lang="en-US" sz="2400" dirty="0">
                <a:solidFill>
                  <a:srgbClr val="2B2B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Chat · CLI · API</a:t>
            </a:r>
            <a:endParaRPr lang="en-US" sz="2400" dirty="0"/>
          </a:p>
        </p:txBody>
      </p:sp>
      <p:pic>
        <p:nvPicPr>
          <p:cNvPr id="38" name="Image 8" descr="preencoded.png"/>
          <p:cNvPicPr>
            <a:picLocks noChangeAspect="1"/>
          </p:cNvPicPr>
          <p:nvPr/>
        </p:nvPicPr>
        <p:blipFill>
          <a:blip r:embed="rId10"/>
          <a:srcRect t="-15314" b="-15314"/>
          <a:stretch/>
        </p:blipFill>
        <p:spPr>
          <a:xfrm>
            <a:off x="12174321" y="5286147"/>
            <a:ext cx="743406" cy="971094"/>
          </a:xfrm>
          <a:prstGeom prst="rect">
            <a:avLst/>
          </a:prstGeom>
        </p:spPr>
      </p:pic>
      <p:pic>
        <p:nvPicPr>
          <p:cNvPr id="39" name="Image 9" descr="preencoded.png"/>
          <p:cNvPicPr>
            <a:picLocks noChangeAspect="1"/>
          </p:cNvPicPr>
          <p:nvPr/>
        </p:nvPicPr>
        <p:blipFill>
          <a:blip r:embed="rId11"/>
          <a:srcRect t="-20800" b="-20800"/>
          <a:stretch/>
        </p:blipFill>
        <p:spPr>
          <a:xfrm>
            <a:off x="13145415" y="5286147"/>
            <a:ext cx="685800" cy="971094"/>
          </a:xfrm>
          <a:prstGeom prst="rect">
            <a:avLst/>
          </a:prstGeom>
        </p:spPr>
      </p:pic>
      <p:sp>
        <p:nvSpPr>
          <p:cNvPr id="40" name="Text 28"/>
          <p:cNvSpPr txBox="1"/>
          <p:nvPr/>
        </p:nvSpPr>
        <p:spPr>
          <a:xfrm>
            <a:off x="14544447" y="4773170"/>
            <a:ext cx="3549702" cy="5157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2) Interpret</a:t>
            </a:r>
            <a:endParaRPr lang="en-US" sz="2700" dirty="0"/>
          </a:p>
        </p:txBody>
      </p:sp>
      <p:sp>
        <p:nvSpPr>
          <p:cNvPr id="41" name="Text 29"/>
          <p:cNvSpPr txBox="1"/>
          <p:nvPr/>
        </p:nvSpPr>
        <p:spPr>
          <a:xfrm>
            <a:off x="14544449" y="5458970"/>
            <a:ext cx="3258921" cy="831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2B2B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Intent parse</a:t>
            </a:r>
            <a:endParaRPr lang="en-US" sz="2400" dirty="0"/>
          </a:p>
          <a:p>
            <a:r>
              <a:rPr lang="en-US" sz="2400" dirty="0">
                <a:solidFill>
                  <a:srgbClr val="2B2B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Skill match/load</a:t>
            </a:r>
            <a:endParaRPr lang="en-US" sz="2400" dirty="0"/>
          </a:p>
        </p:txBody>
      </p:sp>
      <p:pic>
        <p:nvPicPr>
          <p:cNvPr id="42" name="Image 10" descr="preencoded.png"/>
          <p:cNvPicPr>
            <a:picLocks noChangeAspect="1"/>
          </p:cNvPicPr>
          <p:nvPr/>
        </p:nvPicPr>
        <p:blipFill>
          <a:blip r:embed="rId12"/>
          <a:srcRect t="-15935" b="-15935"/>
          <a:stretch/>
        </p:blipFill>
        <p:spPr>
          <a:xfrm>
            <a:off x="19888202" y="5286147"/>
            <a:ext cx="828447" cy="971094"/>
          </a:xfrm>
          <a:prstGeom prst="rect">
            <a:avLst/>
          </a:prstGeom>
        </p:spPr>
      </p:pic>
      <p:sp>
        <p:nvSpPr>
          <p:cNvPr id="43" name="Text 30"/>
          <p:cNvSpPr txBox="1"/>
          <p:nvPr/>
        </p:nvSpPr>
        <p:spPr>
          <a:xfrm>
            <a:off x="21287234" y="4773170"/>
            <a:ext cx="4572915" cy="5157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3) Plan</a:t>
            </a:r>
            <a:endParaRPr lang="en-US" sz="2700" dirty="0"/>
          </a:p>
        </p:txBody>
      </p:sp>
      <p:sp>
        <p:nvSpPr>
          <p:cNvPr id="44" name="Text 31"/>
          <p:cNvSpPr txBox="1"/>
          <p:nvPr/>
        </p:nvSpPr>
        <p:spPr>
          <a:xfrm>
            <a:off x="21287232" y="5458970"/>
            <a:ext cx="4172406" cy="831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2B2B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Multi-step plan</a:t>
            </a:r>
            <a:endParaRPr lang="en-US" sz="2400" dirty="0"/>
          </a:p>
          <a:p>
            <a:r>
              <a:rPr lang="en-US" sz="2400" dirty="0">
                <a:solidFill>
                  <a:srgbClr val="2B2B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Tool selection</a:t>
            </a:r>
            <a:endParaRPr lang="en-US" sz="2400" dirty="0"/>
          </a:p>
        </p:txBody>
      </p:sp>
      <p:sp>
        <p:nvSpPr>
          <p:cNvPr id="45" name="Text 32"/>
          <p:cNvSpPr txBox="1"/>
          <p:nvPr/>
        </p:nvSpPr>
        <p:spPr>
          <a:xfrm>
            <a:off x="8001915" y="8314640"/>
            <a:ext cx="17202606" cy="543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4) Execute ↔ 5) Evaluate (iterative loop)</a:t>
            </a:r>
            <a:endParaRPr lang="en-US" sz="3000" dirty="0"/>
          </a:p>
        </p:txBody>
      </p:sp>
      <p:pic>
        <p:nvPicPr>
          <p:cNvPr id="46" name="Image 11" descr="preencoded.png"/>
          <p:cNvPicPr>
            <a:picLocks noChangeAspect="1"/>
          </p:cNvPicPr>
          <p:nvPr/>
        </p:nvPicPr>
        <p:blipFill>
          <a:blip r:embed="rId13"/>
          <a:srcRect t="-9170" b="-9170"/>
          <a:stretch/>
        </p:blipFill>
        <p:spPr>
          <a:xfrm>
            <a:off x="22689000" y="10678032"/>
            <a:ext cx="628194" cy="743406"/>
          </a:xfrm>
          <a:prstGeom prst="rect">
            <a:avLst/>
          </a:prstGeom>
        </p:spPr>
      </p:pic>
      <p:pic>
        <p:nvPicPr>
          <p:cNvPr id="47" name="Image 12" descr="preencoded.png"/>
          <p:cNvPicPr>
            <a:picLocks noChangeAspect="1"/>
          </p:cNvPicPr>
          <p:nvPr/>
        </p:nvPicPr>
        <p:blipFill>
          <a:blip r:embed="rId14"/>
          <a:srcRect t="-12600" b="-12600"/>
          <a:stretch/>
        </p:blipFill>
        <p:spPr>
          <a:xfrm>
            <a:off x="14744700" y="10647860"/>
            <a:ext cx="685800" cy="858621"/>
          </a:xfrm>
          <a:prstGeom prst="rect">
            <a:avLst/>
          </a:prstGeom>
        </p:spPr>
      </p:pic>
      <p:sp>
        <p:nvSpPr>
          <p:cNvPr id="48" name="Text 33"/>
          <p:cNvSpPr txBox="1"/>
          <p:nvPr/>
        </p:nvSpPr>
        <p:spPr>
          <a:xfrm>
            <a:off x="15916049" y="10077275"/>
            <a:ext cx="3025749" cy="488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Reason</a:t>
            </a:r>
            <a:endParaRPr lang="en-US" sz="2700" dirty="0"/>
          </a:p>
        </p:txBody>
      </p:sp>
      <p:sp>
        <p:nvSpPr>
          <p:cNvPr id="49" name="Text 34"/>
          <p:cNvSpPr txBox="1"/>
          <p:nvPr/>
        </p:nvSpPr>
        <p:spPr>
          <a:xfrm>
            <a:off x="15916047" y="10732898"/>
            <a:ext cx="2800806" cy="7735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2B2B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Decide next</a:t>
            </a:r>
            <a:endParaRPr lang="en-US" sz="2400" dirty="0"/>
          </a:p>
          <a:p>
            <a:r>
              <a:rPr lang="en-US" sz="2400" dirty="0">
                <a:solidFill>
                  <a:srgbClr val="2B2B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best action</a:t>
            </a:r>
            <a:endParaRPr lang="en-US" sz="2400" dirty="0"/>
          </a:p>
        </p:txBody>
      </p:sp>
      <p:sp>
        <p:nvSpPr>
          <p:cNvPr id="50" name="Text 35"/>
          <p:cNvSpPr txBox="1"/>
          <p:nvPr/>
        </p:nvSpPr>
        <p:spPr>
          <a:xfrm>
            <a:off x="9524649" y="12242402"/>
            <a:ext cx="6240780" cy="430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2B2B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Tool invocations</a:t>
            </a:r>
            <a:endParaRPr lang="en-US" sz="2400" dirty="0"/>
          </a:p>
        </p:txBody>
      </p:sp>
      <p:pic>
        <p:nvPicPr>
          <p:cNvPr id="51" name="Image 13" descr="preencoded.png"/>
          <p:cNvPicPr>
            <a:picLocks noChangeAspect="1"/>
          </p:cNvPicPr>
          <p:nvPr/>
        </p:nvPicPr>
        <p:blipFill>
          <a:blip r:embed="rId15"/>
          <a:srcRect t="-11929" b="-11929"/>
          <a:stretch/>
        </p:blipFill>
        <p:spPr>
          <a:xfrm>
            <a:off x="9373523" y="13448661"/>
            <a:ext cx="570585" cy="628194"/>
          </a:xfrm>
          <a:prstGeom prst="rect">
            <a:avLst/>
          </a:prstGeom>
        </p:spPr>
      </p:pic>
      <p:sp>
        <p:nvSpPr>
          <p:cNvPr id="52" name="Text 36"/>
          <p:cNvSpPr txBox="1"/>
          <p:nvPr/>
        </p:nvSpPr>
        <p:spPr>
          <a:xfrm>
            <a:off x="10259576" y="13190804"/>
            <a:ext cx="4572915" cy="430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Shell</a:t>
            </a:r>
            <a:endParaRPr lang="en-US" sz="2400" dirty="0"/>
          </a:p>
        </p:txBody>
      </p:sp>
      <p:sp>
        <p:nvSpPr>
          <p:cNvPr id="53" name="Text 37"/>
          <p:cNvSpPr txBox="1"/>
          <p:nvPr/>
        </p:nvSpPr>
        <p:spPr>
          <a:xfrm>
            <a:off x="10259574" y="13733955"/>
            <a:ext cx="4235502" cy="3730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4B4B4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kubectl · git · python</a:t>
            </a:r>
            <a:endParaRPr lang="en-US" sz="2400" dirty="0"/>
          </a:p>
        </p:txBody>
      </p:sp>
      <p:pic>
        <p:nvPicPr>
          <p:cNvPr id="54" name="Image 14" descr="preencoded.png"/>
          <p:cNvPicPr>
            <a:picLocks noChangeAspect="1"/>
          </p:cNvPicPr>
          <p:nvPr/>
        </p:nvPicPr>
        <p:blipFill>
          <a:blip r:embed="rId16"/>
          <a:srcRect t="-11929" b="-11929"/>
          <a:stretch/>
        </p:blipFill>
        <p:spPr>
          <a:xfrm>
            <a:off x="14231723" y="13448661"/>
            <a:ext cx="570585" cy="628194"/>
          </a:xfrm>
          <a:prstGeom prst="rect">
            <a:avLst/>
          </a:prstGeom>
        </p:spPr>
      </p:pic>
      <p:sp>
        <p:nvSpPr>
          <p:cNvPr id="55" name="Text 38"/>
          <p:cNvSpPr txBox="1"/>
          <p:nvPr/>
        </p:nvSpPr>
        <p:spPr>
          <a:xfrm>
            <a:off x="15115034" y="13190804"/>
            <a:ext cx="4572915" cy="430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Files</a:t>
            </a:r>
            <a:endParaRPr lang="en-US" sz="2400" dirty="0"/>
          </a:p>
        </p:txBody>
      </p:sp>
      <p:sp>
        <p:nvSpPr>
          <p:cNvPr id="56" name="Text 39"/>
          <p:cNvSpPr txBox="1"/>
          <p:nvPr/>
        </p:nvSpPr>
        <p:spPr>
          <a:xfrm>
            <a:off x="15115034" y="13733955"/>
            <a:ext cx="4572915" cy="3730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4B4B4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read · write · diff</a:t>
            </a:r>
            <a:endParaRPr lang="en-US" sz="2400" dirty="0"/>
          </a:p>
        </p:txBody>
      </p:sp>
      <p:pic>
        <p:nvPicPr>
          <p:cNvPr id="57" name="Image 15" descr="preencoded.png"/>
          <p:cNvPicPr>
            <a:picLocks noChangeAspect="1"/>
          </p:cNvPicPr>
          <p:nvPr/>
        </p:nvPicPr>
        <p:blipFill>
          <a:blip r:embed="rId17"/>
          <a:srcRect t="-10904" b="-10904"/>
          <a:stretch/>
        </p:blipFill>
        <p:spPr>
          <a:xfrm>
            <a:off x="19772987" y="13448661"/>
            <a:ext cx="515721" cy="628194"/>
          </a:xfrm>
          <a:prstGeom prst="rect">
            <a:avLst/>
          </a:prstGeom>
        </p:spPr>
      </p:pic>
      <p:sp>
        <p:nvSpPr>
          <p:cNvPr id="58" name="Text 40"/>
          <p:cNvSpPr txBox="1"/>
          <p:nvPr/>
        </p:nvSpPr>
        <p:spPr>
          <a:xfrm>
            <a:off x="20659040" y="13190804"/>
            <a:ext cx="4572915" cy="430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APIs</a:t>
            </a:r>
            <a:endParaRPr lang="en-US" sz="2400" dirty="0"/>
          </a:p>
        </p:txBody>
      </p:sp>
      <p:sp>
        <p:nvSpPr>
          <p:cNvPr id="59" name="Text 41"/>
          <p:cNvSpPr txBox="1"/>
          <p:nvPr/>
        </p:nvSpPr>
        <p:spPr>
          <a:xfrm>
            <a:off x="20659038" y="13733955"/>
            <a:ext cx="4235502" cy="3730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4B4B4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HTTP · SaaS · internal</a:t>
            </a:r>
            <a:endParaRPr lang="en-US" sz="2400" dirty="0"/>
          </a:p>
        </p:txBody>
      </p:sp>
      <p:pic>
        <p:nvPicPr>
          <p:cNvPr id="60" name="Image 16" descr="preencoded.png"/>
          <p:cNvPicPr>
            <a:picLocks noChangeAspect="1"/>
          </p:cNvPicPr>
          <p:nvPr/>
        </p:nvPicPr>
        <p:blipFill>
          <a:blip r:embed="rId18"/>
          <a:srcRect t="-9880" b="-9880"/>
          <a:stretch/>
        </p:blipFill>
        <p:spPr>
          <a:xfrm>
            <a:off x="9786368" y="10322913"/>
            <a:ext cx="543153" cy="743406"/>
          </a:xfrm>
          <a:prstGeom prst="rect">
            <a:avLst/>
          </a:prstGeom>
        </p:spPr>
      </p:pic>
      <p:sp>
        <p:nvSpPr>
          <p:cNvPr id="61" name="Text 42"/>
          <p:cNvSpPr txBox="1"/>
          <p:nvPr/>
        </p:nvSpPr>
        <p:spPr>
          <a:xfrm>
            <a:off x="10906722" y="9934628"/>
            <a:ext cx="4402836" cy="488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Evaluate</a:t>
            </a:r>
            <a:endParaRPr lang="en-US" sz="2700" dirty="0"/>
          </a:p>
        </p:txBody>
      </p:sp>
      <p:sp>
        <p:nvSpPr>
          <p:cNvPr id="62" name="Text 43"/>
          <p:cNvSpPr txBox="1"/>
          <p:nvPr/>
        </p:nvSpPr>
        <p:spPr>
          <a:xfrm>
            <a:off x="10906722" y="10590251"/>
            <a:ext cx="4002330" cy="7735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2B2B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Check outputs</a:t>
            </a:r>
            <a:endParaRPr lang="en-US" sz="2400" dirty="0"/>
          </a:p>
          <a:p>
            <a:r>
              <a:rPr lang="en-US" sz="2400" dirty="0">
                <a:solidFill>
                  <a:srgbClr val="2B2B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Detect failures</a:t>
            </a:r>
            <a:endParaRPr lang="en-US" sz="2400" dirty="0"/>
          </a:p>
        </p:txBody>
      </p:sp>
      <p:pic>
        <p:nvPicPr>
          <p:cNvPr id="63" name="Image 17" descr="preencoded.png"/>
          <p:cNvPicPr>
            <a:picLocks noChangeAspect="1"/>
          </p:cNvPicPr>
          <p:nvPr/>
        </p:nvPicPr>
        <p:blipFill>
          <a:blip r:embed="rId19"/>
          <a:srcRect t="-9170" b="-9170"/>
          <a:stretch/>
        </p:blipFill>
        <p:spPr>
          <a:xfrm>
            <a:off x="19723854" y="10447605"/>
            <a:ext cx="628194" cy="743406"/>
          </a:xfrm>
          <a:prstGeom prst="rect">
            <a:avLst/>
          </a:prstGeom>
        </p:spPr>
      </p:pic>
      <p:sp>
        <p:nvSpPr>
          <p:cNvPr id="64" name="Text 44"/>
          <p:cNvSpPr txBox="1"/>
          <p:nvPr/>
        </p:nvSpPr>
        <p:spPr>
          <a:xfrm>
            <a:off x="21117153" y="9716417"/>
            <a:ext cx="4240986" cy="488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Adjust</a:t>
            </a:r>
            <a:endParaRPr lang="en-US" sz="2700" dirty="0"/>
          </a:p>
        </p:txBody>
      </p:sp>
      <p:sp>
        <p:nvSpPr>
          <p:cNvPr id="65" name="Text 45"/>
          <p:cNvSpPr txBox="1"/>
          <p:nvPr/>
        </p:nvSpPr>
        <p:spPr>
          <a:xfrm>
            <a:off x="20649561" y="10590251"/>
            <a:ext cx="2352174" cy="7735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2B2B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Revise plan</a:t>
            </a:r>
            <a:endParaRPr lang="en-US" sz="2400" dirty="0"/>
          </a:p>
          <a:p>
            <a:r>
              <a:rPr lang="en-US" sz="2400" dirty="0">
                <a:solidFill>
                  <a:srgbClr val="2B2B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Retry / branch</a:t>
            </a:r>
            <a:endParaRPr lang="en-US" sz="2400" dirty="0"/>
          </a:p>
        </p:txBody>
      </p:sp>
      <p:sp>
        <p:nvSpPr>
          <p:cNvPr id="66" name="Text 46"/>
          <p:cNvSpPr txBox="1"/>
          <p:nvPr/>
        </p:nvSpPr>
        <p:spPr>
          <a:xfrm>
            <a:off x="26861417" y="4114802"/>
            <a:ext cx="6836055" cy="5157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Connected services</a:t>
            </a:r>
            <a:endParaRPr lang="en-US" sz="2700" dirty="0"/>
          </a:p>
        </p:txBody>
      </p:sp>
      <p:pic>
        <p:nvPicPr>
          <p:cNvPr id="67" name="Image 18" descr="preencoded.png"/>
          <p:cNvPicPr>
            <a:picLocks noChangeAspect="1"/>
          </p:cNvPicPr>
          <p:nvPr/>
        </p:nvPicPr>
        <p:blipFill>
          <a:blip r:embed="rId20"/>
          <a:srcRect t="-8400" b="-8400"/>
          <a:stretch/>
        </p:blipFill>
        <p:spPr>
          <a:xfrm>
            <a:off x="27261921" y="5829302"/>
            <a:ext cx="685800" cy="801015"/>
          </a:xfrm>
          <a:prstGeom prst="rect">
            <a:avLst/>
          </a:prstGeom>
        </p:spPr>
      </p:pic>
      <p:sp>
        <p:nvSpPr>
          <p:cNvPr id="68" name="Text 47"/>
          <p:cNvSpPr txBox="1"/>
          <p:nvPr/>
        </p:nvSpPr>
        <p:spPr>
          <a:xfrm>
            <a:off x="28433268" y="5258717"/>
            <a:ext cx="5431536" cy="488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LLM inference</a:t>
            </a:r>
            <a:endParaRPr lang="en-US" sz="2700" dirty="0"/>
          </a:p>
        </p:txBody>
      </p:sp>
      <p:sp>
        <p:nvSpPr>
          <p:cNvPr id="69" name="Text 48"/>
          <p:cNvSpPr txBox="1"/>
          <p:nvPr/>
        </p:nvSpPr>
        <p:spPr>
          <a:xfrm>
            <a:off x="28433268" y="5886906"/>
            <a:ext cx="5088636" cy="4005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4B4B4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Local / cloud providers</a:t>
            </a:r>
            <a:endParaRPr lang="en-US" sz="2400" dirty="0"/>
          </a:p>
        </p:txBody>
      </p:sp>
      <p:sp>
        <p:nvSpPr>
          <p:cNvPr id="70" name="Text 49"/>
          <p:cNvSpPr txBox="1"/>
          <p:nvPr/>
        </p:nvSpPr>
        <p:spPr>
          <a:xfrm>
            <a:off x="28433268" y="6377940"/>
            <a:ext cx="5565954" cy="3730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4B4B4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Nemotron · OpenAI · Anthropic</a:t>
            </a:r>
            <a:endParaRPr lang="en-US" sz="2400" dirty="0"/>
          </a:p>
        </p:txBody>
      </p:sp>
      <p:pic>
        <p:nvPicPr>
          <p:cNvPr id="71" name="Image 19" descr="preencoded.png"/>
          <p:cNvPicPr>
            <a:picLocks noChangeAspect="1"/>
          </p:cNvPicPr>
          <p:nvPr/>
        </p:nvPicPr>
        <p:blipFill>
          <a:blip r:embed="rId21"/>
          <a:srcRect t="-8307" b="-8307"/>
          <a:stretch/>
        </p:blipFill>
        <p:spPr>
          <a:xfrm>
            <a:off x="27261923" y="8745323"/>
            <a:ext cx="858621" cy="801015"/>
          </a:xfrm>
          <a:prstGeom prst="rect">
            <a:avLst/>
          </a:prstGeom>
        </p:spPr>
      </p:pic>
      <p:sp>
        <p:nvSpPr>
          <p:cNvPr id="72" name="Text 50"/>
          <p:cNvSpPr txBox="1"/>
          <p:nvPr/>
        </p:nvSpPr>
        <p:spPr>
          <a:xfrm>
            <a:off x="28433268" y="8229602"/>
            <a:ext cx="5431536" cy="488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External APIs</a:t>
            </a:r>
            <a:endParaRPr lang="en-US" sz="2700" dirty="0"/>
          </a:p>
        </p:txBody>
      </p:sp>
      <p:sp>
        <p:nvSpPr>
          <p:cNvPr id="73" name="Text 51"/>
          <p:cNvSpPr txBox="1"/>
          <p:nvPr/>
        </p:nvSpPr>
        <p:spPr>
          <a:xfrm>
            <a:off x="28433268" y="8857794"/>
            <a:ext cx="5475426" cy="4005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4B4B4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Network calls / integrations</a:t>
            </a:r>
            <a:endParaRPr lang="en-US" sz="2400" dirty="0"/>
          </a:p>
        </p:txBody>
      </p:sp>
      <p:pic>
        <p:nvPicPr>
          <p:cNvPr id="74" name="Image 20" descr="preencoded.png"/>
          <p:cNvPicPr>
            <a:picLocks noChangeAspect="1"/>
          </p:cNvPicPr>
          <p:nvPr/>
        </p:nvPicPr>
        <p:blipFill>
          <a:blip r:embed="rId22"/>
          <a:srcRect t="-8307" b="-8307"/>
          <a:stretch/>
        </p:blipFill>
        <p:spPr>
          <a:xfrm>
            <a:off x="27261923" y="11430917"/>
            <a:ext cx="858621" cy="801015"/>
          </a:xfrm>
          <a:prstGeom prst="rect">
            <a:avLst/>
          </a:prstGeom>
        </p:spPr>
      </p:pic>
      <p:sp>
        <p:nvSpPr>
          <p:cNvPr id="75" name="Text 52"/>
          <p:cNvSpPr txBox="1"/>
          <p:nvPr/>
        </p:nvSpPr>
        <p:spPr>
          <a:xfrm>
            <a:off x="28433268" y="10915196"/>
            <a:ext cx="5431536" cy="488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Tools runtime</a:t>
            </a:r>
            <a:endParaRPr lang="en-US" sz="2700" dirty="0"/>
          </a:p>
        </p:txBody>
      </p:sp>
      <p:sp>
        <p:nvSpPr>
          <p:cNvPr id="76" name="Text 53"/>
          <p:cNvSpPr txBox="1"/>
          <p:nvPr/>
        </p:nvSpPr>
        <p:spPr>
          <a:xfrm>
            <a:off x="28433268" y="11543385"/>
            <a:ext cx="5088636" cy="4005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4B4B4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Shell + filesystem access</a:t>
            </a:r>
            <a:endParaRPr lang="en-US" sz="2400" dirty="0"/>
          </a:p>
        </p:txBody>
      </p:sp>
      <p:pic>
        <p:nvPicPr>
          <p:cNvPr id="77" name="Image 21" descr="preencoded.png"/>
          <p:cNvPicPr>
            <a:picLocks noChangeAspect="1"/>
          </p:cNvPicPr>
          <p:nvPr/>
        </p:nvPicPr>
        <p:blipFill>
          <a:blip r:embed="rId23"/>
          <a:srcRect t="-10904" b="-10904"/>
          <a:stretch/>
        </p:blipFill>
        <p:spPr>
          <a:xfrm>
            <a:off x="4457702" y="16004829"/>
            <a:ext cx="515721" cy="628194"/>
          </a:xfrm>
          <a:prstGeom prst="rect">
            <a:avLst/>
          </a:prstGeom>
        </p:spPr>
      </p:pic>
      <p:sp>
        <p:nvSpPr>
          <p:cNvPr id="78" name="Text 54"/>
          <p:cNvSpPr txBox="1"/>
          <p:nvPr/>
        </p:nvSpPr>
        <p:spPr>
          <a:xfrm>
            <a:off x="5258717" y="16133762"/>
            <a:ext cx="17688153" cy="430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6) Output delivery:</a:t>
            </a:r>
            <a:r>
              <a:rPr lang="en-US" sz="2700" dirty="0">
                <a:solidFill>
                  <a:srgbClr val="2B2B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final answer + artifacts (files, logs, reports) returned to the calling channel</a:t>
            </a:r>
            <a:endParaRPr lang="en-US" sz="2700" dirty="0"/>
          </a:p>
        </p:txBody>
      </p:sp>
      <p:pic>
        <p:nvPicPr>
          <p:cNvPr id="79" name="Image 22" descr="preencoded.png"/>
          <p:cNvPicPr>
            <a:picLocks noChangeAspect="1"/>
          </p:cNvPicPr>
          <p:nvPr/>
        </p:nvPicPr>
        <p:blipFill>
          <a:blip r:embed="rId24"/>
          <a:srcRect t="-7749" b="-7749"/>
          <a:stretch/>
        </p:blipFill>
        <p:spPr>
          <a:xfrm>
            <a:off x="3143706" y="18575213"/>
            <a:ext cx="743406" cy="858621"/>
          </a:xfrm>
          <a:prstGeom prst="rect">
            <a:avLst/>
          </a:prstGeom>
        </p:spPr>
      </p:pic>
      <p:sp>
        <p:nvSpPr>
          <p:cNvPr id="80" name="Text 55"/>
          <p:cNvSpPr txBox="1"/>
          <p:nvPr/>
        </p:nvSpPr>
        <p:spPr>
          <a:xfrm>
            <a:off x="4230017" y="18147273"/>
            <a:ext cx="32004915" cy="573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dirty="0">
                <a:solidFill>
                  <a:srgbClr val="2B2B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OpenClaw runs an </a:t>
            </a:r>
            <a:r>
              <a:rPr lang="en-US" sz="3000" b="1" dirty="0">
                <a:solidFill>
                  <a:srgbClr val="2B2B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autonomous plan → act → evaluate</a:t>
            </a:r>
            <a:r>
              <a:rPr lang="en-US" sz="3000" dirty="0">
                <a:solidFill>
                  <a:srgbClr val="2B2B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loop and can invoke tools + reach services with </a:t>
            </a:r>
            <a:r>
              <a:rPr lang="en-US" sz="3000" b="1" dirty="0">
                <a:solidFill>
                  <a:srgbClr val="2B2B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minimal boundary control</a:t>
            </a:r>
            <a:r>
              <a:rPr lang="en-US" sz="3000" dirty="0">
                <a:solidFill>
                  <a:srgbClr val="2B2B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by default. </a:t>
            </a:r>
            <a:endParaRPr lang="en-US" sz="3000" dirty="0"/>
          </a:p>
        </p:txBody>
      </p:sp>
      <p:sp>
        <p:nvSpPr>
          <p:cNvPr id="81" name="Text 56"/>
          <p:cNvSpPr txBox="1"/>
          <p:nvPr/>
        </p:nvSpPr>
        <p:spPr>
          <a:xfrm>
            <a:off x="4230017" y="18937316"/>
            <a:ext cx="30290415" cy="488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dirty="0">
                <a:solidFill>
                  <a:srgbClr val="4B4B4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NemoClaw adds enterprise guardrails: policy, sandboxing, credential isolation, audit.</a:t>
            </a:r>
            <a:endParaRPr lang="en-US" sz="2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" y="0"/>
            <a:ext cx="36575085" cy="2057400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5400"/>
          </a:p>
        </p:txBody>
      </p:sp>
      <p:sp>
        <p:nvSpPr>
          <p:cNvPr id="3" name="Shape 1"/>
          <p:cNvSpPr/>
          <p:nvPr/>
        </p:nvSpPr>
        <p:spPr>
          <a:xfrm>
            <a:off x="2" y="0"/>
            <a:ext cx="36575085" cy="2057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5400"/>
          </a:p>
        </p:txBody>
      </p:sp>
      <p:sp>
        <p:nvSpPr>
          <p:cNvPr id="4" name="Shape 2"/>
          <p:cNvSpPr/>
          <p:nvPr/>
        </p:nvSpPr>
        <p:spPr>
          <a:xfrm>
            <a:off x="2" y="2"/>
            <a:ext cx="36575085" cy="1829715"/>
          </a:xfrm>
          <a:prstGeom prst="rect">
            <a:avLst/>
          </a:prstGeom>
          <a:solidFill>
            <a:srgbClr val="76B9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540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l="-399" r="-399"/>
          <a:stretch/>
        </p:blipFill>
        <p:spPr>
          <a:xfrm>
            <a:off x="1999796" y="2457906"/>
            <a:ext cx="172821" cy="1754550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573123" y="2627985"/>
            <a:ext cx="32117385" cy="8144562"/>
          </a:xfrm>
          <a:prstGeom prst="roundRect">
            <a:avLst>
              <a:gd name="adj" fmla="val 4254"/>
            </a:avLst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5400"/>
          </a:p>
        </p:txBody>
      </p:sp>
      <p:sp>
        <p:nvSpPr>
          <p:cNvPr id="7" name="Shape 4"/>
          <p:cNvSpPr/>
          <p:nvPr/>
        </p:nvSpPr>
        <p:spPr>
          <a:xfrm>
            <a:off x="3143708" y="4042986"/>
            <a:ext cx="6056985" cy="3058668"/>
          </a:xfrm>
          <a:prstGeom prst="roundRect">
            <a:avLst>
              <a:gd name="adj" fmla="val 23469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 sz="5400"/>
          </a:p>
        </p:txBody>
      </p:sp>
      <p:sp>
        <p:nvSpPr>
          <p:cNvPr id="8" name="Shape 5"/>
          <p:cNvSpPr/>
          <p:nvPr/>
        </p:nvSpPr>
        <p:spPr>
          <a:xfrm>
            <a:off x="9431123" y="4042986"/>
            <a:ext cx="6056985" cy="3058668"/>
          </a:xfrm>
          <a:prstGeom prst="roundRect">
            <a:avLst>
              <a:gd name="adj" fmla="val 23469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 sz="5400"/>
          </a:p>
        </p:txBody>
      </p:sp>
      <p:sp>
        <p:nvSpPr>
          <p:cNvPr id="9" name="Shape 6"/>
          <p:cNvSpPr/>
          <p:nvPr/>
        </p:nvSpPr>
        <p:spPr>
          <a:xfrm>
            <a:off x="15715796" y="4042986"/>
            <a:ext cx="6056985" cy="3058668"/>
          </a:xfrm>
          <a:prstGeom prst="roundRect">
            <a:avLst>
              <a:gd name="adj" fmla="val 23469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 sz="5400"/>
          </a:p>
        </p:txBody>
      </p:sp>
      <p:sp>
        <p:nvSpPr>
          <p:cNvPr id="10" name="Shape 7"/>
          <p:cNvSpPr/>
          <p:nvPr/>
        </p:nvSpPr>
        <p:spPr>
          <a:xfrm>
            <a:off x="22003208" y="4042986"/>
            <a:ext cx="6056985" cy="3058668"/>
          </a:xfrm>
          <a:prstGeom prst="roundRect">
            <a:avLst>
              <a:gd name="adj" fmla="val 23469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 sz="5400"/>
          </a:p>
        </p:txBody>
      </p:sp>
      <p:sp>
        <p:nvSpPr>
          <p:cNvPr id="11" name="Shape 8"/>
          <p:cNvSpPr/>
          <p:nvPr/>
        </p:nvSpPr>
        <p:spPr>
          <a:xfrm>
            <a:off x="3143706" y="7384203"/>
            <a:ext cx="30918606" cy="3058662"/>
          </a:xfrm>
          <a:prstGeom prst="roundRect">
            <a:avLst>
              <a:gd name="adj" fmla="val 19307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 sz="540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3714296" y="9013665"/>
            <a:ext cx="29717085" cy="27432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2573123" y="11088015"/>
            <a:ext cx="32117385" cy="6542532"/>
          </a:xfrm>
          <a:prstGeom prst="roundRect">
            <a:avLst>
              <a:gd name="adj" fmla="val 6591"/>
            </a:avLst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5400"/>
          </a:p>
        </p:txBody>
      </p:sp>
      <p:sp>
        <p:nvSpPr>
          <p:cNvPr id="14" name="Shape 10"/>
          <p:cNvSpPr/>
          <p:nvPr/>
        </p:nvSpPr>
        <p:spPr>
          <a:xfrm>
            <a:off x="3143708" y="12905523"/>
            <a:ext cx="10171785" cy="4084626"/>
          </a:xfrm>
          <a:prstGeom prst="roundRect">
            <a:avLst>
              <a:gd name="adj" fmla="val 7686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 sz="5400"/>
          </a:p>
        </p:txBody>
      </p:sp>
      <p:sp>
        <p:nvSpPr>
          <p:cNvPr id="15" name="Shape 11"/>
          <p:cNvSpPr/>
          <p:nvPr/>
        </p:nvSpPr>
        <p:spPr>
          <a:xfrm>
            <a:off x="8344815" y="13363637"/>
            <a:ext cx="4457700" cy="858621"/>
          </a:xfrm>
          <a:prstGeom prst="roundRect">
            <a:avLst>
              <a:gd name="adj" fmla="val 298190"/>
            </a:avLst>
          </a:prstGeom>
          <a:solidFill>
            <a:srgbClr val="FDECEC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 sz="5400"/>
          </a:p>
        </p:txBody>
      </p:sp>
      <p:sp>
        <p:nvSpPr>
          <p:cNvPr id="16" name="Shape 12"/>
          <p:cNvSpPr/>
          <p:nvPr/>
        </p:nvSpPr>
        <p:spPr>
          <a:xfrm>
            <a:off x="13801040" y="12905523"/>
            <a:ext cx="10171785" cy="4084626"/>
          </a:xfrm>
          <a:prstGeom prst="roundRect">
            <a:avLst>
              <a:gd name="adj" fmla="val 7686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 sz="5400"/>
          </a:p>
        </p:txBody>
      </p:sp>
      <p:sp>
        <p:nvSpPr>
          <p:cNvPr id="17" name="Shape 13"/>
          <p:cNvSpPr/>
          <p:nvPr/>
        </p:nvSpPr>
        <p:spPr>
          <a:xfrm>
            <a:off x="19002147" y="13363637"/>
            <a:ext cx="4457700" cy="858621"/>
          </a:xfrm>
          <a:prstGeom prst="roundRect">
            <a:avLst>
              <a:gd name="adj" fmla="val 298190"/>
            </a:avLst>
          </a:prstGeom>
          <a:solidFill>
            <a:srgbClr val="FDECEC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 sz="5400"/>
          </a:p>
        </p:txBody>
      </p:sp>
      <p:sp>
        <p:nvSpPr>
          <p:cNvPr id="18" name="Shape 14"/>
          <p:cNvSpPr/>
          <p:nvPr/>
        </p:nvSpPr>
        <p:spPr>
          <a:xfrm>
            <a:off x="24461115" y="12905523"/>
            <a:ext cx="9601200" cy="4084626"/>
          </a:xfrm>
          <a:prstGeom prst="roundRect">
            <a:avLst>
              <a:gd name="adj" fmla="val 7686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 sz="5400"/>
          </a:p>
        </p:txBody>
      </p:sp>
      <p:sp>
        <p:nvSpPr>
          <p:cNvPr id="19" name="Shape 15"/>
          <p:cNvSpPr/>
          <p:nvPr/>
        </p:nvSpPr>
        <p:spPr>
          <a:xfrm>
            <a:off x="28861206" y="13363637"/>
            <a:ext cx="4800600" cy="858621"/>
          </a:xfrm>
          <a:prstGeom prst="roundRect">
            <a:avLst>
              <a:gd name="adj" fmla="val 298190"/>
            </a:avLst>
          </a:prstGeom>
          <a:solidFill>
            <a:srgbClr val="FDECEC"/>
          </a:solidFill>
          <a:ln w="1270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en-US" sz="5400"/>
          </a:p>
        </p:txBody>
      </p:sp>
      <p:sp>
        <p:nvSpPr>
          <p:cNvPr id="20" name="Shape 16"/>
          <p:cNvSpPr/>
          <p:nvPr/>
        </p:nvSpPr>
        <p:spPr>
          <a:xfrm>
            <a:off x="2573123" y="17946015"/>
            <a:ext cx="32062521" cy="2115006"/>
          </a:xfrm>
          <a:prstGeom prst="roundRect">
            <a:avLst>
              <a:gd name="adj" fmla="val 49076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 sz="5400"/>
          </a:p>
        </p:txBody>
      </p:sp>
      <p:sp>
        <p:nvSpPr>
          <p:cNvPr id="21" name="Text 17"/>
          <p:cNvSpPr txBox="1"/>
          <p:nvPr/>
        </p:nvSpPr>
        <p:spPr>
          <a:xfrm>
            <a:off x="10023656" y="441654"/>
            <a:ext cx="16546983" cy="943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Problem with OpenClaw for Enterprises</a:t>
            </a:r>
            <a:endParaRPr lang="en-US" sz="540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rcRect t="-8400" b="-8400"/>
          <a:stretch/>
        </p:blipFill>
        <p:spPr>
          <a:xfrm>
            <a:off x="3429000" y="4498358"/>
            <a:ext cx="685800" cy="801015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4400094" y="4385888"/>
            <a:ext cx="5031030" cy="543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Network egress</a:t>
            </a:r>
            <a:endParaRPr lang="en-US" sz="3000" dirty="0"/>
          </a:p>
        </p:txBody>
      </p:sp>
      <p:sp>
        <p:nvSpPr>
          <p:cNvPr id="24" name="Text 19"/>
          <p:cNvSpPr txBox="1"/>
          <p:nvPr/>
        </p:nvSpPr>
        <p:spPr>
          <a:xfrm>
            <a:off x="4400094" y="5099118"/>
            <a:ext cx="4638750" cy="1259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dirty="0">
                <a:solidFill>
                  <a:srgbClr val="2B2B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Arbitrary outbound calls → exfiltration &amp; compliance risk</a:t>
            </a:r>
            <a:endParaRPr lang="en-US" sz="2700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rcRect t="-8400" b="-8400"/>
          <a:stretch/>
        </p:blipFill>
        <p:spPr>
          <a:xfrm>
            <a:off x="9716415" y="4498358"/>
            <a:ext cx="685800" cy="801015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0687506" y="4385888"/>
            <a:ext cx="5031030" cy="543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Credentials</a:t>
            </a:r>
            <a:endParaRPr lang="en-US" sz="3000" dirty="0"/>
          </a:p>
        </p:txBody>
      </p:sp>
      <p:sp>
        <p:nvSpPr>
          <p:cNvPr id="27" name="Text 21"/>
          <p:cNvSpPr txBox="1"/>
          <p:nvPr/>
        </p:nvSpPr>
        <p:spPr>
          <a:xfrm>
            <a:off x="10687506" y="5099120"/>
            <a:ext cx="4638750" cy="831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dirty="0">
                <a:solidFill>
                  <a:srgbClr val="2B2B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Keys/tokens exposed → unauthorized prod access</a:t>
            </a:r>
            <a:endParaRPr lang="en-US" sz="2700" dirty="0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rcRect t="-8452" b="-8452"/>
          <a:stretch/>
        </p:blipFill>
        <p:spPr>
          <a:xfrm>
            <a:off x="16001085" y="4498358"/>
            <a:ext cx="770838" cy="801015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16974921" y="4385888"/>
            <a:ext cx="5031030" cy="543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Filesystem</a:t>
            </a:r>
            <a:endParaRPr lang="en-US" sz="3000" dirty="0"/>
          </a:p>
        </p:txBody>
      </p:sp>
      <p:sp>
        <p:nvSpPr>
          <p:cNvPr id="30" name="Text 23"/>
          <p:cNvSpPr txBox="1"/>
          <p:nvPr/>
        </p:nvSpPr>
        <p:spPr>
          <a:xfrm>
            <a:off x="16974921" y="5099118"/>
            <a:ext cx="4638750" cy="1259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dirty="0">
                <a:solidFill>
                  <a:srgbClr val="2B2B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Host read/write → tampering &amp; credential harvesting</a:t>
            </a:r>
            <a:endParaRPr lang="en-US" sz="2700" dirty="0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rcRect t="-8245" b="-8245"/>
          <a:stretch/>
        </p:blipFill>
        <p:spPr>
          <a:xfrm>
            <a:off x="22288502" y="4498358"/>
            <a:ext cx="515721" cy="801015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23259594" y="4385888"/>
            <a:ext cx="5031030" cy="543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Auditability</a:t>
            </a:r>
            <a:endParaRPr lang="en-US" sz="3000" dirty="0"/>
          </a:p>
        </p:txBody>
      </p:sp>
      <p:sp>
        <p:nvSpPr>
          <p:cNvPr id="33" name="Text 25"/>
          <p:cNvSpPr txBox="1"/>
          <p:nvPr/>
        </p:nvSpPr>
        <p:spPr>
          <a:xfrm>
            <a:off x="23259594" y="5099120"/>
            <a:ext cx="4638750" cy="831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dirty="0">
                <a:solidFill>
                  <a:srgbClr val="2B2B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 structured trail → fails SOC2 / regulated audits</a:t>
            </a:r>
            <a:endParaRPr lang="en-US" sz="2700" dirty="0"/>
          </a:p>
        </p:txBody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9"/>
          <a:srcRect t="-10257" b="-10257"/>
          <a:stretch/>
        </p:blipFill>
        <p:spPr>
          <a:xfrm>
            <a:off x="3771900" y="7952048"/>
            <a:ext cx="427938" cy="515721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4457700" y="7872494"/>
            <a:ext cx="10846614" cy="488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b="1" dirty="0">
                <a:solidFill>
                  <a:srgbClr val="2B2B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Process control:</a:t>
            </a:r>
            <a:r>
              <a:rPr lang="en-US" sz="2700" dirty="0">
                <a:solidFill>
                  <a:srgbClr val="2B2B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escalation / unbounded processes</a:t>
            </a:r>
            <a:endParaRPr lang="en-US" sz="2700" dirty="0"/>
          </a:p>
        </p:txBody>
      </p:sp>
      <p:pic>
        <p:nvPicPr>
          <p:cNvPr id="36" name="Image 7" descr="preencoded.png"/>
          <p:cNvPicPr>
            <a:picLocks noChangeAspect="1"/>
          </p:cNvPicPr>
          <p:nvPr/>
        </p:nvPicPr>
        <p:blipFill>
          <a:blip r:embed="rId10"/>
          <a:srcRect t="-10257" b="-10257"/>
          <a:stretch/>
        </p:blipFill>
        <p:spPr>
          <a:xfrm>
            <a:off x="14859915" y="7952048"/>
            <a:ext cx="427938" cy="515721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15545715" y="7872494"/>
            <a:ext cx="11916462" cy="488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b="1" dirty="0">
                <a:solidFill>
                  <a:srgbClr val="2B2B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Inference governance:</a:t>
            </a:r>
            <a:r>
              <a:rPr lang="en-US" sz="2700" dirty="0">
                <a:solidFill>
                  <a:srgbClr val="2B2B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any endpoint / cost &amp; compliance</a:t>
            </a:r>
            <a:endParaRPr lang="en-US" sz="2700" dirty="0"/>
          </a:p>
        </p:txBody>
      </p:sp>
      <p:pic>
        <p:nvPicPr>
          <p:cNvPr id="38" name="Image 8" descr="preencoded.png"/>
          <p:cNvPicPr>
            <a:picLocks noChangeAspect="1"/>
          </p:cNvPicPr>
          <p:nvPr/>
        </p:nvPicPr>
        <p:blipFill>
          <a:blip r:embed="rId11"/>
          <a:srcRect t="-9343" b="-9343"/>
          <a:stretch/>
        </p:blipFill>
        <p:spPr>
          <a:xfrm>
            <a:off x="26919023" y="7952048"/>
            <a:ext cx="543153" cy="515721"/>
          </a:xfrm>
          <a:prstGeom prst="rect">
            <a:avLst/>
          </a:prstGeom>
        </p:spPr>
      </p:pic>
      <p:sp>
        <p:nvSpPr>
          <p:cNvPr id="39" name="Text 28"/>
          <p:cNvSpPr txBox="1"/>
          <p:nvPr/>
        </p:nvSpPr>
        <p:spPr>
          <a:xfrm>
            <a:off x="27604821" y="7872494"/>
            <a:ext cx="6515100" cy="8586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b="1" dirty="0">
                <a:solidFill>
                  <a:srgbClr val="2B2B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Cloud dependency:</a:t>
            </a:r>
            <a:r>
              <a:rPr lang="en-US" sz="2700" dirty="0">
                <a:solidFill>
                  <a:srgbClr val="2B2B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breaks residency / air-gap</a:t>
            </a:r>
            <a:endParaRPr lang="en-US" sz="2700" dirty="0"/>
          </a:p>
        </p:txBody>
      </p:sp>
      <p:pic>
        <p:nvPicPr>
          <p:cNvPr id="40" name="Image 9" descr="preencoded.png"/>
          <p:cNvPicPr>
            <a:picLocks noChangeAspect="1"/>
          </p:cNvPicPr>
          <p:nvPr/>
        </p:nvPicPr>
        <p:blipFill>
          <a:blip r:embed="rId12"/>
          <a:srcRect t="-10257" b="-10257"/>
          <a:stretch/>
        </p:blipFill>
        <p:spPr>
          <a:xfrm>
            <a:off x="3771900" y="9381254"/>
            <a:ext cx="427938" cy="515721"/>
          </a:xfrm>
          <a:prstGeom prst="rect">
            <a:avLst/>
          </a:prstGeom>
        </p:spPr>
      </p:pic>
      <p:sp>
        <p:nvSpPr>
          <p:cNvPr id="41" name="Text 29"/>
          <p:cNvSpPr txBox="1"/>
          <p:nvPr/>
        </p:nvSpPr>
        <p:spPr>
          <a:xfrm>
            <a:off x="4457700" y="9298958"/>
            <a:ext cx="29777436" cy="45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dirty="0">
                <a:solidFill>
                  <a:srgbClr val="2B2B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“Autonomous agent + no boundaries” → inevitable takeover / exfiltration risk.</a:t>
            </a:r>
            <a:endParaRPr lang="en-US" sz="2700" dirty="0"/>
          </a:p>
        </p:txBody>
      </p:sp>
      <p:pic>
        <p:nvPicPr>
          <p:cNvPr id="42" name="Image 10" descr="preencoded.png"/>
          <p:cNvPicPr>
            <a:picLocks noChangeAspect="1"/>
          </p:cNvPicPr>
          <p:nvPr/>
        </p:nvPicPr>
        <p:blipFill>
          <a:blip r:embed="rId13"/>
          <a:srcRect t="-8630" b="-8630"/>
          <a:stretch/>
        </p:blipFill>
        <p:spPr>
          <a:xfrm>
            <a:off x="3656685" y="13421241"/>
            <a:ext cx="713232" cy="743406"/>
          </a:xfrm>
          <a:prstGeom prst="rect">
            <a:avLst/>
          </a:prstGeom>
        </p:spPr>
      </p:pic>
      <p:sp>
        <p:nvSpPr>
          <p:cNvPr id="43" name="Text 30"/>
          <p:cNvSpPr txBox="1"/>
          <p:nvPr/>
        </p:nvSpPr>
        <p:spPr>
          <a:xfrm>
            <a:off x="9812429" y="13547432"/>
            <a:ext cx="2172615" cy="430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C628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 (8.8)</a:t>
            </a:r>
            <a:endParaRPr lang="en-US" sz="2400" dirty="0"/>
          </a:p>
        </p:txBody>
      </p:sp>
      <p:sp>
        <p:nvSpPr>
          <p:cNvPr id="44" name="Text 31"/>
          <p:cNvSpPr txBox="1"/>
          <p:nvPr/>
        </p:nvSpPr>
        <p:spPr>
          <a:xfrm>
            <a:off x="4572917" y="13248422"/>
            <a:ext cx="4273905" cy="5157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ClawJacked</a:t>
            </a:r>
            <a:endParaRPr lang="en-US" sz="3000" dirty="0"/>
          </a:p>
        </p:txBody>
      </p:sp>
      <p:sp>
        <p:nvSpPr>
          <p:cNvPr id="45" name="Text 32"/>
          <p:cNvSpPr txBox="1"/>
          <p:nvPr/>
        </p:nvSpPr>
        <p:spPr>
          <a:xfrm>
            <a:off x="4572917" y="13876616"/>
            <a:ext cx="4273905" cy="45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4B4B4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CVE-2026-25253</a:t>
            </a:r>
            <a:endParaRPr lang="en-US" sz="2400" dirty="0"/>
          </a:p>
        </p:txBody>
      </p:sp>
      <p:sp>
        <p:nvSpPr>
          <p:cNvPr id="46" name="Text 33"/>
          <p:cNvSpPr txBox="1"/>
          <p:nvPr/>
        </p:nvSpPr>
        <p:spPr>
          <a:xfrm>
            <a:off x="3656687" y="14792843"/>
            <a:ext cx="9373515" cy="886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dirty="0">
                <a:solidFill>
                  <a:srgbClr val="2B2B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Malicious websites hijacked localhost agents → file access, shell execution, API key exposure.</a:t>
            </a:r>
            <a:endParaRPr lang="en-US" sz="2700" dirty="0"/>
          </a:p>
        </p:txBody>
      </p:sp>
      <p:pic>
        <p:nvPicPr>
          <p:cNvPr id="47" name="Image 11" descr="preencoded.png"/>
          <p:cNvPicPr>
            <a:picLocks noChangeAspect="1"/>
          </p:cNvPicPr>
          <p:nvPr/>
        </p:nvPicPr>
        <p:blipFill>
          <a:blip r:embed="rId14"/>
          <a:srcRect t="-9170" b="-9170"/>
          <a:stretch/>
        </p:blipFill>
        <p:spPr>
          <a:xfrm>
            <a:off x="14316762" y="13421241"/>
            <a:ext cx="628194" cy="743406"/>
          </a:xfrm>
          <a:prstGeom prst="rect">
            <a:avLst/>
          </a:prstGeom>
        </p:spPr>
      </p:pic>
      <p:sp>
        <p:nvSpPr>
          <p:cNvPr id="48" name="Text 34"/>
          <p:cNvSpPr txBox="1"/>
          <p:nvPr/>
        </p:nvSpPr>
        <p:spPr>
          <a:xfrm>
            <a:off x="20469761" y="13547432"/>
            <a:ext cx="2172615" cy="430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C628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 (8.4)</a:t>
            </a:r>
            <a:endParaRPr lang="en-US" sz="2400" dirty="0"/>
          </a:p>
        </p:txBody>
      </p:sp>
      <p:sp>
        <p:nvSpPr>
          <p:cNvPr id="49" name="Text 35"/>
          <p:cNvSpPr txBox="1"/>
          <p:nvPr/>
        </p:nvSpPr>
        <p:spPr>
          <a:xfrm>
            <a:off x="15230249" y="13248422"/>
            <a:ext cx="4273905" cy="5157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Sandbox Escape</a:t>
            </a:r>
            <a:endParaRPr lang="en-US" sz="3000" dirty="0"/>
          </a:p>
        </p:txBody>
      </p:sp>
      <p:sp>
        <p:nvSpPr>
          <p:cNvPr id="50" name="Text 36"/>
          <p:cNvSpPr txBox="1"/>
          <p:nvPr/>
        </p:nvSpPr>
        <p:spPr>
          <a:xfrm>
            <a:off x="15230249" y="13876616"/>
            <a:ext cx="4273905" cy="45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4B4B4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CVE-2026-32918</a:t>
            </a:r>
            <a:endParaRPr lang="en-US" sz="2400" dirty="0"/>
          </a:p>
        </p:txBody>
      </p:sp>
      <p:sp>
        <p:nvSpPr>
          <p:cNvPr id="51" name="Text 37"/>
          <p:cNvSpPr txBox="1"/>
          <p:nvPr/>
        </p:nvSpPr>
        <p:spPr>
          <a:xfrm>
            <a:off x="14316764" y="14792841"/>
            <a:ext cx="9373515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dirty="0">
                <a:solidFill>
                  <a:srgbClr val="2B2B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Sandboxed subagents escaped, accessed sibling/parent session state → data leakage &amp; privilege escalation.</a:t>
            </a:r>
            <a:endParaRPr lang="en-US" sz="2700" dirty="0"/>
          </a:p>
        </p:txBody>
      </p:sp>
      <p:pic>
        <p:nvPicPr>
          <p:cNvPr id="52" name="Image 12" descr="preencoded.png"/>
          <p:cNvPicPr>
            <a:picLocks noChangeAspect="1"/>
          </p:cNvPicPr>
          <p:nvPr/>
        </p:nvPicPr>
        <p:blipFill>
          <a:blip r:embed="rId15"/>
          <a:srcRect t="-8630" b="-8630"/>
          <a:stretch/>
        </p:blipFill>
        <p:spPr>
          <a:xfrm>
            <a:off x="24974094" y="13421241"/>
            <a:ext cx="713232" cy="743406"/>
          </a:xfrm>
          <a:prstGeom prst="rect">
            <a:avLst/>
          </a:prstGeom>
        </p:spPr>
      </p:pic>
      <p:sp>
        <p:nvSpPr>
          <p:cNvPr id="53" name="Text 38"/>
          <p:cNvSpPr txBox="1"/>
          <p:nvPr/>
        </p:nvSpPr>
        <p:spPr>
          <a:xfrm>
            <a:off x="30671718" y="13547432"/>
            <a:ext cx="1730958" cy="430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B71C1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Critical</a:t>
            </a:r>
            <a:endParaRPr lang="en-US" sz="2400" dirty="0"/>
          </a:p>
        </p:txBody>
      </p:sp>
      <p:sp>
        <p:nvSpPr>
          <p:cNvPr id="54" name="Text 39"/>
          <p:cNvSpPr txBox="1"/>
          <p:nvPr/>
        </p:nvSpPr>
        <p:spPr>
          <a:xfrm>
            <a:off x="25890321" y="13248420"/>
            <a:ext cx="3031236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Skill Supply Chain</a:t>
            </a:r>
            <a:endParaRPr lang="en-US" sz="3000" dirty="0"/>
          </a:p>
        </p:txBody>
      </p:sp>
      <p:sp>
        <p:nvSpPr>
          <p:cNvPr id="55" name="Text 40"/>
          <p:cNvSpPr txBox="1"/>
          <p:nvPr/>
        </p:nvSpPr>
        <p:spPr>
          <a:xfrm>
            <a:off x="25890323" y="14392337"/>
            <a:ext cx="3667659" cy="45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4B4B4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Malicious skills</a:t>
            </a:r>
            <a:endParaRPr lang="en-US" sz="2400" dirty="0"/>
          </a:p>
        </p:txBody>
      </p:sp>
      <p:sp>
        <p:nvSpPr>
          <p:cNvPr id="56" name="Text 41"/>
          <p:cNvSpPr txBox="1"/>
          <p:nvPr/>
        </p:nvSpPr>
        <p:spPr>
          <a:xfrm>
            <a:off x="24974094" y="14792843"/>
            <a:ext cx="8802930" cy="886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dirty="0">
                <a:solidFill>
                  <a:srgbClr val="2B2B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Untrusted skills delivered info-stealers → SSH keys, tokens, browser secrets.</a:t>
            </a:r>
            <a:endParaRPr lang="en-US" sz="2700" dirty="0"/>
          </a:p>
        </p:txBody>
      </p:sp>
      <p:pic>
        <p:nvPicPr>
          <p:cNvPr id="57" name="Image 13" descr="preencoded.png"/>
          <p:cNvPicPr>
            <a:picLocks noChangeAspect="1"/>
          </p:cNvPicPr>
          <p:nvPr/>
        </p:nvPicPr>
        <p:blipFill>
          <a:blip r:embed="rId16"/>
          <a:srcRect t="-7749" b="-7749"/>
          <a:stretch/>
        </p:blipFill>
        <p:spPr>
          <a:xfrm>
            <a:off x="3201315" y="18574208"/>
            <a:ext cx="743406" cy="858621"/>
          </a:xfrm>
          <a:prstGeom prst="rect">
            <a:avLst/>
          </a:prstGeom>
        </p:spPr>
      </p:pic>
      <p:sp>
        <p:nvSpPr>
          <p:cNvPr id="58" name="Text 42"/>
          <p:cNvSpPr txBox="1"/>
          <p:nvPr/>
        </p:nvSpPr>
        <p:spPr>
          <a:xfrm>
            <a:off x="4342487" y="18401387"/>
            <a:ext cx="30005121" cy="488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dirty="0">
                <a:solidFill>
                  <a:srgbClr val="2B2B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Enterprise adoption requires </a:t>
            </a:r>
            <a:r>
              <a:rPr lang="en-US" sz="3000" b="1" dirty="0">
                <a:solidFill>
                  <a:srgbClr val="2B2B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hard boundaries</a:t>
            </a:r>
            <a:r>
              <a:rPr lang="en-US" sz="3000" dirty="0">
                <a:solidFill>
                  <a:srgbClr val="2B2B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—network, secrets, filesystem, auditability—while preserving autonomy.</a:t>
            </a:r>
            <a:endParaRPr lang="en-US" sz="3000" dirty="0"/>
          </a:p>
        </p:txBody>
      </p:sp>
      <p:sp>
        <p:nvSpPr>
          <p:cNvPr id="59" name="Text 43"/>
          <p:cNvSpPr txBox="1"/>
          <p:nvPr/>
        </p:nvSpPr>
        <p:spPr>
          <a:xfrm>
            <a:off x="4342487" y="18922593"/>
            <a:ext cx="30005121" cy="4005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4B4B4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Validated by publicly disclosed 2026 incidents.</a:t>
            </a:r>
            <a:endParaRPr lang="en-US" sz="2400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B810724-15BE-33A5-985F-D06D884471B6}"/>
              </a:ext>
            </a:extLst>
          </p:cNvPr>
          <p:cNvSpPr txBox="1"/>
          <p:nvPr/>
        </p:nvSpPr>
        <p:spPr>
          <a:xfrm>
            <a:off x="3143706" y="11535287"/>
            <a:ext cx="855604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/>
              <a:t>Publicly Reported Incidents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C80187B-D796-DE95-9A78-13B26886A5A9}"/>
              </a:ext>
            </a:extLst>
          </p:cNvPr>
          <p:cNvSpPr txBox="1"/>
          <p:nvPr/>
        </p:nvSpPr>
        <p:spPr>
          <a:xfrm>
            <a:off x="3340719" y="2764914"/>
            <a:ext cx="85560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/>
              <a:t>Security Gaps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09574" y="19633768"/>
            <a:ext cx="6503213" cy="446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>
                <a:solidFill>
                  <a:srgbClr val="000000"/>
                </a:solidFill>
                <a:latin typeface="NVIDIA Sans Medium"/>
              </a:rPr>
              <a:t>NVIDIA CONFIDENTIAL. DO NOT DISTRIBUTE.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1097280"/>
            <a:ext cx="33649920" cy="237744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7200" b="1" i="0">
                <a:solidFill>
                  <a:srgbClr val="000000"/>
                </a:solidFill>
                <a:latin typeface="NVIDIA Sans Medium"/>
              </a:rPr>
              <a:t>The Autonomous-Agent Safety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474720"/>
            <a:ext cx="33649920" cy="128016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400" b="0" i="1">
                <a:solidFill>
                  <a:srgbClr val="5E5E5E"/>
                </a:solidFill>
                <a:latin typeface="NVIDIA Sans"/>
              </a:rPr>
              <a:t>Always-on agents need access — but bounded access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1463040" y="4901184"/>
            <a:ext cx="2194560" cy="109728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011680" y="5852160"/>
            <a:ext cx="16093440" cy="5669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890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lock-clos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7315200"/>
            <a:ext cx="2560320" cy="2560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35040" y="6400800"/>
            <a:ext cx="11338560" cy="146304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5600" b="1" i="0">
                <a:solidFill>
                  <a:srgbClr val="890C58"/>
                </a:solidFill>
                <a:latin typeface="NVIDIA Sans Medium"/>
              </a:rPr>
              <a:t>Filesystem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7863840"/>
            <a:ext cx="11338560" cy="347472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Read/write across your local machine — code, secrets, data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653760" y="5852160"/>
            <a:ext cx="16093440" cy="5669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890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clou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85280" y="7315200"/>
            <a:ext cx="2560320" cy="2560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2677120" y="6400800"/>
            <a:ext cx="11338560" cy="146304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5600" b="1" i="0">
                <a:solidFill>
                  <a:srgbClr val="890C58"/>
                </a:solidFill>
                <a:latin typeface="NVIDIA Sans Medium"/>
              </a:rPr>
              <a:t>Network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677120" y="7863840"/>
            <a:ext cx="11338560" cy="347472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Egress to any endpoint — exfiltration risk + tool authentication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11680" y="12252960"/>
            <a:ext cx="16093440" cy="5669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890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tool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0" y="13716000"/>
            <a:ext cx="2560320" cy="25603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035040" y="12801600"/>
            <a:ext cx="11338560" cy="146304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5600" b="1" i="0">
                <a:solidFill>
                  <a:srgbClr val="890C58"/>
                </a:solidFill>
                <a:latin typeface="NVIDIA Sans Medium"/>
              </a:rPr>
              <a:t>Tool use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14264640"/>
            <a:ext cx="11338560" cy="347472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Shell, browser, package managers — software-supply-chain blast radius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8653760" y="12252960"/>
            <a:ext cx="16093440" cy="5669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890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ml-inferenc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385280" y="13716000"/>
            <a:ext cx="2560320" cy="25603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2677120" y="12801600"/>
            <a:ext cx="11338560" cy="146304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5600" b="1" i="0">
                <a:solidFill>
                  <a:srgbClr val="890C58"/>
                </a:solidFill>
                <a:latin typeface="NVIDIA Sans Medium"/>
              </a:rPr>
              <a:t>Inference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677120" y="14264640"/>
            <a:ext cx="11338560" cy="347472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Calls to cloud LLMs — your data leaves your premises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011680" y="18288000"/>
            <a:ext cx="32918400" cy="128016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011680" y="18288000"/>
            <a:ext cx="32918400" cy="128016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4400" b="1" i="1">
                <a:solidFill>
                  <a:srgbClr val="000000"/>
                </a:solidFill>
                <a:latin typeface="NVIDIA Sans"/>
              </a:rPr>
              <a:t>How do you give an agent enough access to be useful without enough to be catastrophic?</a:t>
            </a:r>
          </a:p>
        </p:txBody>
      </p:sp>
    </p:spTree>
    <p:extLst>
      <p:ext uri="{BB962C8B-B14F-4D97-AF65-F5344CB8AC3E}">
        <p14:creationId xmlns:p14="http://schemas.microsoft.com/office/powerpoint/2010/main" val="16788323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09574" y="19633768"/>
            <a:ext cx="6503213" cy="446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>
                <a:solidFill>
                  <a:srgbClr val="000000"/>
                </a:solidFill>
                <a:latin typeface="NVIDIA Sans Medium"/>
              </a:rPr>
              <a:t>NVIDIA CONFIDENTIAL. DO NOT DISTRIBUTE.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1097280"/>
            <a:ext cx="33649920" cy="237744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7200" b="1" i="0">
                <a:solidFill>
                  <a:srgbClr val="000000"/>
                </a:solidFill>
                <a:latin typeface="NVIDIA Sans Medium"/>
              </a:rPr>
              <a:t>What NemoClaw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474720"/>
            <a:ext cx="33649920" cy="128016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400" b="0" i="1">
                <a:solidFill>
                  <a:srgbClr val="5E5E5E"/>
                </a:solidFill>
                <a:latin typeface="NVIDIA Sans"/>
              </a:rPr>
              <a:t>Open-source reference stack for running OpenClaw assistants safely</a:t>
            </a:r>
          </a:p>
        </p:txBody>
      </p:sp>
      <p:sp>
        <p:nvSpPr>
          <p:cNvPr id="5" name="Rectangle 4"/>
          <p:cNvSpPr/>
          <p:nvPr/>
        </p:nvSpPr>
        <p:spPr>
          <a:xfrm>
            <a:off x="1463040" y="4901184"/>
            <a:ext cx="2194560" cy="109728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828800" y="5852160"/>
            <a:ext cx="32918400" cy="1280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828800" y="5852160"/>
            <a:ext cx="548640" cy="1280160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108960" y="7132320"/>
            <a:ext cx="23774400" cy="201168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6400" b="1" i="0">
                <a:solidFill>
                  <a:srgbClr val="000000"/>
                </a:solidFill>
                <a:latin typeface="NVIDIA Sans Medium"/>
              </a:rPr>
              <a:t>A one-command install for safer autonomous agents</a:t>
            </a:r>
          </a:p>
        </p:txBody>
      </p:sp>
      <p:sp>
        <p:nvSpPr>
          <p:cNvPr id="11" name="Oval 10"/>
          <p:cNvSpPr/>
          <p:nvPr/>
        </p:nvSpPr>
        <p:spPr>
          <a:xfrm>
            <a:off x="3108960" y="10314432"/>
            <a:ext cx="585216" cy="585216"/>
          </a:xfrm>
          <a:prstGeom prst="ellipse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06240" y="9875520"/>
            <a:ext cx="6583680" cy="182880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800" b="1" i="0">
                <a:solidFill>
                  <a:srgbClr val="000000"/>
                </a:solidFill>
                <a:latin typeface="NVIDIA Sans Medium"/>
              </a:rPr>
              <a:t>Installs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9875520"/>
            <a:ext cx="23408640" cy="182880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000" b="0" i="0">
                <a:solidFill>
                  <a:srgbClr val="5E5E5E"/>
                </a:solidFill>
                <a:latin typeface="NVIDIA Sans"/>
              </a:rPr>
              <a:t>NVIDIA OpenShell runtime + open Nemotron models + a versioned blueprint</a:t>
            </a:r>
          </a:p>
        </p:txBody>
      </p:sp>
      <p:sp>
        <p:nvSpPr>
          <p:cNvPr id="14" name="Oval 13"/>
          <p:cNvSpPr/>
          <p:nvPr/>
        </p:nvSpPr>
        <p:spPr>
          <a:xfrm>
            <a:off x="3108960" y="12326112"/>
            <a:ext cx="585216" cy="585216"/>
          </a:xfrm>
          <a:prstGeom prst="ellipse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206240" y="11887200"/>
            <a:ext cx="6583680" cy="182880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800" b="1" i="0">
                <a:solidFill>
                  <a:srgbClr val="000000"/>
                </a:solidFill>
                <a:latin typeface="NVIDIA Sans Medium"/>
              </a:rPr>
              <a:t>Sandboxes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11887200"/>
            <a:ext cx="23408640" cy="182880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000" b="0" i="0">
                <a:solidFill>
                  <a:srgbClr val="5E5E5E"/>
                </a:solidFill>
                <a:latin typeface="NVIDIA Sans"/>
              </a:rPr>
              <a:t>Every network request, file access, and inference call governed by declarative policy</a:t>
            </a:r>
          </a:p>
        </p:txBody>
      </p:sp>
      <p:sp>
        <p:nvSpPr>
          <p:cNvPr id="17" name="Oval 16"/>
          <p:cNvSpPr/>
          <p:nvPr/>
        </p:nvSpPr>
        <p:spPr>
          <a:xfrm>
            <a:off x="3108960" y="14337792"/>
            <a:ext cx="585216" cy="585216"/>
          </a:xfrm>
          <a:prstGeom prst="ellipse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06240" y="13898880"/>
            <a:ext cx="6583680" cy="182880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800" b="1" i="0">
                <a:solidFill>
                  <a:srgbClr val="000000"/>
                </a:solidFill>
                <a:latin typeface="NVIDIA Sans Medium"/>
              </a:rPr>
              <a:t>Routes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13898880"/>
            <a:ext cx="23408640" cy="182880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000" b="0" i="0">
                <a:solidFill>
                  <a:srgbClr val="5E5E5E"/>
                </a:solidFill>
                <a:latin typeface="NVIDIA Sans"/>
              </a:rPr>
              <a:t>Local inference by default; cloud LLMs reached via a privacy router, not direct egress</a:t>
            </a:r>
          </a:p>
        </p:txBody>
      </p:sp>
      <p:sp>
        <p:nvSpPr>
          <p:cNvPr id="20" name="Oval 19"/>
          <p:cNvSpPr/>
          <p:nvPr/>
        </p:nvSpPr>
        <p:spPr>
          <a:xfrm>
            <a:off x="3108960" y="16349472"/>
            <a:ext cx="585216" cy="585216"/>
          </a:xfrm>
          <a:prstGeom prst="ellipse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206240" y="15910560"/>
            <a:ext cx="6583680" cy="182880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800" b="1" i="0">
                <a:solidFill>
                  <a:srgbClr val="000000"/>
                </a:solidFill>
                <a:latin typeface="NVIDIA Sans Medium"/>
              </a:rPr>
              <a:t>Runs anywhere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15910560"/>
            <a:ext cx="23408640" cy="182880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000" b="0" i="0">
                <a:solidFill>
                  <a:srgbClr val="5E5E5E"/>
                </a:solidFill>
                <a:latin typeface="NVIDIA Sans"/>
              </a:rPr>
              <a:t>RTX PCs, RTX PRO workstations, DGX Spark, DGX Station</a:t>
            </a:r>
          </a:p>
        </p:txBody>
      </p:sp>
    </p:spTree>
    <p:extLst>
      <p:ext uri="{BB962C8B-B14F-4D97-AF65-F5344CB8AC3E}">
        <p14:creationId xmlns:p14="http://schemas.microsoft.com/office/powerpoint/2010/main" val="36826791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09574" y="19633768"/>
            <a:ext cx="6503213" cy="446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>
                <a:solidFill>
                  <a:srgbClr val="000000"/>
                </a:solidFill>
                <a:latin typeface="NVIDIA Sans Medium"/>
              </a:rPr>
              <a:t>NVIDIA CONFIDENTIAL. DO NOT DISTRIBUTE.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1097280"/>
            <a:ext cx="33649920" cy="237744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7200" b="1" i="0">
                <a:solidFill>
                  <a:srgbClr val="000000"/>
                </a:solidFill>
                <a:latin typeface="NVIDIA Sans Medium"/>
              </a:rPr>
              <a:t>The Stack — Four Layers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474720"/>
            <a:ext cx="33649920" cy="128016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400" b="0" i="1">
                <a:solidFill>
                  <a:srgbClr val="5E5E5E"/>
                </a:solidFill>
                <a:latin typeface="NVIDIA Sans"/>
              </a:rPr>
              <a:t>NemoClaw composes OpenShell, OpenClaw, and Nemotron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463040" y="4901184"/>
            <a:ext cx="2194560" cy="109728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144000" y="6217920"/>
            <a:ext cx="20116800" cy="2267712"/>
          </a:xfrm>
          <a:prstGeom prst="roundRect">
            <a:avLst>
              <a:gd name="adj" fmla="val 4000"/>
            </a:avLst>
          </a:prstGeom>
          <a:solidFill>
            <a:srgbClr val="CDCDCD"/>
          </a:solidFill>
          <a:ln>
            <a:solidFill>
              <a:srgbClr val="CDCD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0" y="6217920"/>
            <a:ext cx="6583680" cy="2267712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5600" b="1" i="0">
                <a:solidFill>
                  <a:srgbClr val="000000"/>
                </a:solidFill>
                <a:latin typeface="NVIDIA Sans Medium"/>
              </a:rPr>
              <a:t>OpenClaw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0" y="6217920"/>
            <a:ext cx="12070080" cy="2267712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The agent itself (always-on coding / personal assistant)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0" y="8851392"/>
            <a:ext cx="20116800" cy="2267712"/>
          </a:xfrm>
          <a:prstGeom prst="roundRect">
            <a:avLst>
              <a:gd name="adj" fmla="val 4000"/>
            </a:avLst>
          </a:prstGeom>
          <a:solidFill>
            <a:srgbClr val="76B900"/>
          </a:solidFill>
          <a:ln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875520" y="8851392"/>
            <a:ext cx="6583680" cy="2267712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5600" b="1" i="0">
                <a:solidFill>
                  <a:srgbClr val="000000"/>
                </a:solidFill>
                <a:latin typeface="NVIDIA Sans Medium"/>
              </a:rPr>
              <a:t>NemoClaw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0" y="8851392"/>
            <a:ext cx="12070080" cy="2267712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Versioned blueprint + plugin glue + state management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0" y="11484864"/>
            <a:ext cx="20116800" cy="2267712"/>
          </a:xfrm>
          <a:prstGeom prst="roundRect">
            <a:avLst>
              <a:gd name="adj" fmla="val 4000"/>
            </a:avLst>
          </a:prstGeom>
          <a:solidFill>
            <a:srgbClr val="008564"/>
          </a:solidFill>
          <a:ln>
            <a:solidFill>
              <a:srgbClr val="0085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875520" y="11484864"/>
            <a:ext cx="6583680" cy="2267712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  <a:latin typeface="NVIDIA Sans Medium"/>
              </a:rPr>
              <a:t>OpenShell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0" y="11484864"/>
            <a:ext cx="12070080" cy="2267712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000" b="0" i="0">
                <a:solidFill>
                  <a:srgbClr val="FFFFFF"/>
                </a:solidFill>
                <a:latin typeface="NVIDIA Sans"/>
              </a:rPr>
              <a:t>Sandbox runtime + network policy + approval TUI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0" y="14118336"/>
            <a:ext cx="20116800" cy="2267712"/>
          </a:xfrm>
          <a:prstGeom prst="roundRect">
            <a:avLst>
              <a:gd name="adj" fmla="val 4000"/>
            </a:avLst>
          </a:prstGeom>
          <a:solidFill>
            <a:srgbClr val="5E5E5E"/>
          </a:solidFill>
          <a:ln>
            <a:solidFill>
              <a:srgbClr val="5E5E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875520" y="14118336"/>
            <a:ext cx="6583680" cy="2267712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  <a:latin typeface="NVIDIA Sans Medium"/>
              </a:rPr>
              <a:t>Nemotron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0" y="14118336"/>
            <a:ext cx="12070080" cy="2267712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000" b="0" i="0">
                <a:solidFill>
                  <a:srgbClr val="FFFFFF"/>
                </a:solidFill>
                <a:latin typeface="NVIDIA Sans"/>
              </a:rPr>
              <a:t>Local open-weight model (inference layer)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6217920"/>
            <a:ext cx="7315200" cy="219456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000" b="0" i="1">
                <a:solidFill>
                  <a:srgbClr val="5E5E5E"/>
                </a:solidFill>
                <a:latin typeface="NVIDIA Sans"/>
              </a:rPr>
              <a:t>Application layer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8778240"/>
            <a:ext cx="7315200" cy="219456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000" b="1" i="1">
                <a:solidFill>
                  <a:srgbClr val="76B900"/>
                </a:solidFill>
                <a:latin typeface="NVIDIA Sans"/>
              </a:rPr>
              <a:t>Governance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11338560"/>
            <a:ext cx="7315200" cy="219456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000" b="1" i="1">
                <a:solidFill>
                  <a:srgbClr val="008564"/>
                </a:solidFill>
                <a:latin typeface="NVIDIA Sans"/>
              </a:rPr>
              <a:t>Runtime layer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13898880"/>
            <a:ext cx="7315200" cy="219456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000" b="0" i="1">
                <a:solidFill>
                  <a:srgbClr val="5E5E5E"/>
                </a:solidFill>
                <a:latin typeface="NVIDIA Sans"/>
              </a:rPr>
              <a:t>Model layer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18288000"/>
            <a:ext cx="32918400" cy="109728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4000" b="0" i="1">
                <a:solidFill>
                  <a:srgbClr val="5E5E5E"/>
                </a:solidFill>
                <a:latin typeface="NVIDIA Sans"/>
              </a:rPr>
              <a:t>NemoClaw + OpenShell are part of the NVIDIA Agent Toolkit family</a:t>
            </a:r>
          </a:p>
        </p:txBody>
      </p:sp>
    </p:spTree>
    <p:extLst>
      <p:ext uri="{BB962C8B-B14F-4D97-AF65-F5344CB8AC3E}">
        <p14:creationId xmlns:p14="http://schemas.microsoft.com/office/powerpoint/2010/main" val="30682628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09574" y="19633768"/>
            <a:ext cx="6503213" cy="446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>
                <a:solidFill>
                  <a:srgbClr val="000000"/>
                </a:solidFill>
                <a:latin typeface="NVIDIA Sans Medium"/>
              </a:rPr>
              <a:t>NVIDIA CONFIDENTIAL. DO NOT DISTRIBUTE.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1097280"/>
            <a:ext cx="33649920" cy="237744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7200" b="1" i="0">
                <a:solidFill>
                  <a:srgbClr val="000000"/>
                </a:solidFill>
                <a:latin typeface="NVIDIA Sans Medium"/>
              </a:rPr>
              <a:t>Sandbox Isolation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474720"/>
            <a:ext cx="33649920" cy="128016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400" b="0" i="1">
                <a:solidFill>
                  <a:srgbClr val="5E5E5E"/>
                </a:solidFill>
                <a:latin typeface="NVIDIA Sans"/>
              </a:rPr>
              <a:t>Every byte in and out of the agent flows through a policed boundary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1463040" y="4901184"/>
            <a:ext cx="2194560" cy="109728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828800" y="5852160"/>
            <a:ext cx="14630400" cy="1207008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0" y="6510528"/>
            <a:ext cx="14630400" cy="146304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5200" b="1" i="0">
                <a:solidFill>
                  <a:srgbClr val="5E5E5E"/>
                </a:solidFill>
                <a:latin typeface="NVIDIA Sans Medium"/>
              </a:rPr>
              <a:t>Outside the sandbox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8778240"/>
            <a:ext cx="12070080" cy="146304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400" b="0" i="0">
                <a:solidFill>
                  <a:srgbClr val="000000"/>
                </a:solidFill>
                <a:latin typeface="NVIDIA Sans"/>
              </a:rPr>
              <a:t>•  Your real filesystem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10424160"/>
            <a:ext cx="12070080" cy="146304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400" b="0" i="0">
                <a:solidFill>
                  <a:srgbClr val="000000"/>
                </a:solidFill>
                <a:latin typeface="NVIDIA Sans"/>
              </a:rPr>
              <a:t>•  Production credentials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12070080"/>
            <a:ext cx="12070080" cy="146304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400" b="0" i="0">
                <a:solidFill>
                  <a:srgbClr val="000000"/>
                </a:solidFill>
                <a:latin typeface="NVIDIA Sans"/>
              </a:rPr>
              <a:t>•  Other applications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13716000"/>
            <a:ext cx="12070080" cy="146304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400" b="0" i="0">
                <a:solidFill>
                  <a:srgbClr val="000000"/>
                </a:solidFill>
                <a:latin typeface="NVIDIA Sans"/>
              </a:rPr>
              <a:t>•  The wider internet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16824960" y="10972800"/>
            <a:ext cx="2926080" cy="1828800"/>
          </a:xfrm>
          <a:prstGeom prst="rightArrow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6824960" y="12984480"/>
            <a:ext cx="2926080" cy="109728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3600" b="1" i="0">
                <a:solidFill>
                  <a:srgbClr val="76B900"/>
                </a:solidFill>
                <a:latin typeface="NVIDIA Sans"/>
              </a:rPr>
              <a:t>OpenShell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116800" y="5852160"/>
            <a:ext cx="14630400" cy="12070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0116800" y="6510528"/>
            <a:ext cx="14630400" cy="146304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5200" b="1" i="0">
                <a:solidFill>
                  <a:srgbClr val="76B900"/>
                </a:solidFill>
                <a:latin typeface="NVIDIA Sans Medium"/>
              </a:rPr>
              <a:t>Inside the sandbox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396960" y="8778240"/>
            <a:ext cx="12070080" cy="146304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400" b="0" i="0">
                <a:solidFill>
                  <a:srgbClr val="76B900"/>
                </a:solidFill>
                <a:latin typeface="NVIDIA Sans Medium"/>
              </a:rPr>
              <a:t>✓  Container-scoped FS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396960" y="10424160"/>
            <a:ext cx="12070080" cy="146304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400" b="0" i="0">
                <a:solidFill>
                  <a:srgbClr val="76B900"/>
                </a:solidFill>
                <a:latin typeface="NVIDIA Sans Medium"/>
              </a:rPr>
              <a:t>✓  Sandboxed credentials only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396960" y="12070080"/>
            <a:ext cx="12070080" cy="146304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400" b="0" i="0">
                <a:solidFill>
                  <a:srgbClr val="76B900"/>
                </a:solidFill>
                <a:latin typeface="NVIDIA Sans Medium"/>
              </a:rPr>
              <a:t>✓  Declared dependencies only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396960" y="13716000"/>
            <a:ext cx="12070080" cy="146304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400" b="0" i="0">
                <a:solidFill>
                  <a:srgbClr val="76B900"/>
                </a:solidFill>
                <a:latin typeface="NVIDIA Sans Medium"/>
              </a:rPr>
              <a:t>✓  Allow-listed endpoints only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18288000"/>
            <a:ext cx="32918400" cy="109728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4000" b="0" i="1">
                <a:solidFill>
                  <a:srgbClr val="5E5E5E"/>
                </a:solidFill>
                <a:latin typeface="NVIDIA Sans"/>
              </a:rPr>
              <a:t>OpenShell intercepts every syscall, every network connect, every inference call</a:t>
            </a:r>
          </a:p>
        </p:txBody>
      </p:sp>
    </p:spTree>
    <p:extLst>
      <p:ext uri="{BB962C8B-B14F-4D97-AF65-F5344CB8AC3E}">
        <p14:creationId xmlns:p14="http://schemas.microsoft.com/office/powerpoint/2010/main" val="13141614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09574" y="19633768"/>
            <a:ext cx="6503213" cy="446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>
                <a:solidFill>
                  <a:srgbClr val="000000"/>
                </a:solidFill>
                <a:latin typeface="NVIDIA Sans Medium"/>
              </a:rPr>
              <a:t>NVIDIA CONFIDENTIAL. DO NOT DISTRIBUTE.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1097280"/>
            <a:ext cx="33649920" cy="237744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7200" b="1" i="0">
                <a:solidFill>
                  <a:srgbClr val="000000"/>
                </a:solidFill>
                <a:latin typeface="NVIDIA Sans Medium"/>
              </a:rPr>
              <a:t>Network Policy — Deny by Default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474720"/>
            <a:ext cx="33649920" cy="128016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400" b="0" i="1">
                <a:solidFill>
                  <a:srgbClr val="5E5E5E"/>
                </a:solidFill>
                <a:latin typeface="NVIDIA Sans"/>
              </a:rPr>
              <a:t>Every egress request is intercepted; approve at runtime via the TUI</a:t>
            </a:r>
          </a:p>
        </p:txBody>
      </p:sp>
      <p:sp>
        <p:nvSpPr>
          <p:cNvPr id="5" name="Rectangle 4"/>
          <p:cNvSpPr/>
          <p:nvPr/>
        </p:nvSpPr>
        <p:spPr>
          <a:xfrm>
            <a:off x="1463040" y="4901184"/>
            <a:ext cx="2194560" cy="109728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828800" y="5852160"/>
            <a:ext cx="19751040" cy="12435840"/>
          </a:xfrm>
          <a:prstGeom prst="roundRect">
            <a:avLst>
              <a:gd name="adj" fmla="val 4000"/>
            </a:avLst>
          </a:prstGeom>
          <a:solidFill>
            <a:srgbClr val="222222"/>
          </a:solidFill>
          <a:ln w="635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560320" y="6510528"/>
            <a:ext cx="18288000" cy="146304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4800" b="1" i="0">
                <a:solidFill>
                  <a:srgbClr val="76B900"/>
                </a:solidFill>
                <a:latin typeface="NVIDIA Sans Medium"/>
              </a:rPr>
              <a:t>openclaw-sandbox.yaml (excerpt)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8229600"/>
            <a:ext cx="18288000" cy="987552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3600" b="0" i="0">
                <a:solidFill>
                  <a:srgbClr val="C8DDB0"/>
                </a:solidFill>
                <a:latin typeface="Consolas"/>
              </a:rPr>
              <a:t>default_policy: deny</a:t>
            </a:r>
          </a:p>
          <a:p>
            <a:pPr algn="l"/>
            <a:endParaRPr sz="3600" b="0" i="0">
              <a:solidFill>
                <a:srgbClr val="C8DDB0"/>
              </a:solidFill>
              <a:latin typeface="Consolas"/>
            </a:endParaRPr>
          </a:p>
          <a:p>
            <a:pPr algn="l"/>
            <a:r>
              <a:rPr sz="3600" b="0" i="0">
                <a:solidFill>
                  <a:srgbClr val="C8DDB0"/>
                </a:solidFill>
                <a:latin typeface="Consolas"/>
              </a:rPr>
              <a:t>policies:</a:t>
            </a:r>
          </a:p>
          <a:p>
            <a:pPr algn="l"/>
            <a:r>
              <a:rPr sz="3600" b="0" i="0">
                <a:solidFill>
                  <a:srgbClr val="C8DDB0"/>
                </a:solidFill>
                <a:latin typeface="Consolas"/>
              </a:rPr>
              <a:t>  - name: nvidia</a:t>
            </a:r>
          </a:p>
          <a:p>
            <a:pPr algn="l"/>
            <a:r>
              <a:rPr sz="3600" b="0" i="0">
                <a:solidFill>
                  <a:srgbClr val="C8DDB0"/>
                </a:solidFill>
                <a:latin typeface="Consolas"/>
              </a:rPr>
              <a:t>    endpoints:</a:t>
            </a:r>
          </a:p>
          <a:p>
            <a:pPr algn="l"/>
            <a:r>
              <a:rPr sz="3600" b="0" i="0">
                <a:solidFill>
                  <a:srgbClr val="C8DDB0"/>
                </a:solidFill>
                <a:latin typeface="Consolas"/>
              </a:rPr>
              <a:t>      - integrate.api.nvidia.com:443</a:t>
            </a:r>
          </a:p>
          <a:p>
            <a:pPr algn="l"/>
            <a:r>
              <a:rPr sz="3600" b="0" i="0">
                <a:solidFill>
                  <a:srgbClr val="C8DDB0"/>
                </a:solidFill>
                <a:latin typeface="Consolas"/>
              </a:rPr>
              <a:t>      - inference-api.nvidia.com:443</a:t>
            </a:r>
          </a:p>
          <a:p>
            <a:pPr algn="l"/>
            <a:r>
              <a:rPr sz="3600" b="0" i="0">
                <a:solidFill>
                  <a:srgbClr val="C8DDB0"/>
                </a:solidFill>
                <a:latin typeface="Consolas"/>
              </a:rPr>
              <a:t>    binaries: [/usr/local/bin/openclaw]</a:t>
            </a:r>
          </a:p>
          <a:p>
            <a:pPr algn="l"/>
            <a:r>
              <a:rPr sz="3600" b="0" i="0">
                <a:solidFill>
                  <a:srgbClr val="C8DDB0"/>
                </a:solidFill>
                <a:latin typeface="Consolas"/>
              </a:rPr>
              <a:t>    rules: [POST inference, GET models]</a:t>
            </a:r>
          </a:p>
          <a:p>
            <a:pPr algn="l"/>
            <a:endParaRPr sz="3600" b="0" i="0">
              <a:solidFill>
                <a:srgbClr val="C8DDB0"/>
              </a:solidFill>
              <a:latin typeface="Consolas"/>
            </a:endParaRPr>
          </a:p>
          <a:p>
            <a:pPr algn="l"/>
            <a:r>
              <a:rPr sz="3600" b="0" i="0">
                <a:solidFill>
                  <a:srgbClr val="C8DDB0"/>
                </a:solidFill>
                <a:latin typeface="Consolas"/>
              </a:rPr>
              <a:t>  - name: clawhub</a:t>
            </a:r>
          </a:p>
          <a:p>
            <a:pPr algn="l"/>
            <a:r>
              <a:rPr sz="3600" b="0" i="0">
                <a:solidFill>
                  <a:srgbClr val="C8DDB0"/>
                </a:solidFill>
                <a:latin typeface="Consolas"/>
              </a:rPr>
              <a:t>    endpoints: [clawhub.ai:443]</a:t>
            </a:r>
          </a:p>
          <a:p>
            <a:pPr algn="l"/>
            <a:r>
              <a:rPr sz="3600" b="0" i="0">
                <a:solidFill>
                  <a:srgbClr val="C8DDB0"/>
                </a:solidFill>
                <a:latin typeface="Consolas"/>
              </a:rPr>
              <a:t>    binaries: [openclaw, node]</a:t>
            </a:r>
          </a:p>
          <a:p>
            <a:pPr algn="l"/>
            <a:r>
              <a:rPr sz="3600" b="0" i="0">
                <a:solidFill>
                  <a:srgbClr val="C8DDB0"/>
                </a:solidFill>
                <a:latin typeface="Consolas"/>
              </a:rPr>
              <a:t>    rules: [GET, POST]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311360" y="5852160"/>
            <a:ext cx="12435840" cy="1243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311360" y="6510528"/>
            <a:ext cx="12435840" cy="146304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5200" b="1" i="0">
                <a:solidFill>
                  <a:srgbClr val="76B900"/>
                </a:solidFill>
                <a:latin typeface="NVIDIA Sans Medium"/>
              </a:rPr>
              <a:t>Runtime approval</a:t>
            </a:r>
          </a:p>
        </p:txBody>
      </p:sp>
      <p:sp>
        <p:nvSpPr>
          <p:cNvPr id="11" name="Oval 10"/>
          <p:cNvSpPr/>
          <p:nvPr/>
        </p:nvSpPr>
        <p:spPr>
          <a:xfrm>
            <a:off x="22860000" y="8778240"/>
            <a:ext cx="1280160" cy="1280160"/>
          </a:xfrm>
          <a:prstGeom prst="ellipse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2860000" y="8778240"/>
            <a:ext cx="1280160" cy="128016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NVIDIA Sans Medium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505920" y="8412480"/>
            <a:ext cx="9875520" cy="182880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Agent calls unlisted endpoint</a:t>
            </a:r>
          </a:p>
        </p:txBody>
      </p:sp>
      <p:sp>
        <p:nvSpPr>
          <p:cNvPr id="14" name="Oval 13"/>
          <p:cNvSpPr/>
          <p:nvPr/>
        </p:nvSpPr>
        <p:spPr>
          <a:xfrm>
            <a:off x="22860000" y="10680192"/>
            <a:ext cx="1280160" cy="1280160"/>
          </a:xfrm>
          <a:prstGeom prst="ellipse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2860000" y="10680192"/>
            <a:ext cx="1280160" cy="128016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NVIDIA Sans Medium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505920" y="10314432"/>
            <a:ext cx="9875520" cy="182880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OpenShell intercepts</a:t>
            </a:r>
          </a:p>
        </p:txBody>
      </p:sp>
      <p:sp>
        <p:nvSpPr>
          <p:cNvPr id="17" name="Oval 16"/>
          <p:cNvSpPr/>
          <p:nvPr/>
        </p:nvSpPr>
        <p:spPr>
          <a:xfrm>
            <a:off x="22860000" y="12582144"/>
            <a:ext cx="1280160" cy="1280160"/>
          </a:xfrm>
          <a:prstGeom prst="ellipse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2860000" y="12582144"/>
            <a:ext cx="1280160" cy="128016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NVIDIA Sans Medium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505920" y="12216384"/>
            <a:ext cx="9875520" cy="182880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TUI prompts operator</a:t>
            </a:r>
          </a:p>
        </p:txBody>
      </p:sp>
      <p:sp>
        <p:nvSpPr>
          <p:cNvPr id="20" name="Oval 19"/>
          <p:cNvSpPr/>
          <p:nvPr/>
        </p:nvSpPr>
        <p:spPr>
          <a:xfrm>
            <a:off x="22860000" y="14484096"/>
            <a:ext cx="1280160" cy="1280160"/>
          </a:xfrm>
          <a:prstGeom prst="ellipse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2860000" y="14484096"/>
            <a:ext cx="1280160" cy="128016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NVIDIA Sans Medium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505920" y="14118336"/>
            <a:ext cx="9875520" cy="182880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Operator approves / denies</a:t>
            </a:r>
          </a:p>
        </p:txBody>
      </p:sp>
      <p:sp>
        <p:nvSpPr>
          <p:cNvPr id="23" name="Oval 22"/>
          <p:cNvSpPr/>
          <p:nvPr/>
        </p:nvSpPr>
        <p:spPr>
          <a:xfrm>
            <a:off x="22860000" y="16386048"/>
            <a:ext cx="1280160" cy="1280160"/>
          </a:xfrm>
          <a:prstGeom prst="ellipse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2860000" y="16386048"/>
            <a:ext cx="1280160" cy="128016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NVIDIA Sans Medium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505920" y="16020288"/>
            <a:ext cx="9875520" cy="182880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Session-only policy admission</a:t>
            </a:r>
          </a:p>
        </p:txBody>
      </p:sp>
    </p:spTree>
    <p:extLst>
      <p:ext uri="{BB962C8B-B14F-4D97-AF65-F5344CB8AC3E}">
        <p14:creationId xmlns:p14="http://schemas.microsoft.com/office/powerpoint/2010/main" val="18785129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09574" y="19633768"/>
            <a:ext cx="6503213" cy="446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>
                <a:solidFill>
                  <a:srgbClr val="000000"/>
                </a:solidFill>
                <a:latin typeface="NVIDIA Sans Medium"/>
              </a:rPr>
              <a:t>NVIDIA CONFIDENTIAL. DO NOT DISTRIBUTE.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1097280"/>
            <a:ext cx="33649920" cy="237744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7200" b="1" i="0">
                <a:solidFill>
                  <a:srgbClr val="000000"/>
                </a:solidFill>
                <a:latin typeface="NVIDIA Sans Medium"/>
              </a:rPr>
              <a:t>Privacy Router for Cloud LLMs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474720"/>
            <a:ext cx="33649920" cy="128016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4400" b="0" i="1">
                <a:solidFill>
                  <a:srgbClr val="5E5E5E"/>
                </a:solidFill>
                <a:latin typeface="NVIDIA Sans"/>
              </a:rPr>
              <a:t>Local Nemotron by default · Cloud frontier reached through the gateway</a:t>
            </a:r>
          </a:p>
        </p:txBody>
      </p:sp>
      <p:sp>
        <p:nvSpPr>
          <p:cNvPr id="5" name="Rectangle 4"/>
          <p:cNvSpPr/>
          <p:nvPr/>
        </p:nvSpPr>
        <p:spPr>
          <a:xfrm>
            <a:off x="1463040" y="4901184"/>
            <a:ext cx="2194560" cy="109728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828800" y="8412480"/>
            <a:ext cx="7315200" cy="475488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6350">
            <a:solidFill>
              <a:srgbClr val="5E5E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0" y="8412480"/>
            <a:ext cx="7315200" cy="164592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5200" b="1" i="0">
                <a:solidFill>
                  <a:srgbClr val="000000"/>
                </a:solidFill>
                <a:latin typeface="NVIDIA Sans Medium"/>
              </a:rPr>
              <a:t>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0241280"/>
            <a:ext cx="7315200" cy="292608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3600" b="0" i="1">
                <a:solidFill>
                  <a:srgbClr val="5E5E5E"/>
                </a:solidFill>
                <a:latin typeface="NVIDIA Sans"/>
              </a:rPr>
              <a:t>(inside sandbox)</a:t>
            </a:r>
          </a:p>
          <a:p>
            <a:pPr algn="ctr"/>
            <a:r>
              <a:rPr sz="3600" b="0" i="1">
                <a:solidFill>
                  <a:srgbClr val="5E5E5E"/>
                </a:solidFill>
                <a:latin typeface="NVIDIA Sans"/>
              </a:rPr>
              <a:t>asks LLM for help</a:t>
            </a:r>
          </a:p>
        </p:txBody>
      </p:sp>
      <p:sp>
        <p:nvSpPr>
          <p:cNvPr id="9" name="Right Arrow 8"/>
          <p:cNvSpPr/>
          <p:nvPr/>
        </p:nvSpPr>
        <p:spPr>
          <a:xfrm>
            <a:off x="9509760" y="10424160"/>
            <a:ext cx="2194560" cy="914400"/>
          </a:xfrm>
          <a:prstGeom prst="rightArrow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2070080" y="8412480"/>
            <a:ext cx="9509760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070080" y="8412480"/>
            <a:ext cx="9509760" cy="164592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4800" b="1" i="0">
                <a:solidFill>
                  <a:srgbClr val="76B900"/>
                </a:solidFill>
                <a:latin typeface="NVIDIA Sans Medium"/>
              </a:rPr>
              <a:t>OpenShell Gateway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80" y="10241280"/>
            <a:ext cx="9509760" cy="292608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3600" b="0" i="1">
                <a:solidFill>
                  <a:srgbClr val="5E5E5E"/>
                </a:solidFill>
                <a:latin typeface="NVIDIA Sans"/>
              </a:rPr>
              <a:t>Routes inference</a:t>
            </a:r>
          </a:p>
          <a:p>
            <a:pPr algn="ctr"/>
            <a:r>
              <a:rPr sz="3600" b="0" i="1">
                <a:solidFill>
                  <a:srgbClr val="5E5E5E"/>
                </a:solidFill>
                <a:latin typeface="NVIDIA Sans"/>
              </a:rPr>
              <a:t>based on policy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1945600" y="7315200"/>
            <a:ext cx="1828800" cy="914400"/>
          </a:xfrm>
          <a:prstGeom prst="rightArrow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4140160" y="6217920"/>
            <a:ext cx="10607040" cy="4023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4140160" y="6510528"/>
            <a:ext cx="10607040" cy="146304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4800" b="1" i="0">
                <a:solidFill>
                  <a:srgbClr val="76B900"/>
                </a:solidFill>
                <a:latin typeface="NVIDIA Sans Medium"/>
              </a:rPr>
              <a:t>LOCAL · default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140160" y="7973568"/>
            <a:ext cx="10607040" cy="201168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4000" b="0" i="0">
                <a:solidFill>
                  <a:srgbClr val="000000"/>
                </a:solidFill>
                <a:latin typeface="NVIDIA Sans"/>
              </a:rPr>
              <a:t>Nemotron, local GPU</a:t>
            </a:r>
          </a:p>
          <a:p>
            <a:pPr algn="ctr"/>
            <a:r>
              <a:rPr sz="4000" b="0" i="0">
                <a:solidFill>
                  <a:srgbClr val="000000"/>
                </a:solidFill>
                <a:latin typeface="NVIDIA Sans"/>
              </a:rPr>
              <a:t>zero data egress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21945600" y="12801600"/>
            <a:ext cx="1828800" cy="914400"/>
          </a:xfrm>
          <a:prstGeom prst="rightArrow">
            <a:avLst/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24140160" y="11704320"/>
            <a:ext cx="10607040" cy="4023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8A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4140160" y="11996928"/>
            <a:ext cx="10607040" cy="146304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4800" b="1" i="0">
                <a:solidFill>
                  <a:srgbClr val="B36500"/>
                </a:solidFill>
                <a:latin typeface="NVIDIA Sans Medium"/>
              </a:rPr>
              <a:t>CLOUD · explicit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140160" y="13459968"/>
            <a:ext cx="10607040" cy="201168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4000" b="0" i="0">
                <a:solidFill>
                  <a:srgbClr val="000000"/>
                </a:solidFill>
                <a:latin typeface="NVIDIA Sans"/>
              </a:rPr>
              <a:t>GPT-4 / Claude / Gemini</a:t>
            </a:r>
          </a:p>
          <a:p>
            <a:pPr algn="ctr"/>
            <a:r>
              <a:rPr sz="4000" b="0" i="0">
                <a:solidFill>
                  <a:srgbClr val="000000"/>
                </a:solidFill>
                <a:latin typeface="NVIDIA Sans"/>
              </a:rPr>
              <a:t>routed via gateway only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17190720"/>
            <a:ext cx="32918400" cy="109728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4000" b="0" i="1">
                <a:solidFill>
                  <a:srgbClr val="5E5E5E"/>
                </a:solidFill>
                <a:latin typeface="NVIDIA Sans"/>
              </a:rPr>
              <a:t>Inference requests never leave the sandbox directly — the gateway is the only egress path</a:t>
            </a:r>
          </a:p>
        </p:txBody>
      </p:sp>
    </p:spTree>
    <p:extLst>
      <p:ext uri="{BB962C8B-B14F-4D97-AF65-F5344CB8AC3E}">
        <p14:creationId xmlns:p14="http://schemas.microsoft.com/office/powerpoint/2010/main" val="40077689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" y="0"/>
            <a:ext cx="36575085" cy="2057400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5400"/>
          </a:p>
        </p:txBody>
      </p:sp>
      <p:sp>
        <p:nvSpPr>
          <p:cNvPr id="3" name="Shape 1"/>
          <p:cNvSpPr/>
          <p:nvPr/>
        </p:nvSpPr>
        <p:spPr>
          <a:xfrm>
            <a:off x="2" y="0"/>
            <a:ext cx="36575085" cy="2057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5400"/>
          </a:p>
        </p:txBody>
      </p:sp>
      <p:sp>
        <p:nvSpPr>
          <p:cNvPr id="4" name="Shape 2"/>
          <p:cNvSpPr/>
          <p:nvPr/>
        </p:nvSpPr>
        <p:spPr>
          <a:xfrm>
            <a:off x="2" y="2"/>
            <a:ext cx="36575085" cy="1829715"/>
          </a:xfrm>
          <a:prstGeom prst="rect">
            <a:avLst/>
          </a:prstGeom>
          <a:solidFill>
            <a:srgbClr val="76B9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5400"/>
          </a:p>
        </p:txBody>
      </p:sp>
      <p:sp>
        <p:nvSpPr>
          <p:cNvPr id="5" name="Shape 3"/>
          <p:cNvSpPr/>
          <p:nvPr/>
        </p:nvSpPr>
        <p:spPr>
          <a:xfrm>
            <a:off x="1999796" y="2400300"/>
            <a:ext cx="32690715" cy="3829506"/>
          </a:xfrm>
          <a:prstGeom prst="roundRect">
            <a:avLst>
              <a:gd name="adj" fmla="val 17106"/>
            </a:avLst>
          </a:prstGeom>
          <a:solidFill>
            <a:srgbClr val="E8F5E9"/>
          </a:solidFill>
          <a:ln w="254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540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398" r="-398"/>
          <a:stretch/>
        </p:blipFill>
        <p:spPr>
          <a:xfrm>
            <a:off x="1999796" y="6572706"/>
            <a:ext cx="172821" cy="1343070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573121" y="7030821"/>
            <a:ext cx="14401800" cy="11686032"/>
          </a:xfrm>
          <a:prstGeom prst="roundRect">
            <a:avLst>
              <a:gd name="adj" fmla="val 3400"/>
            </a:avLst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540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 l="-12" r="-12"/>
          <a:stretch/>
        </p:blipFill>
        <p:spPr>
          <a:xfrm>
            <a:off x="2573121" y="7030821"/>
            <a:ext cx="14401800" cy="165689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143708" y="15658187"/>
            <a:ext cx="13203021" cy="2515515"/>
          </a:xfrm>
          <a:prstGeom prst="roundRect">
            <a:avLst>
              <a:gd name="adj" fmla="val 2974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 sz="5400"/>
          </a:p>
        </p:txBody>
      </p:sp>
      <p:sp>
        <p:nvSpPr>
          <p:cNvPr id="10" name="Shape 6"/>
          <p:cNvSpPr/>
          <p:nvPr/>
        </p:nvSpPr>
        <p:spPr>
          <a:xfrm>
            <a:off x="17317823" y="10802721"/>
            <a:ext cx="1942185" cy="4172406"/>
          </a:xfrm>
          <a:prstGeom prst="roundRect">
            <a:avLst>
              <a:gd name="adj" fmla="val 41542"/>
            </a:avLst>
          </a:prstGeom>
          <a:solidFill>
            <a:srgbClr val="76B9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5400"/>
          </a:p>
        </p:txBody>
      </p:sp>
      <p:sp>
        <p:nvSpPr>
          <p:cNvPr id="11" name="Shape 7"/>
          <p:cNvSpPr/>
          <p:nvPr/>
        </p:nvSpPr>
        <p:spPr>
          <a:xfrm>
            <a:off x="20288706" y="7030821"/>
            <a:ext cx="14401800" cy="11686032"/>
          </a:xfrm>
          <a:prstGeom prst="roundRect">
            <a:avLst>
              <a:gd name="adj" fmla="val 3933"/>
            </a:avLst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540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rcRect l="-12" r="-12"/>
          <a:stretch/>
        </p:blipFill>
        <p:spPr>
          <a:xfrm>
            <a:off x="20288708" y="7030821"/>
            <a:ext cx="14375367" cy="1656894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20859296" y="15658187"/>
            <a:ext cx="6630315" cy="2515515"/>
          </a:xfrm>
          <a:prstGeom prst="roundRect">
            <a:avLst>
              <a:gd name="adj" fmla="val 2974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 sz="5400"/>
          </a:p>
        </p:txBody>
      </p:sp>
      <p:sp>
        <p:nvSpPr>
          <p:cNvPr id="14" name="Shape 9"/>
          <p:cNvSpPr/>
          <p:nvPr/>
        </p:nvSpPr>
        <p:spPr>
          <a:xfrm>
            <a:off x="28002587" y="15658187"/>
            <a:ext cx="6056985" cy="2515515"/>
          </a:xfrm>
          <a:prstGeom prst="roundRect">
            <a:avLst>
              <a:gd name="adj" fmla="val 2974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 sz="5400"/>
          </a:p>
        </p:txBody>
      </p:sp>
      <p:sp>
        <p:nvSpPr>
          <p:cNvPr id="15" name="Shape 10"/>
          <p:cNvSpPr/>
          <p:nvPr/>
        </p:nvSpPr>
        <p:spPr>
          <a:xfrm>
            <a:off x="2573123" y="19002147"/>
            <a:ext cx="32062521" cy="1344168"/>
          </a:xfrm>
          <a:prstGeom prst="roundRect">
            <a:avLst>
              <a:gd name="adj" fmla="val 69475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 sz="5400"/>
          </a:p>
        </p:txBody>
      </p:sp>
      <p:sp>
        <p:nvSpPr>
          <p:cNvPr id="16" name="Text 11"/>
          <p:cNvSpPr txBox="1"/>
          <p:nvPr/>
        </p:nvSpPr>
        <p:spPr>
          <a:xfrm>
            <a:off x="10753344" y="441654"/>
            <a:ext cx="15087600" cy="943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What is </a:t>
            </a:r>
            <a:r>
              <a:rPr lang="en-US" sz="5400" b="1" dirty="0" err="1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NemoClaw</a:t>
            </a:r>
            <a:r>
              <a:rPr lang="en-US" sz="5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Fixes</a:t>
            </a:r>
            <a:endParaRPr lang="en-US" sz="54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rcRect t="-4931" b="-4931"/>
          <a:stretch/>
        </p:blipFill>
        <p:spPr>
          <a:xfrm>
            <a:off x="2627985" y="3571649"/>
            <a:ext cx="1286562" cy="1256385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4430270" y="3544215"/>
            <a:ext cx="2992008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5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OpenClaw</a:t>
            </a:r>
            <a:r>
              <a:rPr lang="en-US" sz="45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+ </a:t>
            </a:r>
            <a:r>
              <a:rPr lang="en-US" sz="45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NVIDIA OpenShell</a:t>
            </a:r>
            <a:r>
              <a:rPr lang="en-US" sz="45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+ </a:t>
            </a:r>
            <a:r>
              <a:rPr lang="en-US" sz="45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NVIDIA Nemotron= NemoClaw</a:t>
            </a:r>
            <a:endParaRPr lang="en-US" sz="4500" dirty="0"/>
          </a:p>
        </p:txBody>
      </p:sp>
      <p:sp>
        <p:nvSpPr>
          <p:cNvPr id="19" name="Text 13"/>
          <p:cNvSpPr txBox="1"/>
          <p:nvPr/>
        </p:nvSpPr>
        <p:spPr>
          <a:xfrm>
            <a:off x="4430270" y="4457700"/>
            <a:ext cx="29920083" cy="573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dirty="0">
                <a:solidFill>
                  <a:srgbClr val="2B2B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Enterprise-ready autonomy: secure sandboxing, governed inference, and auditable execution.</a:t>
            </a:r>
            <a:endParaRPr lang="en-US" sz="360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rcRect t="-12600" b="-12600"/>
          <a:stretch/>
        </p:blipFill>
        <p:spPr>
          <a:xfrm>
            <a:off x="3143706" y="7401155"/>
            <a:ext cx="685800" cy="858621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4342487" y="7543800"/>
            <a:ext cx="6342279" cy="573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3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OpenClaw (raw autonomy)</a:t>
            </a:r>
            <a:endParaRPr lang="en-US" sz="3300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8"/>
          <a:srcRect t="-15144" b="-15144"/>
          <a:stretch/>
        </p:blipFill>
        <p:spPr>
          <a:xfrm>
            <a:off x="3371396" y="9258300"/>
            <a:ext cx="570585" cy="743406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4430268" y="9532622"/>
            <a:ext cx="10695738" cy="488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Open egress:</a:t>
            </a:r>
            <a:r>
              <a:rPr lang="en-US" sz="3000" dirty="0">
                <a:solidFill>
                  <a:srgbClr val="2B2B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arbitrary outbound calls → exfil risk</a:t>
            </a:r>
            <a:endParaRPr lang="en-US" sz="3000" dirty="0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9"/>
          <a:srcRect t="-15144" b="-15144"/>
          <a:stretch/>
        </p:blipFill>
        <p:spPr>
          <a:xfrm>
            <a:off x="3371396" y="10745115"/>
            <a:ext cx="570585" cy="743406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4430268" y="11016692"/>
            <a:ext cx="11614710" cy="488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Credentials exposed:</a:t>
            </a:r>
            <a:r>
              <a:rPr lang="en-US" sz="3000" dirty="0">
                <a:solidFill>
                  <a:srgbClr val="2B2B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keys/tokens reachable by agent</a:t>
            </a:r>
            <a:endParaRPr lang="en-US" sz="3000" dirty="0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10"/>
          <a:srcRect t="-13516" b="-13516"/>
          <a:stretch/>
        </p:blipFill>
        <p:spPr>
          <a:xfrm>
            <a:off x="3371394" y="12229185"/>
            <a:ext cx="658368" cy="743406"/>
          </a:xfrm>
          <a:prstGeom prst="rect">
            <a:avLst/>
          </a:prstGeom>
        </p:spPr>
      </p:pic>
      <p:sp>
        <p:nvSpPr>
          <p:cNvPr id="27" name="Text 17"/>
          <p:cNvSpPr txBox="1"/>
          <p:nvPr/>
        </p:nvSpPr>
        <p:spPr>
          <a:xfrm>
            <a:off x="4430268" y="12503507"/>
            <a:ext cx="11189514" cy="488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Host access:</a:t>
            </a:r>
            <a:r>
              <a:rPr lang="en-US" sz="3000" dirty="0">
                <a:solidFill>
                  <a:srgbClr val="2B2B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filesystem + processes lack boundaries</a:t>
            </a:r>
            <a:endParaRPr lang="en-US" sz="3000" dirty="0"/>
          </a:p>
        </p:txBody>
      </p:sp>
      <p:pic>
        <p:nvPicPr>
          <p:cNvPr id="28" name="Image 8" descr="preencoded.png"/>
          <p:cNvPicPr>
            <a:picLocks noChangeAspect="1"/>
          </p:cNvPicPr>
          <p:nvPr/>
        </p:nvPicPr>
        <p:blipFill>
          <a:blip r:embed="rId11"/>
          <a:srcRect t="-15144" b="-15144"/>
          <a:stretch/>
        </p:blipFill>
        <p:spPr>
          <a:xfrm>
            <a:off x="3371394" y="13716000"/>
            <a:ext cx="427938" cy="743406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4430270" y="13990322"/>
            <a:ext cx="12832689" cy="488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Low governance:</a:t>
            </a:r>
            <a:r>
              <a:rPr lang="en-US" sz="3000" dirty="0">
                <a:solidFill>
                  <a:srgbClr val="2B2B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hard to audit, constrain, and control costs</a:t>
            </a:r>
            <a:endParaRPr lang="en-US" sz="3000" dirty="0"/>
          </a:p>
        </p:txBody>
      </p:sp>
      <p:pic>
        <p:nvPicPr>
          <p:cNvPr id="30" name="Image 9" descr="preencoded.png"/>
          <p:cNvPicPr>
            <a:picLocks noChangeAspect="1"/>
          </p:cNvPicPr>
          <p:nvPr/>
        </p:nvPicPr>
        <p:blipFill>
          <a:blip r:embed="rId12"/>
          <a:srcRect t="-15144" b="-15144"/>
          <a:stretch/>
        </p:blipFill>
        <p:spPr>
          <a:xfrm>
            <a:off x="3601823" y="16459200"/>
            <a:ext cx="570585" cy="743406"/>
          </a:xfrm>
          <a:prstGeom prst="rect">
            <a:avLst/>
          </a:prstGeom>
        </p:spPr>
      </p:pic>
      <p:sp>
        <p:nvSpPr>
          <p:cNvPr id="31" name="Text 19"/>
          <p:cNvSpPr txBox="1"/>
          <p:nvPr/>
        </p:nvSpPr>
        <p:spPr>
          <a:xfrm>
            <a:off x="4630521" y="16423539"/>
            <a:ext cx="11373306" cy="943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dirty="0">
                <a:solidFill>
                  <a:srgbClr val="2B2B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“ClawJacked” (CVE-2026-25253) and sandbox escapes demonstrated takeover &amp; data-leak paths.</a:t>
            </a:r>
            <a:endParaRPr lang="en-US" sz="2700" dirty="0"/>
          </a:p>
        </p:txBody>
      </p:sp>
      <p:pic>
        <p:nvPicPr>
          <p:cNvPr id="32" name="Image 10" descr="preencoded.png"/>
          <p:cNvPicPr>
            <a:picLocks noChangeAspect="1"/>
          </p:cNvPicPr>
          <p:nvPr/>
        </p:nvPicPr>
        <p:blipFill>
          <a:blip r:embed="rId13"/>
          <a:srcRect t="-13101" b="-13101"/>
          <a:stretch/>
        </p:blipFill>
        <p:spPr>
          <a:xfrm>
            <a:off x="17929059" y="12371832"/>
            <a:ext cx="713232" cy="1028700"/>
          </a:xfrm>
          <a:prstGeom prst="rect">
            <a:avLst/>
          </a:prstGeom>
        </p:spPr>
      </p:pic>
      <p:pic>
        <p:nvPicPr>
          <p:cNvPr id="33" name="Image 11" descr="preencoded.png"/>
          <p:cNvPicPr>
            <a:picLocks noChangeAspect="1"/>
          </p:cNvPicPr>
          <p:nvPr/>
        </p:nvPicPr>
        <p:blipFill>
          <a:blip r:embed="rId14"/>
          <a:srcRect t="-12600" b="-12600"/>
          <a:stretch/>
        </p:blipFill>
        <p:spPr>
          <a:xfrm>
            <a:off x="20859294" y="7401155"/>
            <a:ext cx="685800" cy="858621"/>
          </a:xfrm>
          <a:prstGeom prst="rect">
            <a:avLst/>
          </a:prstGeom>
        </p:spPr>
      </p:pic>
      <p:sp>
        <p:nvSpPr>
          <p:cNvPr id="34" name="Text 20"/>
          <p:cNvSpPr txBox="1"/>
          <p:nvPr/>
        </p:nvSpPr>
        <p:spPr>
          <a:xfrm>
            <a:off x="22060815" y="7543800"/>
            <a:ext cx="8805672" cy="573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3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NemoClaw (enterprise boundaries)</a:t>
            </a:r>
            <a:endParaRPr lang="en-US" sz="3300" dirty="0"/>
          </a:p>
        </p:txBody>
      </p:sp>
      <p:pic>
        <p:nvPicPr>
          <p:cNvPr id="35" name="Image 12" descr="preencoded.png"/>
          <p:cNvPicPr>
            <a:picLocks noChangeAspect="1"/>
          </p:cNvPicPr>
          <p:nvPr/>
        </p:nvPicPr>
        <p:blipFill>
          <a:blip r:embed="rId15"/>
          <a:srcRect t="-15144" b="-15144"/>
          <a:stretch/>
        </p:blipFill>
        <p:spPr>
          <a:xfrm>
            <a:off x="21089721" y="9258300"/>
            <a:ext cx="713232" cy="743406"/>
          </a:xfrm>
          <a:prstGeom prst="rect">
            <a:avLst/>
          </a:prstGeom>
        </p:spPr>
      </p:pic>
      <p:sp>
        <p:nvSpPr>
          <p:cNvPr id="36" name="Text 21"/>
          <p:cNvSpPr txBox="1"/>
          <p:nvPr/>
        </p:nvSpPr>
        <p:spPr>
          <a:xfrm>
            <a:off x="22145853" y="9532622"/>
            <a:ext cx="12602262" cy="488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Deny-by-default egress:</a:t>
            </a:r>
            <a:r>
              <a:rPr lang="en-US" sz="3000" dirty="0">
                <a:solidFill>
                  <a:srgbClr val="2B2B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YAML policy + operator approvals</a:t>
            </a:r>
            <a:endParaRPr lang="en-US" sz="3000" dirty="0"/>
          </a:p>
        </p:txBody>
      </p:sp>
      <p:pic>
        <p:nvPicPr>
          <p:cNvPr id="37" name="Image 13" descr="preencoded.png"/>
          <p:cNvPicPr>
            <a:picLocks noChangeAspect="1"/>
          </p:cNvPicPr>
          <p:nvPr/>
        </p:nvPicPr>
        <p:blipFill>
          <a:blip r:embed="rId16"/>
          <a:srcRect t="-15144" b="-15144"/>
          <a:stretch/>
        </p:blipFill>
        <p:spPr>
          <a:xfrm>
            <a:off x="21089721" y="10745115"/>
            <a:ext cx="713232" cy="743406"/>
          </a:xfrm>
          <a:prstGeom prst="rect">
            <a:avLst/>
          </a:prstGeom>
        </p:spPr>
      </p:pic>
      <p:sp>
        <p:nvSpPr>
          <p:cNvPr id="38" name="Text 22"/>
          <p:cNvSpPr txBox="1"/>
          <p:nvPr/>
        </p:nvSpPr>
        <p:spPr>
          <a:xfrm>
            <a:off x="22145853" y="11016692"/>
            <a:ext cx="13356642" cy="488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Zero-credential sandbox:</a:t>
            </a:r>
            <a:r>
              <a:rPr lang="en-US" sz="3000" dirty="0">
                <a:solidFill>
                  <a:srgbClr val="2B2B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keys stay in gateway, never in agent</a:t>
            </a:r>
            <a:endParaRPr lang="en-US" sz="3000" dirty="0"/>
          </a:p>
        </p:txBody>
      </p:sp>
      <p:pic>
        <p:nvPicPr>
          <p:cNvPr id="39" name="Image 14" descr="preencoded.png"/>
          <p:cNvPicPr>
            <a:picLocks noChangeAspect="1"/>
          </p:cNvPicPr>
          <p:nvPr/>
        </p:nvPicPr>
        <p:blipFill>
          <a:blip r:embed="rId17"/>
          <a:srcRect t="-13065" b="-13065"/>
          <a:stretch/>
        </p:blipFill>
        <p:spPr>
          <a:xfrm>
            <a:off x="21089723" y="12229185"/>
            <a:ext cx="515721" cy="743406"/>
          </a:xfrm>
          <a:prstGeom prst="rect">
            <a:avLst/>
          </a:prstGeom>
        </p:spPr>
      </p:pic>
      <p:sp>
        <p:nvSpPr>
          <p:cNvPr id="40" name="Text 23"/>
          <p:cNvSpPr txBox="1"/>
          <p:nvPr/>
        </p:nvSpPr>
        <p:spPr>
          <a:xfrm>
            <a:off x="22145855" y="12503507"/>
            <a:ext cx="12380061" cy="488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Sandboxed execution:</a:t>
            </a:r>
            <a:r>
              <a:rPr lang="en-US" sz="3000" dirty="0">
                <a:solidFill>
                  <a:srgbClr val="2B2B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Landlock + seccomp + namespaces</a:t>
            </a:r>
            <a:endParaRPr lang="en-US" sz="3000" dirty="0"/>
          </a:p>
        </p:txBody>
      </p:sp>
      <p:pic>
        <p:nvPicPr>
          <p:cNvPr id="41" name="Image 15" descr="preencoded.png"/>
          <p:cNvPicPr>
            <a:picLocks noChangeAspect="1"/>
          </p:cNvPicPr>
          <p:nvPr/>
        </p:nvPicPr>
        <p:blipFill>
          <a:blip r:embed="rId18"/>
          <a:srcRect t="-15144" b="-15144"/>
          <a:stretch/>
        </p:blipFill>
        <p:spPr>
          <a:xfrm>
            <a:off x="21089723" y="13716000"/>
            <a:ext cx="570585" cy="743406"/>
          </a:xfrm>
          <a:prstGeom prst="rect">
            <a:avLst/>
          </a:prstGeom>
        </p:spPr>
      </p:pic>
      <p:sp>
        <p:nvSpPr>
          <p:cNvPr id="42" name="Text 24"/>
          <p:cNvSpPr txBox="1"/>
          <p:nvPr/>
        </p:nvSpPr>
        <p:spPr>
          <a:xfrm>
            <a:off x="22145853" y="13990322"/>
            <a:ext cx="13973862" cy="488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Routed inference:</a:t>
            </a:r>
            <a:r>
              <a:rPr lang="en-US" sz="3000" dirty="0">
                <a:solidFill>
                  <a:srgbClr val="2B2B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provider switching, usage tracking, sovereignty</a:t>
            </a:r>
            <a:endParaRPr lang="en-US" sz="3000" dirty="0"/>
          </a:p>
        </p:txBody>
      </p:sp>
      <p:pic>
        <p:nvPicPr>
          <p:cNvPr id="43" name="Image 16" descr="preencoded.png"/>
          <p:cNvPicPr>
            <a:picLocks noChangeAspect="1"/>
          </p:cNvPicPr>
          <p:nvPr/>
        </p:nvPicPr>
        <p:blipFill>
          <a:blip r:embed="rId19"/>
          <a:srcRect t="-13516" b="-13516"/>
          <a:stretch/>
        </p:blipFill>
        <p:spPr>
          <a:xfrm>
            <a:off x="21317406" y="16459200"/>
            <a:ext cx="658368" cy="743406"/>
          </a:xfrm>
          <a:prstGeom prst="rect">
            <a:avLst/>
          </a:prstGeom>
        </p:spPr>
      </p:pic>
      <p:sp>
        <p:nvSpPr>
          <p:cNvPr id="44" name="Text 25"/>
          <p:cNvSpPr txBox="1"/>
          <p:nvPr/>
        </p:nvSpPr>
        <p:spPr>
          <a:xfrm>
            <a:off x="22346106" y="16423539"/>
            <a:ext cx="4992624" cy="943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dirty="0">
                <a:solidFill>
                  <a:srgbClr val="2B2B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Reusable </a:t>
            </a:r>
            <a:r>
              <a:rPr lang="en-US" sz="27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SKILL.md</a:t>
            </a:r>
            <a:r>
              <a:rPr lang="en-US" sz="2700" dirty="0">
                <a:solidFill>
                  <a:srgbClr val="2B2B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automation</a:t>
            </a:r>
            <a:endParaRPr lang="en-US" sz="2700" dirty="0"/>
          </a:p>
        </p:txBody>
      </p:sp>
      <p:pic>
        <p:nvPicPr>
          <p:cNvPr id="45" name="Image 17" descr="preencoded.png"/>
          <p:cNvPicPr>
            <a:picLocks noChangeAspect="1"/>
          </p:cNvPicPr>
          <p:nvPr/>
        </p:nvPicPr>
        <p:blipFill>
          <a:blip r:embed="rId20"/>
          <a:srcRect t="-13516" b="-13516"/>
          <a:stretch/>
        </p:blipFill>
        <p:spPr>
          <a:xfrm>
            <a:off x="28460700" y="16459200"/>
            <a:ext cx="658368" cy="743406"/>
          </a:xfrm>
          <a:prstGeom prst="rect">
            <a:avLst/>
          </a:prstGeom>
        </p:spPr>
      </p:pic>
      <p:sp>
        <p:nvSpPr>
          <p:cNvPr id="46" name="Text 26"/>
          <p:cNvSpPr txBox="1"/>
          <p:nvPr/>
        </p:nvSpPr>
        <p:spPr>
          <a:xfrm>
            <a:off x="29489400" y="16190367"/>
            <a:ext cx="4402836" cy="1401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b="1" dirty="0" err="1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nemoclaw</a:t>
            </a:r>
            <a:r>
              <a:rPr lang="en-US" sz="27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onboard</a:t>
            </a:r>
            <a:endParaRPr lang="en-US" sz="2700" dirty="0"/>
          </a:p>
          <a:p>
            <a:r>
              <a:rPr lang="en-US" sz="2700" dirty="0">
                <a:solidFill>
                  <a:srgbClr val="2B2B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creates a hardened sandbox</a:t>
            </a:r>
            <a:endParaRPr lang="en-US" sz="2700" dirty="0"/>
          </a:p>
        </p:txBody>
      </p:sp>
      <p:pic>
        <p:nvPicPr>
          <p:cNvPr id="47" name="Image 18" descr="preencoded.png"/>
          <p:cNvPicPr>
            <a:picLocks noChangeAspect="1"/>
          </p:cNvPicPr>
          <p:nvPr/>
        </p:nvPicPr>
        <p:blipFill>
          <a:blip r:embed="rId21"/>
          <a:srcRect t="-19160" b="-19160"/>
          <a:stretch/>
        </p:blipFill>
        <p:spPr>
          <a:xfrm>
            <a:off x="3201317" y="19202402"/>
            <a:ext cx="543153" cy="858621"/>
          </a:xfrm>
          <a:prstGeom prst="rect">
            <a:avLst/>
          </a:prstGeom>
        </p:spPr>
      </p:pic>
      <p:sp>
        <p:nvSpPr>
          <p:cNvPr id="48" name="Text 27"/>
          <p:cNvSpPr txBox="1"/>
          <p:nvPr/>
        </p:nvSpPr>
        <p:spPr>
          <a:xfrm>
            <a:off x="4430270" y="19421858"/>
            <a:ext cx="16231515" cy="45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dirty="0">
                <a:solidFill>
                  <a:srgbClr val="2B2B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Keeps autonomous agent power—while enforcing enterprise security boundaries.</a:t>
            </a:r>
            <a:endParaRPr lang="en-US" sz="2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" y="0"/>
            <a:ext cx="36575085" cy="2057400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5400"/>
          </a:p>
        </p:txBody>
      </p:sp>
      <p:sp>
        <p:nvSpPr>
          <p:cNvPr id="3" name="Shape 1"/>
          <p:cNvSpPr/>
          <p:nvPr/>
        </p:nvSpPr>
        <p:spPr>
          <a:xfrm>
            <a:off x="2" y="0"/>
            <a:ext cx="36575085" cy="2057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5400"/>
          </a:p>
        </p:txBody>
      </p:sp>
      <p:sp>
        <p:nvSpPr>
          <p:cNvPr id="4" name="Shape 2"/>
          <p:cNvSpPr/>
          <p:nvPr/>
        </p:nvSpPr>
        <p:spPr>
          <a:xfrm>
            <a:off x="2" y="2"/>
            <a:ext cx="36575085" cy="1829715"/>
          </a:xfrm>
          <a:prstGeom prst="rect">
            <a:avLst/>
          </a:prstGeom>
          <a:solidFill>
            <a:srgbClr val="76B9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540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l="-399" r="-399"/>
          <a:stretch/>
        </p:blipFill>
        <p:spPr>
          <a:xfrm>
            <a:off x="1999796" y="2457906"/>
            <a:ext cx="172821" cy="1754550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573123" y="2627985"/>
            <a:ext cx="32117385" cy="14687094"/>
          </a:xfrm>
          <a:prstGeom prst="roundRect">
            <a:avLst>
              <a:gd name="adj" fmla="val 1308"/>
            </a:avLst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5400"/>
          </a:p>
        </p:txBody>
      </p:sp>
      <p:sp>
        <p:nvSpPr>
          <p:cNvPr id="7" name="Shape 4"/>
          <p:cNvSpPr/>
          <p:nvPr/>
        </p:nvSpPr>
        <p:spPr>
          <a:xfrm>
            <a:off x="6002123" y="3201317"/>
            <a:ext cx="25259385" cy="2230221"/>
          </a:xfrm>
          <a:prstGeom prst="roundRect">
            <a:avLst>
              <a:gd name="adj" fmla="val 50462"/>
            </a:avLst>
          </a:prstGeom>
          <a:solidFill>
            <a:srgbClr val="E8F5E9"/>
          </a:solidFill>
          <a:ln w="254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5400"/>
          </a:p>
        </p:txBody>
      </p:sp>
      <p:sp>
        <p:nvSpPr>
          <p:cNvPr id="8" name="Shape 5"/>
          <p:cNvSpPr/>
          <p:nvPr/>
        </p:nvSpPr>
        <p:spPr>
          <a:xfrm>
            <a:off x="18231308" y="5371185"/>
            <a:ext cx="115215" cy="400506"/>
          </a:xfrm>
          <a:prstGeom prst="rect">
            <a:avLst/>
          </a:prstGeom>
          <a:solidFill>
            <a:srgbClr val="8C8C8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5400"/>
          </a:p>
        </p:txBody>
      </p:sp>
      <p:sp>
        <p:nvSpPr>
          <p:cNvPr id="9" name="Shape 6"/>
          <p:cNvSpPr/>
          <p:nvPr/>
        </p:nvSpPr>
        <p:spPr>
          <a:xfrm>
            <a:off x="18031055" y="5771694"/>
            <a:ext cx="515721" cy="342900"/>
          </a:xfrm>
          <a:prstGeom prst="rect">
            <a:avLst/>
          </a:prstGeom>
          <a:noFill/>
          <a:ln w="152400">
            <a:solidFill>
              <a:srgbClr val="8C8C8C"/>
            </a:solidFill>
            <a:prstDash val="solid"/>
          </a:ln>
        </p:spPr>
        <p:txBody>
          <a:bodyPr/>
          <a:lstStyle/>
          <a:p>
            <a:endParaRPr lang="en-US" sz="5400"/>
          </a:p>
        </p:txBody>
      </p:sp>
      <p:sp>
        <p:nvSpPr>
          <p:cNvPr id="10" name="Shape 7"/>
          <p:cNvSpPr/>
          <p:nvPr/>
        </p:nvSpPr>
        <p:spPr>
          <a:xfrm>
            <a:off x="4858208" y="6172200"/>
            <a:ext cx="27547215" cy="51435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5400"/>
          </a:p>
        </p:txBody>
      </p:sp>
      <p:sp>
        <p:nvSpPr>
          <p:cNvPr id="11" name="Shape 8"/>
          <p:cNvSpPr/>
          <p:nvPr/>
        </p:nvSpPr>
        <p:spPr>
          <a:xfrm>
            <a:off x="5714085" y="7771485"/>
            <a:ext cx="12772338" cy="3086100"/>
          </a:xfrm>
          <a:prstGeom prst="roundRect">
            <a:avLst>
              <a:gd name="adj" fmla="val 23045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 sz="5400"/>
          </a:p>
        </p:txBody>
      </p:sp>
      <p:sp>
        <p:nvSpPr>
          <p:cNvPr id="12" name="Shape 9"/>
          <p:cNvSpPr/>
          <p:nvPr/>
        </p:nvSpPr>
        <p:spPr>
          <a:xfrm>
            <a:off x="19287440" y="7771485"/>
            <a:ext cx="12487047" cy="3086100"/>
          </a:xfrm>
          <a:prstGeom prst="roundRect">
            <a:avLst>
              <a:gd name="adj" fmla="val 23045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 sz="5400"/>
          </a:p>
        </p:txBody>
      </p:sp>
      <p:sp>
        <p:nvSpPr>
          <p:cNvPr id="13" name="Shape 10"/>
          <p:cNvSpPr/>
          <p:nvPr/>
        </p:nvSpPr>
        <p:spPr>
          <a:xfrm>
            <a:off x="18231308" y="11315700"/>
            <a:ext cx="115215" cy="400506"/>
          </a:xfrm>
          <a:prstGeom prst="rect">
            <a:avLst/>
          </a:prstGeom>
          <a:solidFill>
            <a:srgbClr val="8C8C8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5400"/>
          </a:p>
        </p:txBody>
      </p:sp>
      <p:sp>
        <p:nvSpPr>
          <p:cNvPr id="14" name="Shape 11"/>
          <p:cNvSpPr/>
          <p:nvPr/>
        </p:nvSpPr>
        <p:spPr>
          <a:xfrm>
            <a:off x="18031055" y="11716206"/>
            <a:ext cx="515721" cy="342900"/>
          </a:xfrm>
          <a:prstGeom prst="rect">
            <a:avLst/>
          </a:prstGeom>
          <a:noFill/>
          <a:ln w="152400">
            <a:solidFill>
              <a:srgbClr val="8C8C8C"/>
            </a:solidFill>
            <a:prstDash val="solid"/>
          </a:ln>
        </p:spPr>
        <p:txBody>
          <a:bodyPr/>
          <a:lstStyle/>
          <a:p>
            <a:endParaRPr lang="en-US" sz="5400"/>
          </a:p>
        </p:txBody>
      </p:sp>
      <p:sp>
        <p:nvSpPr>
          <p:cNvPr id="15" name="Shape 12"/>
          <p:cNvSpPr/>
          <p:nvPr/>
        </p:nvSpPr>
        <p:spPr>
          <a:xfrm>
            <a:off x="4858208" y="12116717"/>
            <a:ext cx="27547215" cy="4572915"/>
          </a:xfrm>
          <a:prstGeom prst="roundRect">
            <a:avLst>
              <a:gd name="adj" fmla="val 13497"/>
            </a:avLst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5400"/>
          </a:p>
        </p:txBody>
      </p:sp>
      <p:sp>
        <p:nvSpPr>
          <p:cNvPr id="16" name="Shape 13"/>
          <p:cNvSpPr/>
          <p:nvPr/>
        </p:nvSpPr>
        <p:spPr>
          <a:xfrm>
            <a:off x="5714085" y="13716002"/>
            <a:ext cx="12772338" cy="2573121"/>
          </a:xfrm>
          <a:prstGeom prst="roundRect">
            <a:avLst>
              <a:gd name="adj" fmla="val 33168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 sz="5400"/>
          </a:p>
        </p:txBody>
      </p:sp>
      <p:sp>
        <p:nvSpPr>
          <p:cNvPr id="17" name="Shape 14"/>
          <p:cNvSpPr/>
          <p:nvPr/>
        </p:nvSpPr>
        <p:spPr>
          <a:xfrm>
            <a:off x="19287440" y="13716002"/>
            <a:ext cx="12487047" cy="2573121"/>
          </a:xfrm>
          <a:prstGeom prst="roundRect">
            <a:avLst>
              <a:gd name="adj" fmla="val 33168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 sz="5400"/>
          </a:p>
        </p:txBody>
      </p:sp>
      <p:sp>
        <p:nvSpPr>
          <p:cNvPr id="18" name="Shape 15"/>
          <p:cNvSpPr/>
          <p:nvPr/>
        </p:nvSpPr>
        <p:spPr>
          <a:xfrm>
            <a:off x="2573123" y="17487902"/>
            <a:ext cx="32062521" cy="2573121"/>
          </a:xfrm>
          <a:prstGeom prst="roundRect">
            <a:avLst>
              <a:gd name="adj" fmla="val 33168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 sz="5400"/>
          </a:p>
        </p:txBody>
      </p:sp>
      <p:sp>
        <p:nvSpPr>
          <p:cNvPr id="19" name="Text 16"/>
          <p:cNvSpPr txBox="1"/>
          <p:nvPr/>
        </p:nvSpPr>
        <p:spPr>
          <a:xfrm>
            <a:off x="9143087" y="441654"/>
            <a:ext cx="18288915" cy="943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Security Features — Four-Layer Protection Model</a:t>
            </a:r>
            <a:endParaRPr lang="en-US" sz="5400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613854" y="3856940"/>
            <a:ext cx="1001268" cy="801015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7829094" y="3429000"/>
            <a:ext cx="23204730" cy="573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3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Operator</a:t>
            </a:r>
            <a:endParaRPr lang="en-US" sz="3300" dirty="0"/>
          </a:p>
        </p:txBody>
      </p:sp>
      <p:sp>
        <p:nvSpPr>
          <p:cNvPr id="22" name="Text 18"/>
          <p:cNvSpPr txBox="1"/>
          <p:nvPr/>
        </p:nvSpPr>
        <p:spPr>
          <a:xfrm>
            <a:off x="7829094" y="4142234"/>
            <a:ext cx="23204730" cy="45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dirty="0">
                <a:solidFill>
                  <a:srgbClr val="2B2B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Approves / denies / monitors unknown endpoints and policy exceptions in real-time</a:t>
            </a:r>
            <a:endParaRPr lang="en-US" sz="270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rcRect l="-685" r="-685"/>
          <a:stretch/>
        </p:blipFill>
        <p:spPr>
          <a:xfrm>
            <a:off x="5513834" y="6830570"/>
            <a:ext cx="913485" cy="801015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6687923" y="6742785"/>
            <a:ext cx="25489815" cy="573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3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OpenShell Gateway</a:t>
            </a:r>
            <a:endParaRPr lang="en-US" sz="3300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rcRect l="-1004" r="-1004"/>
          <a:stretch/>
        </p:blipFill>
        <p:spPr>
          <a:xfrm>
            <a:off x="6229808" y="8314638"/>
            <a:ext cx="801015" cy="628194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7200902" y="8001917"/>
            <a:ext cx="11060583" cy="5157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Network</a:t>
            </a:r>
            <a:endParaRPr lang="en-US" sz="2700" dirty="0"/>
          </a:p>
        </p:txBody>
      </p:sp>
      <p:sp>
        <p:nvSpPr>
          <p:cNvPr id="27" name="Text 21"/>
          <p:cNvSpPr txBox="1"/>
          <p:nvPr/>
        </p:nvSpPr>
        <p:spPr>
          <a:xfrm>
            <a:off x="7200902" y="8630108"/>
            <a:ext cx="11060583" cy="45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dirty="0">
                <a:solidFill>
                  <a:srgbClr val="2B2B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Deny-by-default egress</a:t>
            </a:r>
            <a:endParaRPr lang="en-US" sz="2700" dirty="0"/>
          </a:p>
        </p:txBody>
      </p:sp>
      <p:sp>
        <p:nvSpPr>
          <p:cNvPr id="28" name="Text 22"/>
          <p:cNvSpPr txBox="1"/>
          <p:nvPr/>
        </p:nvSpPr>
        <p:spPr>
          <a:xfrm>
            <a:off x="7200902" y="9132116"/>
            <a:ext cx="11060583" cy="45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dirty="0">
                <a:solidFill>
                  <a:srgbClr val="2B2B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Binary-scoped allow rules</a:t>
            </a:r>
            <a:endParaRPr lang="en-US" sz="2700" dirty="0"/>
          </a:p>
        </p:txBody>
      </p:sp>
      <p:sp>
        <p:nvSpPr>
          <p:cNvPr id="29" name="Text 23"/>
          <p:cNvSpPr txBox="1"/>
          <p:nvPr/>
        </p:nvSpPr>
        <p:spPr>
          <a:xfrm>
            <a:off x="7200902" y="9634121"/>
            <a:ext cx="11060583" cy="45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dirty="0">
                <a:solidFill>
                  <a:srgbClr val="2B2B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L7 inspection + approval flow</a:t>
            </a:r>
            <a:endParaRPr lang="en-US" sz="2700" dirty="0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9888200" y="8314638"/>
            <a:ext cx="628194" cy="628194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20774255" y="8001917"/>
            <a:ext cx="10775289" cy="5157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Inference</a:t>
            </a:r>
            <a:endParaRPr lang="en-US" sz="2700" dirty="0"/>
          </a:p>
        </p:txBody>
      </p:sp>
      <p:sp>
        <p:nvSpPr>
          <p:cNvPr id="32" name="Text 25"/>
          <p:cNvSpPr txBox="1"/>
          <p:nvPr/>
        </p:nvSpPr>
        <p:spPr>
          <a:xfrm>
            <a:off x="20774255" y="8630108"/>
            <a:ext cx="10775289" cy="45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dirty="0">
                <a:solidFill>
                  <a:srgbClr val="2B2B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All model calls routed via gateway</a:t>
            </a:r>
            <a:endParaRPr lang="en-US" sz="2700" dirty="0"/>
          </a:p>
        </p:txBody>
      </p:sp>
      <p:sp>
        <p:nvSpPr>
          <p:cNvPr id="33" name="Text 26"/>
          <p:cNvSpPr txBox="1"/>
          <p:nvPr/>
        </p:nvSpPr>
        <p:spPr>
          <a:xfrm>
            <a:off x="20774255" y="9132116"/>
            <a:ext cx="10775289" cy="45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b="1" dirty="0">
                <a:solidFill>
                  <a:srgbClr val="2B2B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Agent never sees API keys</a:t>
            </a:r>
            <a:endParaRPr lang="en-US" sz="2700" dirty="0"/>
          </a:p>
        </p:txBody>
      </p:sp>
      <p:sp>
        <p:nvSpPr>
          <p:cNvPr id="34" name="Text 27"/>
          <p:cNvSpPr txBox="1"/>
          <p:nvPr/>
        </p:nvSpPr>
        <p:spPr>
          <a:xfrm>
            <a:off x="20774255" y="9634121"/>
            <a:ext cx="10775289" cy="45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dirty="0">
                <a:solidFill>
                  <a:srgbClr val="2B2B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Provider switching + cost tracking</a:t>
            </a:r>
            <a:endParaRPr lang="en-US" sz="2700" dirty="0"/>
          </a:p>
        </p:txBody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5472684" y="12772340"/>
            <a:ext cx="1001268" cy="801015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6687923" y="12687300"/>
            <a:ext cx="25489815" cy="573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3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Sandbox Container</a:t>
            </a:r>
            <a:endParaRPr lang="en-US" sz="3300" dirty="0"/>
          </a:p>
        </p:txBody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9"/>
          <a:srcRect l="-461" r="-461"/>
          <a:stretch/>
        </p:blipFill>
        <p:spPr>
          <a:xfrm>
            <a:off x="6270954" y="14259153"/>
            <a:ext cx="713232" cy="628194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7200902" y="13943687"/>
            <a:ext cx="11060583" cy="5157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Filesystem</a:t>
            </a:r>
            <a:endParaRPr lang="en-US" sz="2700" dirty="0"/>
          </a:p>
        </p:txBody>
      </p:sp>
      <p:sp>
        <p:nvSpPr>
          <p:cNvPr id="39" name="Text 30"/>
          <p:cNvSpPr txBox="1"/>
          <p:nvPr/>
        </p:nvSpPr>
        <p:spPr>
          <a:xfrm>
            <a:off x="7200902" y="14574623"/>
            <a:ext cx="11060583" cy="430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dirty="0">
                <a:solidFill>
                  <a:srgbClr val="2B2B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System paths read-only</a:t>
            </a:r>
            <a:endParaRPr lang="en-US" sz="2700" dirty="0"/>
          </a:p>
        </p:txBody>
      </p:sp>
      <p:sp>
        <p:nvSpPr>
          <p:cNvPr id="40" name="Text 31"/>
          <p:cNvSpPr txBox="1"/>
          <p:nvPr/>
        </p:nvSpPr>
        <p:spPr>
          <a:xfrm>
            <a:off x="7200902" y="15060170"/>
            <a:ext cx="11060583" cy="430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dirty="0">
                <a:solidFill>
                  <a:srgbClr val="2B2B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Writable only: </a:t>
            </a:r>
            <a:r>
              <a:rPr lang="en-US" sz="2700" b="1" dirty="0">
                <a:solidFill>
                  <a:srgbClr val="2B2B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/sandbox</a:t>
            </a:r>
            <a:r>
              <a:rPr lang="en-US" sz="2700" dirty="0">
                <a:solidFill>
                  <a:srgbClr val="2B2B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</a:t>
            </a:r>
            <a:r>
              <a:rPr lang="en-US" sz="2700" b="1" dirty="0">
                <a:solidFill>
                  <a:srgbClr val="2B2B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/tmp</a:t>
            </a:r>
            <a:endParaRPr lang="en-US" sz="2700" dirty="0"/>
          </a:p>
        </p:txBody>
      </p:sp>
      <p:sp>
        <p:nvSpPr>
          <p:cNvPr id="41" name="Text 32"/>
          <p:cNvSpPr txBox="1"/>
          <p:nvPr/>
        </p:nvSpPr>
        <p:spPr>
          <a:xfrm>
            <a:off x="7200902" y="15545717"/>
            <a:ext cx="11060583" cy="430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dirty="0">
                <a:solidFill>
                  <a:srgbClr val="2B2B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Config integrity checks</a:t>
            </a:r>
            <a:endParaRPr lang="en-US" sz="2700" dirty="0"/>
          </a:p>
        </p:txBody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9888200" y="14259153"/>
            <a:ext cx="628194" cy="628194"/>
          </a:xfrm>
          <a:prstGeom prst="rect">
            <a:avLst/>
          </a:prstGeom>
        </p:spPr>
      </p:pic>
      <p:sp>
        <p:nvSpPr>
          <p:cNvPr id="43" name="Text 33"/>
          <p:cNvSpPr txBox="1"/>
          <p:nvPr/>
        </p:nvSpPr>
        <p:spPr>
          <a:xfrm>
            <a:off x="20774255" y="13943687"/>
            <a:ext cx="10775289" cy="5157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Process</a:t>
            </a:r>
            <a:endParaRPr lang="en-US" sz="2700" dirty="0"/>
          </a:p>
        </p:txBody>
      </p:sp>
      <p:sp>
        <p:nvSpPr>
          <p:cNvPr id="44" name="Text 34"/>
          <p:cNvSpPr txBox="1"/>
          <p:nvPr/>
        </p:nvSpPr>
        <p:spPr>
          <a:xfrm>
            <a:off x="20774255" y="14574623"/>
            <a:ext cx="10775289" cy="430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dirty="0">
                <a:solidFill>
                  <a:srgbClr val="2B2B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cap_drop=ALL + seccomp filters</a:t>
            </a:r>
            <a:endParaRPr lang="en-US" sz="2700" dirty="0"/>
          </a:p>
        </p:txBody>
      </p:sp>
      <p:sp>
        <p:nvSpPr>
          <p:cNvPr id="45" name="Text 35"/>
          <p:cNvSpPr txBox="1"/>
          <p:nvPr/>
        </p:nvSpPr>
        <p:spPr>
          <a:xfrm>
            <a:off x="20774255" y="15060170"/>
            <a:ext cx="10775289" cy="430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dirty="0">
                <a:solidFill>
                  <a:srgbClr val="2B2B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no-new-privileges + non-root user</a:t>
            </a:r>
            <a:endParaRPr lang="en-US" sz="2700" dirty="0"/>
          </a:p>
        </p:txBody>
      </p:sp>
      <p:sp>
        <p:nvSpPr>
          <p:cNvPr id="46" name="Text 36"/>
          <p:cNvSpPr txBox="1"/>
          <p:nvPr/>
        </p:nvSpPr>
        <p:spPr>
          <a:xfrm>
            <a:off x="20774255" y="15545717"/>
            <a:ext cx="10775289" cy="430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dirty="0">
                <a:solidFill>
                  <a:srgbClr val="2B2B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nproc limits (e.g., 512)</a:t>
            </a:r>
            <a:endParaRPr lang="en-US" sz="2700" dirty="0"/>
          </a:p>
        </p:txBody>
      </p:sp>
      <p:pic>
        <p:nvPicPr>
          <p:cNvPr id="47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3258921" y="18231306"/>
            <a:ext cx="743406" cy="743406"/>
          </a:xfrm>
          <a:prstGeom prst="rect">
            <a:avLst/>
          </a:prstGeom>
        </p:spPr>
      </p:pic>
      <p:sp>
        <p:nvSpPr>
          <p:cNvPr id="48" name="Text 37"/>
          <p:cNvSpPr txBox="1"/>
          <p:nvPr/>
        </p:nvSpPr>
        <p:spPr>
          <a:xfrm>
            <a:off x="4342485" y="17882924"/>
            <a:ext cx="30062730" cy="45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b="1" dirty="0">
                <a:solidFill>
                  <a:srgbClr val="2B2B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Zero-credential sandbox:</a:t>
            </a:r>
            <a:r>
              <a:rPr lang="en-US" sz="2700" dirty="0">
                <a:solidFill>
                  <a:srgbClr val="2B2B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secrets stay outside</a:t>
            </a:r>
            <a:endParaRPr lang="en-US" sz="2700" dirty="0"/>
          </a:p>
        </p:txBody>
      </p:sp>
      <p:sp>
        <p:nvSpPr>
          <p:cNvPr id="49" name="Text 38"/>
          <p:cNvSpPr txBox="1"/>
          <p:nvPr/>
        </p:nvSpPr>
        <p:spPr>
          <a:xfrm>
            <a:off x="4342485" y="18384929"/>
            <a:ext cx="30062730" cy="45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b="1" dirty="0">
                <a:solidFill>
                  <a:srgbClr val="2B2B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Audit-ready logs:</a:t>
            </a:r>
            <a:r>
              <a:rPr lang="en-US" sz="2700" dirty="0">
                <a:solidFill>
                  <a:srgbClr val="2B2B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who/what/where</a:t>
            </a:r>
            <a:endParaRPr lang="en-US" sz="2700" dirty="0"/>
          </a:p>
        </p:txBody>
      </p:sp>
      <p:sp>
        <p:nvSpPr>
          <p:cNvPr id="50" name="Text 39"/>
          <p:cNvSpPr txBox="1"/>
          <p:nvPr/>
        </p:nvSpPr>
        <p:spPr>
          <a:xfrm>
            <a:off x="4342485" y="18886934"/>
            <a:ext cx="30062730" cy="45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b="1" dirty="0">
                <a:solidFill>
                  <a:srgbClr val="2B2B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Secret redaction:</a:t>
            </a:r>
            <a:r>
              <a:rPr lang="en-US" sz="2700" dirty="0">
                <a:solidFill>
                  <a:srgbClr val="2B2B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keys masked in outputs • </a:t>
            </a:r>
            <a:r>
              <a:rPr lang="en-US" sz="2700" b="1" dirty="0">
                <a:solidFill>
                  <a:srgbClr val="2B2B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sovereignty:</a:t>
            </a:r>
            <a:r>
              <a:rPr lang="en-US" sz="2700" dirty="0">
                <a:solidFill>
                  <a:srgbClr val="2B2B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local Ollama option</a:t>
            </a:r>
            <a:endParaRPr lang="en-US" sz="2700" dirty="0"/>
          </a:p>
        </p:txBody>
      </p:sp>
      <p:sp>
        <p:nvSpPr>
          <p:cNvPr id="51" name="Text 40"/>
          <p:cNvSpPr txBox="1"/>
          <p:nvPr/>
        </p:nvSpPr>
        <p:spPr>
          <a:xfrm>
            <a:off x="4342485" y="19391684"/>
            <a:ext cx="30062730" cy="45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b="1" dirty="0">
                <a:solidFill>
                  <a:srgbClr val="2B2B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Least privilege:</a:t>
            </a:r>
            <a:r>
              <a:rPr lang="en-US" sz="2700" dirty="0">
                <a:solidFill>
                  <a:srgbClr val="2B2B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policy-gated egress &amp; RBAC • </a:t>
            </a:r>
            <a:r>
              <a:rPr lang="en-US" sz="2700" b="1" dirty="0">
                <a:solidFill>
                  <a:srgbClr val="2B2B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Blast radius control:</a:t>
            </a:r>
            <a:r>
              <a:rPr lang="en-US" sz="2700" dirty="0">
                <a:solidFill>
                  <a:srgbClr val="2B2B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hard boundaries</a:t>
            </a:r>
            <a:endParaRPr lang="en-US" sz="2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" y="0"/>
            <a:ext cx="36575085" cy="2057400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5400"/>
          </a:p>
        </p:txBody>
      </p:sp>
      <p:sp>
        <p:nvSpPr>
          <p:cNvPr id="3" name="Shape 1"/>
          <p:cNvSpPr/>
          <p:nvPr/>
        </p:nvSpPr>
        <p:spPr>
          <a:xfrm>
            <a:off x="2" y="0"/>
            <a:ext cx="36575085" cy="2057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5400"/>
          </a:p>
        </p:txBody>
      </p:sp>
      <p:sp>
        <p:nvSpPr>
          <p:cNvPr id="4" name="Shape 2"/>
          <p:cNvSpPr/>
          <p:nvPr/>
        </p:nvSpPr>
        <p:spPr>
          <a:xfrm>
            <a:off x="2" y="2"/>
            <a:ext cx="36575085" cy="1829715"/>
          </a:xfrm>
          <a:prstGeom prst="rect">
            <a:avLst/>
          </a:prstGeom>
          <a:solidFill>
            <a:srgbClr val="76B9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540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l="-399" r="-399"/>
          <a:stretch/>
        </p:blipFill>
        <p:spPr>
          <a:xfrm>
            <a:off x="1999796" y="2457905"/>
            <a:ext cx="175563" cy="1782388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573123" y="2457908"/>
            <a:ext cx="32117385" cy="13545921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5400"/>
          </a:p>
        </p:txBody>
      </p:sp>
      <p:sp>
        <p:nvSpPr>
          <p:cNvPr id="7" name="Shape 4"/>
          <p:cNvSpPr/>
          <p:nvPr/>
        </p:nvSpPr>
        <p:spPr>
          <a:xfrm>
            <a:off x="3429002" y="3028496"/>
            <a:ext cx="30402885" cy="2515515"/>
          </a:xfrm>
          <a:prstGeom prst="roundRect">
            <a:avLst>
              <a:gd name="adj" fmla="val 39655"/>
            </a:avLst>
          </a:prstGeom>
          <a:solidFill>
            <a:srgbClr val="E8F5E9"/>
          </a:solidFill>
          <a:ln w="254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5400"/>
          </a:p>
        </p:txBody>
      </p:sp>
      <p:sp>
        <p:nvSpPr>
          <p:cNvPr id="8" name="Shape 5"/>
          <p:cNvSpPr/>
          <p:nvPr/>
        </p:nvSpPr>
        <p:spPr>
          <a:xfrm>
            <a:off x="18288917" y="5428794"/>
            <a:ext cx="115215" cy="342900"/>
          </a:xfrm>
          <a:prstGeom prst="rect">
            <a:avLst/>
          </a:prstGeom>
          <a:solidFill>
            <a:srgbClr val="8C8C8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5400"/>
          </a:p>
        </p:txBody>
      </p:sp>
      <p:sp>
        <p:nvSpPr>
          <p:cNvPr id="9" name="Shape 6"/>
          <p:cNvSpPr/>
          <p:nvPr/>
        </p:nvSpPr>
        <p:spPr>
          <a:xfrm>
            <a:off x="18088664" y="5771694"/>
            <a:ext cx="515721" cy="285294"/>
          </a:xfrm>
          <a:prstGeom prst="rect">
            <a:avLst/>
          </a:prstGeom>
          <a:noFill/>
          <a:ln w="127000">
            <a:solidFill>
              <a:srgbClr val="8C8C8C"/>
            </a:solidFill>
            <a:prstDash val="solid"/>
          </a:ln>
        </p:spPr>
        <p:txBody>
          <a:bodyPr/>
          <a:lstStyle/>
          <a:p>
            <a:endParaRPr lang="en-US" sz="5400"/>
          </a:p>
        </p:txBody>
      </p:sp>
      <p:sp>
        <p:nvSpPr>
          <p:cNvPr id="10" name="Shape 7"/>
          <p:cNvSpPr/>
          <p:nvPr/>
        </p:nvSpPr>
        <p:spPr>
          <a:xfrm>
            <a:off x="3429002" y="6114594"/>
            <a:ext cx="30402885" cy="27432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5400"/>
          </a:p>
        </p:txBody>
      </p:sp>
      <p:sp>
        <p:nvSpPr>
          <p:cNvPr id="11" name="Shape 8"/>
          <p:cNvSpPr/>
          <p:nvPr/>
        </p:nvSpPr>
        <p:spPr>
          <a:xfrm>
            <a:off x="18288917" y="8745321"/>
            <a:ext cx="115215" cy="342900"/>
          </a:xfrm>
          <a:prstGeom prst="rect">
            <a:avLst/>
          </a:prstGeom>
          <a:solidFill>
            <a:srgbClr val="8C8C8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5400"/>
          </a:p>
        </p:txBody>
      </p:sp>
      <p:sp>
        <p:nvSpPr>
          <p:cNvPr id="12" name="Shape 9"/>
          <p:cNvSpPr/>
          <p:nvPr/>
        </p:nvSpPr>
        <p:spPr>
          <a:xfrm>
            <a:off x="18088664" y="9088221"/>
            <a:ext cx="515721" cy="285294"/>
          </a:xfrm>
          <a:prstGeom prst="rect">
            <a:avLst/>
          </a:prstGeom>
          <a:noFill/>
          <a:ln w="127000">
            <a:solidFill>
              <a:srgbClr val="8C8C8C"/>
            </a:solidFill>
            <a:prstDash val="solid"/>
          </a:ln>
        </p:spPr>
        <p:txBody>
          <a:bodyPr/>
          <a:lstStyle/>
          <a:p>
            <a:endParaRPr lang="en-US" sz="5400"/>
          </a:p>
        </p:txBody>
      </p:sp>
      <p:sp>
        <p:nvSpPr>
          <p:cNvPr id="13" name="Shape 10"/>
          <p:cNvSpPr/>
          <p:nvPr/>
        </p:nvSpPr>
        <p:spPr>
          <a:xfrm>
            <a:off x="3429002" y="9431121"/>
            <a:ext cx="30402885" cy="3429000"/>
          </a:xfrm>
          <a:prstGeom prst="roundRect">
            <a:avLst>
              <a:gd name="adj" fmla="val 21333"/>
            </a:avLst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5400"/>
          </a:p>
        </p:txBody>
      </p:sp>
      <p:sp>
        <p:nvSpPr>
          <p:cNvPr id="14" name="Shape 11"/>
          <p:cNvSpPr/>
          <p:nvPr/>
        </p:nvSpPr>
        <p:spPr>
          <a:xfrm>
            <a:off x="21144585" y="9716415"/>
            <a:ext cx="12059106" cy="2800806"/>
          </a:xfrm>
          <a:prstGeom prst="roundRect">
            <a:avLst>
              <a:gd name="adj" fmla="val 27984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 sz="5400"/>
          </a:p>
        </p:txBody>
      </p:sp>
      <p:sp>
        <p:nvSpPr>
          <p:cNvPr id="15" name="Shape 12"/>
          <p:cNvSpPr/>
          <p:nvPr/>
        </p:nvSpPr>
        <p:spPr>
          <a:xfrm>
            <a:off x="18288917" y="12744906"/>
            <a:ext cx="115215" cy="342900"/>
          </a:xfrm>
          <a:prstGeom prst="rect">
            <a:avLst/>
          </a:prstGeom>
          <a:solidFill>
            <a:srgbClr val="8C8C8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5400"/>
          </a:p>
        </p:txBody>
      </p:sp>
      <p:sp>
        <p:nvSpPr>
          <p:cNvPr id="16" name="Shape 13"/>
          <p:cNvSpPr/>
          <p:nvPr/>
        </p:nvSpPr>
        <p:spPr>
          <a:xfrm>
            <a:off x="18088664" y="13087806"/>
            <a:ext cx="515721" cy="285294"/>
          </a:xfrm>
          <a:prstGeom prst="rect">
            <a:avLst/>
          </a:prstGeom>
          <a:noFill/>
          <a:ln w="127000">
            <a:solidFill>
              <a:srgbClr val="8C8C8C"/>
            </a:solidFill>
            <a:prstDash val="solid"/>
          </a:ln>
        </p:spPr>
        <p:txBody>
          <a:bodyPr/>
          <a:lstStyle/>
          <a:p>
            <a:endParaRPr lang="en-US" sz="5400"/>
          </a:p>
        </p:txBody>
      </p:sp>
      <p:sp>
        <p:nvSpPr>
          <p:cNvPr id="17" name="Shape 14"/>
          <p:cNvSpPr/>
          <p:nvPr/>
        </p:nvSpPr>
        <p:spPr>
          <a:xfrm>
            <a:off x="3429002" y="13430706"/>
            <a:ext cx="30402885" cy="2057400"/>
          </a:xfrm>
          <a:prstGeom prst="roundRect">
            <a:avLst>
              <a:gd name="adj" fmla="val 59259"/>
            </a:avLst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5400"/>
          </a:p>
        </p:txBody>
      </p:sp>
      <p:sp>
        <p:nvSpPr>
          <p:cNvPr id="18" name="Shape 15"/>
          <p:cNvSpPr/>
          <p:nvPr/>
        </p:nvSpPr>
        <p:spPr>
          <a:xfrm>
            <a:off x="2573123" y="16431771"/>
            <a:ext cx="32062521" cy="2685594"/>
          </a:xfrm>
          <a:prstGeom prst="roundRect">
            <a:avLst>
              <a:gd name="adj" fmla="val 16665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 sz="5400"/>
          </a:p>
        </p:txBody>
      </p:sp>
      <p:sp>
        <p:nvSpPr>
          <p:cNvPr id="19" name="Text 16"/>
          <p:cNvSpPr txBox="1"/>
          <p:nvPr/>
        </p:nvSpPr>
        <p:spPr>
          <a:xfrm>
            <a:off x="10887762" y="441654"/>
            <a:ext cx="14802306" cy="943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NemoClaw — End-to-End Functionality</a:t>
            </a:r>
            <a:endParaRPr lang="en-US" sz="5400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rcRect t="-6868" b="-6868"/>
          <a:stretch/>
        </p:blipFill>
        <p:spPr>
          <a:xfrm>
            <a:off x="4057194" y="3771902"/>
            <a:ext cx="943662" cy="858621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5085896" y="3201315"/>
            <a:ext cx="28633521" cy="573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3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Experience &amp; Integration</a:t>
            </a:r>
            <a:endParaRPr lang="en-US" sz="3300" dirty="0"/>
          </a:p>
        </p:txBody>
      </p:sp>
      <p:sp>
        <p:nvSpPr>
          <p:cNvPr id="22" name="Text 18"/>
          <p:cNvSpPr txBox="1"/>
          <p:nvPr/>
        </p:nvSpPr>
        <p:spPr>
          <a:xfrm>
            <a:off x="5085896" y="3914549"/>
            <a:ext cx="28633521" cy="45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dirty="0">
                <a:solidFill>
                  <a:srgbClr val="2B2B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Teams · Slack/Discord · CI/CD webhooks · Custom REST APIs</a:t>
            </a:r>
            <a:endParaRPr lang="en-US" sz="2700" dirty="0"/>
          </a:p>
        </p:txBody>
      </p:sp>
      <p:sp>
        <p:nvSpPr>
          <p:cNvPr id="23" name="Text 19"/>
          <p:cNvSpPr txBox="1"/>
          <p:nvPr/>
        </p:nvSpPr>
        <p:spPr>
          <a:xfrm>
            <a:off x="5085896" y="4457700"/>
            <a:ext cx="28633521" cy="4005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4B4B4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Users and systems trigger tasks</a:t>
            </a:r>
            <a:endParaRPr lang="en-US" sz="2400" dirty="0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rcRect t="-9992" b="-9992"/>
          <a:stretch/>
        </p:blipFill>
        <p:spPr>
          <a:xfrm>
            <a:off x="16001087" y="4572915"/>
            <a:ext cx="458115" cy="628194"/>
          </a:xfrm>
          <a:prstGeom prst="rect">
            <a:avLst/>
          </a:prstGeom>
        </p:spPr>
      </p:pic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rcRect t="-9992" b="-9992"/>
          <a:stretch/>
        </p:blipFill>
        <p:spPr>
          <a:xfrm>
            <a:off x="17145002" y="4572915"/>
            <a:ext cx="458115" cy="628194"/>
          </a:xfrm>
          <a:prstGeom prst="rect">
            <a:avLst/>
          </a:prstGeom>
        </p:spPr>
      </p:pic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rcRect t="-10904" b="-10904"/>
          <a:stretch/>
        </p:blipFill>
        <p:spPr>
          <a:xfrm>
            <a:off x="18288917" y="4572915"/>
            <a:ext cx="515721" cy="628194"/>
          </a:xfrm>
          <a:prstGeom prst="rect">
            <a:avLst/>
          </a:prstGeom>
        </p:spPr>
      </p:pic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rcRect t="-10904" b="-10904"/>
          <a:stretch/>
        </p:blipFill>
        <p:spPr>
          <a:xfrm>
            <a:off x="19430087" y="4572915"/>
            <a:ext cx="515721" cy="628194"/>
          </a:xfrm>
          <a:prstGeom prst="rect">
            <a:avLst/>
          </a:prstGeom>
        </p:spPr>
      </p:pic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rcRect t="-9635" b="-9635"/>
          <a:stretch/>
        </p:blipFill>
        <p:spPr>
          <a:xfrm>
            <a:off x="20574000" y="4572915"/>
            <a:ext cx="658368" cy="628194"/>
          </a:xfrm>
          <a:prstGeom prst="rect">
            <a:avLst/>
          </a:prstGeom>
        </p:spPr>
      </p:pic>
      <p:pic>
        <p:nvPicPr>
          <p:cNvPr id="29" name="Image 7" descr="preencoded.png"/>
          <p:cNvPicPr>
            <a:picLocks noChangeAspect="1"/>
          </p:cNvPicPr>
          <p:nvPr/>
        </p:nvPicPr>
        <p:blipFill>
          <a:blip r:embed="rId10"/>
          <a:srcRect t="-7749" b="-7749"/>
          <a:stretch/>
        </p:blipFill>
        <p:spPr>
          <a:xfrm>
            <a:off x="4057194" y="6915608"/>
            <a:ext cx="743406" cy="858621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5085896" y="6287415"/>
            <a:ext cx="28633521" cy="573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3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Gateway / API Bridge (Eg: FastAPI on DGX Spark)</a:t>
            </a:r>
            <a:endParaRPr lang="en-US" sz="3300" dirty="0"/>
          </a:p>
        </p:txBody>
      </p:sp>
      <p:sp>
        <p:nvSpPr>
          <p:cNvPr id="31" name="Text 21"/>
          <p:cNvSpPr txBox="1"/>
          <p:nvPr/>
        </p:nvSpPr>
        <p:spPr>
          <a:xfrm>
            <a:off x="5085896" y="7000649"/>
            <a:ext cx="28633521" cy="45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dirty="0">
                <a:solidFill>
                  <a:srgbClr val="2B2B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Task intake · async execution (session IDs) · SSE status streaming</a:t>
            </a:r>
            <a:endParaRPr lang="en-US" sz="2700" dirty="0"/>
          </a:p>
        </p:txBody>
      </p:sp>
      <p:sp>
        <p:nvSpPr>
          <p:cNvPr id="32" name="Text 22"/>
          <p:cNvSpPr txBox="1"/>
          <p:nvPr/>
        </p:nvSpPr>
        <p:spPr>
          <a:xfrm>
            <a:off x="5085896" y="7521855"/>
            <a:ext cx="28633521" cy="4005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4B4B4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Output sanitization · session management</a:t>
            </a:r>
            <a:endParaRPr lang="en-US" sz="2400" dirty="0"/>
          </a:p>
        </p:txBody>
      </p:sp>
      <p:pic>
        <p:nvPicPr>
          <p:cNvPr id="33" name="Image 8" descr="preencoded.png"/>
          <p:cNvPicPr>
            <a:picLocks noChangeAspect="1"/>
          </p:cNvPicPr>
          <p:nvPr/>
        </p:nvPicPr>
        <p:blipFill>
          <a:blip r:embed="rId11"/>
          <a:srcRect t="-7057" b="-7057"/>
          <a:stretch/>
        </p:blipFill>
        <p:spPr>
          <a:xfrm>
            <a:off x="4057194" y="10287002"/>
            <a:ext cx="658368" cy="858621"/>
          </a:xfrm>
          <a:prstGeom prst="rect">
            <a:avLst/>
          </a:prstGeom>
        </p:spPr>
      </p:pic>
      <p:sp>
        <p:nvSpPr>
          <p:cNvPr id="34" name="Text 23"/>
          <p:cNvSpPr txBox="1"/>
          <p:nvPr/>
        </p:nvSpPr>
        <p:spPr>
          <a:xfrm>
            <a:off x="5085894" y="9601200"/>
            <a:ext cx="15773400" cy="573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3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Agent in OpenShell Sandbox (OpenClaw)</a:t>
            </a:r>
            <a:endParaRPr lang="en-US" sz="3300" dirty="0"/>
          </a:p>
        </p:txBody>
      </p:sp>
      <p:sp>
        <p:nvSpPr>
          <p:cNvPr id="35" name="Text 24"/>
          <p:cNvSpPr txBox="1"/>
          <p:nvPr/>
        </p:nvSpPr>
        <p:spPr>
          <a:xfrm>
            <a:off x="5085894" y="10314434"/>
            <a:ext cx="15773400" cy="430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dirty="0">
                <a:solidFill>
                  <a:srgbClr val="2B2B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Plans &amp; executes multi-step tasks using skills (SKILL.md)</a:t>
            </a:r>
            <a:endParaRPr lang="en-US" sz="2700" dirty="0"/>
          </a:p>
        </p:txBody>
      </p:sp>
      <p:sp>
        <p:nvSpPr>
          <p:cNvPr id="36" name="Text 25"/>
          <p:cNvSpPr txBox="1"/>
          <p:nvPr/>
        </p:nvSpPr>
        <p:spPr>
          <a:xfrm>
            <a:off x="5085894" y="10830155"/>
            <a:ext cx="15773400" cy="430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dirty="0">
                <a:solidFill>
                  <a:srgbClr val="2B2B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Policy-controlled egress only (Landlock · seccomp · netns)</a:t>
            </a:r>
            <a:endParaRPr lang="en-US" sz="2700" dirty="0"/>
          </a:p>
        </p:txBody>
      </p:sp>
      <p:sp>
        <p:nvSpPr>
          <p:cNvPr id="37" name="Text 26"/>
          <p:cNvSpPr txBox="1"/>
          <p:nvPr/>
        </p:nvSpPr>
        <p:spPr>
          <a:xfrm>
            <a:off x="5085894" y="11343132"/>
            <a:ext cx="15773400" cy="4005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4B4B4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Secrets stay outside the container</a:t>
            </a:r>
            <a:endParaRPr lang="en-US" sz="2400" dirty="0"/>
          </a:p>
        </p:txBody>
      </p:sp>
      <p:pic>
        <p:nvPicPr>
          <p:cNvPr id="38" name="Image 9" descr="preencoded.png"/>
          <p:cNvPicPr>
            <a:picLocks noChangeAspect="1"/>
          </p:cNvPicPr>
          <p:nvPr/>
        </p:nvPicPr>
        <p:blipFill>
          <a:blip r:embed="rId12"/>
          <a:srcRect t="-8630" b="-8630"/>
          <a:stretch/>
        </p:blipFill>
        <p:spPr>
          <a:xfrm>
            <a:off x="21660306" y="10402215"/>
            <a:ext cx="713232" cy="743406"/>
          </a:xfrm>
          <a:prstGeom prst="rect">
            <a:avLst/>
          </a:prstGeom>
        </p:spPr>
      </p:pic>
      <p:sp>
        <p:nvSpPr>
          <p:cNvPr id="39" name="Text 27"/>
          <p:cNvSpPr txBox="1"/>
          <p:nvPr/>
        </p:nvSpPr>
        <p:spPr>
          <a:xfrm>
            <a:off x="22573794" y="9886496"/>
            <a:ext cx="10629900" cy="5157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OpenShell Gateway</a:t>
            </a:r>
            <a:endParaRPr lang="en-US" sz="2700" dirty="0"/>
          </a:p>
        </p:txBody>
      </p:sp>
      <p:sp>
        <p:nvSpPr>
          <p:cNvPr id="40" name="Text 28"/>
          <p:cNvSpPr txBox="1"/>
          <p:nvPr/>
        </p:nvSpPr>
        <p:spPr>
          <a:xfrm>
            <a:off x="22573796" y="10544864"/>
            <a:ext cx="12174321" cy="430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2B2B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Inference proxy · credential injection · egress policy engine</a:t>
            </a:r>
            <a:endParaRPr lang="en-US" sz="2400" dirty="0"/>
          </a:p>
        </p:txBody>
      </p:sp>
      <p:sp>
        <p:nvSpPr>
          <p:cNvPr id="41" name="Text 29"/>
          <p:cNvSpPr txBox="1"/>
          <p:nvPr/>
        </p:nvSpPr>
        <p:spPr>
          <a:xfrm>
            <a:off x="22573794" y="11049609"/>
            <a:ext cx="10629900" cy="4005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4B4B4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Operator approvals · </a:t>
            </a:r>
            <a:r>
              <a:rPr lang="en-US" sz="2400" b="1" dirty="0">
                <a:solidFill>
                  <a:srgbClr val="4B4B4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inference.local</a:t>
            </a:r>
            <a:endParaRPr lang="en-US" sz="2400" dirty="0"/>
          </a:p>
        </p:txBody>
      </p:sp>
      <p:pic>
        <p:nvPicPr>
          <p:cNvPr id="42" name="Image 10" descr="preencoded.png"/>
          <p:cNvPicPr>
            <a:picLocks noChangeAspect="1"/>
          </p:cNvPicPr>
          <p:nvPr/>
        </p:nvPicPr>
        <p:blipFill>
          <a:blip r:embed="rId13"/>
          <a:srcRect t="-7749" b="-7749"/>
          <a:stretch/>
        </p:blipFill>
        <p:spPr>
          <a:xfrm>
            <a:off x="4057194" y="13973864"/>
            <a:ext cx="743406" cy="858621"/>
          </a:xfrm>
          <a:prstGeom prst="rect">
            <a:avLst/>
          </a:prstGeom>
        </p:spPr>
      </p:pic>
      <p:sp>
        <p:nvSpPr>
          <p:cNvPr id="43" name="Text 30"/>
          <p:cNvSpPr txBox="1"/>
          <p:nvPr/>
        </p:nvSpPr>
        <p:spPr>
          <a:xfrm>
            <a:off x="5085896" y="13600785"/>
            <a:ext cx="28633521" cy="573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3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Execution &amp; Infrastructure</a:t>
            </a:r>
            <a:endParaRPr lang="en-US" sz="3300" dirty="0"/>
          </a:p>
        </p:txBody>
      </p:sp>
      <p:sp>
        <p:nvSpPr>
          <p:cNvPr id="44" name="Text 31"/>
          <p:cNvSpPr txBox="1"/>
          <p:nvPr/>
        </p:nvSpPr>
        <p:spPr>
          <a:xfrm>
            <a:off x="5085896" y="14316764"/>
            <a:ext cx="28633521" cy="45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dirty="0">
                <a:solidFill>
                  <a:srgbClr val="2B2B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DGX Spark + Ollama (Nemotron) · Remote K8s via host proxy (RBAC) · Git/registries (policy-gated)</a:t>
            </a:r>
            <a:endParaRPr lang="en-US" sz="2700" dirty="0"/>
          </a:p>
        </p:txBody>
      </p:sp>
      <p:pic>
        <p:nvPicPr>
          <p:cNvPr id="45" name="Image 11" descr="preencoded.png"/>
          <p:cNvPicPr>
            <a:picLocks noChangeAspect="1"/>
          </p:cNvPicPr>
          <p:nvPr/>
        </p:nvPicPr>
        <p:blipFill>
          <a:blip r:embed="rId14"/>
          <a:srcRect t="-7749" b="-7749"/>
          <a:stretch/>
        </p:blipFill>
        <p:spPr>
          <a:xfrm>
            <a:off x="3201315" y="17002355"/>
            <a:ext cx="743406" cy="858621"/>
          </a:xfrm>
          <a:prstGeom prst="rect">
            <a:avLst/>
          </a:prstGeom>
        </p:spPr>
      </p:pic>
      <p:sp>
        <p:nvSpPr>
          <p:cNvPr id="46" name="Shape 32"/>
          <p:cNvSpPr/>
          <p:nvPr/>
        </p:nvSpPr>
        <p:spPr>
          <a:xfrm>
            <a:off x="4342487" y="17002353"/>
            <a:ext cx="4915815" cy="1456638"/>
          </a:xfrm>
          <a:prstGeom prst="roundRect">
            <a:avLst>
              <a:gd name="adj" fmla="val 88623"/>
            </a:avLst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 sz="5400"/>
          </a:p>
        </p:txBody>
      </p:sp>
      <p:sp>
        <p:nvSpPr>
          <p:cNvPr id="47" name="Text 33"/>
          <p:cNvSpPr txBox="1"/>
          <p:nvPr/>
        </p:nvSpPr>
        <p:spPr>
          <a:xfrm>
            <a:off x="4657953" y="17260217"/>
            <a:ext cx="4858206" cy="488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Trigger</a:t>
            </a:r>
            <a:endParaRPr lang="en-US" sz="2700" dirty="0"/>
          </a:p>
        </p:txBody>
      </p:sp>
      <p:sp>
        <p:nvSpPr>
          <p:cNvPr id="48" name="Text 34"/>
          <p:cNvSpPr txBox="1"/>
          <p:nvPr/>
        </p:nvSpPr>
        <p:spPr>
          <a:xfrm>
            <a:off x="4657953" y="17803368"/>
            <a:ext cx="4858206" cy="4005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4B4B4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Message / webhook</a:t>
            </a:r>
            <a:endParaRPr lang="en-US" sz="2400" dirty="0"/>
          </a:p>
        </p:txBody>
      </p:sp>
      <p:sp>
        <p:nvSpPr>
          <p:cNvPr id="49" name="Text 35"/>
          <p:cNvSpPr txBox="1"/>
          <p:nvPr/>
        </p:nvSpPr>
        <p:spPr>
          <a:xfrm>
            <a:off x="9601200" y="17413833"/>
            <a:ext cx="6858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dirty="0">
                <a:solidFill>
                  <a:srgbClr val="8C8C8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→</a:t>
            </a:r>
            <a:endParaRPr lang="en-US" sz="3600" dirty="0"/>
          </a:p>
        </p:txBody>
      </p:sp>
      <p:sp>
        <p:nvSpPr>
          <p:cNvPr id="50" name="Shape 36"/>
          <p:cNvSpPr/>
          <p:nvPr/>
        </p:nvSpPr>
        <p:spPr>
          <a:xfrm>
            <a:off x="10429649" y="17002353"/>
            <a:ext cx="4915815" cy="1456638"/>
          </a:xfrm>
          <a:prstGeom prst="roundRect">
            <a:avLst>
              <a:gd name="adj" fmla="val 88623"/>
            </a:avLst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 sz="5400"/>
          </a:p>
        </p:txBody>
      </p:sp>
      <p:sp>
        <p:nvSpPr>
          <p:cNvPr id="51" name="Text 37"/>
          <p:cNvSpPr txBox="1"/>
          <p:nvPr/>
        </p:nvSpPr>
        <p:spPr>
          <a:xfrm>
            <a:off x="10745115" y="17260217"/>
            <a:ext cx="4858206" cy="488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Intake</a:t>
            </a:r>
            <a:endParaRPr lang="en-US" sz="2700" dirty="0"/>
          </a:p>
        </p:txBody>
      </p:sp>
      <p:sp>
        <p:nvSpPr>
          <p:cNvPr id="52" name="Text 38"/>
          <p:cNvSpPr txBox="1"/>
          <p:nvPr/>
        </p:nvSpPr>
        <p:spPr>
          <a:xfrm>
            <a:off x="10745115" y="17803368"/>
            <a:ext cx="4858206" cy="4005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4B4B4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Session + queue</a:t>
            </a:r>
            <a:endParaRPr lang="en-US" sz="2400" dirty="0"/>
          </a:p>
        </p:txBody>
      </p:sp>
      <p:sp>
        <p:nvSpPr>
          <p:cNvPr id="53" name="Text 39"/>
          <p:cNvSpPr txBox="1"/>
          <p:nvPr/>
        </p:nvSpPr>
        <p:spPr>
          <a:xfrm>
            <a:off x="15688362" y="17413833"/>
            <a:ext cx="6858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dirty="0">
                <a:solidFill>
                  <a:srgbClr val="8C8C8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→</a:t>
            </a:r>
            <a:endParaRPr lang="en-US" sz="3600" dirty="0"/>
          </a:p>
        </p:txBody>
      </p:sp>
      <p:sp>
        <p:nvSpPr>
          <p:cNvPr id="54" name="Shape 40"/>
          <p:cNvSpPr/>
          <p:nvPr/>
        </p:nvSpPr>
        <p:spPr>
          <a:xfrm>
            <a:off x="16516808" y="17002353"/>
            <a:ext cx="5316321" cy="1456638"/>
          </a:xfrm>
          <a:prstGeom prst="roundRect">
            <a:avLst>
              <a:gd name="adj" fmla="val 88623"/>
            </a:avLst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 sz="5400"/>
          </a:p>
        </p:txBody>
      </p:sp>
      <p:sp>
        <p:nvSpPr>
          <p:cNvPr id="55" name="Text 41"/>
          <p:cNvSpPr txBox="1"/>
          <p:nvPr/>
        </p:nvSpPr>
        <p:spPr>
          <a:xfrm>
            <a:off x="16832276" y="17260217"/>
            <a:ext cx="5258715" cy="488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Execute</a:t>
            </a:r>
            <a:endParaRPr lang="en-US" sz="2700" dirty="0"/>
          </a:p>
        </p:txBody>
      </p:sp>
      <p:sp>
        <p:nvSpPr>
          <p:cNvPr id="56" name="Text 42"/>
          <p:cNvSpPr txBox="1"/>
          <p:nvPr/>
        </p:nvSpPr>
        <p:spPr>
          <a:xfrm>
            <a:off x="16832276" y="17803368"/>
            <a:ext cx="5258715" cy="4005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4B4B4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Plan + tools</a:t>
            </a:r>
            <a:endParaRPr lang="en-US" sz="2400" dirty="0"/>
          </a:p>
        </p:txBody>
      </p:sp>
      <p:sp>
        <p:nvSpPr>
          <p:cNvPr id="57" name="Text 43"/>
          <p:cNvSpPr txBox="1"/>
          <p:nvPr/>
        </p:nvSpPr>
        <p:spPr>
          <a:xfrm>
            <a:off x="22200717" y="17413833"/>
            <a:ext cx="6858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dirty="0">
                <a:solidFill>
                  <a:srgbClr val="8C8C8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→</a:t>
            </a:r>
            <a:endParaRPr lang="en-US" sz="3600" dirty="0"/>
          </a:p>
        </p:txBody>
      </p:sp>
      <p:sp>
        <p:nvSpPr>
          <p:cNvPr id="58" name="Shape 44"/>
          <p:cNvSpPr/>
          <p:nvPr/>
        </p:nvSpPr>
        <p:spPr>
          <a:xfrm>
            <a:off x="23031908" y="17002353"/>
            <a:ext cx="4915815" cy="1456638"/>
          </a:xfrm>
          <a:prstGeom prst="roundRect">
            <a:avLst>
              <a:gd name="adj" fmla="val 88623"/>
            </a:avLst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 sz="5400"/>
          </a:p>
        </p:txBody>
      </p:sp>
      <p:sp>
        <p:nvSpPr>
          <p:cNvPr id="59" name="Text 45"/>
          <p:cNvSpPr txBox="1"/>
          <p:nvPr/>
        </p:nvSpPr>
        <p:spPr>
          <a:xfrm>
            <a:off x="23344632" y="17260217"/>
            <a:ext cx="4858206" cy="488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Act</a:t>
            </a:r>
            <a:endParaRPr lang="en-US" sz="2700" dirty="0"/>
          </a:p>
        </p:txBody>
      </p:sp>
      <p:sp>
        <p:nvSpPr>
          <p:cNvPr id="60" name="Text 46"/>
          <p:cNvSpPr txBox="1"/>
          <p:nvPr/>
        </p:nvSpPr>
        <p:spPr>
          <a:xfrm>
            <a:off x="23344632" y="17803368"/>
            <a:ext cx="4858206" cy="4005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4B4B4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K8s / APIs</a:t>
            </a:r>
            <a:endParaRPr lang="en-US" sz="2400" dirty="0"/>
          </a:p>
        </p:txBody>
      </p:sp>
      <p:sp>
        <p:nvSpPr>
          <p:cNvPr id="61" name="Text 47"/>
          <p:cNvSpPr txBox="1"/>
          <p:nvPr/>
        </p:nvSpPr>
        <p:spPr>
          <a:xfrm>
            <a:off x="28287879" y="17413833"/>
            <a:ext cx="6858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dirty="0">
                <a:solidFill>
                  <a:srgbClr val="8C8C8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→</a:t>
            </a:r>
            <a:endParaRPr lang="en-US" sz="3600" dirty="0"/>
          </a:p>
        </p:txBody>
      </p:sp>
      <p:sp>
        <p:nvSpPr>
          <p:cNvPr id="62" name="Shape 48"/>
          <p:cNvSpPr/>
          <p:nvPr/>
        </p:nvSpPr>
        <p:spPr>
          <a:xfrm>
            <a:off x="29116328" y="17002353"/>
            <a:ext cx="4915815" cy="1456638"/>
          </a:xfrm>
          <a:prstGeom prst="roundRect">
            <a:avLst>
              <a:gd name="adj" fmla="val 88623"/>
            </a:avLst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 sz="5400"/>
          </a:p>
        </p:txBody>
      </p:sp>
      <p:sp>
        <p:nvSpPr>
          <p:cNvPr id="63" name="Text 49"/>
          <p:cNvSpPr txBox="1"/>
          <p:nvPr/>
        </p:nvSpPr>
        <p:spPr>
          <a:xfrm>
            <a:off x="29431794" y="17260217"/>
            <a:ext cx="4858206" cy="488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Respond</a:t>
            </a:r>
            <a:endParaRPr lang="en-US" sz="2700" dirty="0"/>
          </a:p>
        </p:txBody>
      </p:sp>
      <p:sp>
        <p:nvSpPr>
          <p:cNvPr id="64" name="Text 50"/>
          <p:cNvSpPr txBox="1"/>
          <p:nvPr/>
        </p:nvSpPr>
        <p:spPr>
          <a:xfrm>
            <a:off x="29431794" y="17803368"/>
            <a:ext cx="4858206" cy="4005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4B4B4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Stream + summary</a:t>
            </a:r>
            <a:endParaRPr lang="en-US" sz="2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" y="0"/>
            <a:ext cx="36575085" cy="2057400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5400"/>
          </a:p>
        </p:txBody>
      </p:sp>
      <p:sp>
        <p:nvSpPr>
          <p:cNvPr id="3" name="Shape 1"/>
          <p:cNvSpPr/>
          <p:nvPr/>
        </p:nvSpPr>
        <p:spPr>
          <a:xfrm>
            <a:off x="917" y="0"/>
            <a:ext cx="36575085" cy="2057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5400"/>
          </a:p>
        </p:txBody>
      </p:sp>
      <p:sp>
        <p:nvSpPr>
          <p:cNvPr id="6" name="Text 4"/>
          <p:cNvSpPr txBox="1"/>
          <p:nvPr/>
        </p:nvSpPr>
        <p:spPr>
          <a:xfrm>
            <a:off x="9518159" y="6528318"/>
            <a:ext cx="15630753" cy="6229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200" kern="0" spc="2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DEMO</a:t>
            </a:r>
            <a:endParaRPr lang="en-US" sz="16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" y="0"/>
            <a:ext cx="36575085" cy="2057400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5400"/>
          </a:p>
        </p:txBody>
      </p:sp>
      <p:sp>
        <p:nvSpPr>
          <p:cNvPr id="3" name="Shape 1"/>
          <p:cNvSpPr/>
          <p:nvPr/>
        </p:nvSpPr>
        <p:spPr>
          <a:xfrm>
            <a:off x="2" y="0"/>
            <a:ext cx="36575085" cy="2057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5400"/>
          </a:p>
        </p:txBody>
      </p:sp>
      <p:sp>
        <p:nvSpPr>
          <p:cNvPr id="4" name="Shape 2"/>
          <p:cNvSpPr/>
          <p:nvPr/>
        </p:nvSpPr>
        <p:spPr>
          <a:xfrm>
            <a:off x="2" y="2"/>
            <a:ext cx="36575085" cy="1829715"/>
          </a:xfrm>
          <a:prstGeom prst="rect">
            <a:avLst/>
          </a:prstGeom>
          <a:solidFill>
            <a:srgbClr val="76B9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540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l="-397" r="-397"/>
          <a:stretch/>
        </p:blipFill>
        <p:spPr>
          <a:xfrm>
            <a:off x="1999796" y="3429002"/>
            <a:ext cx="172821" cy="1657441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573121" y="3750198"/>
            <a:ext cx="16116300" cy="15773400"/>
          </a:xfrm>
          <a:prstGeom prst="roundRect">
            <a:avLst>
              <a:gd name="adj" fmla="val 1134"/>
            </a:avLst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5400"/>
          </a:p>
        </p:txBody>
      </p:sp>
      <p:sp>
        <p:nvSpPr>
          <p:cNvPr id="7" name="Shape 4"/>
          <p:cNvSpPr/>
          <p:nvPr/>
        </p:nvSpPr>
        <p:spPr>
          <a:xfrm>
            <a:off x="3086102" y="4323528"/>
            <a:ext cx="7343547" cy="3429000"/>
          </a:xfrm>
          <a:prstGeom prst="roundRect">
            <a:avLst>
              <a:gd name="adj" fmla="val 18667"/>
            </a:avLst>
          </a:prstGeom>
          <a:solidFill>
            <a:srgbClr val="E8F5E9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 sz="5400"/>
          </a:p>
        </p:txBody>
      </p:sp>
      <p:sp>
        <p:nvSpPr>
          <p:cNvPr id="8" name="Shape 5"/>
          <p:cNvSpPr/>
          <p:nvPr/>
        </p:nvSpPr>
        <p:spPr>
          <a:xfrm>
            <a:off x="10772549" y="4323528"/>
            <a:ext cx="7343547" cy="3429000"/>
          </a:xfrm>
          <a:prstGeom prst="roundRect">
            <a:avLst>
              <a:gd name="adj" fmla="val 18667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 sz="5400"/>
          </a:p>
        </p:txBody>
      </p:sp>
      <p:sp>
        <p:nvSpPr>
          <p:cNvPr id="9" name="Shape 6"/>
          <p:cNvSpPr/>
          <p:nvPr/>
        </p:nvSpPr>
        <p:spPr>
          <a:xfrm>
            <a:off x="3086102" y="8037819"/>
            <a:ext cx="7343547" cy="3429000"/>
          </a:xfrm>
          <a:prstGeom prst="roundRect">
            <a:avLst>
              <a:gd name="adj" fmla="val 18667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 sz="5400"/>
          </a:p>
        </p:txBody>
      </p:sp>
      <p:sp>
        <p:nvSpPr>
          <p:cNvPr id="10" name="Shape 7"/>
          <p:cNvSpPr/>
          <p:nvPr/>
        </p:nvSpPr>
        <p:spPr>
          <a:xfrm>
            <a:off x="10772549" y="8037819"/>
            <a:ext cx="7343547" cy="3429000"/>
          </a:xfrm>
          <a:prstGeom prst="roundRect">
            <a:avLst>
              <a:gd name="adj" fmla="val 18667"/>
            </a:avLst>
          </a:prstGeom>
          <a:solidFill>
            <a:srgbClr val="E8F5E9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 sz="5400"/>
          </a:p>
        </p:txBody>
      </p:sp>
      <p:sp>
        <p:nvSpPr>
          <p:cNvPr id="11" name="Shape 8"/>
          <p:cNvSpPr/>
          <p:nvPr/>
        </p:nvSpPr>
        <p:spPr>
          <a:xfrm>
            <a:off x="3086102" y="11752113"/>
            <a:ext cx="7343547" cy="3429000"/>
          </a:xfrm>
          <a:prstGeom prst="roundRect">
            <a:avLst>
              <a:gd name="adj" fmla="val 18667"/>
            </a:avLst>
          </a:prstGeom>
          <a:solidFill>
            <a:srgbClr val="E8F5E9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 sz="5400"/>
          </a:p>
        </p:txBody>
      </p:sp>
      <p:sp>
        <p:nvSpPr>
          <p:cNvPr id="12" name="Shape 9"/>
          <p:cNvSpPr/>
          <p:nvPr/>
        </p:nvSpPr>
        <p:spPr>
          <a:xfrm>
            <a:off x="10772549" y="11752113"/>
            <a:ext cx="7343547" cy="3429000"/>
          </a:xfrm>
          <a:prstGeom prst="roundRect">
            <a:avLst>
              <a:gd name="adj" fmla="val 18667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 sz="5400"/>
          </a:p>
        </p:txBody>
      </p:sp>
      <p:sp>
        <p:nvSpPr>
          <p:cNvPr id="13" name="Shape 10"/>
          <p:cNvSpPr/>
          <p:nvPr/>
        </p:nvSpPr>
        <p:spPr>
          <a:xfrm>
            <a:off x="3086100" y="15581619"/>
            <a:ext cx="15029994" cy="3429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 sz="5400"/>
          </a:p>
        </p:txBody>
      </p:sp>
      <p:sp>
        <p:nvSpPr>
          <p:cNvPr id="14" name="Shape 11"/>
          <p:cNvSpPr/>
          <p:nvPr/>
        </p:nvSpPr>
        <p:spPr>
          <a:xfrm>
            <a:off x="19144796" y="3750198"/>
            <a:ext cx="15545715" cy="15773400"/>
          </a:xfrm>
          <a:prstGeom prst="roundRect">
            <a:avLst>
              <a:gd name="adj" fmla="val 1168"/>
            </a:avLst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5400"/>
          </a:p>
        </p:txBody>
      </p:sp>
      <p:sp>
        <p:nvSpPr>
          <p:cNvPr id="15" name="Shape 12"/>
          <p:cNvSpPr/>
          <p:nvPr/>
        </p:nvSpPr>
        <p:spPr>
          <a:xfrm>
            <a:off x="19830596" y="4381136"/>
            <a:ext cx="14174115" cy="2515515"/>
          </a:xfrm>
          <a:prstGeom prst="roundRect">
            <a:avLst>
              <a:gd name="adj" fmla="val 39655"/>
            </a:avLst>
          </a:prstGeom>
          <a:solidFill>
            <a:srgbClr val="E8F5E9"/>
          </a:solidFill>
          <a:ln w="254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5400"/>
          </a:p>
        </p:txBody>
      </p:sp>
      <p:sp>
        <p:nvSpPr>
          <p:cNvPr id="16" name="Shape 13"/>
          <p:cNvSpPr/>
          <p:nvPr/>
        </p:nvSpPr>
        <p:spPr>
          <a:xfrm>
            <a:off x="19830594" y="7124334"/>
            <a:ext cx="14116506" cy="2457906"/>
          </a:xfrm>
          <a:prstGeom prst="roundRect">
            <a:avLst>
              <a:gd name="adj" fmla="val 36337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 sz="5400"/>
          </a:p>
        </p:txBody>
      </p:sp>
      <p:sp>
        <p:nvSpPr>
          <p:cNvPr id="17" name="Shape 14"/>
          <p:cNvSpPr/>
          <p:nvPr/>
        </p:nvSpPr>
        <p:spPr>
          <a:xfrm>
            <a:off x="19830594" y="9867534"/>
            <a:ext cx="14116506" cy="2457906"/>
          </a:xfrm>
          <a:prstGeom prst="roundRect">
            <a:avLst>
              <a:gd name="adj" fmla="val 36337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 sz="5400"/>
          </a:p>
        </p:txBody>
      </p:sp>
      <p:sp>
        <p:nvSpPr>
          <p:cNvPr id="18" name="Shape 15"/>
          <p:cNvSpPr/>
          <p:nvPr/>
        </p:nvSpPr>
        <p:spPr>
          <a:xfrm>
            <a:off x="19830594" y="12610734"/>
            <a:ext cx="14116506" cy="2457906"/>
          </a:xfrm>
          <a:prstGeom prst="roundRect">
            <a:avLst>
              <a:gd name="adj" fmla="val 36337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 sz="5400"/>
          </a:p>
        </p:txBody>
      </p:sp>
      <p:sp>
        <p:nvSpPr>
          <p:cNvPr id="19" name="Shape 16"/>
          <p:cNvSpPr/>
          <p:nvPr/>
        </p:nvSpPr>
        <p:spPr>
          <a:xfrm>
            <a:off x="19830594" y="15353936"/>
            <a:ext cx="14116506" cy="3201315"/>
          </a:xfrm>
          <a:prstGeom prst="roundRect">
            <a:avLst>
              <a:gd name="adj" fmla="val 21422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 sz="5400"/>
          </a:p>
        </p:txBody>
      </p:sp>
      <p:sp>
        <p:nvSpPr>
          <p:cNvPr id="20" name="Text 17"/>
          <p:cNvSpPr txBox="1"/>
          <p:nvPr/>
        </p:nvSpPr>
        <p:spPr>
          <a:xfrm>
            <a:off x="8992211" y="441654"/>
            <a:ext cx="18604383" cy="943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What’s In It for an Enterprise — Art of the Possible</a:t>
            </a:r>
            <a:endParaRPr lang="en-US" sz="5400" dirty="0"/>
          </a:p>
        </p:txBody>
      </p:sp>
      <p:sp>
        <p:nvSpPr>
          <p:cNvPr id="21" name="Text 18"/>
          <p:cNvSpPr txBox="1"/>
          <p:nvPr/>
        </p:nvSpPr>
        <p:spPr>
          <a:xfrm>
            <a:off x="2573123" y="2457906"/>
            <a:ext cx="32347815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kern="0" spc="66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Business outcomes enabled by secure autonomy — and how teams operationalize it</a:t>
            </a:r>
            <a:endParaRPr lang="en-US" sz="3600" dirty="0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rcRect t="-18340" b="-18340"/>
          <a:stretch/>
        </p:blipFill>
        <p:spPr>
          <a:xfrm>
            <a:off x="3544215" y="4979153"/>
            <a:ext cx="628194" cy="858621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4572917" y="4666430"/>
            <a:ext cx="5944515" cy="5157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Autonomous DevOps</a:t>
            </a:r>
            <a:endParaRPr lang="en-US" sz="3000" dirty="0"/>
          </a:p>
        </p:txBody>
      </p:sp>
      <p:sp>
        <p:nvSpPr>
          <p:cNvPr id="24" name="Text 20"/>
          <p:cNvSpPr txBox="1"/>
          <p:nvPr/>
        </p:nvSpPr>
        <p:spPr>
          <a:xfrm>
            <a:off x="4572917" y="5352230"/>
            <a:ext cx="5587899" cy="8586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dirty="0">
                <a:solidFill>
                  <a:srgbClr val="2B2B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Monitor → deploy → test with policy-gated actions.</a:t>
            </a:r>
            <a:endParaRPr lang="en-US" sz="2700" dirty="0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rcRect t="-18340" b="-18340"/>
          <a:stretch/>
        </p:blipFill>
        <p:spPr>
          <a:xfrm>
            <a:off x="11230662" y="4979153"/>
            <a:ext cx="628194" cy="858621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12259364" y="4666430"/>
            <a:ext cx="5944515" cy="5157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LLMOps at scale</a:t>
            </a:r>
            <a:endParaRPr lang="en-US" sz="3000" dirty="0"/>
          </a:p>
        </p:txBody>
      </p:sp>
      <p:sp>
        <p:nvSpPr>
          <p:cNvPr id="27" name="Text 22"/>
          <p:cNvSpPr txBox="1"/>
          <p:nvPr/>
        </p:nvSpPr>
        <p:spPr>
          <a:xfrm>
            <a:off x="12259364" y="5352230"/>
            <a:ext cx="5587899" cy="8586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dirty="0">
                <a:solidFill>
                  <a:srgbClr val="2B2B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Benchmark, validate rollouts, check SLAs.</a:t>
            </a:r>
            <a:endParaRPr lang="en-US" sz="2700" dirty="0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rcRect t="-18340" b="-18340"/>
          <a:stretch/>
        </p:blipFill>
        <p:spPr>
          <a:xfrm>
            <a:off x="3544215" y="8693447"/>
            <a:ext cx="628194" cy="858621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4572917" y="8380721"/>
            <a:ext cx="5944515" cy="5157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IT operations</a:t>
            </a:r>
            <a:endParaRPr lang="en-US" sz="3000" dirty="0"/>
          </a:p>
        </p:txBody>
      </p:sp>
      <p:sp>
        <p:nvSpPr>
          <p:cNvPr id="30" name="Text 24"/>
          <p:cNvSpPr txBox="1"/>
          <p:nvPr/>
        </p:nvSpPr>
        <p:spPr>
          <a:xfrm>
            <a:off x="4572917" y="9066521"/>
            <a:ext cx="5587899" cy="8586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dirty="0">
                <a:solidFill>
                  <a:srgbClr val="2B2B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ITSM-triggered triage &amp; remediation — auditable.</a:t>
            </a:r>
            <a:endParaRPr lang="en-US" sz="2700" dirty="0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rcRect t="-16995" b="-16995"/>
          <a:stretch/>
        </p:blipFill>
        <p:spPr>
          <a:xfrm>
            <a:off x="11230664" y="8693447"/>
            <a:ext cx="801015" cy="858621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12259364" y="8380721"/>
            <a:ext cx="5944515" cy="5157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Software delivery</a:t>
            </a:r>
            <a:endParaRPr lang="en-US" sz="3000" dirty="0"/>
          </a:p>
        </p:txBody>
      </p:sp>
      <p:sp>
        <p:nvSpPr>
          <p:cNvPr id="33" name="Text 26"/>
          <p:cNvSpPr txBox="1"/>
          <p:nvPr/>
        </p:nvSpPr>
        <p:spPr>
          <a:xfrm>
            <a:off x="12259364" y="9066521"/>
            <a:ext cx="5587899" cy="8586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dirty="0">
                <a:solidFill>
                  <a:srgbClr val="2B2B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Review, test gen, vuln scans inside sandboxes.</a:t>
            </a:r>
            <a:endParaRPr lang="en-US" sz="2700" dirty="0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8"/>
          <a:srcRect t="-16313" b="-16313"/>
          <a:stretch/>
        </p:blipFill>
        <p:spPr>
          <a:xfrm>
            <a:off x="3544217" y="12410483"/>
            <a:ext cx="485547" cy="858621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4572917" y="12095015"/>
            <a:ext cx="5944515" cy="5157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Document workflows</a:t>
            </a:r>
            <a:endParaRPr lang="en-US" sz="3000" dirty="0"/>
          </a:p>
        </p:txBody>
      </p:sp>
      <p:sp>
        <p:nvSpPr>
          <p:cNvPr id="36" name="Text 28"/>
          <p:cNvSpPr txBox="1"/>
          <p:nvPr/>
        </p:nvSpPr>
        <p:spPr>
          <a:xfrm>
            <a:off x="4572917" y="12780815"/>
            <a:ext cx="5587899" cy="8586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dirty="0">
                <a:solidFill>
                  <a:srgbClr val="2B2B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Extract &amp; match invoices/contracts — governed.</a:t>
            </a:r>
            <a:endParaRPr lang="en-US" sz="2700" dirty="0"/>
          </a:p>
        </p:txBody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9"/>
          <a:srcRect t="-18340" b="-18340"/>
          <a:stretch/>
        </p:blipFill>
        <p:spPr>
          <a:xfrm>
            <a:off x="11230662" y="12410483"/>
            <a:ext cx="628194" cy="858621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12259364" y="12095015"/>
            <a:ext cx="5944515" cy="5157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Contact center</a:t>
            </a:r>
            <a:endParaRPr lang="en-US" sz="3000" dirty="0"/>
          </a:p>
        </p:txBody>
      </p:sp>
      <p:sp>
        <p:nvSpPr>
          <p:cNvPr id="39" name="Text 30"/>
          <p:cNvSpPr txBox="1"/>
          <p:nvPr/>
        </p:nvSpPr>
        <p:spPr>
          <a:xfrm>
            <a:off x="12259364" y="12780815"/>
            <a:ext cx="5587899" cy="8586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dirty="0">
                <a:solidFill>
                  <a:srgbClr val="2B2B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Assist + summarization with data sovereignty option.</a:t>
            </a:r>
            <a:endParaRPr lang="en-US" sz="2700" dirty="0"/>
          </a:p>
        </p:txBody>
      </p:sp>
      <p:pic>
        <p:nvPicPr>
          <p:cNvPr id="40" name="Image 7" descr="preencoded.png"/>
          <p:cNvPicPr>
            <a:picLocks noChangeAspect="1"/>
          </p:cNvPicPr>
          <p:nvPr/>
        </p:nvPicPr>
        <p:blipFill>
          <a:blip r:embed="rId10"/>
          <a:srcRect t="-13755" b="-13755"/>
          <a:stretch/>
        </p:blipFill>
        <p:spPr>
          <a:xfrm>
            <a:off x="3601821" y="16124777"/>
            <a:ext cx="628194" cy="801015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4572915" y="15839481"/>
            <a:ext cx="13260630" cy="9162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dirty="0">
                <a:solidFill>
                  <a:srgbClr val="2B2B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Autonomy becomes an enterprise asset when execution is </a:t>
            </a:r>
            <a:r>
              <a:rPr lang="en-US" sz="2700" b="1" dirty="0">
                <a:solidFill>
                  <a:srgbClr val="2B2B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isolated</a:t>
            </a:r>
            <a:r>
              <a:rPr lang="en-US" sz="2700" dirty="0">
                <a:solidFill>
                  <a:srgbClr val="2B2B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</a:t>
            </a:r>
            <a:r>
              <a:rPr lang="en-US" sz="2700" b="1" dirty="0">
                <a:solidFill>
                  <a:srgbClr val="2B2B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governed</a:t>
            </a:r>
            <a:r>
              <a:rPr lang="en-US" sz="2700" dirty="0">
                <a:solidFill>
                  <a:srgbClr val="2B2B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and </a:t>
            </a:r>
            <a:r>
              <a:rPr lang="en-US" sz="2700" b="1" dirty="0">
                <a:solidFill>
                  <a:srgbClr val="2B2B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auditable</a:t>
            </a:r>
            <a:r>
              <a:rPr lang="en-US" sz="2700" dirty="0">
                <a:solidFill>
                  <a:srgbClr val="2B2B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</a:t>
            </a:r>
            <a:endParaRPr lang="en-US" sz="2700" dirty="0"/>
          </a:p>
        </p:txBody>
      </p:sp>
      <p:sp>
        <p:nvSpPr>
          <p:cNvPr id="42" name="Text 32"/>
          <p:cNvSpPr txBox="1"/>
          <p:nvPr/>
        </p:nvSpPr>
        <p:spPr>
          <a:xfrm>
            <a:off x="4572915" y="16980653"/>
            <a:ext cx="13373100" cy="45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dirty="0">
                <a:solidFill>
                  <a:srgbClr val="4B4B4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Outcome: faster execution without expanding the blast radius.</a:t>
            </a:r>
            <a:endParaRPr lang="en-US" sz="2700" dirty="0"/>
          </a:p>
        </p:txBody>
      </p:sp>
      <p:pic>
        <p:nvPicPr>
          <p:cNvPr id="43" name="Image 8" descr="preencoded.png"/>
          <p:cNvPicPr>
            <a:picLocks noChangeAspect="1"/>
          </p:cNvPicPr>
          <p:nvPr/>
        </p:nvPicPr>
        <p:blipFill>
          <a:blip r:embed="rId11"/>
          <a:srcRect t="-13755" b="-13755"/>
          <a:stretch/>
        </p:blipFill>
        <p:spPr>
          <a:xfrm>
            <a:off x="20458785" y="4979153"/>
            <a:ext cx="628194" cy="801015"/>
          </a:xfrm>
          <a:prstGeom prst="rect">
            <a:avLst/>
          </a:prstGeom>
        </p:spPr>
      </p:pic>
      <p:sp>
        <p:nvSpPr>
          <p:cNvPr id="44" name="Text 33"/>
          <p:cNvSpPr txBox="1"/>
          <p:nvPr/>
        </p:nvSpPr>
        <p:spPr>
          <a:xfrm>
            <a:off x="21487487" y="4666430"/>
            <a:ext cx="12459615" cy="5157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1) Pick one workflow</a:t>
            </a:r>
            <a:endParaRPr lang="en-US" sz="3000" dirty="0"/>
          </a:p>
        </p:txBody>
      </p:sp>
      <p:sp>
        <p:nvSpPr>
          <p:cNvPr id="45" name="Text 34"/>
          <p:cNvSpPr txBox="1"/>
          <p:nvPr/>
        </p:nvSpPr>
        <p:spPr>
          <a:xfrm>
            <a:off x="21487487" y="5322053"/>
            <a:ext cx="12459615" cy="430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dirty="0">
                <a:solidFill>
                  <a:srgbClr val="2B2B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Choose a repeatable runbook with clear inputs/outputs.</a:t>
            </a:r>
            <a:endParaRPr lang="en-US" sz="2700" dirty="0"/>
          </a:p>
        </p:txBody>
      </p:sp>
      <p:pic>
        <p:nvPicPr>
          <p:cNvPr id="46" name="Image 9" descr="preencoded.png"/>
          <p:cNvPicPr>
            <a:picLocks noChangeAspect="1"/>
          </p:cNvPicPr>
          <p:nvPr/>
        </p:nvPicPr>
        <p:blipFill>
          <a:blip r:embed="rId12"/>
          <a:srcRect t="-11864" b="-11864"/>
          <a:stretch/>
        </p:blipFill>
        <p:spPr>
          <a:xfrm>
            <a:off x="20458787" y="7722353"/>
            <a:ext cx="485547" cy="801015"/>
          </a:xfrm>
          <a:prstGeom prst="rect">
            <a:avLst/>
          </a:prstGeom>
        </p:spPr>
      </p:pic>
      <p:sp>
        <p:nvSpPr>
          <p:cNvPr id="47" name="Text 35"/>
          <p:cNvSpPr txBox="1"/>
          <p:nvPr/>
        </p:nvSpPr>
        <p:spPr>
          <a:xfrm>
            <a:off x="21487487" y="7409630"/>
            <a:ext cx="12459615" cy="5157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2) Encode it as a skill (SKILL.md)</a:t>
            </a:r>
            <a:endParaRPr lang="en-US" sz="3000" dirty="0"/>
          </a:p>
        </p:txBody>
      </p:sp>
      <p:sp>
        <p:nvSpPr>
          <p:cNvPr id="48" name="Text 36"/>
          <p:cNvSpPr txBox="1"/>
          <p:nvPr/>
        </p:nvSpPr>
        <p:spPr>
          <a:xfrm>
            <a:off x="21487485" y="8065253"/>
            <a:ext cx="12893040" cy="430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dirty="0">
                <a:solidFill>
                  <a:srgbClr val="2B2B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Turn the runbook into a reusable, versioned automation asset.</a:t>
            </a:r>
            <a:endParaRPr lang="en-US" sz="2700" dirty="0"/>
          </a:p>
        </p:txBody>
      </p:sp>
      <p:pic>
        <p:nvPicPr>
          <p:cNvPr id="49" name="Image 10" descr="preencoded.png"/>
          <p:cNvPicPr>
            <a:picLocks noChangeAspect="1"/>
          </p:cNvPicPr>
          <p:nvPr/>
        </p:nvPicPr>
        <p:blipFill>
          <a:blip r:embed="rId13"/>
          <a:srcRect t="-13755" b="-13755"/>
          <a:stretch/>
        </p:blipFill>
        <p:spPr>
          <a:xfrm>
            <a:off x="20458785" y="10465553"/>
            <a:ext cx="628194" cy="801015"/>
          </a:xfrm>
          <a:prstGeom prst="rect">
            <a:avLst/>
          </a:prstGeom>
        </p:spPr>
      </p:pic>
      <p:sp>
        <p:nvSpPr>
          <p:cNvPr id="50" name="Text 37"/>
          <p:cNvSpPr txBox="1"/>
          <p:nvPr/>
        </p:nvSpPr>
        <p:spPr>
          <a:xfrm>
            <a:off x="21487487" y="10152830"/>
            <a:ext cx="12459615" cy="5157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3) Deploy on enterprise infra</a:t>
            </a:r>
            <a:endParaRPr lang="en-US" sz="3000" dirty="0"/>
          </a:p>
        </p:txBody>
      </p:sp>
      <p:sp>
        <p:nvSpPr>
          <p:cNvPr id="51" name="Text 38"/>
          <p:cNvSpPr txBox="1"/>
          <p:nvPr/>
        </p:nvSpPr>
        <p:spPr>
          <a:xfrm>
            <a:off x="21487485" y="10808453"/>
            <a:ext cx="13510260" cy="430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dirty="0">
                <a:solidFill>
                  <a:srgbClr val="2B2B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Run on DGX Spark / on‑prem / cloud; local inference if required.</a:t>
            </a:r>
            <a:endParaRPr lang="en-US" sz="2700" dirty="0"/>
          </a:p>
        </p:txBody>
      </p:sp>
      <p:pic>
        <p:nvPicPr>
          <p:cNvPr id="52" name="Image 11" descr="preencoded.png"/>
          <p:cNvPicPr>
            <a:picLocks noChangeAspect="1"/>
          </p:cNvPicPr>
          <p:nvPr/>
        </p:nvPicPr>
        <p:blipFill>
          <a:blip r:embed="rId14"/>
          <a:srcRect t="-11864" b="-11864"/>
          <a:stretch/>
        </p:blipFill>
        <p:spPr>
          <a:xfrm>
            <a:off x="20458787" y="13208753"/>
            <a:ext cx="485547" cy="801015"/>
          </a:xfrm>
          <a:prstGeom prst="rect">
            <a:avLst/>
          </a:prstGeom>
        </p:spPr>
      </p:pic>
      <p:sp>
        <p:nvSpPr>
          <p:cNvPr id="53" name="Text 39"/>
          <p:cNvSpPr txBox="1"/>
          <p:nvPr/>
        </p:nvSpPr>
        <p:spPr>
          <a:xfrm>
            <a:off x="21487487" y="12896030"/>
            <a:ext cx="12459615" cy="5157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4) Integrate where work happens</a:t>
            </a:r>
            <a:endParaRPr lang="en-US" sz="3000" dirty="0"/>
          </a:p>
        </p:txBody>
      </p:sp>
      <p:sp>
        <p:nvSpPr>
          <p:cNvPr id="54" name="Text 40"/>
          <p:cNvSpPr txBox="1"/>
          <p:nvPr/>
        </p:nvSpPr>
        <p:spPr>
          <a:xfrm>
            <a:off x="21487487" y="13551653"/>
            <a:ext cx="12459615" cy="430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dirty="0">
                <a:solidFill>
                  <a:srgbClr val="2B2B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Teams/Slack · ITSM · CI/CD webhooks — via the gateway.</a:t>
            </a:r>
            <a:endParaRPr lang="en-US" sz="2700" dirty="0"/>
          </a:p>
        </p:txBody>
      </p:sp>
      <p:pic>
        <p:nvPicPr>
          <p:cNvPr id="55" name="Image 12" descr="preencoded.png"/>
          <p:cNvPicPr>
            <a:picLocks noChangeAspect="1"/>
          </p:cNvPicPr>
          <p:nvPr/>
        </p:nvPicPr>
        <p:blipFill>
          <a:blip r:embed="rId15"/>
          <a:srcRect t="-13173" b="-13173"/>
          <a:stretch/>
        </p:blipFill>
        <p:spPr>
          <a:xfrm>
            <a:off x="20458785" y="15951953"/>
            <a:ext cx="713232" cy="801015"/>
          </a:xfrm>
          <a:prstGeom prst="rect">
            <a:avLst/>
          </a:prstGeom>
        </p:spPr>
      </p:pic>
      <p:sp>
        <p:nvSpPr>
          <p:cNvPr id="56" name="Text 41"/>
          <p:cNvSpPr txBox="1"/>
          <p:nvPr/>
        </p:nvSpPr>
        <p:spPr>
          <a:xfrm>
            <a:off x="21487487" y="15639230"/>
            <a:ext cx="12459615" cy="5157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5) Scale the skill library</a:t>
            </a:r>
            <a:endParaRPr lang="en-US" sz="3000" dirty="0"/>
          </a:p>
        </p:txBody>
      </p:sp>
      <p:sp>
        <p:nvSpPr>
          <p:cNvPr id="57" name="Text 42"/>
          <p:cNvSpPr txBox="1"/>
          <p:nvPr/>
        </p:nvSpPr>
        <p:spPr>
          <a:xfrm>
            <a:off x="21487487" y="16294853"/>
            <a:ext cx="14174115" cy="430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dirty="0">
                <a:solidFill>
                  <a:srgbClr val="2B2B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Each new skill compounds value across teams; apply RBAC + policy presets.</a:t>
            </a:r>
            <a:endParaRPr lang="en-US" sz="2700" dirty="0"/>
          </a:p>
        </p:txBody>
      </p:sp>
      <p:sp>
        <p:nvSpPr>
          <p:cNvPr id="58" name="Text 43"/>
          <p:cNvSpPr txBox="1"/>
          <p:nvPr/>
        </p:nvSpPr>
        <p:spPr>
          <a:xfrm>
            <a:off x="21487487" y="16895613"/>
            <a:ext cx="12459615" cy="4005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2B2B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Result:</a:t>
            </a:r>
            <a:r>
              <a:rPr lang="en-US" sz="2400" dirty="0">
                <a:solidFill>
                  <a:srgbClr val="4B4B4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faster execution, lower risk, audit-ready automation.</a:t>
            </a:r>
            <a:endParaRPr lang="en-US"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" y="0"/>
            <a:ext cx="36575085" cy="2057400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5400"/>
          </a:p>
        </p:txBody>
      </p:sp>
      <p:sp>
        <p:nvSpPr>
          <p:cNvPr id="3" name="Shape 1"/>
          <p:cNvSpPr/>
          <p:nvPr/>
        </p:nvSpPr>
        <p:spPr>
          <a:xfrm>
            <a:off x="2" y="0"/>
            <a:ext cx="36575085" cy="2057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5400"/>
          </a:p>
        </p:txBody>
      </p:sp>
      <p:sp>
        <p:nvSpPr>
          <p:cNvPr id="4" name="Shape 2"/>
          <p:cNvSpPr/>
          <p:nvPr/>
        </p:nvSpPr>
        <p:spPr>
          <a:xfrm>
            <a:off x="2" y="2"/>
            <a:ext cx="36575085" cy="1829715"/>
          </a:xfrm>
          <a:prstGeom prst="rect">
            <a:avLst/>
          </a:prstGeom>
          <a:solidFill>
            <a:srgbClr val="76B9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540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l="-399" r="-399"/>
          <a:stretch/>
        </p:blipFill>
        <p:spPr>
          <a:xfrm>
            <a:off x="1999796" y="2457906"/>
            <a:ext cx="172821" cy="1754550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573123" y="3829508"/>
            <a:ext cx="32117385" cy="16289121"/>
          </a:xfrm>
          <a:prstGeom prst="roundRect">
            <a:avLst>
              <a:gd name="adj" fmla="val 1064"/>
            </a:avLst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5400"/>
          </a:p>
        </p:txBody>
      </p:sp>
      <p:sp>
        <p:nvSpPr>
          <p:cNvPr id="7" name="Shape 4"/>
          <p:cNvSpPr/>
          <p:nvPr/>
        </p:nvSpPr>
        <p:spPr>
          <a:xfrm>
            <a:off x="3429002" y="4400094"/>
            <a:ext cx="30348021" cy="2400300"/>
          </a:xfrm>
          <a:prstGeom prst="roundRect">
            <a:avLst>
              <a:gd name="adj" fmla="val 43537"/>
            </a:avLst>
          </a:prstGeom>
          <a:solidFill>
            <a:srgbClr val="E8F5E9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5400"/>
          </a:p>
        </p:txBody>
      </p:sp>
      <p:sp>
        <p:nvSpPr>
          <p:cNvPr id="8" name="Shape 5"/>
          <p:cNvSpPr/>
          <p:nvPr/>
        </p:nvSpPr>
        <p:spPr>
          <a:xfrm>
            <a:off x="20288708" y="4828034"/>
            <a:ext cx="13203021" cy="1544421"/>
          </a:xfrm>
          <a:prstGeom prst="roundRect">
            <a:avLst>
              <a:gd name="adj" fmla="val 92099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 sz="540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 l="-343" r="-343"/>
          <a:stretch/>
        </p:blipFill>
        <p:spPr>
          <a:xfrm>
            <a:off x="18288915" y="6742785"/>
            <a:ext cx="57606" cy="400506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18116094" y="7143296"/>
            <a:ext cx="400506" cy="227685"/>
          </a:xfrm>
          <a:prstGeom prst="rect">
            <a:avLst/>
          </a:prstGeom>
          <a:noFill/>
          <a:ln w="101600">
            <a:solidFill>
              <a:srgbClr val="8C8C8C"/>
            </a:solidFill>
            <a:prstDash val="solid"/>
          </a:ln>
        </p:spPr>
        <p:txBody>
          <a:bodyPr/>
          <a:lstStyle/>
          <a:p>
            <a:endParaRPr lang="en-US" sz="5400"/>
          </a:p>
        </p:txBody>
      </p:sp>
      <p:sp>
        <p:nvSpPr>
          <p:cNvPr id="11" name="Shape 7"/>
          <p:cNvSpPr/>
          <p:nvPr/>
        </p:nvSpPr>
        <p:spPr>
          <a:xfrm>
            <a:off x="3429002" y="7543802"/>
            <a:ext cx="30348021" cy="2573121"/>
          </a:xfrm>
          <a:prstGeom prst="roundRect">
            <a:avLst>
              <a:gd name="adj" fmla="val 37906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5400"/>
          </a:p>
        </p:txBody>
      </p:sp>
      <p:sp>
        <p:nvSpPr>
          <p:cNvPr id="12" name="Shape 8"/>
          <p:cNvSpPr/>
          <p:nvPr/>
        </p:nvSpPr>
        <p:spPr>
          <a:xfrm>
            <a:off x="21717917" y="7944306"/>
            <a:ext cx="11488521" cy="1772106"/>
          </a:xfrm>
          <a:prstGeom prst="roundRect">
            <a:avLst>
              <a:gd name="adj" fmla="val 69909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 sz="540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rcRect l="-343" r="-343"/>
          <a:stretch/>
        </p:blipFill>
        <p:spPr>
          <a:xfrm>
            <a:off x="18288915" y="10059315"/>
            <a:ext cx="57606" cy="400506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18116094" y="10459823"/>
            <a:ext cx="400506" cy="227685"/>
          </a:xfrm>
          <a:prstGeom prst="rect">
            <a:avLst/>
          </a:prstGeom>
          <a:noFill/>
          <a:ln w="101600">
            <a:solidFill>
              <a:srgbClr val="8C8C8C"/>
            </a:solidFill>
            <a:prstDash val="solid"/>
          </a:ln>
        </p:spPr>
        <p:txBody>
          <a:bodyPr/>
          <a:lstStyle/>
          <a:p>
            <a:endParaRPr lang="en-US" sz="5400"/>
          </a:p>
        </p:txBody>
      </p:sp>
      <p:sp>
        <p:nvSpPr>
          <p:cNvPr id="15" name="Shape 10"/>
          <p:cNvSpPr/>
          <p:nvPr/>
        </p:nvSpPr>
        <p:spPr>
          <a:xfrm>
            <a:off x="3429002" y="10915196"/>
            <a:ext cx="30348021" cy="4685385"/>
          </a:xfrm>
          <a:prstGeom prst="roundRect">
            <a:avLst>
              <a:gd name="adj" fmla="val 11424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5400"/>
          </a:p>
        </p:txBody>
      </p:sp>
      <p:sp>
        <p:nvSpPr>
          <p:cNvPr id="16" name="Shape 11"/>
          <p:cNvSpPr/>
          <p:nvPr/>
        </p:nvSpPr>
        <p:spPr>
          <a:xfrm>
            <a:off x="21717917" y="11315702"/>
            <a:ext cx="11488521" cy="3887115"/>
          </a:xfrm>
          <a:prstGeom prst="roundRect">
            <a:avLst>
              <a:gd name="adj" fmla="val 14529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 sz="540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rcRect l="-343" r="-343"/>
          <a:stretch/>
        </p:blipFill>
        <p:spPr>
          <a:xfrm>
            <a:off x="18288915" y="15603321"/>
            <a:ext cx="57606" cy="400506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18116094" y="16001087"/>
            <a:ext cx="400506" cy="227685"/>
          </a:xfrm>
          <a:prstGeom prst="rect">
            <a:avLst/>
          </a:prstGeom>
          <a:noFill/>
          <a:ln w="101600">
            <a:solidFill>
              <a:srgbClr val="8C8C8C"/>
            </a:solidFill>
            <a:prstDash val="solid"/>
          </a:ln>
        </p:spPr>
        <p:txBody>
          <a:bodyPr/>
          <a:lstStyle/>
          <a:p>
            <a:endParaRPr lang="en-US" sz="5400"/>
          </a:p>
        </p:txBody>
      </p:sp>
      <p:sp>
        <p:nvSpPr>
          <p:cNvPr id="19" name="Shape 13"/>
          <p:cNvSpPr/>
          <p:nvPr/>
        </p:nvSpPr>
        <p:spPr>
          <a:xfrm>
            <a:off x="3429002" y="16632021"/>
            <a:ext cx="30348021" cy="3028494"/>
          </a:xfrm>
          <a:prstGeom prst="roundRect">
            <a:avLst>
              <a:gd name="adj" fmla="val 27345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5400"/>
          </a:p>
        </p:txBody>
      </p:sp>
      <p:sp>
        <p:nvSpPr>
          <p:cNvPr id="20" name="Shape 14"/>
          <p:cNvSpPr/>
          <p:nvPr/>
        </p:nvSpPr>
        <p:spPr>
          <a:xfrm>
            <a:off x="15430502" y="17029787"/>
            <a:ext cx="6056985" cy="2172615"/>
          </a:xfrm>
          <a:prstGeom prst="roundRect">
            <a:avLst>
              <a:gd name="adj" fmla="val 46518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 sz="5400"/>
          </a:p>
        </p:txBody>
      </p:sp>
      <p:sp>
        <p:nvSpPr>
          <p:cNvPr id="21" name="Shape 15"/>
          <p:cNvSpPr/>
          <p:nvPr/>
        </p:nvSpPr>
        <p:spPr>
          <a:xfrm>
            <a:off x="21660306" y="17029787"/>
            <a:ext cx="5771694" cy="2172615"/>
          </a:xfrm>
          <a:prstGeom prst="roundRect">
            <a:avLst>
              <a:gd name="adj" fmla="val 46518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 sz="5400"/>
          </a:p>
        </p:txBody>
      </p:sp>
      <p:sp>
        <p:nvSpPr>
          <p:cNvPr id="22" name="Shape 16"/>
          <p:cNvSpPr/>
          <p:nvPr/>
        </p:nvSpPr>
        <p:spPr>
          <a:xfrm>
            <a:off x="27604821" y="17029787"/>
            <a:ext cx="6172200" cy="2172615"/>
          </a:xfrm>
          <a:prstGeom prst="roundRect">
            <a:avLst>
              <a:gd name="adj" fmla="val 46518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 sz="5400"/>
          </a:p>
        </p:txBody>
      </p:sp>
      <p:sp>
        <p:nvSpPr>
          <p:cNvPr id="23" name="Text 17"/>
          <p:cNvSpPr txBox="1"/>
          <p:nvPr/>
        </p:nvSpPr>
        <p:spPr>
          <a:xfrm>
            <a:off x="11540645" y="441654"/>
            <a:ext cx="13518489" cy="943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End-to-End Reference Architecture</a:t>
            </a:r>
            <a:endParaRPr lang="en-US" sz="5400" dirty="0"/>
          </a:p>
        </p:txBody>
      </p:sp>
      <p:sp>
        <p:nvSpPr>
          <p:cNvPr id="24" name="Text 18"/>
          <p:cNvSpPr txBox="1"/>
          <p:nvPr/>
        </p:nvSpPr>
        <p:spPr>
          <a:xfrm>
            <a:off x="2573123" y="2400300"/>
            <a:ext cx="32347815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kern="0" spc="45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Technical blueprint: enterprise triggers → governed gateway → sandboxed agent → controlled execution</a:t>
            </a:r>
            <a:endParaRPr lang="en-US" sz="3600" dirty="0"/>
          </a:p>
        </p:txBody>
      </p:sp>
      <p:sp>
        <p:nvSpPr>
          <p:cNvPr id="25" name="Text 19"/>
          <p:cNvSpPr txBox="1"/>
          <p:nvPr/>
        </p:nvSpPr>
        <p:spPr>
          <a:xfrm>
            <a:off x="2573123" y="3143708"/>
            <a:ext cx="32347815" cy="430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dirty="0">
                <a:solidFill>
                  <a:srgbClr val="4B4B4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All egress + inference routed via gateway; credentials stay outside sandbox; actions are auditable.</a:t>
            </a:r>
            <a:endParaRPr lang="en-US" sz="2700" dirty="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5"/>
          <a:srcRect t="-13173" b="-13173"/>
          <a:stretch/>
        </p:blipFill>
        <p:spPr>
          <a:xfrm>
            <a:off x="4172406" y="5143502"/>
            <a:ext cx="713232" cy="801015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201108" y="4630523"/>
            <a:ext cx="14917521" cy="543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Integration touchpoints</a:t>
            </a:r>
            <a:endParaRPr lang="en-US" sz="3000" dirty="0"/>
          </a:p>
        </p:txBody>
      </p:sp>
      <p:sp>
        <p:nvSpPr>
          <p:cNvPr id="28" name="Text 21"/>
          <p:cNvSpPr txBox="1"/>
          <p:nvPr/>
        </p:nvSpPr>
        <p:spPr>
          <a:xfrm>
            <a:off x="5201108" y="5286149"/>
            <a:ext cx="14917521" cy="430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2B2B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Humans + systems initiate tasks</a:t>
            </a:r>
            <a:endParaRPr lang="en-US" sz="2400" dirty="0"/>
          </a:p>
        </p:txBody>
      </p:sp>
      <p:sp>
        <p:nvSpPr>
          <p:cNvPr id="29" name="Text 22"/>
          <p:cNvSpPr txBox="1"/>
          <p:nvPr/>
        </p:nvSpPr>
        <p:spPr>
          <a:xfrm>
            <a:off x="5201108" y="5810097"/>
            <a:ext cx="14917521" cy="4005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4B4B4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Chat · webhooks · ITSM events · pipelines</a:t>
            </a:r>
            <a:endParaRPr lang="en-US" sz="2400" dirty="0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6"/>
          <a:srcRect t="-18622" b="-18622"/>
          <a:stretch/>
        </p:blipFill>
        <p:spPr>
          <a:xfrm>
            <a:off x="20974506" y="5258715"/>
            <a:ext cx="400506" cy="628194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21660308" y="5316323"/>
            <a:ext cx="2038197" cy="430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2B2B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Teams</a:t>
            </a:r>
            <a:endParaRPr lang="en-US" sz="2400" dirty="0"/>
          </a:p>
        </p:txBody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7"/>
          <a:srcRect t="-18622" b="-18622"/>
          <a:stretch/>
        </p:blipFill>
        <p:spPr>
          <a:xfrm>
            <a:off x="23374806" y="5258715"/>
            <a:ext cx="400506" cy="628194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24060606" y="5316323"/>
            <a:ext cx="1906524" cy="430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2B2B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Slack</a:t>
            </a:r>
            <a:endParaRPr lang="en-US" sz="2400" dirty="0"/>
          </a:p>
        </p:txBody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8"/>
          <a:srcRect t="-24213" b="-24213"/>
          <a:stretch/>
        </p:blipFill>
        <p:spPr>
          <a:xfrm>
            <a:off x="25832715" y="5258715"/>
            <a:ext cx="370332" cy="628194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26518515" y="5316323"/>
            <a:ext cx="2235708" cy="430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2B2B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CI/CD</a:t>
            </a:r>
            <a:endParaRPr lang="en-US" sz="2400" dirty="0"/>
          </a:p>
        </p:txBody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9"/>
          <a:srcRect t="-22775" b="-22775"/>
          <a:stretch/>
        </p:blipFill>
        <p:spPr>
          <a:xfrm>
            <a:off x="28518308" y="5258715"/>
            <a:ext cx="485547" cy="628194"/>
          </a:xfrm>
          <a:prstGeom prst="rect">
            <a:avLst/>
          </a:prstGeom>
        </p:spPr>
      </p:pic>
      <p:sp>
        <p:nvSpPr>
          <p:cNvPr id="37" name="Text 26"/>
          <p:cNvSpPr txBox="1"/>
          <p:nvPr/>
        </p:nvSpPr>
        <p:spPr>
          <a:xfrm>
            <a:off x="29204108" y="5316323"/>
            <a:ext cx="2038197" cy="430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2B2B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ITSM</a:t>
            </a:r>
            <a:endParaRPr lang="en-US" sz="2400" dirty="0"/>
          </a:p>
        </p:txBody>
      </p:sp>
      <p:pic>
        <p:nvPicPr>
          <p:cNvPr id="38" name="Image 9" descr="preencoded.png"/>
          <p:cNvPicPr>
            <a:picLocks noChangeAspect="1"/>
          </p:cNvPicPr>
          <p:nvPr/>
        </p:nvPicPr>
        <p:blipFill>
          <a:blip r:embed="rId10"/>
          <a:srcRect t="-24674" b="-24674"/>
          <a:stretch/>
        </p:blipFill>
        <p:spPr>
          <a:xfrm>
            <a:off x="31088685" y="5258715"/>
            <a:ext cx="315468" cy="628194"/>
          </a:xfrm>
          <a:prstGeom prst="rect">
            <a:avLst/>
          </a:prstGeom>
        </p:spPr>
      </p:pic>
      <p:sp>
        <p:nvSpPr>
          <p:cNvPr id="39" name="Text 27"/>
          <p:cNvSpPr txBox="1"/>
          <p:nvPr/>
        </p:nvSpPr>
        <p:spPr>
          <a:xfrm>
            <a:off x="31774487" y="5316323"/>
            <a:ext cx="1544421" cy="430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2B2B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APIs</a:t>
            </a:r>
            <a:endParaRPr lang="en-US" sz="2400" dirty="0"/>
          </a:p>
        </p:txBody>
      </p:sp>
      <p:pic>
        <p:nvPicPr>
          <p:cNvPr id="40" name="Image 10" descr="preencoded.png"/>
          <p:cNvPicPr>
            <a:picLocks noChangeAspect="1"/>
          </p:cNvPicPr>
          <p:nvPr/>
        </p:nvPicPr>
        <p:blipFill>
          <a:blip r:embed="rId11"/>
          <a:srcRect t="-13755" b="-13755"/>
          <a:stretch/>
        </p:blipFill>
        <p:spPr>
          <a:xfrm>
            <a:off x="4172406" y="8344817"/>
            <a:ext cx="628194" cy="801015"/>
          </a:xfrm>
          <a:prstGeom prst="rect">
            <a:avLst/>
          </a:prstGeom>
        </p:spPr>
      </p:pic>
      <p:sp>
        <p:nvSpPr>
          <p:cNvPr id="41" name="Text 28"/>
          <p:cNvSpPr txBox="1"/>
          <p:nvPr/>
        </p:nvSpPr>
        <p:spPr>
          <a:xfrm>
            <a:off x="5201106" y="7771487"/>
            <a:ext cx="16346730" cy="543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API Gateway / Bridge (FastAPI)</a:t>
            </a:r>
            <a:endParaRPr lang="en-US" sz="3000" dirty="0"/>
          </a:p>
        </p:txBody>
      </p:sp>
      <p:sp>
        <p:nvSpPr>
          <p:cNvPr id="42" name="Text 29"/>
          <p:cNvSpPr txBox="1"/>
          <p:nvPr/>
        </p:nvSpPr>
        <p:spPr>
          <a:xfrm>
            <a:off x="5201106" y="8429855"/>
            <a:ext cx="16346730" cy="430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2B2B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Task intake + session management + streaming status</a:t>
            </a:r>
            <a:endParaRPr lang="en-US" sz="2400" dirty="0"/>
          </a:p>
        </p:txBody>
      </p:sp>
      <p:sp>
        <p:nvSpPr>
          <p:cNvPr id="43" name="Text 30"/>
          <p:cNvSpPr txBox="1"/>
          <p:nvPr/>
        </p:nvSpPr>
        <p:spPr>
          <a:xfrm>
            <a:off x="5201106" y="8953806"/>
            <a:ext cx="16346730" cy="4005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4B4B4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REST: </a:t>
            </a:r>
            <a:r>
              <a:rPr lang="en-US" sz="2400" dirty="0">
                <a:solidFill>
                  <a:srgbClr val="4B4B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/api/tasks/submit</a:t>
            </a:r>
            <a:r>
              <a:rPr lang="en-US" sz="2400" dirty="0">
                <a:solidFill>
                  <a:srgbClr val="4B4B4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· SSE updates · output sanitization</a:t>
            </a:r>
            <a:endParaRPr lang="en-US" sz="2400" dirty="0"/>
          </a:p>
        </p:txBody>
      </p:sp>
      <p:pic>
        <p:nvPicPr>
          <p:cNvPr id="44" name="Image 11" descr="preencoded.png"/>
          <p:cNvPicPr>
            <a:picLocks noChangeAspect="1"/>
          </p:cNvPicPr>
          <p:nvPr/>
        </p:nvPicPr>
        <p:blipFill>
          <a:blip r:embed="rId12"/>
          <a:srcRect t="-18622" b="-18622"/>
          <a:stretch/>
        </p:blipFill>
        <p:spPr>
          <a:xfrm>
            <a:off x="22230894" y="8457285"/>
            <a:ext cx="400506" cy="628194"/>
          </a:xfrm>
          <a:prstGeom prst="rect">
            <a:avLst/>
          </a:prstGeom>
        </p:spPr>
      </p:pic>
      <p:sp>
        <p:nvSpPr>
          <p:cNvPr id="45" name="Text 31"/>
          <p:cNvSpPr txBox="1"/>
          <p:nvPr/>
        </p:nvSpPr>
        <p:spPr>
          <a:xfrm>
            <a:off x="22974300" y="8171996"/>
            <a:ext cx="10232136" cy="488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AuthN/Z + transport</a:t>
            </a:r>
            <a:endParaRPr lang="en-US" sz="2700" dirty="0"/>
          </a:p>
        </p:txBody>
      </p:sp>
      <p:sp>
        <p:nvSpPr>
          <p:cNvPr id="46" name="Text 32"/>
          <p:cNvSpPr txBox="1"/>
          <p:nvPr/>
        </p:nvSpPr>
        <p:spPr>
          <a:xfrm>
            <a:off x="22974300" y="8715147"/>
            <a:ext cx="10426902" cy="3730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4B4B4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API key auth · TLS/VPN (e.g., Tailscale) · rate limiting</a:t>
            </a:r>
            <a:endParaRPr lang="en-US" sz="2400" dirty="0"/>
          </a:p>
        </p:txBody>
      </p:sp>
      <p:pic>
        <p:nvPicPr>
          <p:cNvPr id="47" name="Image 12" descr="preencoded.png"/>
          <p:cNvPicPr>
            <a:picLocks noChangeAspect="1"/>
          </p:cNvPicPr>
          <p:nvPr/>
        </p:nvPicPr>
        <p:blipFill>
          <a:blip r:embed="rId13"/>
          <a:srcRect t="-13755" b="-13755"/>
          <a:stretch/>
        </p:blipFill>
        <p:spPr>
          <a:xfrm>
            <a:off x="4172406" y="11943896"/>
            <a:ext cx="628194" cy="801015"/>
          </a:xfrm>
          <a:prstGeom prst="rect">
            <a:avLst/>
          </a:prstGeom>
        </p:spPr>
      </p:pic>
      <p:sp>
        <p:nvSpPr>
          <p:cNvPr id="48" name="Text 33"/>
          <p:cNvSpPr txBox="1"/>
          <p:nvPr/>
        </p:nvSpPr>
        <p:spPr>
          <a:xfrm>
            <a:off x="5201106" y="11200487"/>
            <a:ext cx="16346730" cy="543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NemoClaw Platform (OpenClaw + OpenShell)</a:t>
            </a:r>
            <a:endParaRPr lang="en-US" sz="3000" dirty="0"/>
          </a:p>
        </p:txBody>
      </p:sp>
      <p:sp>
        <p:nvSpPr>
          <p:cNvPr id="49" name="Text 34"/>
          <p:cNvSpPr txBox="1"/>
          <p:nvPr/>
        </p:nvSpPr>
        <p:spPr>
          <a:xfrm>
            <a:off x="5201106" y="11858855"/>
            <a:ext cx="16346730" cy="430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2B2B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Autonomous agent execution inside isolated sandbox</a:t>
            </a:r>
            <a:endParaRPr lang="en-US" sz="2400" dirty="0"/>
          </a:p>
        </p:txBody>
      </p:sp>
      <p:sp>
        <p:nvSpPr>
          <p:cNvPr id="50" name="Text 35"/>
          <p:cNvSpPr txBox="1"/>
          <p:nvPr/>
        </p:nvSpPr>
        <p:spPr>
          <a:xfrm>
            <a:off x="5201106" y="12440412"/>
            <a:ext cx="18061230" cy="4005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4B4B4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Sandbox: Landlock LSM · seccomp · netns isolation · read-only system paths · writable </a:t>
            </a:r>
            <a:r>
              <a:rPr lang="en-US" sz="2400" dirty="0">
                <a:solidFill>
                  <a:srgbClr val="4B4B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/sandbox</a:t>
            </a:r>
            <a:r>
              <a:rPr lang="en-US" sz="2400" dirty="0">
                <a:solidFill>
                  <a:srgbClr val="4B4B4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</a:t>
            </a:r>
            <a:r>
              <a:rPr lang="en-US" sz="2400" dirty="0">
                <a:solidFill>
                  <a:srgbClr val="4B4B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/tmp</a:t>
            </a:r>
            <a:endParaRPr lang="en-US" sz="2400" dirty="0"/>
          </a:p>
        </p:txBody>
      </p:sp>
      <p:sp>
        <p:nvSpPr>
          <p:cNvPr id="51" name="Text 36"/>
          <p:cNvSpPr txBox="1"/>
          <p:nvPr/>
        </p:nvSpPr>
        <p:spPr>
          <a:xfrm>
            <a:off x="5201106" y="12989052"/>
            <a:ext cx="18061230" cy="4005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4B4B4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Runtime: skill loading · multi-step planning · tool calls (shell/files/APIs) · evaluation loop</a:t>
            </a:r>
            <a:endParaRPr lang="en-US" sz="2400" dirty="0"/>
          </a:p>
        </p:txBody>
      </p:sp>
      <p:pic>
        <p:nvPicPr>
          <p:cNvPr id="52" name="Image 13" descr="preencoded.png"/>
          <p:cNvPicPr>
            <a:picLocks noChangeAspect="1"/>
          </p:cNvPicPr>
          <p:nvPr/>
        </p:nvPicPr>
        <p:blipFill>
          <a:blip r:embed="rId14"/>
          <a:srcRect t="-18517" b="-18517"/>
          <a:stretch/>
        </p:blipFill>
        <p:spPr>
          <a:xfrm>
            <a:off x="22230896" y="11773815"/>
            <a:ext cx="515721" cy="628194"/>
          </a:xfrm>
          <a:prstGeom prst="rect">
            <a:avLst/>
          </a:prstGeom>
        </p:spPr>
      </p:pic>
      <p:sp>
        <p:nvSpPr>
          <p:cNvPr id="53" name="Text 37"/>
          <p:cNvSpPr txBox="1"/>
          <p:nvPr/>
        </p:nvSpPr>
        <p:spPr>
          <a:xfrm>
            <a:off x="22974300" y="11600996"/>
            <a:ext cx="10232136" cy="488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OpenShell Gateway (control plane)</a:t>
            </a:r>
            <a:endParaRPr lang="en-US" sz="2700" dirty="0"/>
          </a:p>
        </p:txBody>
      </p:sp>
      <p:pic>
        <p:nvPicPr>
          <p:cNvPr id="54" name="Image 14" descr="preencoded.png"/>
          <p:cNvPicPr>
            <a:picLocks noChangeAspect="1"/>
          </p:cNvPicPr>
          <p:nvPr/>
        </p:nvPicPr>
        <p:blipFill>
          <a:blip r:embed="rId15"/>
          <a:srcRect t="-19149" b="-19149"/>
          <a:stretch/>
        </p:blipFill>
        <p:spPr>
          <a:xfrm>
            <a:off x="22288502" y="12459617"/>
            <a:ext cx="515721" cy="570585"/>
          </a:xfrm>
          <a:prstGeom prst="rect">
            <a:avLst/>
          </a:prstGeom>
        </p:spPr>
      </p:pic>
      <p:sp>
        <p:nvSpPr>
          <p:cNvPr id="55" name="Text 38"/>
          <p:cNvSpPr txBox="1"/>
          <p:nvPr/>
        </p:nvSpPr>
        <p:spPr>
          <a:xfrm>
            <a:off x="22974300" y="12402008"/>
            <a:ext cx="10344606" cy="430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2B2B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Network policy engine (deny-by-default, L7 inspection)</a:t>
            </a:r>
            <a:endParaRPr lang="en-US" sz="2400" dirty="0"/>
          </a:p>
        </p:txBody>
      </p:sp>
      <p:pic>
        <p:nvPicPr>
          <p:cNvPr id="56" name="Image 15" descr="preencoded.png"/>
          <p:cNvPicPr>
            <a:picLocks noChangeAspect="1"/>
          </p:cNvPicPr>
          <p:nvPr/>
        </p:nvPicPr>
        <p:blipFill>
          <a:blip r:embed="rId16"/>
          <a:srcRect t="-21233" b="-21233"/>
          <a:stretch/>
        </p:blipFill>
        <p:spPr>
          <a:xfrm>
            <a:off x="22288500" y="13030202"/>
            <a:ext cx="400506" cy="570585"/>
          </a:xfrm>
          <a:prstGeom prst="rect">
            <a:avLst/>
          </a:prstGeom>
        </p:spPr>
      </p:pic>
      <p:sp>
        <p:nvSpPr>
          <p:cNvPr id="57" name="Text 39"/>
          <p:cNvSpPr txBox="1"/>
          <p:nvPr/>
        </p:nvSpPr>
        <p:spPr>
          <a:xfrm>
            <a:off x="22974302" y="12972596"/>
            <a:ext cx="11639397" cy="430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2B2B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Inference proxy &amp; routing (provider switching, cost tracking)</a:t>
            </a:r>
            <a:endParaRPr lang="en-US" sz="2400" dirty="0"/>
          </a:p>
        </p:txBody>
      </p:sp>
      <p:pic>
        <p:nvPicPr>
          <p:cNvPr id="58" name="Image 16" descr="preencoded.png"/>
          <p:cNvPicPr>
            <a:picLocks noChangeAspect="1"/>
          </p:cNvPicPr>
          <p:nvPr/>
        </p:nvPicPr>
        <p:blipFill>
          <a:blip r:embed="rId17"/>
          <a:srcRect t="-21233" b="-21233"/>
          <a:stretch/>
        </p:blipFill>
        <p:spPr>
          <a:xfrm>
            <a:off x="22288500" y="13600787"/>
            <a:ext cx="400506" cy="570585"/>
          </a:xfrm>
          <a:prstGeom prst="rect">
            <a:avLst/>
          </a:prstGeom>
        </p:spPr>
      </p:pic>
      <p:sp>
        <p:nvSpPr>
          <p:cNvPr id="59" name="Text 40"/>
          <p:cNvSpPr txBox="1"/>
          <p:nvPr/>
        </p:nvSpPr>
        <p:spPr>
          <a:xfrm>
            <a:off x="22974302" y="13545923"/>
            <a:ext cx="10528401" cy="430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2B2B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Credential store &amp; injection (keys never enter sandbox)</a:t>
            </a:r>
            <a:endParaRPr lang="en-US" sz="2400" dirty="0"/>
          </a:p>
        </p:txBody>
      </p:sp>
      <p:pic>
        <p:nvPicPr>
          <p:cNvPr id="60" name="Image 17" descr="preencoded.png"/>
          <p:cNvPicPr>
            <a:picLocks noChangeAspect="1"/>
          </p:cNvPicPr>
          <p:nvPr/>
        </p:nvPicPr>
        <p:blipFill>
          <a:blip r:embed="rId18"/>
          <a:srcRect t="-19149" b="-19149"/>
          <a:stretch/>
        </p:blipFill>
        <p:spPr>
          <a:xfrm>
            <a:off x="22288502" y="14174117"/>
            <a:ext cx="515721" cy="570585"/>
          </a:xfrm>
          <a:prstGeom prst="rect">
            <a:avLst/>
          </a:prstGeom>
        </p:spPr>
      </p:pic>
      <p:sp>
        <p:nvSpPr>
          <p:cNvPr id="61" name="Text 41"/>
          <p:cNvSpPr txBox="1"/>
          <p:nvPr/>
        </p:nvSpPr>
        <p:spPr>
          <a:xfrm>
            <a:off x="22974300" y="14116508"/>
            <a:ext cx="11085270" cy="430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2B2B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Operator approval TUI + device authentication + audit logs</a:t>
            </a:r>
            <a:endParaRPr lang="en-US" sz="2400" dirty="0"/>
          </a:p>
        </p:txBody>
      </p:sp>
      <p:pic>
        <p:nvPicPr>
          <p:cNvPr id="62" name="Image 18" descr="preencoded.png"/>
          <p:cNvPicPr>
            <a:picLocks noChangeAspect="1"/>
          </p:cNvPicPr>
          <p:nvPr/>
        </p:nvPicPr>
        <p:blipFill>
          <a:blip r:embed="rId19"/>
          <a:srcRect t="-13755" b="-13755"/>
          <a:stretch/>
        </p:blipFill>
        <p:spPr>
          <a:xfrm>
            <a:off x="4172406" y="17603117"/>
            <a:ext cx="628194" cy="801015"/>
          </a:xfrm>
          <a:prstGeom prst="rect">
            <a:avLst/>
          </a:prstGeom>
        </p:spPr>
      </p:pic>
      <p:sp>
        <p:nvSpPr>
          <p:cNvPr id="63" name="Text 42"/>
          <p:cNvSpPr txBox="1"/>
          <p:nvPr/>
        </p:nvSpPr>
        <p:spPr>
          <a:xfrm>
            <a:off x="5201108" y="16859708"/>
            <a:ext cx="10514685" cy="543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Execution / infrastructure (policy-gated)</a:t>
            </a:r>
            <a:endParaRPr lang="en-US" sz="3000" dirty="0"/>
          </a:p>
        </p:txBody>
      </p:sp>
      <p:sp>
        <p:nvSpPr>
          <p:cNvPr id="64" name="Text 43"/>
          <p:cNvSpPr txBox="1"/>
          <p:nvPr/>
        </p:nvSpPr>
        <p:spPr>
          <a:xfrm>
            <a:off x="5201106" y="17515334"/>
            <a:ext cx="9658806" cy="7735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4B4B4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Workloads, inference, and external services accessed only via approved routes</a:t>
            </a:r>
            <a:endParaRPr lang="en-US" sz="2400" dirty="0"/>
          </a:p>
        </p:txBody>
      </p:sp>
      <p:pic>
        <p:nvPicPr>
          <p:cNvPr id="65" name="Image 19" descr="preencoded.png"/>
          <p:cNvPicPr>
            <a:picLocks noChangeAspect="1"/>
          </p:cNvPicPr>
          <p:nvPr/>
        </p:nvPicPr>
        <p:blipFill>
          <a:blip r:embed="rId20"/>
          <a:srcRect t="-18563" b="-18563"/>
          <a:stretch/>
        </p:blipFill>
        <p:spPr>
          <a:xfrm>
            <a:off x="15888617" y="17603115"/>
            <a:ext cx="458115" cy="628194"/>
          </a:xfrm>
          <a:prstGeom prst="rect">
            <a:avLst/>
          </a:prstGeom>
        </p:spPr>
      </p:pic>
      <p:sp>
        <p:nvSpPr>
          <p:cNvPr id="66" name="Text 44"/>
          <p:cNvSpPr txBox="1"/>
          <p:nvPr/>
        </p:nvSpPr>
        <p:spPr>
          <a:xfrm>
            <a:off x="16632021" y="17260217"/>
            <a:ext cx="5143500" cy="488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Local inference</a:t>
            </a:r>
            <a:endParaRPr lang="en-US" sz="2700" dirty="0"/>
          </a:p>
        </p:txBody>
      </p:sp>
      <p:sp>
        <p:nvSpPr>
          <p:cNvPr id="67" name="Text 45"/>
          <p:cNvSpPr txBox="1"/>
          <p:nvPr/>
        </p:nvSpPr>
        <p:spPr>
          <a:xfrm>
            <a:off x="16632021" y="17803368"/>
            <a:ext cx="5143500" cy="3730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4B4B4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DGX Spark + Ollama</a:t>
            </a:r>
            <a:endParaRPr lang="en-US" sz="2400" dirty="0"/>
          </a:p>
        </p:txBody>
      </p:sp>
      <p:sp>
        <p:nvSpPr>
          <p:cNvPr id="68" name="Text 46"/>
          <p:cNvSpPr txBox="1"/>
          <p:nvPr/>
        </p:nvSpPr>
        <p:spPr>
          <a:xfrm>
            <a:off x="16632021" y="18203874"/>
            <a:ext cx="5044746" cy="3730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4B4B4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Nemotron (data stays local)</a:t>
            </a:r>
            <a:endParaRPr lang="en-US" sz="2400" dirty="0"/>
          </a:p>
        </p:txBody>
      </p:sp>
      <p:pic>
        <p:nvPicPr>
          <p:cNvPr id="69" name="Image 20" descr="preencoded.png"/>
          <p:cNvPicPr>
            <a:picLocks noChangeAspect="1"/>
          </p:cNvPicPr>
          <p:nvPr/>
        </p:nvPicPr>
        <p:blipFill>
          <a:blip r:embed="rId21"/>
          <a:srcRect t="-18810" b="-18810"/>
          <a:stretch/>
        </p:blipFill>
        <p:spPr>
          <a:xfrm>
            <a:off x="22118423" y="17603115"/>
            <a:ext cx="570585" cy="628194"/>
          </a:xfrm>
          <a:prstGeom prst="rect">
            <a:avLst/>
          </a:prstGeom>
        </p:spPr>
      </p:pic>
      <p:sp>
        <p:nvSpPr>
          <p:cNvPr id="70" name="Text 47"/>
          <p:cNvSpPr txBox="1"/>
          <p:nvPr/>
        </p:nvSpPr>
        <p:spPr>
          <a:xfrm>
            <a:off x="22859085" y="17260217"/>
            <a:ext cx="4858206" cy="488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Kubernetes</a:t>
            </a:r>
            <a:endParaRPr lang="en-US" sz="2700" dirty="0"/>
          </a:p>
        </p:txBody>
      </p:sp>
      <p:sp>
        <p:nvSpPr>
          <p:cNvPr id="71" name="Text 48"/>
          <p:cNvSpPr txBox="1"/>
          <p:nvPr/>
        </p:nvSpPr>
        <p:spPr>
          <a:xfrm>
            <a:off x="22859085" y="17803368"/>
            <a:ext cx="4858206" cy="3730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4B4B4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Namespace RBAC</a:t>
            </a:r>
            <a:endParaRPr lang="en-US" sz="2400" dirty="0"/>
          </a:p>
        </p:txBody>
      </p:sp>
      <p:sp>
        <p:nvSpPr>
          <p:cNvPr id="72" name="Text 49"/>
          <p:cNvSpPr txBox="1"/>
          <p:nvPr/>
        </p:nvSpPr>
        <p:spPr>
          <a:xfrm>
            <a:off x="22859085" y="18203874"/>
            <a:ext cx="4515306" cy="3730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4B4B4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Host-mediated proxies</a:t>
            </a:r>
            <a:endParaRPr lang="en-US" sz="2400" dirty="0"/>
          </a:p>
        </p:txBody>
      </p:sp>
      <p:pic>
        <p:nvPicPr>
          <p:cNvPr id="73" name="Image 21" descr="preencoded.png"/>
          <p:cNvPicPr>
            <a:picLocks noChangeAspect="1"/>
          </p:cNvPicPr>
          <p:nvPr/>
        </p:nvPicPr>
        <p:blipFill>
          <a:blip r:embed="rId22"/>
          <a:srcRect t="-18810" b="-18810"/>
          <a:stretch/>
        </p:blipFill>
        <p:spPr>
          <a:xfrm>
            <a:off x="28060196" y="17603115"/>
            <a:ext cx="570585" cy="628194"/>
          </a:xfrm>
          <a:prstGeom prst="rect">
            <a:avLst/>
          </a:prstGeom>
        </p:spPr>
      </p:pic>
      <p:sp>
        <p:nvSpPr>
          <p:cNvPr id="74" name="Text 50"/>
          <p:cNvSpPr txBox="1"/>
          <p:nvPr/>
        </p:nvSpPr>
        <p:spPr>
          <a:xfrm>
            <a:off x="28803602" y="17260217"/>
            <a:ext cx="5258715" cy="488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External services</a:t>
            </a:r>
            <a:endParaRPr lang="en-US" sz="2700" dirty="0"/>
          </a:p>
        </p:txBody>
      </p:sp>
      <p:sp>
        <p:nvSpPr>
          <p:cNvPr id="75" name="Text 51"/>
          <p:cNvSpPr txBox="1"/>
          <p:nvPr/>
        </p:nvSpPr>
        <p:spPr>
          <a:xfrm>
            <a:off x="28803602" y="17803368"/>
            <a:ext cx="5258715" cy="3730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4B4B4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GitHub/GitLab APIs</a:t>
            </a:r>
            <a:endParaRPr lang="en-US" sz="2400" dirty="0"/>
          </a:p>
        </p:txBody>
      </p:sp>
      <p:sp>
        <p:nvSpPr>
          <p:cNvPr id="76" name="Text 52"/>
          <p:cNvSpPr txBox="1"/>
          <p:nvPr/>
        </p:nvSpPr>
        <p:spPr>
          <a:xfrm>
            <a:off x="28803602" y="18203874"/>
            <a:ext cx="5258715" cy="3730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4B4B4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NGC/NVCR registries</a:t>
            </a:r>
            <a:endParaRPr lang="en-US" sz="2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72818D-4D8B-5D4B-A092-691E46915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6642232-D470-AF6A-B9BC-02A7A9E57B2F}"/>
              </a:ext>
            </a:extLst>
          </p:cNvPr>
          <p:cNvSpPr/>
          <p:nvPr/>
        </p:nvSpPr>
        <p:spPr>
          <a:xfrm>
            <a:off x="2" y="0"/>
            <a:ext cx="36575085" cy="2057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54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E0F0B80-FA10-730C-A0AE-F9C86DF600FF}"/>
              </a:ext>
            </a:extLst>
          </p:cNvPr>
          <p:cNvSpPr/>
          <p:nvPr/>
        </p:nvSpPr>
        <p:spPr>
          <a:xfrm>
            <a:off x="2" y="0"/>
            <a:ext cx="36575085" cy="2057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54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9A91554-4700-0B38-F545-58A85C1F93AF}"/>
              </a:ext>
            </a:extLst>
          </p:cNvPr>
          <p:cNvSpPr/>
          <p:nvPr/>
        </p:nvSpPr>
        <p:spPr>
          <a:xfrm>
            <a:off x="2" y="0"/>
            <a:ext cx="36575085" cy="20574000"/>
          </a:xfrm>
          <a:prstGeom prst="rect">
            <a:avLst/>
          </a:prstGeom>
          <a:solidFill>
            <a:srgbClr val="FFFFFF">
              <a:alpha val="8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5400"/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ADC4D5F2-2E6C-E8F6-B68E-77BEAEA8CD5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1829715" y="11200485"/>
            <a:ext cx="20574000" cy="57606"/>
          </a:xfrm>
          <a:prstGeom prst="rect">
            <a:avLst/>
          </a:prstGeom>
        </p:spPr>
      </p:pic>
      <p:pic>
        <p:nvPicPr>
          <p:cNvPr id="6" name="Image 1" descr="preencoded.png">
            <a:extLst>
              <a:ext uri="{FF2B5EF4-FFF2-40B4-BE49-F238E27FC236}">
                <a16:creationId xmlns:a16="http://schemas.microsoft.com/office/drawing/2014/main" id="{FCB85085-C12D-1ED1-B6EF-D0BB65A0B65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" r="1"/>
          <a:stretch/>
        </p:blipFill>
        <p:spPr>
          <a:xfrm>
            <a:off x="-2" y="0"/>
            <a:ext cx="36575085" cy="20574000"/>
          </a:xfrm>
          <a:prstGeom prst="rect">
            <a:avLst/>
          </a:prstGeom>
        </p:spPr>
      </p:pic>
      <p:sp>
        <p:nvSpPr>
          <p:cNvPr id="8" name="Text 3">
            <a:extLst>
              <a:ext uri="{FF2B5EF4-FFF2-40B4-BE49-F238E27FC236}">
                <a16:creationId xmlns:a16="http://schemas.microsoft.com/office/drawing/2014/main" id="{73721D46-7971-F67A-EC28-C1B1A5F21C82}"/>
              </a:ext>
            </a:extLst>
          </p:cNvPr>
          <p:cNvSpPr txBox="1"/>
          <p:nvPr/>
        </p:nvSpPr>
        <p:spPr>
          <a:xfrm>
            <a:off x="1829715" y="6572706"/>
            <a:ext cx="26803806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400" b="1" kern="0" spc="-66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Thank You</a:t>
            </a:r>
            <a:endParaRPr lang="en-US" sz="8400" dirty="0"/>
          </a:p>
        </p:txBody>
      </p:sp>
    </p:spTree>
    <p:extLst>
      <p:ext uri="{BB962C8B-B14F-4D97-AF65-F5344CB8AC3E}">
        <p14:creationId xmlns:p14="http://schemas.microsoft.com/office/powerpoint/2010/main" val="25553210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0" y="8046720"/>
            <a:ext cx="32918400" cy="292608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8800" b="1" i="0">
                <a:solidFill>
                  <a:srgbClr val="76B900"/>
                </a:solidFill>
                <a:latin typeface="NVIDIA Sans Medium"/>
              </a:rPr>
              <a:t>Demo next — install + sandbox approval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1338560"/>
            <a:ext cx="32918400" cy="2194560"/>
          </a:xfrm>
          <a:prstGeom prst="rect">
            <a:avLst/>
          </a:prstGeom>
          <a:noFill/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5600" b="0" i="1">
                <a:solidFill>
                  <a:srgbClr val="5E5E5E"/>
                </a:solidFill>
                <a:latin typeface="NVIDIA Sans"/>
              </a:rPr>
              <a:t>Alpha (March 2026) · github.com/NVIDIA/NemoClaw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itle Only">
  <a:themeElements>
    <a:clrScheme name="Custom 15">
      <a:dk1>
        <a:srgbClr val="FFFFFF"/>
      </a:dk1>
      <a:lt1>
        <a:srgbClr val="000000"/>
      </a:lt1>
      <a:dk2>
        <a:srgbClr val="76B900"/>
      </a:dk2>
      <a:lt2>
        <a:srgbClr val="CDCDCD"/>
      </a:lt2>
      <a:accent1>
        <a:srgbClr val="008564"/>
      </a:accent1>
      <a:accent2>
        <a:srgbClr val="5D1682"/>
      </a:accent2>
      <a:accent3>
        <a:srgbClr val="890C58"/>
      </a:accent3>
      <a:accent4>
        <a:srgbClr val="5E5E5E"/>
      </a:accent4>
      <a:accent5>
        <a:srgbClr val="8C8C8C"/>
      </a:accent5>
      <a:accent6>
        <a:srgbClr val="0071C5"/>
      </a:accent6>
      <a:hlink>
        <a:srgbClr val="76B900"/>
      </a:hlink>
      <a:folHlink>
        <a:srgbClr val="76B900"/>
      </a:folHlink>
    </a:clrScheme>
    <a:fontScheme name="NVIDIA Sans">
      <a:majorFont>
        <a:latin typeface="NVIDIA Sans Medium"/>
        <a:ea typeface=""/>
        <a:cs typeface=""/>
      </a:majorFont>
      <a:minorFont>
        <a:latin typeface="NVIDIA Sans"/>
        <a:ea typeface="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lnSpc>
            <a:spcPct val="90000"/>
          </a:lnSpc>
          <a:defRPr sz="4000" dirty="0" err="1">
            <a:solidFill>
              <a:schemeClr val="tx1"/>
            </a:solidFill>
            <a:latin typeface="Trebuchet MS" panose="020B06030202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5875">
          <a:solidFill>
            <a:schemeClr val="accent5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ctr">
          <a:defRPr sz="4000" dirty="0" err="1" smtClean="0">
            <a:solidFill>
              <a:schemeClr val="bg1"/>
            </a:solidFill>
            <a:latin typeface="NVIDIA Sans" panose="020B0503020203020204" pitchFamily="34" charset="0"/>
            <a:cs typeface="NVIDIA Sans" panose="020B0503020203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NVIDIA_Sans_Corp_Template_LIGHT_v2_NewKV.pptx" id="{2CB1BC51-CEBF-4125-BC6C-FB23D6874A8C}" vid="{0B679A5A-A7BB-445D-B89B-5017F750351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VIDIA Sans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VIDIA Sans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65afe6d-7162-4df4-ae98-80745cab72d4" xsi:nil="true"/>
    <PublishingExpirationDate xmlns="http://schemas.microsoft.com/sharepoint/v3" xsi:nil="true"/>
    <PublishingStartDate xmlns="http://schemas.microsoft.com/sharepoint/v3" xsi:nil="true"/>
    <lcf76f155ced4ddcb4097134ff3c332f xmlns="2a5b1eea-32a8-4673-8d38-de3226caeee3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145EAE5F8329F47B840B6DEBAC2F43F" ma:contentTypeVersion="15" ma:contentTypeDescription="Create a new document." ma:contentTypeScope="" ma:versionID="39d09db77ad425bdbc3d080218c7c01e">
  <xsd:schema xmlns:xsd="http://www.w3.org/2001/XMLSchema" xmlns:xs="http://www.w3.org/2001/XMLSchema" xmlns:p="http://schemas.microsoft.com/office/2006/metadata/properties" xmlns:ns1="http://schemas.microsoft.com/sharepoint/v3" xmlns:ns2="2a5b1eea-32a8-4673-8d38-de3226caeee3" xmlns:ns3="f65afe6d-7162-4df4-ae98-80745cab72d4" targetNamespace="http://schemas.microsoft.com/office/2006/metadata/properties" ma:root="true" ma:fieldsID="262224961ea4106f8e7d0f360b05b90c" ns1:_="" ns2:_="" ns3:_="">
    <xsd:import namespace="http://schemas.microsoft.com/sharepoint/v3"/>
    <xsd:import namespace="2a5b1eea-32a8-4673-8d38-de3226caeee3"/>
    <xsd:import namespace="f65afe6d-7162-4df4-ae98-80745cab72d4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  <xsd:element ref="ns2:MediaServiceMetadata" minOccurs="0"/>
                <xsd:element ref="ns2:MediaServiceFastMetadata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Scheduling Start Date" ma:description="Scheduling Start Date is a site column created by the Publishing feature. It is used to specify the date and time on which this page will first appear to site visitors." ma:hidden="true" ma:internalName="PublishingStartDate">
      <xsd:simpleType>
        <xsd:restriction base="dms:Unknown"/>
      </xsd:simpleType>
    </xsd:element>
    <xsd:element name="PublishingExpirationDate" ma:index="9" nillable="true" ma:displayName="Scheduling End Date" ma:description="Scheduling End Date is a site column created by the Publishing feature. It is used to specify the date and time on which this page will no longer appear to site visitors." ma:hidden="true" ma:internalName="PublishingExpirationDat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a5b1eea-32a8-4673-8d38-de3226caeee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804b2a00-2846-4002-b30b-85ebaf4c019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5afe6d-7162-4df4-ae98-80745cab72d4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a9d4e2c1-4547-4ca0-9568-b573cd0c84c4}" ma:internalName="TaxCatchAll" ma:showField="CatchAllData" ma:web="f65afe6d-7162-4df4-ae98-80745cab72d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A4C7E1E-6C20-440E-941A-535F1A24C014}">
  <ds:schemaRefs>
    <ds:schemaRef ds:uri="f65afe6d-7162-4df4-ae98-80745cab72d4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2a5b1eea-32a8-4673-8d38-de3226caeee3"/>
    <ds:schemaRef ds:uri="http://schemas.microsoft.com/sharepoint/v3"/>
    <ds:schemaRef ds:uri="http://www.w3.org/XML/1998/namespace"/>
    <ds:schemaRef ds:uri="http://schemas.microsoft.com/office/2006/metadata/properties"/>
    <ds:schemaRef ds:uri="http://schemas.microsoft.com/office/infopath/2007/PartnerControls"/>
    <ds:schemaRef ds:uri="http://purl.org/dc/dcmitype/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E65AC8C1-8675-4762-89BF-D102E51271A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6B8F5C1-CC17-4575-A1B9-9EB541A76E7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2a5b1eea-32a8-4673-8d38-de3226caeee3"/>
    <ds:schemaRef ds:uri="f65afe6d-7162-4df4-ae98-80745cab72d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1890</TotalTime>
  <Words>2237</Words>
  <Application>Microsoft Macintosh PowerPoint</Application>
  <PresentationFormat>Custom</PresentationFormat>
  <Paragraphs>376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Consolas</vt:lpstr>
      <vt:lpstr>Courier New</vt:lpstr>
      <vt:lpstr>NVIDIA Sans</vt:lpstr>
      <vt:lpstr>NVIDIA Sans Light</vt:lpstr>
      <vt:lpstr>NVIDIA Sans Medium</vt:lpstr>
      <vt:lpstr>Open Sans</vt:lpstr>
      <vt:lpstr>Roboto Mono</vt:lpstr>
      <vt:lpstr>Title Only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Laura Spillman</dc:creator>
  <cp:lastModifiedBy>Swaminathan B S</cp:lastModifiedBy>
  <cp:revision>17</cp:revision>
  <dcterms:created xsi:type="dcterms:W3CDTF">2023-07-05T16:37:04Z</dcterms:created>
  <dcterms:modified xsi:type="dcterms:W3CDTF">2026-06-03T13:47:09Z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0x010100A145EAE5F8329F47B840B6DEBAC2F43F</vt:lpwstr>
  </property>
  <property fmtid="{D5CDD505-2E9C-101B-9397-08002B2CF9AE}" pid="3" name="MediaServiceImageTags">
    <vt:lpwstr/>
  </property>
</Properties>
</file>
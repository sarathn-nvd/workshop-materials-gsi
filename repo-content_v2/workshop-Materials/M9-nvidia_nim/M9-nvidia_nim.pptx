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20CA8D10_57327D62.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modernComment_7FFFFF37_A0868665.xml" ContentType="application/vnd.ms-powerpoint.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2"/>
  </p:notesMasterIdLst>
  <p:handoutMasterIdLst>
    <p:handoutMasterId r:id="rId23"/>
  </p:handoutMasterIdLst>
  <p:sldIdLst>
    <p:sldId id="256" r:id="rId5"/>
    <p:sldId id="257" r:id="rId6"/>
    <p:sldId id="550145296" r:id="rId7"/>
    <p:sldId id="550145271" r:id="rId8"/>
    <p:sldId id="258" r:id="rId9"/>
    <p:sldId id="259" r:id="rId10"/>
    <p:sldId id="260" r:id="rId11"/>
    <p:sldId id="2147483548" r:id="rId12"/>
    <p:sldId id="262" r:id="rId13"/>
    <p:sldId id="263" r:id="rId14"/>
    <p:sldId id="264" r:id="rId15"/>
    <p:sldId id="267" r:id="rId16"/>
    <p:sldId id="2147483447" r:id="rId17"/>
    <p:sldId id="268" r:id="rId18"/>
    <p:sldId id="270" r:id="rId19"/>
    <p:sldId id="2147483549" r:id="rId20"/>
    <p:sldId id="269" r:id="rId21"/>
  </p:sldIdLst>
  <p:sldSz cx="36576000" cy="20574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C660915-B41F-62F3-08A3-D7BC4E8AA90F}" name="Arun Venkatesan" initials="AV" userId="S::avenkatesan@nvidia.com::4a77b337-725a-4cb3-9ae3-25b0b3f5e3cb" providerId="AD"/>
  <p188:author id="{DBD34B3D-2D89-A854-FE2D-8C326F275FE5}" name="Bethann Noble" initials="" userId="S::bnoble@nvidia.com::8ac0508b-915f-4307-8d66-d071a426078a" providerId="AD"/>
  <p188:author id="{67467285-596A-1F84-9620-AE6DB28F5847}" name="Swaminathan B S" initials="SBS" userId="S::swaminathanb@nvidia.com::a4d01bd2-1974-4657-978b-6c992b848468" providerId="AD"/>
  <p188:author id="{34435FE1-41F6-84B9-AF35-93861CC926C1}" name="Joey Conway" initials="JC" userId="S::jconway@nvidia.com::4fdfee44-6bc0-48ab-b857-07c0d0ec5f68" providerId="AD"/>
  <p188:author id="{254D09EB-68A4-BA84-2488-5505C7CDA0EA}" name="Amanda Saunders" initials="AS" userId="S::amandas@nvidia.com::1fd4350b-1ed6-44f6-a282-cb4811b55a50" providerId="AD"/>
  <p188:author id="{D15248F0-DB6F-FC8D-59AD-BC951639A335}" name="Nik Spirin" initials="NS" userId="S::nspirin@nvidia.com::5c6b5638-dd44-44a2-ad18-d82f6ad5069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1D1D1"/>
    <a:srgbClr val="C0C0C0"/>
    <a:srgbClr val="B8B8B8"/>
    <a:srgbClr val="151617"/>
    <a:srgbClr val="FAC200"/>
    <a:srgbClr val="9E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89" autoAdjust="0"/>
    <p:restoredTop sz="71634" autoAdjust="0"/>
  </p:normalViewPr>
  <p:slideViewPr>
    <p:cSldViewPr snapToGrid="0">
      <p:cViewPr varScale="1">
        <p:scale>
          <a:sx n="36" d="100"/>
          <a:sy n="36" d="100"/>
        </p:scale>
        <p:origin x="1920" y="248"/>
      </p:cViewPr>
      <p:guideLst/>
    </p:cSldViewPr>
  </p:slideViewPr>
  <p:outlineViewPr>
    <p:cViewPr>
      <p:scale>
        <a:sx n="33" d="100"/>
        <a:sy n="33" d="100"/>
      </p:scale>
      <p:origin x="0" y="-1581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83" d="100"/>
          <a:sy n="83" d="100"/>
        </p:scale>
        <p:origin x="2214"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risten Hill-Peterson" userId="d3234e37-15a6-4633-bb53-3a1db57a2b03" providerId="ADAL" clId="{B2019596-BB80-4E31-BDC5-354A8DA3B09C}"/>
    <pc:docChg chg="addSld modSld sldOrd">
      <pc:chgData name="Kristen Hill-Peterson" userId="d3234e37-15a6-4633-bb53-3a1db57a2b03" providerId="ADAL" clId="{B2019596-BB80-4E31-BDC5-354A8DA3B09C}" dt="2023-10-18T20:22:03.862" v="2"/>
      <pc:docMkLst>
        <pc:docMk/>
      </pc:docMkLst>
      <pc:sldChg chg="add ord">
        <pc:chgData name="Kristen Hill-Peterson" userId="d3234e37-15a6-4633-bb53-3a1db57a2b03" providerId="ADAL" clId="{B2019596-BB80-4E31-BDC5-354A8DA3B09C}" dt="2023-10-18T20:22:03.862" v="2"/>
        <pc:sldMkLst>
          <pc:docMk/>
          <pc:sldMk cId="2245222864" sldId="550145268"/>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Book2"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443204433003031"/>
          <c:y val="2.7016241054555606E-2"/>
          <c:w val="0.86994446526748626"/>
          <c:h val="0.84753207674686459"/>
        </c:manualLayout>
      </c:layout>
      <c:barChart>
        <c:barDir val="col"/>
        <c:grouping val="clustered"/>
        <c:varyColors val="0"/>
        <c:ser>
          <c:idx val="0"/>
          <c:order val="0"/>
          <c:tx>
            <c:strRef>
              <c:f>Sheet1!$A$2</c:f>
              <c:strCache>
                <c:ptCount val="1"/>
                <c:pt idx="0">
                  <c:v>OSS vLLM (NIM OFF)</c:v>
                </c:pt>
              </c:strCache>
            </c:strRef>
          </c:tx>
          <c:spPr>
            <a:solidFill>
              <a:schemeClr val="accent1"/>
            </a:solidFill>
            <a:ln>
              <a:noFill/>
            </a:ln>
            <a:effectLst/>
          </c:spPr>
          <c:invertIfNegative val="0"/>
          <c:cat>
            <c:strRef>
              <c:f>Sheet1!$B$1:$E$1</c:f>
              <c:strCache>
                <c:ptCount val="4"/>
                <c:pt idx="0">
                  <c:v>Q424</c:v>
                </c:pt>
                <c:pt idx="1">
                  <c:v>Q125</c:v>
                </c:pt>
                <c:pt idx="2">
                  <c:v>Q225</c:v>
                </c:pt>
                <c:pt idx="3">
                  <c:v>Q325</c:v>
                </c:pt>
              </c:strCache>
            </c:strRef>
          </c:cat>
          <c:val>
            <c:numRef>
              <c:f>Sheet1!$B$2:$E$2</c:f>
              <c:numCache>
                <c:formatCode>General</c:formatCode>
                <c:ptCount val="4"/>
                <c:pt idx="0">
                  <c:v>1768</c:v>
                </c:pt>
                <c:pt idx="1">
                  <c:v>2187</c:v>
                </c:pt>
                <c:pt idx="2">
                  <c:v>2904</c:v>
                </c:pt>
                <c:pt idx="3">
                  <c:v>4218</c:v>
                </c:pt>
              </c:numCache>
            </c:numRef>
          </c:val>
          <c:extLst>
            <c:ext xmlns:c16="http://schemas.microsoft.com/office/drawing/2014/chart" uri="{C3380CC4-5D6E-409C-BE32-E72D297353CC}">
              <c16:uniqueId val="{00000000-B48F-0F4D-9D68-35302D3BB599}"/>
            </c:ext>
          </c:extLst>
        </c:ser>
        <c:ser>
          <c:idx val="1"/>
          <c:order val="1"/>
          <c:tx>
            <c:strRef>
              <c:f>Sheet1!$A$3</c:f>
              <c:strCache>
                <c:ptCount val="1"/>
                <c:pt idx="0">
                  <c:v>NIM Throughput</c:v>
                </c:pt>
              </c:strCache>
            </c:strRef>
          </c:tx>
          <c:spPr>
            <a:solidFill>
              <a:schemeClr val="tx2"/>
            </a:solidFill>
            <a:ln>
              <a:noFill/>
            </a:ln>
            <a:effectLst/>
          </c:spPr>
          <c:invertIfNegative val="0"/>
          <c:cat>
            <c:strRef>
              <c:f>Sheet1!$B$1:$E$1</c:f>
              <c:strCache>
                <c:ptCount val="4"/>
                <c:pt idx="0">
                  <c:v>Q424</c:v>
                </c:pt>
                <c:pt idx="1">
                  <c:v>Q125</c:v>
                </c:pt>
                <c:pt idx="2">
                  <c:v>Q225</c:v>
                </c:pt>
                <c:pt idx="3">
                  <c:v>Q325</c:v>
                </c:pt>
              </c:strCache>
            </c:strRef>
          </c:cat>
          <c:val>
            <c:numRef>
              <c:f>Sheet1!$B$3:$E$3</c:f>
              <c:numCache>
                <c:formatCode>General</c:formatCode>
                <c:ptCount val="4"/>
                <c:pt idx="0">
                  <c:v>2524</c:v>
                </c:pt>
                <c:pt idx="1">
                  <c:v>3115</c:v>
                </c:pt>
                <c:pt idx="2">
                  <c:v>3947</c:v>
                </c:pt>
                <c:pt idx="3">
                  <c:v>4421</c:v>
                </c:pt>
              </c:numCache>
            </c:numRef>
          </c:val>
          <c:extLst>
            <c:ext xmlns:c16="http://schemas.microsoft.com/office/drawing/2014/chart" uri="{C3380CC4-5D6E-409C-BE32-E72D297353CC}">
              <c16:uniqueId val="{00000001-B48F-0F4D-9D68-35302D3BB599}"/>
            </c:ext>
          </c:extLst>
        </c:ser>
        <c:dLbls>
          <c:showLegendKey val="0"/>
          <c:showVal val="0"/>
          <c:showCatName val="0"/>
          <c:showSerName val="0"/>
          <c:showPercent val="0"/>
          <c:showBubbleSize val="0"/>
        </c:dLbls>
        <c:gapWidth val="150"/>
        <c:axId val="1285908991"/>
        <c:axId val="1285908095"/>
      </c:barChart>
      <c:lineChart>
        <c:grouping val="standard"/>
        <c:varyColors val="0"/>
        <c:ser>
          <c:idx val="2"/>
          <c:order val="2"/>
          <c:tx>
            <c:strRef>
              <c:f>Sheet1!$A$4</c:f>
              <c:strCache>
                <c:ptCount val="1"/>
                <c:pt idx="0">
                  <c:v>Throughput (tokens/sec)</c:v>
                </c:pt>
              </c:strCache>
            </c:strRef>
          </c:tx>
          <c:spPr>
            <a:ln w="28575" cap="rnd">
              <a:solidFill>
                <a:schemeClr val="accent3"/>
              </a:solidFill>
              <a:round/>
            </a:ln>
            <a:effectLst/>
          </c:spPr>
          <c:marker>
            <c:symbol val="none"/>
          </c:marker>
          <c:cat>
            <c:strRef>
              <c:f>Sheet1!$B$1:$E$1</c:f>
              <c:strCache>
                <c:ptCount val="4"/>
                <c:pt idx="0">
                  <c:v>Q424</c:v>
                </c:pt>
                <c:pt idx="1">
                  <c:v>Q125</c:v>
                </c:pt>
                <c:pt idx="2">
                  <c:v>Q225</c:v>
                </c:pt>
                <c:pt idx="3">
                  <c:v>Q325</c:v>
                </c:pt>
              </c:strCache>
            </c:strRef>
          </c:cat>
          <c:val>
            <c:numRef>
              <c:f>Sheet1!$B$4:$E$4</c:f>
              <c:numCache>
                <c:formatCode>General</c:formatCode>
                <c:ptCount val="4"/>
                <c:pt idx="0">
                  <c:v>1</c:v>
                </c:pt>
                <c:pt idx="1">
                  <c:v>1.2341521390000001</c:v>
                </c:pt>
                <c:pt idx="2">
                  <c:v>1.5637876390000001</c:v>
                </c:pt>
                <c:pt idx="3">
                  <c:v>1.751584786</c:v>
                </c:pt>
              </c:numCache>
            </c:numRef>
          </c:val>
          <c:smooth val="0"/>
          <c:extLst>
            <c:ext xmlns:c16="http://schemas.microsoft.com/office/drawing/2014/chart" uri="{C3380CC4-5D6E-409C-BE32-E72D297353CC}">
              <c16:uniqueId val="{00000002-B48F-0F4D-9D68-35302D3BB599}"/>
            </c:ext>
          </c:extLst>
        </c:ser>
        <c:dLbls>
          <c:showLegendKey val="0"/>
          <c:showVal val="0"/>
          <c:showCatName val="0"/>
          <c:showSerName val="0"/>
          <c:showPercent val="0"/>
          <c:showBubbleSize val="0"/>
        </c:dLbls>
        <c:marker val="1"/>
        <c:smooth val="0"/>
        <c:axId val="1285908991"/>
        <c:axId val="1285908095"/>
      </c:lineChart>
      <c:catAx>
        <c:axId val="12859089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3600" b="0" i="0" u="none" strike="noStrike" kern="1200" baseline="0">
                <a:solidFill>
                  <a:schemeClr val="bg1"/>
                </a:solidFill>
                <a:latin typeface="+mn-lt"/>
                <a:ea typeface="+mn-ea"/>
                <a:cs typeface="+mn-cs"/>
              </a:defRPr>
            </a:pPr>
            <a:endParaRPr lang="en-US"/>
          </a:p>
        </c:txPr>
        <c:crossAx val="1285908095"/>
        <c:crosses val="autoZero"/>
        <c:auto val="1"/>
        <c:lblAlgn val="ctr"/>
        <c:lblOffset val="100"/>
        <c:noMultiLvlLbl val="0"/>
      </c:catAx>
      <c:valAx>
        <c:axId val="1285908095"/>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3600" b="0" i="0" u="none" strike="noStrike" kern="1200" baseline="0">
                    <a:solidFill>
                      <a:schemeClr val="bg1"/>
                    </a:solidFill>
                    <a:latin typeface="+mn-lt"/>
                    <a:ea typeface="+mn-ea"/>
                    <a:cs typeface="+mn-cs"/>
                  </a:defRPr>
                </a:pPr>
                <a:r>
                  <a:rPr lang="en-US" dirty="0"/>
                  <a:t>Tokens/Second</a:t>
                </a:r>
              </a:p>
            </c:rich>
          </c:tx>
          <c:layout>
            <c:manualLayout>
              <c:xMode val="edge"/>
              <c:yMode val="edge"/>
              <c:x val="3.1038229618328205E-2"/>
              <c:y val="0.34495411664487657"/>
            </c:manualLayout>
          </c:layout>
          <c:overlay val="0"/>
          <c:spPr>
            <a:noFill/>
            <a:ln>
              <a:noFill/>
            </a:ln>
            <a:effectLst/>
          </c:spPr>
          <c:txPr>
            <a:bodyPr rot="-5400000" spcFirstLastPara="1" vertOverflow="ellipsis" vert="horz" wrap="square" anchor="ctr" anchorCtr="1"/>
            <a:lstStyle/>
            <a:p>
              <a:pPr>
                <a:defRPr sz="3600" b="0" i="0" u="none" strike="noStrike" kern="1200" baseline="0">
                  <a:solidFill>
                    <a:schemeClr val="bg1"/>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3600" b="0" i="0" u="none" strike="noStrike" kern="1200" baseline="0">
                <a:solidFill>
                  <a:schemeClr val="bg1"/>
                </a:solidFill>
                <a:latin typeface="+mn-lt"/>
                <a:ea typeface="+mn-ea"/>
                <a:cs typeface="+mn-cs"/>
              </a:defRPr>
            </a:pPr>
            <a:endParaRPr lang="en-US"/>
          </a:p>
        </c:txPr>
        <c:crossAx val="1285908991"/>
        <c:crosses val="autoZero"/>
        <c:crossBetween val="between"/>
      </c:valAx>
      <c:spPr>
        <a:noFill/>
        <a:ln>
          <a:noFill/>
        </a:ln>
        <a:effectLst/>
      </c:spPr>
    </c:plotArea>
    <c:legend>
      <c:legendPos val="b"/>
      <c:legendEntry>
        <c:idx val="2"/>
        <c:delete val="1"/>
      </c:legendEntry>
      <c:overlay val="0"/>
      <c:spPr>
        <a:noFill/>
        <a:ln>
          <a:noFill/>
        </a:ln>
        <a:effectLst/>
      </c:spPr>
      <c:txPr>
        <a:bodyPr rot="0" spcFirstLastPara="1" vertOverflow="ellipsis" vert="horz" wrap="square" anchor="ctr" anchorCtr="1"/>
        <a:lstStyle/>
        <a:p>
          <a:pPr>
            <a:defRPr sz="3600" b="0" i="0" u="none" strike="noStrike" kern="1200" baseline="0">
              <a:solidFill>
                <a:schemeClr val="bg1"/>
              </a:solidFill>
              <a:latin typeface="+mn-lt"/>
              <a:ea typeface="+mn-ea"/>
              <a:cs typeface="+mn-cs"/>
            </a:defRPr>
          </a:pPr>
          <a:endParaRPr lang="en-US"/>
        </a:p>
      </c:txPr>
    </c:legend>
    <c:plotVisOnly val="1"/>
    <c:dispBlanksAs val="gap"/>
    <c:showDLblsOverMax val="0"/>
  </c:chart>
  <c:spPr>
    <a:noFill/>
    <a:ln>
      <a:noFill/>
    </a:ln>
    <a:effectLst/>
  </c:spPr>
  <c:txPr>
    <a:bodyPr/>
    <a:lstStyle/>
    <a:p>
      <a:pPr>
        <a:defRPr sz="3600">
          <a:solidFill>
            <a:schemeClr val="bg1"/>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7FFFFF37_A0868665.xml><?xml version="1.0" encoding="utf-8"?>
<p188:cmLst xmlns:a="http://schemas.openxmlformats.org/drawingml/2006/main" xmlns:r="http://schemas.openxmlformats.org/officeDocument/2006/relationships" xmlns:p188="http://schemas.microsoft.com/office/powerpoint/2018/8/main">
  <p188:cm id="{13A2DA8A-303A-0F41-AD19-C7C6F897EF63}" authorId="{FC660915-B41F-62F3-08A3-D7BC4E8AA90F}" created="2025-10-08T22:04:37.941">
    <ac:deMkLst xmlns:ac="http://schemas.microsoft.com/office/drawing/2013/main/command">
      <pc:docMk xmlns:pc="http://schemas.microsoft.com/office/powerpoint/2013/main/command"/>
      <pc:sldMk xmlns:pc="http://schemas.microsoft.com/office/powerpoint/2013/main/command" cId="237220931" sldId="2147483438"/>
      <ac:picMk id="10" creationId="{B195CD83-0C4D-EB6C-BF2F-25485C6DA287}"/>
    </ac:deMkLst>
    <p188:replyLst>
      <p188:reply id="{10D9D649-47EC-41AE-AAB5-40BE03D40E83}" authorId="{34435FE1-41F6-84B9-AF35-93861CC926C1}" created="2025-10-08T22:25:37.761">
        <p188:txBody>
          <a:bodyPr/>
          <a:lstStyle/>
          <a:p>
            <a:r>
              <a:rPr lang="en-US"/>
              <a:t>probably fine to explore adding as NIM Off 2nd bar chart? let's add and see what it looks like before we publish</a:t>
            </a:r>
          </a:p>
        </p188:txBody>
        <p188:extLst>
          <p:ext xmlns:p="http://schemas.openxmlformats.org/presentationml/2006/main" uri="{57CB4572-C831-44C2-8A1C-0ADB6CCDFE69}">
            <p223:reactions xmlns:p223="http://schemas.microsoft.com/office/powerpoint/2022/03/main">
              <p223:rxn type="👍">
                <p223:instance time="2025-10-08T22:28:56.032" authorId="{FC660915-B41F-62F3-08A3-D7BC4E8AA90F}"/>
              </p223:rxn>
            </p223:reactions>
          </p:ext>
        </p188:extLst>
      </p188:reply>
      <p188:reply id="{8989D78C-BFD2-6A4B-BB45-BAB19C5E9030}" authorId="{DBD34B3D-2D89-A854-FE2D-8C326F275FE5}" created="2025-10-23T16:46:09.549">
        <p188:txBody>
          <a:bodyPr/>
          <a:lstStyle/>
          <a:p>
            <a:r>
              <a:rPr lang="en-US"/>
              <a:t>[@Joey Conway] [@Arun Venkatesan] added NIM OFF here and an alternative slide (next) without the NIM OFF.
Per [@Cherie Wang] we do not have the data to back up the SGLang vs TRTLLM vs vLLM chart so we should leave it out. The talk track still makes the point.</a:t>
            </a:r>
          </a:p>
        </p188:txBody>
      </p188:reply>
      <p188:reply id="{72537D7F-59B5-4B12-B6B3-F386E5B0E250}" authorId="{254D09EB-68A4-BA84-2488-5505C7CDA0EA}" created="2025-10-24T14:25:04.659">
        <p188:txBody>
          <a:bodyPr/>
          <a:lstStyle/>
          <a:p>
            <a:r>
              <a:rPr lang="en-US"/>
              <a:t>To me this says NIM has no performance benefit, just that overall performance seems to keep improving. Is there a way to connect the story to the model lifecycle slide, where in order to keep up with OSS perf you would have to have a quarterly in not monthly update process?</a:t>
            </a:r>
          </a:p>
        </p188:txBody>
      </p188:reply>
      <p188:reply id="{51DA693A-8D04-485E-A47B-8D5C30B649BE}" authorId="{D15248F0-DB6F-FC8D-59AD-BC951639A335}" created="2025-11-02T04:36:21.985">
        <p188:txBody>
          <a:bodyPr/>
          <a:lstStyle/>
          <a:p>
            <a:r>
              <a:rPr lang="en-US"/>
              <a:t>Agree with [@Amanda Saunders] . Perhaps, we can remove OFF from here and have a separate slide that shows all key value props on one slide and compares DIY vs. NIM routes. Then, NIM perf being only slightly better will be seen among many other benefits making a holistic impression better.</a:t>
            </a:r>
          </a:p>
        </p188:txBody>
      </p188:reply>
      <p188:reply id="{EA1E828B-051A-489C-8268-738E3E13E739}" authorId="{D15248F0-DB6F-FC8D-59AD-BC951639A335}" created="2025-11-02T05:13:08.977">
        <p188:txBody>
          <a:bodyPr/>
          <a:lstStyle/>
          <a:p>
            <a:r>
              <a:rPr lang="en-US"/>
              <a:t>Also, what's the logic for colors – we start from gray, then do green, deep green, then again gray. Shall we just use shades of green from left to right?</a:t>
            </a:r>
          </a:p>
        </p188:txBody>
      </p188:reply>
      <p188:reply id="{9D93001E-86EA-9742-A6E6-838AABDB5A26}" authorId="{DBD34B3D-2D89-A854-FE2D-8C326F275FE5}" created="2025-11-05T15:58:11.003">
        <p188:txBody>
          <a:bodyPr/>
          <a:lstStyle/>
          <a:p>
            <a:r>
              <a:rPr lang="en-US"/>
              <a:t>[@Nik Spirin] there was no logic in grey, green, etc other than alternating through the NVIDIA brand colors for different data points. Here is update with NIM OFF removed and just NVIDIA greens alternating</a:t>
            </a:r>
          </a:p>
        </p188:txBody>
      </p188:reply>
      <p188:reply id="{8FF4C32E-D664-8846-ACA6-64B52EB896AC}" authorId="{DBD34B3D-2D89-A854-FE2D-8C326F275FE5}" created="2025-11-05T16:01:01.197">
        <p188:txBody>
          <a:bodyPr/>
          <a:lstStyle/>
          <a:p>
            <a:r>
              <a:rPr lang="en-US"/>
              <a:t>the data for chart is here: https://docs.google.com/spreadsheets/d/14cIusR9PTNM5NtMHr4J2gF9DnsB5jzlIxuuSGea8p00/edit?usp=sharing</a:t>
            </a:r>
          </a:p>
        </p188:txBody>
      </p188:reply>
    </p188:replyLst>
    <p188:txBody>
      <a:bodyPr/>
      <a:lstStyle/>
      <a:p>
        <a:r>
          <a:rPr lang="en-US"/>
          <a:t>Feedback from Amdocs: It would be great to see a comparison of how OSS Vllm latency/throughout has changed from Q424 to Q325</a:t>
        </a:r>
      </a:p>
    </p188:txBody>
    <p188:extLst>
      <p:ext xmlns:p="http://schemas.openxmlformats.org/presentationml/2006/main" uri="{57CB4572-C831-44C2-8A1C-0ADB6CCDFE69}">
        <p223:reactions xmlns:p223="http://schemas.microsoft.com/office/powerpoint/2022/03/main">
          <p223:rxn type="👍">
            <p223:instance time="2025-10-08T22:19:32.549" authorId="{3564122F-97B5-BB61-A2C0-B719FB442250}"/>
          </p223:rxn>
        </p223:reactions>
      </p:ext>
    </p188:extLst>
  </p188:cm>
</p188:cmLst>
</file>

<file path=ppt/comments/modernComment_20CA8D10_57327D62.xml><?xml version="1.0" encoding="utf-8"?>
<p188:cmLst xmlns:a="http://schemas.openxmlformats.org/drawingml/2006/main" xmlns:r="http://schemas.openxmlformats.org/officeDocument/2006/relationships" xmlns:p188="http://schemas.microsoft.com/office/powerpoint/2018/8/main">
  <p188:cm id="{4DDEC042-BB2A-294B-8F8D-37F3CB9B3C1E}" authorId="{34435FE1-41F6-84B9-AF35-93861CC926C1}" status="resolved" created="2025-10-08T22:12:12.875">
    <ac:txMkLst xmlns:ac="http://schemas.microsoft.com/office/drawing/2013/main/command">
      <pc:docMk xmlns:pc="http://schemas.microsoft.com/office/powerpoint/2013/main/command"/>
      <pc:sldMk xmlns:pc="http://schemas.microsoft.com/office/powerpoint/2013/main/command" cId="1462926690" sldId="550145296"/>
      <ac:spMk id="58" creationId="{94B70819-BD34-F121-80B0-0D6E8207783C}"/>
      <ac:txMk cp="0" len="35">
        <ac:context len="36" hash="2234584774"/>
      </ac:txMk>
    </ac:txMkLst>
    <p188:txBody>
      <a:bodyPr/>
      <a:lstStyle/>
      <a:p>
        <a:r>
          <a:rPr lang="en-US"/>
          <a:t>Monitoring Implementation = Implementing monitoring and logging?</a:t>
        </a:r>
      </a:p>
    </p188:txBody>
  </p188:cm>
  <p188:cm id="{B8990429-37ED-FE44-BA8E-CD565703D40F}" authorId="{FC660915-B41F-62F3-08A3-D7BC4E8AA90F}" status="resolved" created="2025-10-08T22:12:16.227">
    <ac:txMkLst xmlns:ac="http://schemas.microsoft.com/office/drawing/2013/main/command">
      <pc:docMk xmlns:pc="http://schemas.microsoft.com/office/powerpoint/2013/main/command"/>
      <pc:sldMk xmlns:pc="http://schemas.microsoft.com/office/powerpoint/2013/main/command" cId="1462926690" sldId="550145296"/>
      <ac:spMk id="6" creationId="{4DE0B8A4-6411-6CE5-62C8-37F45530FD84}"/>
      <ac:txMk cp="0" len="48">
        <ac:context len="49" hash="973386077"/>
      </ac:txMk>
    </ac:txMkLst>
    <p188:pos x="22775333" y="423333"/>
    <p188:replyLst>
      <p188:reply id="{C82BE853-FB79-483A-8131-B00E78510DA1}" authorId="{34435FE1-41F6-84B9-AF35-93861CC926C1}" created="2025-10-08T22:13:40.094">
        <p188:txBody>
          <a:bodyPr/>
          <a:lstStyle/>
          <a:p>
            <a:r>
              <a:rPr lang="en-US"/>
              <a:t>[@Arun Venkatesan] - i don't understand the feedback in relation to this slide. are you saying something should change or amdocs will really like this slide and you can't wait to share it?</a:t>
            </a:r>
          </a:p>
        </p188:txBody>
      </p188:reply>
      <p188:reply id="{C3F71242-2C70-4DDA-B1EA-8AB889C0B89E}" authorId="{FC660915-B41F-62F3-08A3-D7BC4E8AA90F}" created="2025-10-08T22:17:48.917">
        <p188:txBody>
          <a:bodyPr/>
          <a:lstStyle/>
          <a:p>
            <a:r>
              <a:rPr lang="en-US"/>
              <a:t>We pitched it to Amdocs today morning. They said they are convinced/on board but still don't feel comfortable that they can convince end customers that already have vllm set up for production. Per end customer, value of NIM seems incremental and hard to justify.</a:t>
            </a:r>
          </a:p>
        </p188:txBody>
      </p188:reply>
      <p188:reply id="{EEA20EB9-0E53-4EA6-AD25-513E1358CA05}" authorId="{34435FE1-41F6-84B9-AF35-93861CC926C1}" created="2025-10-08T22:26:37.824">
        <p188:txBody>
          <a:bodyPr/>
          <a:lstStyle/>
          <a:p>
            <a:r>
              <a:rPr lang="en-US"/>
              <a:t>[@Arun Venkatesan] - what does amdocs think of this slide, specifically? go find out if they agree on the time estimates and the value on this slide. if not, ask why not - what's different from their view?
do that for each slide.</a:t>
            </a:r>
          </a:p>
        </p188:txBody>
      </p188:reply>
    </p188:replyLst>
    <p188:txBody>
      <a:bodyPr/>
      <a:lstStyle/>
      <a:p>
        <a:r>
          <a:rPr lang="en-US"/>
          <a:t>Feedback from Amdocs: Onboard with the value prop (for their SaaS offering) but find it a bit hard to communicate the value prop to end customers (like Etisalat) when they have to purchase NVAIE licenses</a:t>
        </a:r>
      </a:p>
    </p188:txBody>
  </p188:cm>
  <p188:cm id="{3C0E69A7-C53C-1B4C-ABC3-FDB6934D25E8}" authorId="{34435FE1-41F6-84B9-AF35-93861CC926C1}" status="resolved" created="2025-10-08T22:12:29.484">
    <ac:txMkLst xmlns:ac="http://schemas.microsoft.com/office/drawing/2013/main/command">
      <pc:docMk xmlns:pc="http://schemas.microsoft.com/office/powerpoint/2013/main/command"/>
      <pc:sldMk xmlns:pc="http://schemas.microsoft.com/office/powerpoint/2013/main/command" cId="1462926690" sldId="550145296"/>
      <ac:spMk id="43" creationId="{64499F83-EE68-5AC1-18CB-6E67B3CC991A}"/>
      <ac:txMk cp="0" len="15">
        <ac:context len="16" hash="2463887342"/>
      </ac:txMk>
    </ac:txMkLst>
    <p188:txBody>
      <a:bodyPr/>
      <a:lstStyle/>
      <a:p>
        <a:r>
          <a:rPr lang="en-US"/>
          <a:t>Monthly Updates - only 2-5 hrs/month? Takes us much longer?</a:t>
        </a:r>
      </a:p>
    </p188:txBody>
    <p188:extLst>
      <p:ext xmlns:p="http://schemas.openxmlformats.org/presentationml/2006/main" uri="{57CB4572-C831-44C2-8A1C-0ADB6CCDFE69}">
        <p223:reactions xmlns:p223="http://schemas.microsoft.com/office/powerpoint/2022/03/main">
          <p223:rxn type="👍">
            <p223:instance time="2025-10-08T22:13:24.275" authorId="{FC660915-B41F-62F3-08A3-D7BC4E8AA90F}"/>
          </p223:rxn>
        </p223:reactions>
      </p:ext>
    </p188:extLst>
  </p188:cm>
  <p188:cm id="{759FDC50-F7D8-7E49-B108-EBAEB6300736}" authorId="{34435FE1-41F6-84B9-AF35-93861CC926C1}" status="resolved" created="2025-10-08T22:12:48.360">
    <ac:txMkLst xmlns:ac="http://schemas.microsoft.com/office/drawing/2013/main/command">
      <pc:docMk xmlns:pc="http://schemas.microsoft.com/office/powerpoint/2013/main/command"/>
      <pc:sldMk xmlns:pc="http://schemas.microsoft.com/office/powerpoint/2013/main/command" cId="1462926690" sldId="550145296"/>
      <ac:spMk id="23" creationId="{BD2046AA-0EA5-2DFA-E2AE-6790A0C6E2DE}"/>
      <ac:txMk cp="0" len="15">
        <ac:context len="16" hash="4266196487"/>
      </ac:txMk>
    </ac:txMkLst>
    <p188:txBody>
      <a:bodyPr/>
      <a:lstStyle/>
      <a:p>
        <a:r>
          <a:rPr lang="en-US"/>
          <a:t>are all these items one time effort and the last item, monthly updates, is the only ongoing concern?
if so, just a lot up front and then it's easy?</a:t>
        </a:r>
      </a:p>
    </p188:txBody>
  </p188:cm>
  <p188:cm id="{165F68A0-52FC-D54B-96C1-B790A708C311}" authorId="{254D09EB-68A4-BA84-2488-5505C7CDA0EA}" status="resolved" created="2025-10-08T22:56:29.877">
    <ac:deMkLst xmlns:ac="http://schemas.microsoft.com/office/drawing/2013/main/command">
      <pc:docMk xmlns:pc="http://schemas.microsoft.com/office/powerpoint/2013/main/command"/>
      <pc:sldMk xmlns:pc="http://schemas.microsoft.com/office/powerpoint/2013/main/command" cId="1462926690" sldId="550145296"/>
      <ac:cxnSpMk id="70" creationId="{EDBA50D2-26EE-5A9A-263E-151E46AA1F74}"/>
    </ac:deMkLst>
    <p188:replyLst>
      <p188:reply id="{F347E762-B814-C44C-A4F0-DA85AE847215}" authorId="{254D09EB-68A4-BA84-2488-5505C7CDA0EA}" created="2025-10-24T14:37:57.472">
        <p188:txBody>
          <a:bodyPr/>
          <a:lstStyle/>
          <a:p>
            <a:r>
              <a:rPr lang="en-US"/>
              <a:t>Would move this right after slide 4 to show how we build a NIM</a:t>
            </a:r>
          </a:p>
        </p188:txBody>
      </p188:reply>
    </p188:replyLst>
    <p188:txBody>
      <a:bodyPr/>
      <a:lstStyle/>
      <a:p>
        <a:r>
          <a:rPr lang="en-US"/>
          <a:t>Visually need to show that NIM saves time, right now it looks like the same amount of steps/time</a:t>
        </a:r>
      </a:p>
    </p188:txBody>
  </p188:cm>
</p188:cmLst>
</file>

<file path=ppt/handoutMasters/_rels/handoutMaster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34FAB7-7DF1-470D-9D24-E6B58A84B80C}"/>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5777346" y="8736014"/>
            <a:ext cx="963023" cy="331788"/>
          </a:xfrm>
          <a:prstGeom prst="rect">
            <a:avLst/>
          </a:prstGeom>
        </p:spPr>
      </p:pic>
      <p:sp>
        <p:nvSpPr>
          <p:cNvPr id="3" name="Date Placeholder 2">
            <a:extLst>
              <a:ext uri="{FF2B5EF4-FFF2-40B4-BE49-F238E27FC236}">
                <a16:creationId xmlns:a16="http://schemas.microsoft.com/office/drawing/2014/main" id="{A0E88521-8FCE-4BCB-8B67-37305855271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8C0846B-0977-4E9D-973A-F0EA2C10623B}" type="datetimeFigureOut">
              <a:rPr lang="en-US" smtClean="0">
                <a:latin typeface="NVIDIA Sans" panose="020B0503020203020204" pitchFamily="34" charset="0"/>
                <a:cs typeface="NVIDIA Sans" panose="020B0503020203020204" pitchFamily="34" charset="0"/>
              </a:rPr>
              <a:t>6/2/26</a:t>
            </a:fld>
            <a:endParaRPr lang="en-US">
              <a:latin typeface="NVIDIA Sans" panose="020B0503020203020204" pitchFamily="34" charset="0"/>
              <a:cs typeface="NVIDIA Sans" panose="020B0503020203020204" pitchFamily="34" charset="0"/>
            </a:endParaRPr>
          </a:p>
        </p:txBody>
      </p:sp>
      <p:sp>
        <p:nvSpPr>
          <p:cNvPr id="5" name="Slide Number Placeholder 4">
            <a:extLst>
              <a:ext uri="{FF2B5EF4-FFF2-40B4-BE49-F238E27FC236}">
                <a16:creationId xmlns:a16="http://schemas.microsoft.com/office/drawing/2014/main" id="{9D0820F8-FB5B-4060-9702-8BB4F61830F9}"/>
              </a:ext>
            </a:extLst>
          </p:cNvPr>
          <p:cNvSpPr>
            <a:spLocks noGrp="1"/>
          </p:cNvSpPr>
          <p:nvPr>
            <p:ph type="sldNum" sz="quarter" idx="3"/>
          </p:nvPr>
        </p:nvSpPr>
        <p:spPr>
          <a:xfrm>
            <a:off x="0" y="8685213"/>
            <a:ext cx="2971800" cy="458787"/>
          </a:xfrm>
          <a:prstGeom prst="rect">
            <a:avLst/>
          </a:prstGeom>
        </p:spPr>
        <p:txBody>
          <a:bodyPr vert="horz" lIns="91440" tIns="45720" rIns="91440" bIns="45720" rtlCol="0" anchor="b"/>
          <a:lstStyle>
            <a:lvl1pPr algn="r">
              <a:defRPr sz="1200"/>
            </a:lvl1pPr>
          </a:lstStyle>
          <a:p>
            <a:pPr algn="l"/>
            <a:fld id="{6212FBFF-564E-4199-8DDC-2B82D308BF1D}" type="slidenum">
              <a:rPr lang="en-US" smtClean="0">
                <a:latin typeface="NVIDIA Sans" panose="020B0503020203020204" pitchFamily="34" charset="0"/>
                <a:cs typeface="NVIDIA Sans" panose="020B0503020203020204" pitchFamily="34" charset="0"/>
              </a:rPr>
              <a:pPr algn="l"/>
              <a:t>‹#›</a:t>
            </a:fld>
            <a:endParaRPr lang="en-US">
              <a:latin typeface="NVIDIA Sans" panose="020B0503020203020204" pitchFamily="34" charset="0"/>
              <a:cs typeface="NVIDIA Sans" panose="020B0503020203020204" pitchFamily="34" charset="0"/>
            </a:endParaRPr>
          </a:p>
        </p:txBody>
      </p:sp>
    </p:spTree>
    <p:extLst>
      <p:ext uri="{BB962C8B-B14F-4D97-AF65-F5344CB8AC3E}">
        <p14:creationId xmlns:p14="http://schemas.microsoft.com/office/powerpoint/2010/main" val="2132078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NVIDIA Sans" panose="020B0503020203020204" pitchFamily="34" charset="0"/>
                <a:cs typeface="NVIDIA Sans" panose="020B0503020203020204" pitchFamily="34" charset="0"/>
              </a:defRPr>
            </a:lvl1pPr>
          </a:lstStyle>
          <a:p>
            <a:fld id="{354A8664-169C-4436-81C8-E492002C26A5}" type="datetimeFigureOut">
              <a:rPr lang="en-US" smtClean="0"/>
              <a:pPr/>
              <a:t>6/2/26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5"/>
          </p:nvPr>
        </p:nvSpPr>
        <p:spPr>
          <a:xfrm>
            <a:off x="0" y="8685213"/>
            <a:ext cx="2971800" cy="458787"/>
          </a:xfrm>
          <a:prstGeom prst="rect">
            <a:avLst/>
          </a:prstGeom>
        </p:spPr>
        <p:txBody>
          <a:bodyPr vert="horz" lIns="91440" tIns="45720" rIns="91440" bIns="45720" rtlCol="0" anchor="b"/>
          <a:lstStyle>
            <a:lvl1pPr algn="l">
              <a:defRPr sz="1200">
                <a:latin typeface="NVIDIA Sans" panose="020B0503020203020204" pitchFamily="34" charset="0"/>
                <a:cs typeface="NVIDIA Sans" panose="020B0503020203020204" pitchFamily="34" charset="0"/>
              </a:defRPr>
            </a:lvl1pPr>
          </a:lstStyle>
          <a:p>
            <a:fld id="{A93AD357-0C40-4436-9D38-C47D60C1C9C1}" type="slidenum">
              <a:rPr lang="en-US" smtClean="0"/>
              <a:pPr/>
              <a:t>‹#›</a:t>
            </a:fld>
            <a:endParaRPr lang="en-US"/>
          </a:p>
        </p:txBody>
      </p:sp>
      <p:pic>
        <p:nvPicPr>
          <p:cNvPr id="8" name="Picture 7">
            <a:extLst>
              <a:ext uri="{FF2B5EF4-FFF2-40B4-BE49-F238E27FC236}">
                <a16:creationId xmlns:a16="http://schemas.microsoft.com/office/drawing/2014/main" id="{EE23E2AA-C3B7-40F1-8870-35AD3374F0C6}"/>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5777346" y="8736014"/>
            <a:ext cx="963023" cy="331788"/>
          </a:xfrm>
          <a:prstGeom prst="rect">
            <a:avLst/>
          </a:prstGeom>
        </p:spPr>
      </p:pic>
    </p:spTree>
    <p:extLst>
      <p:ext uri="{BB962C8B-B14F-4D97-AF65-F5344CB8AC3E}">
        <p14:creationId xmlns:p14="http://schemas.microsoft.com/office/powerpoint/2010/main" val="4018938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4572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9144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13716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18288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30-minute module on NVIDIA NIM. By the end, attendees should be able to deploy any HuggingFace checkpoint as an OpenAI-compatible endpoint in 3 commands. The 2-endpoint AML deployment (slide 13) is the bridge to the hands-on. Don't dwell on theory — get them to the curl command on slide 5 quickly.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the pain. Many in the room will have lived this — let them nod, then introduce NIM as the cure.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C4250-B0B0-AB1D-DA8F-F81A23A431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F3B7B0-A473-3A45-ACEA-079B02D909D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F24C1BD-FCBD-3CDD-33EB-C0595FC29553}"/>
              </a:ext>
            </a:extLst>
          </p:cNvPr>
          <p:cNvSpPr>
            <a:spLocks noGrp="1"/>
          </p:cNvSpPr>
          <p:nvPr>
            <p:ph type="body" idx="1"/>
          </p:nvPr>
        </p:nvSpPr>
        <p:spPr/>
        <p:txBody>
          <a:bodyPr/>
          <a:lstStyle/>
          <a:p>
            <a:pPr marL="0" lvl="0" indent="0" algn="l" rtl="0">
              <a:spcBef>
                <a:spcPts val="0"/>
              </a:spcBef>
              <a:spcAft>
                <a:spcPts val="0"/>
              </a:spcAft>
              <a:buNone/>
            </a:pPr>
            <a:r>
              <a:rPr lang="en-US"/>
              <a:t>It sounds great - pull down the latest model as a production-ready NIM and deploy in 5 minutes anywhere!</a:t>
            </a:r>
          </a:p>
          <a:p>
            <a:pPr marL="0" lvl="0" indent="0" algn="l" rtl="0">
              <a:spcBef>
                <a:spcPts val="0"/>
              </a:spcBef>
              <a:spcAft>
                <a:spcPts val="0"/>
              </a:spcAft>
              <a:buNone/>
            </a:pPr>
            <a:endParaRPr lang="en-US"/>
          </a:p>
          <a:p>
            <a:pPr marL="0" lvl="0" indent="0" algn="l" rtl="0">
              <a:spcBef>
                <a:spcPts val="0"/>
              </a:spcBef>
              <a:spcAft>
                <a:spcPts val="0"/>
              </a:spcAft>
              <a:buNone/>
            </a:pPr>
            <a:r>
              <a:rPr lang="en-US"/>
              <a:t>But what goes into building a NIM? A bunch of work that NVIDIA takes off your plate so you can focus on shipping production AI.</a:t>
            </a:r>
          </a:p>
          <a:p>
            <a:pPr marL="0" lvl="0" indent="0" algn="l" rtl="0">
              <a:spcBef>
                <a:spcPts val="0"/>
              </a:spcBef>
              <a:spcAft>
                <a:spcPts val="0"/>
              </a:spcAft>
              <a:buNone/>
            </a:pPr>
            <a:endParaRPr lang="en-US"/>
          </a:p>
          <a:p>
            <a:pPr marL="0" lvl="0" indent="0" algn="l" rtl="0">
              <a:spcBef>
                <a:spcPts val="0"/>
              </a:spcBef>
              <a:spcAft>
                <a:spcPts val="0"/>
              </a:spcAft>
              <a:buNone/>
            </a:pPr>
            <a:r>
              <a:rPr lang="en-US"/>
              <a:t>Moving left to right at the top, each step is a key phase in taking a model from the community and preparing it for enterprise deployment at scale:</a:t>
            </a:r>
          </a:p>
          <a:p>
            <a:pPr marL="0" lvl="0" indent="0" algn="l" rtl="0">
              <a:spcBef>
                <a:spcPts val="0"/>
              </a:spcBef>
              <a:spcAft>
                <a:spcPts val="0"/>
              </a:spcAft>
              <a:buNone/>
            </a:pPr>
            <a:endParaRPr lang="en-US"/>
          </a:p>
          <a:p>
            <a:pPr marL="0" lvl="0" indent="0" algn="l" rtl="0">
              <a:spcBef>
                <a:spcPts val="0"/>
              </a:spcBef>
              <a:spcAft>
                <a:spcPts val="0"/>
              </a:spcAft>
              <a:buNone/>
            </a:pPr>
            <a:r>
              <a:rPr lang="en-US"/>
              <a:t>1. </a:t>
            </a:r>
            <a:r>
              <a:rPr lang="en-US" b="1"/>
              <a:t>Multi-backend performance sweeps</a:t>
            </a:r>
            <a:r>
              <a:rPr lang="en-US"/>
              <a:t>: The NVIDIA NIM factory does full config sweeps for every model and supported GPU configuration for every inference backend – </a:t>
            </a:r>
            <a:r>
              <a:rPr lang="en-US" err="1"/>
              <a:t>TensorRT</a:t>
            </a:r>
            <a:r>
              <a:rPr lang="en-US"/>
              <a:t>-LLM, </a:t>
            </a:r>
            <a:r>
              <a:rPr lang="en-US" err="1"/>
              <a:t>vLLM</a:t>
            </a:r>
            <a:r>
              <a:rPr lang="en-US"/>
              <a:t> and </a:t>
            </a:r>
            <a:r>
              <a:rPr lang="en-US" err="1"/>
              <a:t>SGLang</a:t>
            </a:r>
            <a:r>
              <a:rPr lang="en-US"/>
              <a:t>, identifying the best backend across different conditions, so that the NIM chooses the best backend upon deployment based on the </a:t>
            </a:r>
            <a:r>
              <a:rPr lang="en-US" err="1"/>
              <a:t>model+GPU</a:t>
            </a:r>
            <a:r>
              <a:rPr lang="en-US"/>
              <a:t>. Doing those sweeps and finding those configs can take 1-2 weeks (as well as compute hours). NIM does this for you, so you can save time and reserve your GPU hours for AI running in production.</a:t>
            </a:r>
          </a:p>
          <a:p>
            <a:pPr marL="0" lvl="0" indent="0" algn="l" rtl="0">
              <a:spcBef>
                <a:spcPts val="0"/>
              </a:spcBef>
              <a:spcAft>
                <a:spcPts val="0"/>
              </a:spcAft>
              <a:buNone/>
            </a:pPr>
            <a:endParaRPr lang="en-US"/>
          </a:p>
          <a:p>
            <a:pPr marL="0" lvl="0" indent="0" algn="l" rtl="0">
              <a:spcBef>
                <a:spcPts val="0"/>
              </a:spcBef>
              <a:spcAft>
                <a:spcPts val="0"/>
              </a:spcAft>
              <a:buNone/>
            </a:pPr>
            <a:r>
              <a:rPr lang="en-US"/>
              <a:t>2. Next, the NIM Factory does </a:t>
            </a:r>
            <a:r>
              <a:rPr lang="en-US" b="1"/>
              <a:t>Security hardening and code audit </a:t>
            </a:r>
            <a:r>
              <a:rPr lang="en-US"/>
              <a:t>of the model and everything else in the container: everything is deeply analyzed—checking every component, scanning for vulnerabilities, and applying fixes.  That’s up to a week of specialized effort for every model. With NIM, you get fully hardened, audited containers out of the box—zero hours for your team.</a:t>
            </a:r>
          </a:p>
          <a:p>
            <a:pPr marL="0" lvl="0" indent="0" algn="l" rtl="0">
              <a:spcBef>
                <a:spcPts val="0"/>
              </a:spcBef>
              <a:spcAft>
                <a:spcPts val="0"/>
              </a:spcAft>
              <a:buNone/>
            </a:pPr>
            <a:endParaRPr lang="en-US"/>
          </a:p>
          <a:p>
            <a:pPr marL="0" lvl="0" indent="0" algn="l" rtl="0">
              <a:spcBef>
                <a:spcPts val="0"/>
              </a:spcBef>
              <a:spcAft>
                <a:spcPts val="0"/>
              </a:spcAft>
              <a:buNone/>
            </a:pPr>
            <a:r>
              <a:rPr lang="en-US"/>
              <a:t>3. Next, we do </a:t>
            </a:r>
            <a:r>
              <a:rPr lang="en-US" b="1"/>
              <a:t>QA &amp; validation testing</a:t>
            </a:r>
            <a:r>
              <a:rPr lang="en-US"/>
              <a:t>: Reliability and accuracy require integration testing, multi-GPU validation, and making sure everything works across environments. Again, this is 20 to 40 hours of careful testing—or with NIM, it’s automated and handled for you.</a:t>
            </a:r>
          </a:p>
          <a:p>
            <a:pPr marL="0" lvl="0" indent="0" algn="l" rtl="0">
              <a:spcBef>
                <a:spcPts val="0"/>
              </a:spcBef>
              <a:spcAft>
                <a:spcPts val="0"/>
              </a:spcAft>
              <a:buNone/>
            </a:pPr>
            <a:endParaRPr lang="en-US"/>
          </a:p>
          <a:p>
            <a:pPr marL="0" lvl="0" indent="0" algn="l" rtl="0">
              <a:spcBef>
                <a:spcPts val="0"/>
              </a:spcBef>
              <a:spcAft>
                <a:spcPts val="0"/>
              </a:spcAft>
              <a:buNone/>
            </a:pPr>
            <a:r>
              <a:rPr lang="en-US"/>
              <a:t>4. Next, we do the </a:t>
            </a:r>
            <a:r>
              <a:rPr lang="en-US" b="1"/>
              <a:t>Management and monitoring implementation</a:t>
            </a:r>
            <a:r>
              <a:rPr lang="en-US"/>
              <a:t>: this means instrumenting the models and implementing the observability APIs so everything plugs neatly into an enterprise monitoring stack — this can take up to 20–40 hours per model. With NIM, the observability APIs and Prometheus metrics are built in, so you can just hook up Grafana or New Relic and see dashboards instantly.</a:t>
            </a:r>
          </a:p>
          <a:p>
            <a:pPr marL="0" lvl="0" indent="0" algn="l" rtl="0">
              <a:spcBef>
                <a:spcPts val="0"/>
              </a:spcBef>
              <a:spcAft>
                <a:spcPts val="0"/>
              </a:spcAft>
              <a:buNone/>
            </a:pPr>
            <a:endParaRPr lang="en-US"/>
          </a:p>
          <a:p>
            <a:pPr marL="0" lvl="0" indent="0" algn="l" rtl="0">
              <a:spcBef>
                <a:spcPts val="0"/>
              </a:spcBef>
              <a:spcAft>
                <a:spcPts val="0"/>
              </a:spcAft>
              <a:buNone/>
            </a:pPr>
            <a:r>
              <a:rPr lang="en-US"/>
              <a:t>5. Next, we make the NIM ready out of the box for </a:t>
            </a:r>
            <a:r>
              <a:rPr lang="en-US" b="1"/>
              <a:t>Production Kubernetes deployments</a:t>
            </a:r>
            <a:r>
              <a:rPr lang="en-US"/>
              <a:t>: Done yourself, this means complex setup, scripting Helm charts, and all the scaffolding to handle upgrades and rollbacks. That’s another dozen or more engineering hours—that NIM cuts out by providing you with standardized Helm charts and the NVIDIA NIM Operator for managing autoscaling, rolling updates, and multi-model orchestration.</a:t>
            </a:r>
          </a:p>
          <a:p>
            <a:pPr marL="0" lvl="0" indent="0" algn="l" rtl="0">
              <a:spcBef>
                <a:spcPts val="0"/>
              </a:spcBef>
              <a:spcAft>
                <a:spcPts val="0"/>
              </a:spcAft>
              <a:buNone/>
            </a:pPr>
            <a:endParaRPr lang="en-US"/>
          </a:p>
          <a:p>
            <a:pPr marL="0" lvl="0" indent="0" algn="l" rtl="0">
              <a:spcBef>
                <a:spcPts val="0"/>
              </a:spcBef>
              <a:spcAft>
                <a:spcPts val="0"/>
              </a:spcAft>
              <a:buNone/>
            </a:pPr>
            <a:r>
              <a:rPr lang="en-US"/>
              <a:t>6. Next, we handle </a:t>
            </a:r>
            <a:r>
              <a:rPr lang="en-US" b="1"/>
              <a:t>Monthly updates and maintenance</a:t>
            </a:r>
            <a:r>
              <a:rPr lang="en-US"/>
              <a:t>: With every update cycle—whether its new models or security patching or backend upgrades— that’s about 10 to 20 hours of engineering per model, per month. With NIM, it’s just a pull  new container, deploy, and you’re done.</a:t>
            </a:r>
          </a:p>
          <a:p>
            <a:pPr marL="0" lvl="0" indent="0" algn="l" rtl="0">
              <a:spcBef>
                <a:spcPts val="0"/>
              </a:spcBef>
              <a:spcAft>
                <a:spcPts val="0"/>
              </a:spcAft>
              <a:buNone/>
            </a:pPr>
            <a:endParaRPr lang="en-US"/>
          </a:p>
          <a:p>
            <a:pPr marL="0" lvl="0" indent="0" algn="l" rtl="0">
              <a:spcBef>
                <a:spcPts val="0"/>
              </a:spcBef>
              <a:spcAft>
                <a:spcPts val="0"/>
              </a:spcAft>
              <a:buNone/>
            </a:pPr>
            <a:r>
              <a:rPr lang="en-US"/>
              <a:t>When you add it all up, DIY means 3 to 6 weeks </a:t>
            </a:r>
            <a:r>
              <a:rPr lang="en-US" i="1"/>
              <a:t>per model </a:t>
            </a:r>
            <a:r>
              <a:rPr lang="en-US" b="0"/>
              <a:t>– say 10-50 thousand dollars of engineering time -- and days each month just for maintenance. And this doesn’t include the cost of compute time – using up valuable system time for performance and validation testing – or the opportunity cost of using engineering teams for this effort when they could be focused on something else.</a:t>
            </a:r>
            <a:endParaRPr lang="en-US"/>
          </a:p>
          <a:p>
            <a:pPr marL="0" lvl="0" indent="0" algn="l" rtl="0">
              <a:spcBef>
                <a:spcPts val="0"/>
              </a:spcBef>
              <a:spcAft>
                <a:spcPts val="0"/>
              </a:spcAft>
              <a:buNone/>
            </a:pPr>
            <a:endParaRPr lang="en-US" b="0"/>
          </a:p>
          <a:p>
            <a:pPr marL="0" lvl="0" indent="0" algn="l" rtl="0">
              <a:spcBef>
                <a:spcPts val="0"/>
              </a:spcBef>
              <a:spcAft>
                <a:spcPts val="0"/>
              </a:spcAft>
              <a:buNone/>
            </a:pPr>
            <a:r>
              <a:rPr lang="en-US"/>
              <a:t>With NIM, you’re talking about minutes to deploy and minutes to roll out monthly updates, because the NIM factory at NVIDIA does all the heavy lifting for you. </a:t>
            </a:r>
          </a:p>
          <a:p>
            <a:pPr marL="0" lvl="0" indent="0" algn="l" rtl="0">
              <a:spcBef>
                <a:spcPts val="0"/>
              </a:spcBef>
              <a:spcAft>
                <a:spcPts val="0"/>
              </a:spcAft>
              <a:buNone/>
            </a:pPr>
            <a:endParaRPr lang="en-US"/>
          </a:p>
          <a:p>
            <a:pPr marL="0" lvl="0" indent="0" algn="l" rtl="0">
              <a:spcBef>
                <a:spcPts val="0"/>
              </a:spcBef>
              <a:spcAft>
                <a:spcPts val="0"/>
              </a:spcAft>
              <a:buNone/>
            </a:pPr>
            <a:r>
              <a:rPr lang="en-US"/>
              <a:t>We take the industry leading models from NVIDIA and the community and then give you production-ready, run-anywhere NIM. </a:t>
            </a:r>
          </a:p>
          <a:p>
            <a:pPr marL="0" lvl="0" indent="0" algn="l" rtl="0">
              <a:spcBef>
                <a:spcPts val="0"/>
              </a:spcBef>
              <a:spcAft>
                <a:spcPts val="0"/>
              </a:spcAft>
              <a:buNone/>
            </a:pPr>
            <a:endParaRPr lang="en-US"/>
          </a:p>
          <a:p>
            <a:pPr marL="0" lvl="0" indent="0" algn="l" rtl="0">
              <a:spcBef>
                <a:spcPts val="0"/>
              </a:spcBef>
              <a:spcAft>
                <a:spcPts val="0"/>
              </a:spcAft>
              <a:buNone/>
            </a:pPr>
            <a:r>
              <a:rPr lang="en-US"/>
              <a:t>That’s how NIM delivers </a:t>
            </a:r>
            <a:r>
              <a:rPr lang="en-US" b="1"/>
              <a:t>velocity</a:t>
            </a:r>
            <a:r>
              <a:rPr lang="en-US"/>
              <a:t>, so your teams can </a:t>
            </a:r>
            <a:r>
              <a:rPr lang="en-US" b="1"/>
              <a:t>focus on building value, not wrangling serving infrastructure</a:t>
            </a:r>
            <a:r>
              <a:rPr lang="en-US"/>
              <a:t>.</a:t>
            </a:r>
          </a:p>
          <a:p>
            <a:endParaRPr lang="en-US"/>
          </a:p>
        </p:txBody>
      </p:sp>
      <p:sp>
        <p:nvSpPr>
          <p:cNvPr id="4" name="Slide Number Placeholder 3">
            <a:extLst>
              <a:ext uri="{FF2B5EF4-FFF2-40B4-BE49-F238E27FC236}">
                <a16:creationId xmlns:a16="http://schemas.microsoft.com/office/drawing/2014/main" id="{0154E435-CA69-ABB3-1ACE-95852947724C}"/>
              </a:ext>
            </a:extLst>
          </p:cNvPr>
          <p:cNvSpPr>
            <a:spLocks noGrp="1"/>
          </p:cNvSpPr>
          <p:nvPr>
            <p:ph type="sldNum" sz="quarter" idx="5"/>
          </p:nvPr>
        </p:nvSpPr>
        <p:spPr/>
        <p:txBody>
          <a:bodyPr/>
          <a:lstStyle/>
          <a:p>
            <a:fld id="{A93AD357-0C40-4436-9D38-C47D60C1C9C1}" type="slidenum">
              <a:rPr lang="en-US" smtClean="0"/>
              <a:pPr/>
              <a:t>3</a:t>
            </a:fld>
            <a:endParaRPr lang="en-US"/>
          </a:p>
        </p:txBody>
      </p:sp>
    </p:spTree>
    <p:extLst>
      <p:ext uri="{BB962C8B-B14F-4D97-AF65-F5344CB8AC3E}">
        <p14:creationId xmlns:p14="http://schemas.microsoft.com/office/powerpoint/2010/main" val="40676315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A1A78-8F79-FD0A-4366-3FC0B806B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2BF707-DE9E-4063-9C64-52258842D69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1883E00-153C-F706-B2B8-DC300D1CA1AB}"/>
              </a:ext>
            </a:extLst>
          </p:cNvPr>
          <p:cNvSpPr>
            <a:spLocks noGrp="1"/>
          </p:cNvSpPr>
          <p:nvPr>
            <p:ph type="body" idx="1"/>
          </p:nvPr>
        </p:nvSpPr>
        <p:spPr/>
        <p:txBody>
          <a:bodyPr/>
          <a:lstStyle/>
          <a:p>
            <a:pPr marL="0" lvl="0" indent="0" algn="l" rtl="0">
              <a:spcBef>
                <a:spcPts val="0"/>
              </a:spcBef>
              <a:spcAft>
                <a:spcPts val="0"/>
              </a:spcAft>
              <a:buNone/>
            </a:pPr>
            <a:r>
              <a:rPr lang="en-US"/>
              <a:t>That unified serving layer that abstracts away the complexity is NIM.</a:t>
            </a:r>
          </a:p>
          <a:p>
            <a:pPr marL="0" lvl="0" indent="0" algn="l" rtl="0">
              <a:spcBef>
                <a:spcPts val="0"/>
              </a:spcBef>
              <a:spcAft>
                <a:spcPts val="0"/>
              </a:spcAft>
              <a:buNone/>
            </a:pPr>
            <a:endParaRPr lang="en-US"/>
          </a:p>
          <a:p>
            <a:pPr marL="0" lvl="0" indent="0" algn="l" rtl="0">
              <a:spcBef>
                <a:spcPts val="0"/>
              </a:spcBef>
              <a:spcAft>
                <a:spcPts val="0"/>
              </a:spcAft>
              <a:buNone/>
            </a:pPr>
            <a:r>
              <a:rPr lang="en-US"/>
              <a:t>NIM handles the complexity of deploying and operating models at scale—so your teams don’t have to.</a:t>
            </a:r>
          </a:p>
          <a:p>
            <a:pPr marL="0" lvl="0" indent="0" algn="l" rtl="0">
              <a:spcBef>
                <a:spcPts val="0"/>
              </a:spcBef>
              <a:spcAft>
                <a:spcPts val="0"/>
              </a:spcAft>
              <a:buNone/>
            </a:pPr>
            <a:endParaRPr lang="en-US"/>
          </a:p>
          <a:p>
            <a:pPr marL="0" lvl="0" indent="0" algn="l" rtl="0">
              <a:spcBef>
                <a:spcPts val="0"/>
              </a:spcBef>
              <a:spcAft>
                <a:spcPts val="0"/>
              </a:spcAft>
              <a:buNone/>
            </a:pPr>
            <a:r>
              <a:rPr lang="en-US"/>
              <a:t>NIM </a:t>
            </a:r>
            <a:r>
              <a:rPr lang="en-US" err="1"/>
              <a:t>combaines</a:t>
            </a:r>
            <a:r>
              <a:rPr lang="en-US"/>
              <a:t> managed-API simplicity with self-hosted control. NIM microservices package everything needed: the latest models, optimized inference runtimes, standard inference and observability APIs, and a secure, cloud-native runtime—delivered as enterprise-grade containers that run anywhere: workstation, datacenter, or cloud.</a:t>
            </a:r>
          </a:p>
          <a:p>
            <a:pPr marL="0" lvl="0" indent="0" algn="l" rtl="0">
              <a:spcBef>
                <a:spcPts val="0"/>
              </a:spcBef>
              <a:spcAft>
                <a:spcPts val="0"/>
              </a:spcAft>
              <a:buNone/>
            </a:pPr>
            <a:endParaRPr lang="en-US"/>
          </a:p>
          <a:p>
            <a:pPr marL="0" lvl="0" indent="0" algn="l" rtl="0">
              <a:spcBef>
                <a:spcPts val="0"/>
              </a:spcBef>
              <a:spcAft>
                <a:spcPts val="0"/>
              </a:spcAft>
              <a:buNone/>
            </a:pPr>
            <a:r>
              <a:rPr lang="en-US"/>
              <a:t>Why AI builders adopt (tie to the right-side stack):</a:t>
            </a:r>
          </a:p>
          <a:p>
            <a:pPr marL="171450" lvl="0" indent="-171450" algn="l" rtl="0">
              <a:spcBef>
                <a:spcPts val="0"/>
              </a:spcBef>
              <a:spcAft>
                <a:spcPts val="0"/>
              </a:spcAft>
              <a:buClr>
                <a:schemeClr val="dk1"/>
              </a:buClr>
              <a:buSzPts val="1200"/>
              <a:buFont typeface="Arial"/>
              <a:buChar char="•"/>
            </a:pPr>
            <a:r>
              <a:rPr lang="en-US" b="1"/>
              <a:t>Portable</a:t>
            </a:r>
            <a:r>
              <a:rPr lang="en-US"/>
              <a:t> &amp; consistent. NIM microservices are standard, portable containers supported across the NVIDIA ecosystem shown below. Same APIs and controls wherever you run—so your performance &amp; reliability targets can be maintained consistently across frameworks, GPUs, and environments.</a:t>
            </a:r>
          </a:p>
          <a:p>
            <a:pPr marL="171450" lvl="0" indent="-171450" algn="l" rtl="0">
              <a:spcBef>
                <a:spcPts val="0"/>
              </a:spcBef>
              <a:spcAft>
                <a:spcPts val="0"/>
              </a:spcAft>
              <a:buClr>
                <a:schemeClr val="dk1"/>
              </a:buClr>
              <a:buSzPts val="1200"/>
              <a:buFont typeface="Arial"/>
              <a:buChar char="•"/>
            </a:pPr>
            <a:r>
              <a:rPr lang="en-US" b="1"/>
              <a:t>Ease </a:t>
            </a:r>
            <a:r>
              <a:rPr lang="en-US"/>
              <a:t>of use, for fast time to production. When a new model drops, there’s a NIM for it. You can spin up a production-ready endpoint in minutes, integrate it into agents/apps, and get built-in observability, autoscaling on Kubernetes, and security – out of the box.</a:t>
            </a:r>
          </a:p>
          <a:p>
            <a:pPr marL="171450" lvl="0" indent="-171450" algn="l" rtl="0">
              <a:spcBef>
                <a:spcPts val="0"/>
              </a:spcBef>
              <a:spcAft>
                <a:spcPts val="0"/>
              </a:spcAft>
              <a:buClr>
                <a:schemeClr val="dk1"/>
              </a:buClr>
              <a:buSzPts val="1200"/>
              <a:buFont typeface="Arial"/>
              <a:buChar char="•"/>
            </a:pPr>
            <a:r>
              <a:rPr lang="en-US" b="1"/>
              <a:t>Enterprise</a:t>
            </a:r>
            <a:r>
              <a:rPr lang="en-US"/>
              <a:t>-grade software. NIM is maintained and supported by NVIDIA—QA, patching, dependency management, and continuous updates are handled for you.</a:t>
            </a:r>
          </a:p>
          <a:p>
            <a:pPr marL="171450" lvl="0" indent="-171450" algn="l" rtl="0">
              <a:spcBef>
                <a:spcPts val="0"/>
              </a:spcBef>
              <a:spcAft>
                <a:spcPts val="0"/>
              </a:spcAft>
              <a:buClr>
                <a:schemeClr val="dk1"/>
              </a:buClr>
              <a:buSzPts val="1200"/>
              <a:buFont typeface="Arial"/>
              <a:buChar char="•"/>
            </a:pPr>
            <a:r>
              <a:rPr lang="en-US" b="1"/>
              <a:t>Performance </a:t>
            </a:r>
            <a:r>
              <a:rPr lang="en-US"/>
              <a:t>that improves over time. NIM bundles the best inference technology from NVIDIA and the community—</a:t>
            </a:r>
            <a:r>
              <a:rPr lang="en-US" err="1"/>
              <a:t>TensorRT</a:t>
            </a:r>
            <a:r>
              <a:rPr lang="en-US"/>
              <a:t>-LLM, </a:t>
            </a:r>
            <a:r>
              <a:rPr lang="en-US" err="1"/>
              <a:t>vLLM</a:t>
            </a:r>
            <a:r>
              <a:rPr lang="en-US"/>
              <a:t>, </a:t>
            </a:r>
            <a:r>
              <a:rPr lang="en-US" err="1"/>
              <a:t>SGLang</a:t>
            </a:r>
            <a:r>
              <a:rPr lang="en-US"/>
              <a:t>—pre-optimized and continuously updated. No need for further optimization like quantization, config selection, profile optimization, etc. – NVIDIA tests and finds the best serving configs, bakes them into a NIM, and continuously updates them, so your performance improves over time on the same infrastructure, without manual inference stack upgrades or migrations.</a:t>
            </a:r>
          </a:p>
          <a:p>
            <a:pPr marL="0" lvl="0" indent="0" algn="l" rtl="0">
              <a:spcBef>
                <a:spcPts val="0"/>
              </a:spcBef>
              <a:spcAft>
                <a:spcPts val="0"/>
              </a:spcAft>
              <a:buNone/>
            </a:pPr>
            <a:endParaRPr lang="en-US"/>
          </a:p>
          <a:p>
            <a:pPr marL="0" lvl="0" indent="0" algn="l" rtl="0">
              <a:spcBef>
                <a:spcPts val="0"/>
              </a:spcBef>
              <a:spcAft>
                <a:spcPts val="0"/>
              </a:spcAft>
              <a:buNone/>
            </a:pPr>
            <a:r>
              <a:rPr lang="en-US"/>
              <a:t>With NIM, you scale models, not ops—getting the ease of a managed service with the flexibility, security, and predictability of self-hosting.</a:t>
            </a:r>
          </a:p>
          <a:p>
            <a:pPr marL="0" lvl="0" indent="0" algn="l" rtl="0">
              <a:spcBef>
                <a:spcPts val="0"/>
              </a:spcBef>
              <a:spcAft>
                <a:spcPts val="0"/>
              </a:spcAft>
              <a:buNone/>
            </a:pPr>
            <a:endParaRPr lang="en-US"/>
          </a:p>
          <a:p>
            <a:pPr marL="0" lvl="0" indent="0" algn="l" rtl="0">
              <a:spcBef>
                <a:spcPts val="0"/>
              </a:spcBef>
              <a:spcAft>
                <a:spcPts val="0"/>
              </a:spcAft>
              <a:buNone/>
            </a:pPr>
            <a:r>
              <a:rPr lang="en-US"/>
              <a:t>Now I’ll walk you through each of these aspects of NIM.</a:t>
            </a:r>
          </a:p>
          <a:p>
            <a:endParaRPr lang="en-US"/>
          </a:p>
        </p:txBody>
      </p:sp>
      <p:sp>
        <p:nvSpPr>
          <p:cNvPr id="4" name="Slide Number Placeholder 3">
            <a:extLst>
              <a:ext uri="{FF2B5EF4-FFF2-40B4-BE49-F238E27FC236}">
                <a16:creationId xmlns:a16="http://schemas.microsoft.com/office/drawing/2014/main" id="{EB270EB2-58DF-EFFF-13CC-3F83F9F923E2}"/>
              </a:ext>
            </a:extLst>
          </p:cNvPr>
          <p:cNvSpPr>
            <a:spLocks noGrp="1"/>
          </p:cNvSpPr>
          <p:nvPr>
            <p:ph type="sldNum" sz="quarter" idx="5"/>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A93AD357-0C40-4436-9D38-C47D60C1C9C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91669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One-line pitch: NIM is what production inference looks like when you've solved all the boring problems.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Backend abstraction is the magic. Tell attendees they should NOT pick TRT-LLM vs vLLM manually — let NIM do it.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Migration story: change one URL, you're using NVIDIA NIMs.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8</a:t>
            </a:fld>
            <a:endParaRPr lang="en-US"/>
          </a:p>
        </p:txBody>
      </p:sp>
    </p:spTree>
    <p:extLst>
      <p:ext uri="{BB962C8B-B14F-4D97-AF65-F5344CB8AC3E}">
        <p14:creationId xmlns:p14="http://schemas.microsoft.com/office/powerpoint/2010/main" val="33529288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commands from catalog to live endpoint. This is the same flow attendees will run in M9.2.</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mostly invisible — NIM configures them per model. But attendees should know the names so they recognise them in production logs.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model-free-nim is the magic for custom checkpoints. Lift, shift, and your model is behind the same OpenAI-compatible API as the catalog ones.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three are why NIM is production-ready out of the box. You don't bolt on observability — it ships with it.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AF432-CECA-25CD-04AD-2D03AFB611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23BADE-D6AD-281F-8EA0-1CE1561F5D9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EA2A3CC-5BD3-B550-0FAC-5C2ACAE137D2}"/>
              </a:ext>
            </a:extLst>
          </p:cNvPr>
          <p:cNvSpPr>
            <a:spLocks noGrp="1"/>
          </p:cNvSpPr>
          <p:nvPr>
            <p:ph type="body" idx="1"/>
          </p:nvPr>
        </p:nvSpPr>
        <p:spPr/>
        <p:txBody>
          <a:bodyPr/>
          <a:lstStyle/>
          <a:p>
            <a:pPr marL="0" lvl="0" indent="0" algn="l" rtl="0">
              <a:spcBef>
                <a:spcPts val="0"/>
              </a:spcBef>
              <a:spcAft>
                <a:spcPts val="0"/>
              </a:spcAft>
              <a:buNone/>
            </a:pPr>
            <a:r>
              <a:rPr lang="en-US" dirty="0"/>
              <a:t>And, we know performance is important - generating more tokens on the same infrastructure equals cheaper tokens, equals better ROI.</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But it’s not as simple as which framework offers the best performance for my model today.</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NVIDIA works with all the leading community inference frameworks including </a:t>
            </a:r>
            <a:r>
              <a:rPr lang="en-US" dirty="0" err="1"/>
              <a:t>TensorRT</a:t>
            </a:r>
            <a:r>
              <a:rPr lang="en-US" dirty="0"/>
              <a:t>-LLM, </a:t>
            </a:r>
            <a:r>
              <a:rPr lang="en-US" dirty="0" err="1"/>
              <a:t>vLLM</a:t>
            </a:r>
            <a:r>
              <a:rPr lang="en-US" dirty="0"/>
              <a:t> and </a:t>
            </a:r>
            <a:r>
              <a:rPr lang="en-US" dirty="0" err="1"/>
              <a:t>SGLang</a:t>
            </a:r>
            <a:r>
              <a:rPr lang="en-US" dirty="0"/>
              <a:t> to optimize inference performance on NVIDIA.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And these are open communities with innovation coming from all directions. There is variation, and innovation can show up in some frameworks faster than others – one month </a:t>
            </a:r>
            <a:r>
              <a:rPr lang="en-US" dirty="0" err="1"/>
              <a:t>TensorRT</a:t>
            </a:r>
            <a:r>
              <a:rPr lang="en-US" dirty="0"/>
              <a:t>-LLM is the best for my use-case, next month it’s </a:t>
            </a:r>
            <a:r>
              <a:rPr lang="en-US" dirty="0" err="1"/>
              <a:t>vLLM</a:t>
            </a:r>
            <a:r>
              <a:rPr lang="en-US" dirty="0"/>
              <a:t> or even </a:t>
            </a:r>
            <a:r>
              <a:rPr lang="en-US" dirty="0" err="1"/>
              <a:t>SGLang</a:t>
            </a:r>
            <a:r>
              <a:rPr lang="en-US" dirty="0"/>
              <a: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That’s why we test all the leading frameworks for a given model across different GPUs and release that NIM with the best performing inference backend and configuration as the default out-of-the-box – whether that is </a:t>
            </a:r>
            <a:r>
              <a:rPr lang="en-US" dirty="0" err="1"/>
              <a:t>vLLM</a:t>
            </a:r>
            <a:r>
              <a:rPr lang="en-US" dirty="0"/>
              <a:t>, </a:t>
            </a:r>
            <a:r>
              <a:rPr lang="en-US" dirty="0" err="1"/>
              <a:t>SGLang</a:t>
            </a:r>
            <a:r>
              <a:rPr lang="en-US" dirty="0"/>
              <a:t> or </a:t>
            </a:r>
            <a:r>
              <a:rPr lang="en-US" dirty="0" err="1"/>
              <a:t>TensorRT</a:t>
            </a:r>
            <a:r>
              <a:rPr lang="en-US" dirty="0"/>
              <a:t>-LLM.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And we update that consistently over time, so you don’t have to think about it – you just lock-in to a trend that’s up and to the right.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That’s what you see here in the chart: NIM performance gains for the same model on the same infrastructure through software updates that include the latest optimizations from all the frameworks:</a:t>
            </a:r>
          </a:p>
          <a:p>
            <a:pPr marL="628650" lvl="1" indent="-171450" algn="l" rtl="0">
              <a:spcBef>
                <a:spcPts val="0"/>
              </a:spcBef>
              <a:spcAft>
                <a:spcPts val="0"/>
              </a:spcAft>
              <a:buClr>
                <a:schemeClr val="dk1"/>
              </a:buClr>
              <a:buSzPts val="1200"/>
              <a:buFont typeface="Arial"/>
              <a:buChar char="•"/>
            </a:pPr>
            <a:r>
              <a:rPr lang="en-US" dirty="0"/>
              <a:t>For example In Q1 of this year, NIM performance for the same model on the same infrastructure was 1.2 times better than the previous quarter</a:t>
            </a:r>
          </a:p>
          <a:p>
            <a:pPr marL="628650" lvl="1" indent="-171450" algn="l" rtl="0">
              <a:spcBef>
                <a:spcPts val="0"/>
              </a:spcBef>
              <a:spcAft>
                <a:spcPts val="0"/>
              </a:spcAft>
              <a:buClr>
                <a:schemeClr val="dk1"/>
              </a:buClr>
              <a:buSzPts val="1200"/>
              <a:buFont typeface="Arial"/>
              <a:buChar char="•"/>
            </a:pPr>
            <a:r>
              <a:rPr lang="en-US" dirty="0"/>
              <a:t>In Q2, it was 1.6 times better…</a:t>
            </a:r>
          </a:p>
          <a:p>
            <a:pPr marL="628650" lvl="1" indent="-171450" algn="l" rtl="0">
              <a:spcBef>
                <a:spcPts val="0"/>
              </a:spcBef>
              <a:spcAft>
                <a:spcPts val="0"/>
              </a:spcAft>
              <a:buClr>
                <a:schemeClr val="dk1"/>
              </a:buClr>
              <a:buSzPts val="1200"/>
              <a:buFont typeface="Arial"/>
              <a:buChar char="•"/>
            </a:pPr>
            <a:r>
              <a:rPr lang="en-US" dirty="0"/>
              <a:t>To today, in Q425, where performance is over 2 times better than at this time last year</a:t>
            </a:r>
          </a:p>
          <a:p>
            <a:pPr marL="628650" lvl="1" indent="-95250" algn="l" rtl="0">
              <a:spcBef>
                <a:spcPts val="0"/>
              </a:spcBef>
              <a:spcAft>
                <a:spcPts val="0"/>
              </a:spcAft>
              <a:buClr>
                <a:schemeClr val="dk1"/>
              </a:buClr>
              <a:buSzPts val="1200"/>
              <a:buFont typeface="Arial"/>
              <a:buNone/>
            </a:pPr>
            <a:endParaRPr lang="en-US" dirty="0"/>
          </a:p>
          <a:p>
            <a:pPr marL="0" lvl="0" indent="0" algn="l" rtl="0">
              <a:spcBef>
                <a:spcPts val="0"/>
              </a:spcBef>
              <a:spcAft>
                <a:spcPts val="0"/>
              </a:spcAft>
              <a:buClr>
                <a:schemeClr val="dk1"/>
              </a:buClr>
              <a:buSzPts val="1200"/>
              <a:buFont typeface="Arial"/>
              <a:buNone/>
            </a:pPr>
            <a:r>
              <a:rPr lang="en-US" dirty="0"/>
              <a:t>And </a:t>
            </a:r>
            <a:r>
              <a:rPr lang="en-US" b="1" dirty="0"/>
              <a:t>NIM performance is consistently on-par or often better than what we refer to as ‘NIM OFF’ </a:t>
            </a:r>
            <a:r>
              <a:rPr lang="en-US" dirty="0"/>
              <a:t>- which is deploying the same model on the same infrastructure with the leading open source alternative, which is typically </a:t>
            </a:r>
            <a:r>
              <a:rPr lang="en-US" dirty="0" err="1"/>
              <a:t>vLLM</a:t>
            </a:r>
            <a:r>
              <a:rPr lang="en-US" dirty="0"/>
              <a:t>.</a:t>
            </a:r>
          </a:p>
          <a:p>
            <a:pPr marL="0" lvl="0" indent="0" algn="l" rtl="0">
              <a:spcBef>
                <a:spcPts val="0"/>
              </a:spcBef>
              <a:spcAft>
                <a:spcPts val="0"/>
              </a:spcAft>
              <a:buClr>
                <a:schemeClr val="dk1"/>
              </a:buClr>
              <a:buSzPts val="1200"/>
              <a:buFont typeface="Arial"/>
              <a:buNone/>
            </a:pPr>
            <a:endParaRPr lang="en-US" dirty="0"/>
          </a:p>
          <a:p>
            <a:pPr marL="0" lvl="0" indent="0" algn="l" rtl="0">
              <a:spcBef>
                <a:spcPts val="0"/>
              </a:spcBef>
              <a:spcAft>
                <a:spcPts val="0"/>
              </a:spcAft>
              <a:buClr>
                <a:schemeClr val="dk1"/>
              </a:buClr>
              <a:buSzPts val="1200"/>
              <a:buFont typeface="Arial"/>
              <a:buNone/>
            </a:pPr>
            <a:r>
              <a:rPr lang="en-US" dirty="0"/>
              <a:t>That’s what you see in the magenta curve – performance of ‘NIM OFF’ relative to the fully swept and optimized NIM for the same model on the same infrastructure.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key takeaway here is that </a:t>
            </a:r>
            <a:r>
              <a:rPr lang="en-US" b="1" dirty="0"/>
              <a:t>you get best performance, continually improving, without having to do the heavy-lifting — </a:t>
            </a:r>
            <a:r>
              <a:rPr lang="en-US" b="0" dirty="0"/>
              <a:t>y</a:t>
            </a:r>
            <a:r>
              <a:rPr lang="en-US" dirty="0"/>
              <a:t>ou just pull and deploy an updated NIM, and the performance upgrade gets delivered to your production endpoints.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And I wanted to point out that we have a new public website for all things NVIDIA AI performance, and we publish all our NIM latency-throughput benchmark data there so you can dive into it more detail. You’ll have this deck and the link after our meeting.</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Go to: </a:t>
            </a:r>
            <a:r>
              <a:rPr lang="en-US" sz="1200" dirty="0">
                <a:latin typeface="NVIDIA Sans"/>
                <a:ea typeface="NVIDIA Sans"/>
                <a:cs typeface="NVIDIA Sans"/>
                <a:sym typeface="NVIDIA Sans"/>
              </a:rPr>
              <a:t>https://</a:t>
            </a:r>
            <a:r>
              <a:rPr lang="en-US" sz="1200" dirty="0" err="1">
                <a:latin typeface="NVIDIA Sans"/>
                <a:ea typeface="NVIDIA Sans"/>
                <a:cs typeface="NVIDIA Sans"/>
                <a:sym typeface="NVIDIA Sans"/>
              </a:rPr>
              <a:t>aibenchmarking.ngc.nvidia.com</a:t>
            </a:r>
            <a:r>
              <a:rPr lang="en-US" sz="1200" dirty="0">
                <a:latin typeface="NVIDIA Sans"/>
                <a:ea typeface="NVIDIA Sans"/>
                <a:cs typeface="NVIDIA Sans"/>
                <a:sym typeface="NVIDIA Sans"/>
              </a:rPr>
              <a:t>/benchmark. Start with the AI Inference tab on the left panel, then you will see all the models and versions available. Access is auto-approved for NGC users.</a:t>
            </a:r>
            <a:endParaRPr lang="en-US" dirty="0"/>
          </a:p>
          <a:p>
            <a:pPr marL="0" lvl="0" indent="0" algn="l" rtl="0">
              <a:spcBef>
                <a:spcPts val="0"/>
              </a:spcBef>
              <a:spcAft>
                <a:spcPts val="0"/>
              </a:spcAft>
              <a:buNone/>
            </a:pPr>
            <a:endParaRPr lang="en-US" sz="1200" dirty="0">
              <a:latin typeface="NVIDIA Sans"/>
              <a:ea typeface="NVIDIA Sans"/>
              <a:cs typeface="NVIDIA Sans"/>
              <a:sym typeface="NVIDIA Sans"/>
            </a:endParaRPr>
          </a:p>
          <a:p>
            <a:pPr marL="0" lvl="0" indent="0" algn="l" rtl="0">
              <a:spcBef>
                <a:spcPts val="0"/>
              </a:spcBef>
              <a:spcAft>
                <a:spcPts val="0"/>
              </a:spcAft>
              <a:buNone/>
            </a:pPr>
            <a:r>
              <a:rPr lang="en-US" sz="1200" dirty="0">
                <a:latin typeface="NVIDIA Sans"/>
                <a:ea typeface="NVIDIA Sans"/>
                <a:cs typeface="NVIDIA Sans"/>
                <a:sym typeface="NVIDIA Sans"/>
              </a:rPr>
              <a:t>INTERNAL ONLY – right-hand side chart source data: https://</a:t>
            </a:r>
            <a:r>
              <a:rPr lang="en-US" sz="1200" dirty="0" err="1">
                <a:latin typeface="NVIDIA Sans"/>
                <a:ea typeface="NVIDIA Sans"/>
                <a:cs typeface="NVIDIA Sans"/>
                <a:sym typeface="NVIDIA Sans"/>
              </a:rPr>
              <a:t>docs.google.com</a:t>
            </a:r>
            <a:r>
              <a:rPr lang="en-US" sz="1200" dirty="0">
                <a:latin typeface="NVIDIA Sans"/>
                <a:ea typeface="NVIDIA Sans"/>
                <a:cs typeface="NVIDIA Sans"/>
                <a:sym typeface="NVIDIA Sans"/>
              </a:rPr>
              <a:t>/spreadsheets/d/1c2qnUp8-KqibkYVHUSySTZO9U4HuAnRt76I9Gk1-9Yc/</a:t>
            </a:r>
            <a:r>
              <a:rPr lang="en-US" sz="1200" dirty="0" err="1">
                <a:latin typeface="NVIDIA Sans"/>
                <a:ea typeface="NVIDIA Sans"/>
                <a:cs typeface="NVIDIA Sans"/>
                <a:sym typeface="NVIDIA Sans"/>
              </a:rPr>
              <a:t>edit?usp</a:t>
            </a:r>
            <a:r>
              <a:rPr lang="en-US" sz="1200" dirty="0">
                <a:latin typeface="NVIDIA Sans"/>
                <a:ea typeface="NVIDIA Sans"/>
                <a:cs typeface="NVIDIA Sans"/>
                <a:sym typeface="NVIDIA Sans"/>
              </a:rPr>
              <a:t>=sharing</a:t>
            </a:r>
            <a:endParaRPr lang="en-US" dirty="0"/>
          </a:p>
          <a:p>
            <a:pPr marL="0" lvl="0" indent="0" algn="l" rtl="0">
              <a:spcBef>
                <a:spcPts val="0"/>
              </a:spcBef>
              <a:spcAft>
                <a:spcPts val="0"/>
              </a:spcAft>
              <a:buNone/>
            </a:pPr>
            <a:endParaRPr lang="en-US" dirty="0"/>
          </a:p>
          <a:p>
            <a:endParaRPr lang="en-US" dirty="0"/>
          </a:p>
        </p:txBody>
      </p:sp>
      <p:sp>
        <p:nvSpPr>
          <p:cNvPr id="4" name="Slide Number Placeholder 3">
            <a:extLst>
              <a:ext uri="{FF2B5EF4-FFF2-40B4-BE49-F238E27FC236}">
                <a16:creationId xmlns:a16="http://schemas.microsoft.com/office/drawing/2014/main" id="{4FC03616-E1A4-70F3-D15E-0EEEE8072C9F}"/>
              </a:ext>
            </a:extLst>
          </p:cNvPr>
          <p:cNvSpPr>
            <a:spLocks noGrp="1"/>
          </p:cNvSpPr>
          <p:nvPr>
            <p:ph type="sldNum" sz="quarter" idx="5"/>
          </p:nvPr>
        </p:nvSpPr>
        <p:spPr/>
        <p:txBody>
          <a:bodyPr/>
          <a:lstStyle/>
          <a:p>
            <a:fld id="{A93AD357-0C40-4436-9D38-C47D60C1C9C1}" type="slidenum">
              <a:rPr lang="en-US" smtClean="0"/>
              <a:pPr/>
              <a:t>13</a:t>
            </a:fld>
            <a:endParaRPr lang="en-US"/>
          </a:p>
        </p:txBody>
      </p:sp>
    </p:spTree>
    <p:extLst>
      <p:ext uri="{BB962C8B-B14F-4D97-AF65-F5344CB8AC3E}">
        <p14:creationId xmlns:p14="http://schemas.microsoft.com/office/powerpoint/2010/main" val="20575220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D24AB-7122-8B0B-6637-B519C83A18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620B3D-2028-616E-EED6-C210122BF3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B54340-EB69-31E5-1D3A-985207666CBA}"/>
              </a:ext>
            </a:extLst>
          </p:cNvPr>
          <p:cNvSpPr>
            <a:spLocks noGrp="1"/>
          </p:cNvSpPr>
          <p:nvPr>
            <p:ph type="body" idx="1"/>
          </p:nvPr>
        </p:nvSpPr>
        <p:spPr/>
        <p:txBody>
          <a:bodyPr/>
          <a:lstStyle/>
          <a:p>
            <a:r>
              <a:rPr lang="en-US" dirty="0"/>
              <a:t>The harder part is what it takes to deliver that model at the developer’s endpoint, so they can make that fast and easy switch.</a:t>
            </a:r>
          </a:p>
          <a:p>
            <a:endParaRPr lang="en-US" dirty="0"/>
          </a:p>
          <a:p>
            <a:r>
              <a:rPr lang="en-US" dirty="0"/>
              <a:t>You have to be able to quickly deploy the brand new model, which means:</a:t>
            </a:r>
          </a:p>
          <a:p>
            <a:endParaRPr lang="en-US" dirty="0"/>
          </a:p>
          <a:p>
            <a:pPr marL="171450" indent="-171450">
              <a:buFont typeface="Arial" panose="020B0604020202020204" pitchFamily="34" charset="0"/>
              <a:buChar char="•"/>
            </a:pPr>
            <a:r>
              <a:rPr lang="en-US" dirty="0"/>
              <a:t>Implementing the API</a:t>
            </a:r>
          </a:p>
          <a:p>
            <a:pPr marL="171450" indent="-171450">
              <a:buFont typeface="Arial" panose="020B0604020202020204" pitchFamily="34" charset="0"/>
              <a:buChar char="•"/>
            </a:pPr>
            <a:r>
              <a:rPr lang="en-US" dirty="0"/>
              <a:t>Building optimized inference engines for all GPU systems the Developer wants to run on</a:t>
            </a:r>
          </a:p>
          <a:p>
            <a:pPr marL="171450" indent="-171450">
              <a:buFont typeface="Arial" panose="020B0604020202020204" pitchFamily="34" charset="0"/>
              <a:buChar char="•"/>
            </a:pPr>
            <a:r>
              <a:rPr lang="en-US" dirty="0"/>
              <a:t>Implement all the pre &amp; processing logic and observability feeds</a:t>
            </a:r>
          </a:p>
          <a:p>
            <a:pPr marL="171450" indent="-171450">
              <a:buFont typeface="Arial" panose="020B0604020202020204" pitchFamily="34" charset="0"/>
              <a:buChar char="•"/>
            </a:pPr>
            <a:r>
              <a:rPr lang="en-US" dirty="0"/>
              <a:t>Package everything including all the dependencies and then do QA, security and performance testing</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dirty="0"/>
              <a:t>That should take 5 days at a minimum. And then you have to update and maintain the software over time as new model and inference software versions are released.</a:t>
            </a:r>
          </a:p>
          <a:p>
            <a:pPr marL="0" indent="0">
              <a:buFont typeface="Arial" panose="020B0604020202020204" pitchFamily="34" charset="0"/>
              <a:buNone/>
            </a:pPr>
            <a:endParaRPr lang="en-US" dirty="0"/>
          </a:p>
          <a:p>
            <a:r>
              <a:rPr lang="en-US" dirty="0"/>
              <a:t>NIM turns 5 days into 5 minutes.</a:t>
            </a:r>
          </a:p>
          <a:p>
            <a:endParaRPr lang="en-US" dirty="0"/>
          </a:p>
          <a:p>
            <a:r>
              <a:rPr lang="en-US" dirty="0"/>
              <a:t>You deploy a NIM container in a few simple steps, and the endpoint is up and running, so Developers can immediately invoke the new model in their code.</a:t>
            </a:r>
          </a:p>
          <a:p>
            <a:endParaRPr lang="en-US" dirty="0"/>
          </a:p>
          <a:p>
            <a:r>
              <a:rPr lang="en-US" dirty="0"/>
              <a:t>And NIM are continuously updated by NVIDIA – we do the software updates including all the dependency management, security patching and performance testing, and you just pull a new container from NGC.</a:t>
            </a:r>
          </a:p>
          <a:p>
            <a:pPr marL="0" indent="0">
              <a:buFont typeface="Arial" panose="020B0604020202020204" pitchFamily="34" charset="0"/>
              <a:buNone/>
            </a:pPr>
            <a:endParaRPr lang="en-US" dirty="0"/>
          </a:p>
        </p:txBody>
      </p:sp>
      <p:sp>
        <p:nvSpPr>
          <p:cNvPr id="4" name="Slide Number Placeholder 3">
            <a:extLst>
              <a:ext uri="{FF2B5EF4-FFF2-40B4-BE49-F238E27FC236}">
                <a16:creationId xmlns:a16="http://schemas.microsoft.com/office/drawing/2014/main" id="{35BD2D32-44BD-C225-E6F7-63E7A7841815}"/>
              </a:ext>
            </a:extLst>
          </p:cNvPr>
          <p:cNvSpPr>
            <a:spLocks noGrp="1"/>
          </p:cNvSpPr>
          <p:nvPr>
            <p:ph type="sldNum" sz="quarter" idx="5"/>
          </p:nvPr>
        </p:nvSpPr>
        <p:spPr/>
        <p:txBody>
          <a:bodyPr/>
          <a:lstStyle/>
          <a:p>
            <a:fld id="{A93AD357-0C40-4436-9D38-C47D60C1C9C1}" type="slidenum">
              <a:rPr lang="en-US" smtClean="0"/>
              <a:pPr/>
              <a:t>14</a:t>
            </a:fld>
            <a:endParaRPr lang="en-US"/>
          </a:p>
        </p:txBody>
      </p:sp>
    </p:spTree>
    <p:extLst>
      <p:ext uri="{BB962C8B-B14F-4D97-AF65-F5344CB8AC3E}">
        <p14:creationId xmlns:p14="http://schemas.microsoft.com/office/powerpoint/2010/main" val="41309250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1">
          <a:extLst>
            <a:ext uri="{FF2B5EF4-FFF2-40B4-BE49-F238E27FC236}">
              <a16:creationId xmlns:a16="http://schemas.microsoft.com/office/drawing/2014/main" id="{98E3C2D4-5DCE-DF8C-9D82-2A0BB63AEBC3}"/>
            </a:ext>
          </a:extLst>
        </p:cNvPr>
        <p:cNvGrpSpPr/>
        <p:nvPr/>
      </p:nvGrpSpPr>
      <p:grpSpPr>
        <a:xfrm>
          <a:off x="0" y="0"/>
          <a:ext cx="0" cy="0"/>
          <a:chOff x="0" y="0"/>
          <a:chExt cx="0" cy="0"/>
        </a:xfrm>
      </p:grpSpPr>
      <p:sp>
        <p:nvSpPr>
          <p:cNvPr id="5402" name="Google Shape;5402;p14:notes">
            <a:extLst>
              <a:ext uri="{FF2B5EF4-FFF2-40B4-BE49-F238E27FC236}">
                <a16:creationId xmlns:a16="http://schemas.microsoft.com/office/drawing/2014/main" id="{B9CAC893-5FBC-05B2-B10B-FE02E126996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03" name="Google Shape;5403;p14:notes">
            <a:extLst>
              <a:ext uri="{FF2B5EF4-FFF2-40B4-BE49-F238E27FC236}">
                <a16:creationId xmlns:a16="http://schemas.microsoft.com/office/drawing/2014/main" id="{289FC285-9F81-0FD2-BF0D-8BB40911B94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chemeClr val="dk1"/>
              </a:buClr>
              <a:buSzPts val="1100"/>
              <a:buFont typeface="Arial"/>
              <a:buNone/>
              <a:tabLst/>
              <a:defRPr/>
            </a:pPr>
            <a:r>
              <a:rPr lang="en-US" sz="1000" dirty="0"/>
              <a:t>Now, let’s go into more detail on NIM as part of NVIDIA AI </a:t>
            </a:r>
            <a:r>
              <a:rPr lang="en-US" sz="1000" b="1" dirty="0"/>
              <a:t>Enterprise</a:t>
            </a:r>
            <a:r>
              <a:rPr lang="en-US" sz="1000" dirty="0"/>
              <a:t> software.</a:t>
            </a:r>
          </a:p>
          <a:p>
            <a:pPr marL="0" lvl="0" indent="0" algn="l" rtl="0">
              <a:lnSpc>
                <a:spcPct val="100000"/>
              </a:lnSpc>
              <a:spcBef>
                <a:spcPts val="0"/>
              </a:spcBef>
              <a:spcAft>
                <a:spcPts val="0"/>
              </a:spcAft>
              <a:buClr>
                <a:schemeClr val="dk1"/>
              </a:buClr>
              <a:buSzPts val="1100"/>
              <a:buFont typeface="Arial"/>
              <a:buNone/>
            </a:pPr>
            <a:endParaRPr lang="en-US" sz="1000" b="0" dirty="0"/>
          </a:p>
          <a:p>
            <a:pPr marL="0" lvl="0" indent="0" algn="l" rtl="0">
              <a:lnSpc>
                <a:spcPct val="100000"/>
              </a:lnSpc>
              <a:spcBef>
                <a:spcPts val="0"/>
              </a:spcBef>
              <a:spcAft>
                <a:spcPts val="0"/>
              </a:spcAft>
              <a:buClr>
                <a:schemeClr val="dk1"/>
              </a:buClr>
              <a:buSzPts val="1100"/>
              <a:buFont typeface="Arial"/>
              <a:buNone/>
            </a:pPr>
            <a:r>
              <a:rPr lang="en-US" sz="1000" b="0" dirty="0"/>
              <a:t>It’s not trivial to manage a stable and secure AI software stack.</a:t>
            </a:r>
          </a:p>
          <a:p>
            <a:pPr marL="0" lvl="0" indent="0" algn="l" rtl="0">
              <a:lnSpc>
                <a:spcPct val="100000"/>
              </a:lnSpc>
              <a:spcBef>
                <a:spcPts val="0"/>
              </a:spcBef>
              <a:spcAft>
                <a:spcPts val="0"/>
              </a:spcAft>
              <a:buClr>
                <a:schemeClr val="dk1"/>
              </a:buClr>
              <a:buSzPts val="1100"/>
              <a:buFont typeface="Arial"/>
              <a:buNone/>
            </a:pPr>
            <a:endParaRPr lang="en-US" sz="1000" b="0" dirty="0"/>
          </a:p>
          <a:p>
            <a:pPr marL="0" lvl="0" indent="0" algn="l" rtl="0">
              <a:lnSpc>
                <a:spcPct val="100000"/>
              </a:lnSpc>
              <a:spcBef>
                <a:spcPts val="0"/>
              </a:spcBef>
              <a:spcAft>
                <a:spcPts val="0"/>
              </a:spcAft>
              <a:buClr>
                <a:schemeClr val="dk1"/>
              </a:buClr>
              <a:buSzPts val="1100"/>
              <a:buFont typeface="Arial"/>
              <a:buNone/>
            </a:pPr>
            <a:r>
              <a:rPr lang="en-US" sz="1000" b="0" dirty="0"/>
              <a:t>Looking at the visual here on the left, we can see that TensorRT alone contains 465 software packages (the green dots), with numerous dependencies between them (the green lines).</a:t>
            </a:r>
          </a:p>
          <a:p>
            <a:pPr marL="0" lvl="0" indent="0" algn="l" rtl="0">
              <a:lnSpc>
                <a:spcPct val="100000"/>
              </a:lnSpc>
              <a:spcBef>
                <a:spcPts val="0"/>
              </a:spcBef>
              <a:spcAft>
                <a:spcPts val="0"/>
              </a:spcAft>
              <a:buClr>
                <a:schemeClr val="dk1"/>
              </a:buClr>
              <a:buSzPts val="1100"/>
              <a:buFont typeface="Arial"/>
              <a:buNone/>
            </a:pPr>
            <a:endParaRPr lang="en-US" sz="1000" b="0" dirty="0"/>
          </a:p>
          <a:p>
            <a:pPr marL="0" lvl="0" indent="0" algn="l" rtl="0">
              <a:lnSpc>
                <a:spcPct val="100000"/>
              </a:lnSpc>
              <a:spcBef>
                <a:spcPts val="0"/>
              </a:spcBef>
              <a:spcAft>
                <a:spcPts val="0"/>
              </a:spcAft>
              <a:buClr>
                <a:schemeClr val="dk1"/>
              </a:buClr>
              <a:buSzPts val="1100"/>
              <a:buFont typeface="Arial"/>
              <a:buNone/>
            </a:pPr>
            <a:r>
              <a:rPr lang="en-US" sz="1000" b="0" dirty="0"/>
              <a:t>With more packages come more potential security vulnerabilities. Managing and containing the vulnerabilities and exposures – or CVEs -- in a stack with this many dependencies is challenging, requiring:</a:t>
            </a:r>
          </a:p>
          <a:p>
            <a:pPr marL="171450" lvl="0" indent="-171450" algn="l" rtl="0">
              <a:lnSpc>
                <a:spcPct val="100000"/>
              </a:lnSpc>
              <a:spcBef>
                <a:spcPts val="0"/>
              </a:spcBef>
              <a:spcAft>
                <a:spcPts val="0"/>
              </a:spcAft>
              <a:buClr>
                <a:schemeClr val="dk1"/>
              </a:buClr>
              <a:buSzPts val="1100"/>
              <a:buFont typeface="Arial" panose="020B0604020202020204" pitchFamily="34" charset="0"/>
              <a:buChar char="•"/>
            </a:pPr>
            <a:r>
              <a:rPr lang="en-US" sz="1000" b="0" dirty="0"/>
              <a:t>Constant monitoring and scanning for CVEs</a:t>
            </a:r>
          </a:p>
          <a:p>
            <a:pPr marL="171450" lvl="0" indent="-171450" algn="l" rtl="0">
              <a:lnSpc>
                <a:spcPct val="100000"/>
              </a:lnSpc>
              <a:spcBef>
                <a:spcPts val="0"/>
              </a:spcBef>
              <a:spcAft>
                <a:spcPts val="0"/>
              </a:spcAft>
              <a:buClr>
                <a:schemeClr val="dk1"/>
              </a:buClr>
              <a:buSzPts val="1100"/>
              <a:buFont typeface="Arial" panose="020B0604020202020204" pitchFamily="34" charset="0"/>
              <a:buChar char="•"/>
            </a:pPr>
            <a:r>
              <a:rPr lang="en-US" sz="1000" b="0" dirty="0"/>
              <a:t>Expertise to understand the impacted of a detected CVE</a:t>
            </a:r>
          </a:p>
          <a:p>
            <a:pPr marL="171450" lvl="0" indent="-171450" algn="l" rtl="0">
              <a:lnSpc>
                <a:spcPct val="100000"/>
              </a:lnSpc>
              <a:spcBef>
                <a:spcPts val="0"/>
              </a:spcBef>
              <a:spcAft>
                <a:spcPts val="0"/>
              </a:spcAft>
              <a:buClr>
                <a:schemeClr val="dk1"/>
              </a:buClr>
              <a:buSzPts val="1100"/>
              <a:buFont typeface="Arial" panose="020B0604020202020204" pitchFamily="34" charset="0"/>
              <a:buChar char="•"/>
            </a:pPr>
            <a:r>
              <a:rPr lang="en-US" sz="1000" b="0" dirty="0"/>
              <a:t>Engineering to do the patching and updates without breaking dependencies</a:t>
            </a:r>
          </a:p>
          <a:p>
            <a:pPr marL="171450" lvl="0" indent="-171450" algn="l" rtl="0">
              <a:lnSpc>
                <a:spcPct val="100000"/>
              </a:lnSpc>
              <a:spcBef>
                <a:spcPts val="0"/>
              </a:spcBef>
              <a:spcAft>
                <a:spcPts val="0"/>
              </a:spcAft>
              <a:buClr>
                <a:schemeClr val="dk1"/>
              </a:buClr>
              <a:buSzPts val="1100"/>
              <a:buFont typeface="Arial" panose="020B0604020202020204" pitchFamily="34" charset="0"/>
              <a:buChar char="•"/>
            </a:pPr>
            <a:endParaRPr lang="en-US" sz="1000" b="0" dirty="0"/>
          </a:p>
          <a:p>
            <a:pPr marL="0" lvl="0" indent="0" algn="l" rtl="0">
              <a:lnSpc>
                <a:spcPct val="100000"/>
              </a:lnSpc>
              <a:spcBef>
                <a:spcPts val="0"/>
              </a:spcBef>
              <a:spcAft>
                <a:spcPts val="0"/>
              </a:spcAft>
              <a:buClr>
                <a:schemeClr val="dk1"/>
              </a:buClr>
              <a:buSzPts val="1100"/>
              <a:buFont typeface="Arial" panose="020B0604020202020204" pitchFamily="34" charset="0"/>
              <a:buNone/>
            </a:pPr>
            <a:r>
              <a:rPr lang="en-US" sz="1000" b="0" dirty="0"/>
              <a:t>And this has to be done on a daily basis.  NIM are part of NVIDIA AI Enterprise, so NVIDIA does this work for you.</a:t>
            </a:r>
          </a:p>
          <a:p>
            <a:pPr marL="0" lvl="0" indent="0" algn="l" rtl="0">
              <a:lnSpc>
                <a:spcPct val="100000"/>
              </a:lnSpc>
              <a:spcBef>
                <a:spcPts val="0"/>
              </a:spcBef>
              <a:spcAft>
                <a:spcPts val="0"/>
              </a:spcAft>
              <a:buClr>
                <a:schemeClr val="dk1"/>
              </a:buClr>
              <a:buSzPts val="1100"/>
              <a:buFont typeface="Arial" panose="020B0604020202020204" pitchFamily="34" charset="0"/>
              <a:buNone/>
            </a:pPr>
            <a:endParaRPr lang="en-US" sz="1000" b="0" dirty="0"/>
          </a:p>
          <a:p>
            <a:pPr marL="0" lvl="0" indent="0" algn="l" rtl="0">
              <a:lnSpc>
                <a:spcPct val="100000"/>
              </a:lnSpc>
              <a:spcBef>
                <a:spcPts val="0"/>
              </a:spcBef>
              <a:spcAft>
                <a:spcPts val="0"/>
              </a:spcAft>
              <a:buClr>
                <a:schemeClr val="dk1"/>
              </a:buClr>
              <a:buSzPts val="1100"/>
              <a:buFont typeface="Arial" panose="020B0604020202020204" pitchFamily="34" charset="0"/>
              <a:buNone/>
            </a:pPr>
            <a:r>
              <a:rPr lang="en-US" sz="1000" b="0" dirty="0"/>
              <a:t>In terms of continuous updates, NIM are delivered in monthly </a:t>
            </a:r>
            <a:r>
              <a:rPr lang="en-US" sz="1000" b="0" i="1" dirty="0"/>
              <a:t>feature bran</a:t>
            </a:r>
            <a:r>
              <a:rPr lang="en-US" sz="1000" b="0" dirty="0"/>
              <a:t>c</a:t>
            </a:r>
            <a:r>
              <a:rPr lang="en-US" sz="1000" b="0" i="1" dirty="0"/>
              <a:t>h</a:t>
            </a:r>
            <a:r>
              <a:rPr lang="en-US" sz="1000" b="0" dirty="0"/>
              <a:t> releases with the latest software updates and optimizations. NIM APIs are consistently stable across feature branch updates, but NIM are also released in production branches for guaranteed API stability across a longer lifecycle (~6 months).</a:t>
            </a:r>
          </a:p>
          <a:p>
            <a:pPr marL="0" lvl="0" indent="0" algn="l" rtl="0">
              <a:lnSpc>
                <a:spcPct val="100000"/>
              </a:lnSpc>
              <a:spcBef>
                <a:spcPts val="0"/>
              </a:spcBef>
              <a:spcAft>
                <a:spcPts val="0"/>
              </a:spcAft>
              <a:buClr>
                <a:schemeClr val="dk1"/>
              </a:buClr>
              <a:buSzPts val="1100"/>
              <a:buFont typeface="Arial" panose="020B0604020202020204" pitchFamily="34" charset="0"/>
              <a:buNone/>
            </a:pPr>
            <a:endParaRPr lang="en-US" sz="1000" b="0" dirty="0"/>
          </a:p>
          <a:p>
            <a:pPr marL="0" lvl="0" indent="0" algn="l" rtl="0">
              <a:lnSpc>
                <a:spcPct val="100000"/>
              </a:lnSpc>
              <a:spcBef>
                <a:spcPts val="0"/>
              </a:spcBef>
              <a:spcAft>
                <a:spcPts val="0"/>
              </a:spcAft>
              <a:buClr>
                <a:schemeClr val="dk1"/>
              </a:buClr>
              <a:buSzPts val="1100"/>
              <a:buFont typeface="Arial" panose="020B0604020202020204" pitchFamily="34" charset="0"/>
              <a:buNone/>
            </a:pPr>
            <a:r>
              <a:rPr lang="en-US" sz="1000" b="0" dirty="0"/>
              <a:t>Finally, NIM come with enterprise support and direct access to NVIDIA AI expertise, not just for NIM, but for everything included in NVIDIA AI Enterprise. Support includes defined response times with various tiers for your needs.</a:t>
            </a:r>
          </a:p>
          <a:p>
            <a:pPr marL="0" lvl="0" indent="0" algn="l" rtl="0">
              <a:lnSpc>
                <a:spcPct val="100000"/>
              </a:lnSpc>
              <a:spcBef>
                <a:spcPts val="0"/>
              </a:spcBef>
              <a:spcAft>
                <a:spcPts val="0"/>
              </a:spcAft>
              <a:buClr>
                <a:schemeClr val="dk1"/>
              </a:buClr>
              <a:buSzPts val="1100"/>
              <a:buFont typeface="Arial" panose="020B0604020202020204" pitchFamily="34" charset="0"/>
              <a:buNone/>
            </a:pPr>
            <a:endParaRPr lang="en-US" sz="1000" b="0" dirty="0"/>
          </a:p>
          <a:p>
            <a:pPr marL="0" lvl="0" indent="0" algn="l" rtl="0">
              <a:lnSpc>
                <a:spcPct val="100000"/>
              </a:lnSpc>
              <a:spcBef>
                <a:spcPts val="0"/>
              </a:spcBef>
              <a:spcAft>
                <a:spcPts val="0"/>
              </a:spcAft>
              <a:buClr>
                <a:schemeClr val="dk1"/>
              </a:buClr>
              <a:buSzPts val="1100"/>
              <a:buFont typeface="Arial" panose="020B0604020202020204" pitchFamily="34" charset="0"/>
              <a:buNone/>
            </a:pPr>
            <a:endParaRPr lang="en-US" sz="1000" b="0" dirty="0"/>
          </a:p>
          <a:p>
            <a:pPr marL="0" lvl="0" indent="0" algn="l" rtl="0">
              <a:lnSpc>
                <a:spcPct val="100000"/>
              </a:lnSpc>
              <a:spcBef>
                <a:spcPts val="0"/>
              </a:spcBef>
              <a:spcAft>
                <a:spcPts val="0"/>
              </a:spcAft>
              <a:buClr>
                <a:schemeClr val="dk1"/>
              </a:buClr>
              <a:buSzPts val="1100"/>
              <a:buFont typeface="Arial" panose="020B0604020202020204" pitchFamily="34" charset="0"/>
              <a:buNone/>
            </a:pPr>
            <a:endParaRPr lang="en-US" sz="1000" b="0" dirty="0"/>
          </a:p>
        </p:txBody>
      </p:sp>
      <p:sp>
        <p:nvSpPr>
          <p:cNvPr id="5404" name="Google Shape;5404;p14:notes">
            <a:extLst>
              <a:ext uri="{FF2B5EF4-FFF2-40B4-BE49-F238E27FC236}">
                <a16:creationId xmlns:a16="http://schemas.microsoft.com/office/drawing/2014/main" id="{C058A05B-74AC-45F4-9FCF-BB6CCE3455AC}"/>
              </a:ext>
            </a:extLst>
          </p:cNvPr>
          <p:cNvSpPr txBox="1">
            <a:spLocks noGrp="1"/>
          </p:cNvSpPr>
          <p:nvPr>
            <p:ph type="sldNum" idx="12"/>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200"/>
              <a:buFont typeface="NVIDIA Sans"/>
              <a:buNone/>
            </a:pPr>
            <a:fld id="{00000000-1234-1234-1234-123412341234}" type="slidenum">
              <a:rPr lang="en-US" sz="1200" b="0" i="0" u="none" strike="noStrike" cap="none">
                <a:solidFill>
                  <a:srgbClr val="000000"/>
                </a:solidFill>
                <a:latin typeface="NVIDIA Sans"/>
                <a:ea typeface="NVIDIA Sans"/>
                <a:cs typeface="NVIDIA Sans"/>
                <a:sym typeface="NVIDIA Sans"/>
              </a:rPr>
              <a:t>15</a:t>
            </a:fld>
            <a:endParaRPr sz="1200" b="0" i="0" u="none" strike="noStrike" cap="none">
              <a:solidFill>
                <a:srgbClr val="000000"/>
              </a:solidFill>
              <a:latin typeface="NVIDIA Sans"/>
              <a:ea typeface="NVIDIA Sans"/>
              <a:cs typeface="NVIDIA Sans"/>
              <a:sym typeface="NVIDIA Sans"/>
            </a:endParaRPr>
          </a:p>
        </p:txBody>
      </p:sp>
    </p:spTree>
    <p:extLst>
      <p:ext uri="{BB962C8B-B14F-4D97-AF65-F5344CB8AC3E}">
        <p14:creationId xmlns:p14="http://schemas.microsoft.com/office/powerpoint/2010/main" val="36593970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69D93-8EDF-B7BE-5301-B9286A1A94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0FC6D9-1335-E63F-D9CA-1EC025B65E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763123-C502-8D63-D6D1-8B751CDFFBB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NVIDIA Sans"/>
                <a:cs typeface="NVIDIA Sans"/>
              </a:rPr>
              <a:t>NVIDIA works to actively patch vulnerabilities as they are identified and publish updates in a timely manner.  However, we recognize that different types of software is used in different ways, and so we have organized the way we publish software to give customers flexibility while still maintaining security.</a:t>
            </a:r>
          </a:p>
          <a:p>
            <a:endParaRPr lang="en-US" dirty="0">
              <a:latin typeface="NVIDIA Sans"/>
              <a:cs typeface="NVIDIA Sans"/>
            </a:endParaRPr>
          </a:p>
          <a:p>
            <a:r>
              <a:rPr lang="en-US" dirty="0">
                <a:latin typeface="NVIDIA Sans"/>
                <a:cs typeface="NVIDIA Sans"/>
              </a:rPr>
              <a:t>NVIDIA AI Enterprise software is split into two categories: application software and Infrastructure software.  </a:t>
            </a:r>
          </a:p>
          <a:p>
            <a:endParaRPr lang="en-US" dirty="0">
              <a:latin typeface="NVIDIA Sans"/>
              <a:cs typeface="NVIDIA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NVIDIA Sans"/>
                <a:cs typeface="NVIDIA Sans"/>
              </a:rPr>
              <a:t>The Infrastructure software enables and optimize the use of NVIDIA GPUs and Networking.  It includes hardware and virtualization drivers, K8s operators, and Base Command Manager Essentials software for cluster management.  A new version of this collection is published roughly twice a year and typically aligns with support for the latest GPUs and Networking hardware.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NVIDIA Sans"/>
              <a:cs typeface="NVIDIA Sans"/>
            </a:endParaRPr>
          </a:p>
          <a:p>
            <a:r>
              <a:rPr lang="en-US" dirty="0">
                <a:latin typeface="NVIDIA Sans"/>
                <a:cs typeface="NVIDIA Sans"/>
              </a:rPr>
              <a:t>All application software is updated monthly with the latest, top of tree features, in what are known as Feature Branches.  These are performance-catalog and and all go through rigorous security checks and are only published if they have no critical or high vulnerabilities, as defined by the CVE system.  The lifetime of these containers is one month, after which a new version is published.  Any bug fixes and security patches that are created during that month get rolled forward and applied to the next month’s release.  Feature Branch software is targeted at developers who want the latest and greatest features, even if it comes at the expense of APIs being altered so that application changes are required</a:t>
            </a:r>
          </a:p>
          <a:p>
            <a:endParaRPr lang="en-US" dirty="0">
              <a:latin typeface="NVIDIA Sans"/>
              <a:cs typeface="NVIDIA Sans"/>
            </a:endParaRPr>
          </a:p>
          <a:p>
            <a:r>
              <a:rPr lang="en-US" dirty="0">
                <a:latin typeface="NVIDIA Sans"/>
                <a:cs typeface="NVIDIA Sans"/>
              </a:rPr>
              <a:t>For a subset of this software, we also create a Production Branch.  This is done by designating a specific version of software as the production branch version and maintaining that version for 9 months.  New versions of this software are published monthly with bug fixes and security patches, but without any changes that could break API dependencies.  A new production branch is created every 6 months, thus allowing a 3-month overlap for customers to transition before the earlier production branch reaches its end of life.  By providing API stability, customers can use production branch software as part of larger applications.  They can benefit from regular security updates without having to worry about API changes that could break their application.</a:t>
            </a:r>
          </a:p>
          <a:p>
            <a:endParaRPr lang="en-US" dirty="0">
              <a:latin typeface="NVIDIA Sans"/>
              <a:cs typeface="NVIDIA Sans"/>
            </a:endParaRPr>
          </a:p>
          <a:p>
            <a:r>
              <a:rPr lang="en-US" dirty="0">
                <a:latin typeface="NVIDIA Sans"/>
                <a:cs typeface="NVIDIA Sans"/>
              </a:rPr>
              <a:t>Long-term support branch software follows a similar principle to production branch, except it is a smaller subset of the AI &amp; Data Science software catalog and includes a stable version of the Infrastructure Software Collection.  It is maintained for 1 year with quarterly updates.  It is targeted at highly regulated industries such as health care and government.</a:t>
            </a:r>
          </a:p>
          <a:p>
            <a:endParaRPr lang="en-US" dirty="0">
              <a:latin typeface="NVIDIA Sans"/>
              <a:cs typeface="NVIDIA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Through the NVIDIA AI Enterprise subscription, enterprises have access to all three branches, providing  them peace of mind knowing they have the flexibility to choose the branch that is best for their development and deployment without compromising on security.</a:t>
            </a:r>
          </a:p>
          <a:p>
            <a:endParaRPr lang="en-US" dirty="0">
              <a:latin typeface="NVIDIA Sans"/>
              <a:cs typeface="NVIDIA Sans"/>
            </a:endParaRPr>
          </a:p>
          <a:p>
            <a:r>
              <a:rPr lang="en-US" dirty="0">
                <a:latin typeface="NVIDIA Sans"/>
                <a:cs typeface="NVIDIA Sans"/>
              </a:rPr>
              <a:t>NVIDIA manages and release Infrastructure software independently because doing so enables a stable infrastructure platform upon which to run AI and data science applications.  On the other hand, the flexible branch options for application software allows for developers to choose the option that matters most to them: API stability or top of tree features. </a:t>
            </a:r>
          </a:p>
          <a:p>
            <a:endParaRPr lang="en-US" dirty="0">
              <a:latin typeface="NVIDIA Sans"/>
              <a:cs typeface="NVIDIA Sans"/>
            </a:endParaRPr>
          </a:p>
          <a:p>
            <a:endParaRPr lang="en-US" dirty="0">
              <a:latin typeface="NVIDIA Sans"/>
              <a:cs typeface="NVIDIA Sans"/>
            </a:endParaRPr>
          </a:p>
          <a:p>
            <a:endParaRPr lang="en-US" dirty="0">
              <a:latin typeface="NVIDIA Sans"/>
              <a:cs typeface="NVIDIA Sans"/>
            </a:endParaRPr>
          </a:p>
        </p:txBody>
      </p:sp>
      <p:sp>
        <p:nvSpPr>
          <p:cNvPr id="4" name="Slide Number Placeholder 3">
            <a:extLst>
              <a:ext uri="{FF2B5EF4-FFF2-40B4-BE49-F238E27FC236}">
                <a16:creationId xmlns:a16="http://schemas.microsoft.com/office/drawing/2014/main" id="{0E358903-645A-E499-32C6-330B5314DFE6}"/>
              </a:ext>
            </a:extLst>
          </p:cNvPr>
          <p:cNvSpPr>
            <a:spLocks noGrp="1"/>
          </p:cNvSpPr>
          <p:nvPr>
            <p:ph type="sldNum" sz="quarter" idx="5"/>
          </p:nvPr>
        </p:nvSpPr>
        <p:spPr/>
        <p:txBody>
          <a:bodyPr/>
          <a:lstStyle/>
          <a:p>
            <a:fld id="{A93AD357-0C40-4436-9D38-C47D60C1C9C1}" type="slidenum">
              <a:rPr lang="en-US" smtClean="0"/>
              <a:pPr/>
              <a:t>16</a:t>
            </a:fld>
            <a:endParaRPr lang="en-US"/>
          </a:p>
        </p:txBody>
      </p:sp>
    </p:spTree>
    <p:extLst>
      <p:ext uri="{BB962C8B-B14F-4D97-AF65-F5344CB8AC3E}">
        <p14:creationId xmlns:p14="http://schemas.microsoft.com/office/powerpoint/2010/main" val="29674364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Hand off to M9.2 NIM hands-on. Tell the room: 'You've seen the recipe; now run it.' Verify NGC login works on every attendee pod before kicking off (common breakage point). The first curl against port 8088 is the verification step.</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6" name="Picture 5" descr="A green and white background&#10;&#10;Description automatically generated">
            <a:extLst>
              <a:ext uri="{FF2B5EF4-FFF2-40B4-BE49-F238E27FC236}">
                <a16:creationId xmlns:a16="http://schemas.microsoft.com/office/drawing/2014/main" id="{07D900F6-F9C5-E13E-B321-472E2C06456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pic>
        <p:nvPicPr>
          <p:cNvPr id="3" name="Picture 2" descr="A picture containing graphics, logo, symbol, graphic design&#10;&#10;Description automatically generated">
            <a:extLst>
              <a:ext uri="{FF2B5EF4-FFF2-40B4-BE49-F238E27FC236}">
                <a16:creationId xmlns:a16="http://schemas.microsoft.com/office/drawing/2014/main" id="{AC2F1390-BF3D-835C-3CE7-1F9507746CD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16125" y="773531"/>
            <a:ext cx="8365991" cy="2882310"/>
          </a:xfrm>
          <a:prstGeom prst="rect">
            <a:avLst/>
          </a:prstGeom>
        </p:spPr>
      </p:pic>
      <p:sp>
        <p:nvSpPr>
          <p:cNvPr id="2" name="Title 1">
            <a:extLst>
              <a:ext uri="{FF2B5EF4-FFF2-40B4-BE49-F238E27FC236}">
                <a16:creationId xmlns:a16="http://schemas.microsoft.com/office/drawing/2014/main" id="{67BDD93D-C8D9-AAAA-C193-4F162992EEF0}"/>
              </a:ext>
            </a:extLst>
          </p:cNvPr>
          <p:cNvSpPr>
            <a:spLocks noGrp="1"/>
          </p:cNvSpPr>
          <p:nvPr>
            <p:ph type="ctrTitle" hasCustomPrompt="1"/>
          </p:nvPr>
        </p:nvSpPr>
        <p:spPr>
          <a:xfrm>
            <a:off x="1513012" y="2983577"/>
            <a:ext cx="19282214" cy="4937760"/>
          </a:xfrm>
        </p:spPr>
        <p:txBody>
          <a:bodyPr anchor="b">
            <a:normAutofit/>
          </a:bodyPr>
          <a:lstStyle>
            <a:lvl1pPr algn="l">
              <a:defRPr sz="8800" b="1" cap="none" baseline="0">
                <a:latin typeface="NVIDIA Sans" panose="020B0503020203020204" pitchFamily="34" charset="0"/>
                <a:cs typeface="NVIDIA Sans" panose="020B0503020203020204" pitchFamily="34" charset="0"/>
              </a:defRPr>
            </a:lvl1pPr>
          </a:lstStyle>
          <a:p>
            <a:r>
              <a:rPr lang="en-US" dirty="0"/>
              <a:t>Click to Add Title</a:t>
            </a:r>
          </a:p>
        </p:txBody>
      </p:sp>
      <p:sp>
        <p:nvSpPr>
          <p:cNvPr id="7" name="Subtitle 2">
            <a:extLst>
              <a:ext uri="{FF2B5EF4-FFF2-40B4-BE49-F238E27FC236}">
                <a16:creationId xmlns:a16="http://schemas.microsoft.com/office/drawing/2014/main" id="{84FDDD85-BD02-911B-1C62-433286994A1E}"/>
              </a:ext>
            </a:extLst>
          </p:cNvPr>
          <p:cNvSpPr>
            <a:spLocks noGrp="1"/>
          </p:cNvSpPr>
          <p:nvPr>
            <p:ph type="subTitle" idx="1" hasCustomPrompt="1"/>
          </p:nvPr>
        </p:nvSpPr>
        <p:spPr>
          <a:xfrm>
            <a:off x="1513012" y="7941727"/>
            <a:ext cx="19282214" cy="1703832"/>
          </a:xfrm>
          <a:prstGeom prst="rect">
            <a:avLst/>
          </a:prstGeom>
        </p:spPr>
        <p:txBody>
          <a:bodyPr>
            <a:normAutofit/>
          </a:bodyPr>
          <a:lstStyle>
            <a:lvl1pPr marL="0" indent="0" algn="l">
              <a:buNone/>
              <a:defRPr sz="4400" b="0" cap="none" baseline="0">
                <a:solidFill>
                  <a:schemeClr val="bg1"/>
                </a:solidFill>
                <a:latin typeface="NVIDIA Sans" panose="020B0503020203020204" pitchFamily="34" charset="0"/>
                <a:cs typeface="NVIDIA Sans" panose="020B0503020203020204" pitchFamily="34" charset="0"/>
              </a:defRPr>
            </a:lvl1pPr>
            <a:lvl2pPr marL="1371600" indent="0" algn="ctr">
              <a:buNone/>
              <a:defRPr sz="6000"/>
            </a:lvl2pPr>
            <a:lvl3pPr marL="2743200" indent="0" algn="ctr">
              <a:buNone/>
              <a:defRPr sz="5400"/>
            </a:lvl3pPr>
            <a:lvl4pPr marL="4114800" indent="0" algn="ctr">
              <a:buNone/>
              <a:defRPr sz="4800"/>
            </a:lvl4pPr>
            <a:lvl5pPr marL="5486400" indent="0" algn="ctr">
              <a:buNone/>
              <a:defRPr sz="4800"/>
            </a:lvl5pPr>
            <a:lvl6pPr marL="6858000" indent="0" algn="ctr">
              <a:buNone/>
              <a:defRPr sz="4800"/>
            </a:lvl6pPr>
            <a:lvl7pPr marL="8229600" indent="0" algn="ctr">
              <a:buNone/>
              <a:defRPr sz="4800"/>
            </a:lvl7pPr>
            <a:lvl8pPr marL="9601200" indent="0" algn="ctr">
              <a:buNone/>
              <a:defRPr sz="4800"/>
            </a:lvl8pPr>
            <a:lvl9pPr marL="10972800" indent="0" algn="ctr">
              <a:buNone/>
              <a:defRPr sz="4800"/>
            </a:lvl9pPr>
          </a:lstStyle>
          <a:p>
            <a:r>
              <a:rPr lang="en-US" dirty="0"/>
              <a:t>Click to Add Subtitle/Name/Date</a:t>
            </a:r>
          </a:p>
        </p:txBody>
      </p:sp>
    </p:spTree>
    <p:extLst>
      <p:ext uri="{BB962C8B-B14F-4D97-AF65-F5344CB8AC3E}">
        <p14:creationId xmlns:p14="http://schemas.microsoft.com/office/powerpoint/2010/main" val="1478713325"/>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9" name="Content Placeholder 2">
            <a:extLst>
              <a:ext uri="{FF2B5EF4-FFF2-40B4-BE49-F238E27FC236}">
                <a16:creationId xmlns:a16="http://schemas.microsoft.com/office/drawing/2014/main" id="{8F434B88-2544-75AC-CBB8-19A1035D1251}"/>
              </a:ext>
            </a:extLst>
          </p:cNvPr>
          <p:cNvSpPr>
            <a:spLocks noGrp="1"/>
          </p:cNvSpPr>
          <p:nvPr>
            <p:ph idx="1" hasCustomPrompt="1"/>
          </p:nvPr>
        </p:nvSpPr>
        <p:spPr>
          <a:xfrm>
            <a:off x="2514600" y="4846320"/>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57990800"/>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ont Testing Layou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9" name="Content Placeholder 2">
            <a:extLst>
              <a:ext uri="{FF2B5EF4-FFF2-40B4-BE49-F238E27FC236}">
                <a16:creationId xmlns:a16="http://schemas.microsoft.com/office/drawing/2014/main" id="{8F434B88-2544-75AC-CBB8-19A1035D1251}"/>
              </a:ext>
            </a:extLst>
          </p:cNvPr>
          <p:cNvSpPr>
            <a:spLocks noGrp="1"/>
          </p:cNvSpPr>
          <p:nvPr>
            <p:ph idx="1" hasCustomPrompt="1"/>
          </p:nvPr>
        </p:nvSpPr>
        <p:spPr>
          <a:xfrm>
            <a:off x="2514600" y="4846320"/>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C870B57E-B314-99BB-8DF8-2672644B4F4E}"/>
              </a:ext>
            </a:extLst>
          </p:cNvPr>
          <p:cNvSpPr/>
          <p:nvPr userDrawn="1"/>
        </p:nvSpPr>
        <p:spPr>
          <a:xfrm>
            <a:off x="15000920" y="10556523"/>
            <a:ext cx="11020290" cy="749209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lnSpc>
                <a:spcPct val="90000"/>
              </a:lnSpc>
            </a:pPr>
            <a:endParaRPr lang="en-US" sz="9600" b="1" dirty="0" err="1">
              <a:solidFill>
                <a:schemeClr val="tx1"/>
              </a:solidFill>
              <a:latin typeface="NVIDIA Sans" panose="020B0503020203020204" pitchFamily="34" charset="0"/>
              <a:cs typeface="NVIDIA Sans" panose="020B0503020203020204" pitchFamily="34" charset="0"/>
            </a:endParaRPr>
          </a:p>
        </p:txBody>
      </p:sp>
      <p:pic>
        <p:nvPicPr>
          <p:cNvPr id="8" name="Picture 7">
            <a:extLst>
              <a:ext uri="{FF2B5EF4-FFF2-40B4-BE49-F238E27FC236}">
                <a16:creationId xmlns:a16="http://schemas.microsoft.com/office/drawing/2014/main" id="{AF3F80E6-5287-D931-0053-EF9F8579EE41}"/>
              </a:ext>
            </a:extLst>
          </p:cNvPr>
          <p:cNvPicPr>
            <a:picLocks noChangeAspect="1"/>
          </p:cNvPicPr>
          <p:nvPr userDrawn="1"/>
        </p:nvPicPr>
        <p:blipFill>
          <a:blip r:embed="rId2"/>
          <a:stretch>
            <a:fillRect/>
          </a:stretch>
        </p:blipFill>
        <p:spPr>
          <a:xfrm>
            <a:off x="3087422" y="10556523"/>
            <a:ext cx="11022523" cy="7864522"/>
          </a:xfrm>
          <a:prstGeom prst="rect">
            <a:avLst/>
          </a:prstGeom>
        </p:spPr>
      </p:pic>
      <p:sp>
        <p:nvSpPr>
          <p:cNvPr id="10" name="Content Placeholder 2">
            <a:extLst>
              <a:ext uri="{FF2B5EF4-FFF2-40B4-BE49-F238E27FC236}">
                <a16:creationId xmlns:a16="http://schemas.microsoft.com/office/drawing/2014/main" id="{1D89DD87-13E1-B25F-EBCC-2BC52BA4AACF}"/>
              </a:ext>
            </a:extLst>
          </p:cNvPr>
          <p:cNvSpPr>
            <a:spLocks noGrp="1"/>
          </p:cNvSpPr>
          <p:nvPr>
            <p:ph idx="11" hasCustomPrompt="1"/>
          </p:nvPr>
        </p:nvSpPr>
        <p:spPr>
          <a:xfrm>
            <a:off x="15951796" y="11141440"/>
            <a:ext cx="9273032" cy="2550828"/>
          </a:xfrm>
          <a:prstGeom prst="rect">
            <a:avLst/>
          </a:prstGeom>
        </p:spPr>
        <p:txBody>
          <a:bodyPr/>
          <a:lstStyle>
            <a:lvl1pPr marL="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1pPr>
            <a:lvl2pPr marL="9144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2pPr>
            <a:lvl3pPr marL="18288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3pPr>
            <a:lvl4pPr marL="27432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4pPr>
            <a:lvl5pPr marL="36576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5pPr>
          </a:lstStyle>
          <a:p>
            <a:pPr lvl="0"/>
            <a:r>
              <a:rPr lang="en-US" dirty="0"/>
              <a:t>Click to edit text styles</a:t>
            </a:r>
          </a:p>
        </p:txBody>
      </p:sp>
      <p:sp>
        <p:nvSpPr>
          <p:cNvPr id="11" name="Content Placeholder 2">
            <a:extLst>
              <a:ext uri="{FF2B5EF4-FFF2-40B4-BE49-F238E27FC236}">
                <a16:creationId xmlns:a16="http://schemas.microsoft.com/office/drawing/2014/main" id="{0B869C1B-4BC1-3F4F-4B38-F2FBE6DA6157}"/>
              </a:ext>
            </a:extLst>
          </p:cNvPr>
          <p:cNvSpPr>
            <a:spLocks noGrp="1"/>
          </p:cNvSpPr>
          <p:nvPr>
            <p:ph idx="12" hasCustomPrompt="1"/>
          </p:nvPr>
        </p:nvSpPr>
        <p:spPr>
          <a:xfrm>
            <a:off x="15951796" y="13730012"/>
            <a:ext cx="9273032" cy="2550828"/>
          </a:xfrm>
          <a:prstGeom prst="rect">
            <a:avLst/>
          </a:prstGeom>
        </p:spPr>
        <p:txBody>
          <a:bodyPr/>
          <a:lstStyle>
            <a:lvl1pPr marL="0" indent="0">
              <a:buClr>
                <a:schemeClr val="tx2"/>
              </a:buClr>
              <a:buFontTx/>
              <a:buNone/>
              <a:defRPr sz="9600" b="0">
                <a:solidFill>
                  <a:schemeClr val="bg1"/>
                </a:solidFill>
                <a:latin typeface="NVIDIA Sans" panose="020B0503020203020204" pitchFamily="34" charset="0"/>
                <a:cs typeface="NVIDIA Sans" panose="020B0503020203020204" pitchFamily="34" charset="0"/>
              </a:defRPr>
            </a:lvl1pPr>
            <a:lvl2pPr marL="9144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2pPr>
            <a:lvl3pPr marL="18288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3pPr>
            <a:lvl4pPr marL="27432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4pPr>
            <a:lvl5pPr marL="36576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5pPr>
          </a:lstStyle>
          <a:p>
            <a:pPr lvl="0"/>
            <a:r>
              <a:rPr lang="en-US" dirty="0"/>
              <a:t>Click to edit text styles</a:t>
            </a:r>
          </a:p>
        </p:txBody>
      </p:sp>
    </p:spTree>
    <p:extLst>
      <p:ext uri="{BB962C8B-B14F-4D97-AF65-F5344CB8AC3E}">
        <p14:creationId xmlns:p14="http://schemas.microsoft.com/office/powerpoint/2010/main" val="1039441924"/>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953729725"/>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FIDENTIAL">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0B5A3B7-671E-C83C-D30C-891E7AC206AA}"/>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7" name="Text Placeholder 7">
            <a:extLst>
              <a:ext uri="{FF2B5EF4-FFF2-40B4-BE49-F238E27FC236}">
                <a16:creationId xmlns:a16="http://schemas.microsoft.com/office/drawing/2014/main" id="{B591E553-3F88-CE75-0B41-84F0FCE66A2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9" name="Content Placeholder 2">
            <a:extLst>
              <a:ext uri="{FF2B5EF4-FFF2-40B4-BE49-F238E27FC236}">
                <a16:creationId xmlns:a16="http://schemas.microsoft.com/office/drawing/2014/main" id="{D74C6155-7E24-522A-D9BC-0187CC5320D6}"/>
              </a:ext>
            </a:extLst>
          </p:cNvPr>
          <p:cNvSpPr>
            <a:spLocks noGrp="1"/>
          </p:cNvSpPr>
          <p:nvPr>
            <p:ph idx="1" hasCustomPrompt="1"/>
          </p:nvPr>
        </p:nvSpPr>
        <p:spPr>
          <a:xfrm>
            <a:off x="2514600" y="4846320"/>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Box 9">
            <a:extLst>
              <a:ext uri="{FF2B5EF4-FFF2-40B4-BE49-F238E27FC236}">
                <a16:creationId xmlns:a16="http://schemas.microsoft.com/office/drawing/2014/main" id="{76E4777A-F626-7644-27B7-BFAC0B981393}"/>
              </a:ext>
            </a:extLst>
          </p:cNvPr>
          <p:cNvSpPr txBox="1"/>
          <p:nvPr userDrawn="1"/>
        </p:nvSpPr>
        <p:spPr>
          <a:xfrm>
            <a:off x="708485" y="19635786"/>
            <a:ext cx="6504666" cy="446276"/>
          </a:xfrm>
          <a:prstGeom prst="rect">
            <a:avLst/>
          </a:prstGeom>
          <a:noFill/>
        </p:spPr>
        <p:txBody>
          <a:bodyPr wrap="none" rtlCol="0">
            <a:spAutoFit/>
          </a:bodyPr>
          <a:lstStyle/>
          <a:p>
            <a:r>
              <a:rPr lang="en-US" sz="2300" dirty="0">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2655459822"/>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48F5163-CB61-79FB-F160-F5D40ECCE6F5}"/>
              </a:ext>
            </a:extLst>
          </p:cNvPr>
          <p:cNvSpPr>
            <a:spLocks noGrp="1"/>
          </p:cNvSpPr>
          <p:nvPr>
            <p:ph type="title" hasCustomPrompt="1"/>
          </p:nvPr>
        </p:nvSpPr>
        <p:spPr>
          <a:xfrm>
            <a:off x="2514600" y="0"/>
            <a:ext cx="31546800" cy="2514601"/>
          </a:xfrm>
        </p:spPr>
        <p:txBody>
          <a:bodyPr>
            <a:normAutofit/>
          </a:bodyPr>
          <a:lstStyle>
            <a:lvl1pPr>
              <a:defRPr sz="72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dirty="0"/>
              <a:t>Click To Add Title</a:t>
            </a:r>
          </a:p>
        </p:txBody>
      </p:sp>
      <p:sp>
        <p:nvSpPr>
          <p:cNvPr id="6" name="Content Placeholder 2">
            <a:extLst>
              <a:ext uri="{FF2B5EF4-FFF2-40B4-BE49-F238E27FC236}">
                <a16:creationId xmlns:a16="http://schemas.microsoft.com/office/drawing/2014/main" id="{0A4DE4CF-0F8A-C449-EB63-E6FB16955E79}"/>
              </a:ext>
            </a:extLst>
          </p:cNvPr>
          <p:cNvSpPr>
            <a:spLocks noGrp="1"/>
          </p:cNvSpPr>
          <p:nvPr>
            <p:ph idx="1" hasCustomPrompt="1"/>
          </p:nvPr>
        </p:nvSpPr>
        <p:spPr>
          <a:xfrm>
            <a:off x="2514600" y="4873752"/>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7">
            <a:extLst>
              <a:ext uri="{FF2B5EF4-FFF2-40B4-BE49-F238E27FC236}">
                <a16:creationId xmlns:a16="http://schemas.microsoft.com/office/drawing/2014/main" id="{EB67495D-7B41-2537-BC39-7393489E5BFA}"/>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1884427930"/>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FIDENTIAL_Codin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1BB3E37-708E-211E-579F-07C9AF797CE5}"/>
              </a:ext>
            </a:extLst>
          </p:cNvPr>
          <p:cNvSpPr>
            <a:spLocks noGrp="1"/>
          </p:cNvSpPr>
          <p:nvPr>
            <p:ph type="title" hasCustomPrompt="1"/>
          </p:nvPr>
        </p:nvSpPr>
        <p:spPr>
          <a:xfrm>
            <a:off x="2514600" y="0"/>
            <a:ext cx="31546800" cy="2514601"/>
          </a:xfrm>
        </p:spPr>
        <p:txBody>
          <a:bodyPr>
            <a:normAutofit/>
          </a:bodyPr>
          <a:lstStyle>
            <a:lvl1pPr>
              <a:defRPr sz="72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dirty="0"/>
              <a:t>Click To Add Title</a:t>
            </a:r>
          </a:p>
        </p:txBody>
      </p:sp>
      <p:sp>
        <p:nvSpPr>
          <p:cNvPr id="7" name="Content Placeholder 2">
            <a:extLst>
              <a:ext uri="{FF2B5EF4-FFF2-40B4-BE49-F238E27FC236}">
                <a16:creationId xmlns:a16="http://schemas.microsoft.com/office/drawing/2014/main" id="{700FC4D5-AB7A-23D7-9D7B-80DEBB4B5F29}"/>
              </a:ext>
            </a:extLst>
          </p:cNvPr>
          <p:cNvSpPr>
            <a:spLocks noGrp="1"/>
          </p:cNvSpPr>
          <p:nvPr>
            <p:ph idx="1" hasCustomPrompt="1"/>
          </p:nvPr>
        </p:nvSpPr>
        <p:spPr>
          <a:xfrm>
            <a:off x="2514600" y="4873752"/>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7">
            <a:extLst>
              <a:ext uri="{FF2B5EF4-FFF2-40B4-BE49-F238E27FC236}">
                <a16:creationId xmlns:a16="http://schemas.microsoft.com/office/drawing/2014/main" id="{E46F2B23-740A-C60D-727C-DC63D8F8D8F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10" name="TextBox 9">
            <a:extLst>
              <a:ext uri="{FF2B5EF4-FFF2-40B4-BE49-F238E27FC236}">
                <a16:creationId xmlns:a16="http://schemas.microsoft.com/office/drawing/2014/main" id="{5C9AAC10-E9F2-1A13-3A59-F02BCBD31C18}"/>
              </a:ext>
            </a:extLst>
          </p:cNvPr>
          <p:cNvSpPr txBox="1"/>
          <p:nvPr userDrawn="1"/>
        </p:nvSpPr>
        <p:spPr>
          <a:xfrm>
            <a:off x="708485" y="19635786"/>
            <a:ext cx="6504666" cy="446276"/>
          </a:xfrm>
          <a:prstGeom prst="rect">
            <a:avLst/>
          </a:prstGeom>
          <a:noFill/>
        </p:spPr>
        <p:txBody>
          <a:bodyPr wrap="none" rtlCol="0">
            <a:spAutoFit/>
          </a:bodyPr>
          <a:lstStyle/>
          <a:p>
            <a:r>
              <a:rPr lang="en-US" sz="2300" dirty="0">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3653953544"/>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D6812F5-ABE3-E984-84D2-2BCF62F7495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11" name="Text Placeholder 7">
            <a:extLst>
              <a:ext uri="{FF2B5EF4-FFF2-40B4-BE49-F238E27FC236}">
                <a16:creationId xmlns:a16="http://schemas.microsoft.com/office/drawing/2014/main" id="{C8D5FFB6-C6A8-037E-5413-097EB66C5C6C}"/>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12" name="Content Placeholder 2">
            <a:extLst>
              <a:ext uri="{FF2B5EF4-FFF2-40B4-BE49-F238E27FC236}">
                <a16:creationId xmlns:a16="http://schemas.microsoft.com/office/drawing/2014/main" id="{22EAC335-6BA5-09DF-D45A-2D1E4919D600}"/>
              </a:ext>
            </a:extLst>
          </p:cNvPr>
          <p:cNvSpPr>
            <a:spLocks noGrp="1"/>
          </p:cNvSpPr>
          <p:nvPr>
            <p:ph idx="1" hasCustomPrompt="1"/>
          </p:nvPr>
        </p:nvSpPr>
        <p:spPr>
          <a:xfrm>
            <a:off x="2514600"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587F3906-FA1F-F5DB-AEEC-275E973390EF}"/>
              </a:ext>
            </a:extLst>
          </p:cNvPr>
          <p:cNvSpPr>
            <a:spLocks noGrp="1"/>
          </p:cNvSpPr>
          <p:nvPr>
            <p:ph idx="12" hasCustomPrompt="1"/>
          </p:nvPr>
        </p:nvSpPr>
        <p:spPr>
          <a:xfrm>
            <a:off x="18845785"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28003709"/>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FIDENTIAL_Two Colum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02BC1FA-1DB5-2C7E-04B8-FED750886E98}"/>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11" name="Text Placeholder 7">
            <a:extLst>
              <a:ext uri="{FF2B5EF4-FFF2-40B4-BE49-F238E27FC236}">
                <a16:creationId xmlns:a16="http://schemas.microsoft.com/office/drawing/2014/main" id="{A2AEF98B-5FB8-3A4F-796B-DD99AF3F272A}"/>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12" name="Content Placeholder 2">
            <a:extLst>
              <a:ext uri="{FF2B5EF4-FFF2-40B4-BE49-F238E27FC236}">
                <a16:creationId xmlns:a16="http://schemas.microsoft.com/office/drawing/2014/main" id="{8251F2F2-6278-B4DF-1110-A1875E182B4B}"/>
              </a:ext>
            </a:extLst>
          </p:cNvPr>
          <p:cNvSpPr>
            <a:spLocks noGrp="1"/>
          </p:cNvSpPr>
          <p:nvPr>
            <p:ph idx="1" hasCustomPrompt="1"/>
          </p:nvPr>
        </p:nvSpPr>
        <p:spPr>
          <a:xfrm>
            <a:off x="2514600"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7B4011BA-8847-33A7-3882-701220150547}"/>
              </a:ext>
            </a:extLst>
          </p:cNvPr>
          <p:cNvSpPr>
            <a:spLocks noGrp="1"/>
          </p:cNvSpPr>
          <p:nvPr>
            <p:ph idx="12" hasCustomPrompt="1"/>
          </p:nvPr>
        </p:nvSpPr>
        <p:spPr>
          <a:xfrm>
            <a:off x="18845785"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Box 13">
            <a:extLst>
              <a:ext uri="{FF2B5EF4-FFF2-40B4-BE49-F238E27FC236}">
                <a16:creationId xmlns:a16="http://schemas.microsoft.com/office/drawing/2014/main" id="{4CB4AC74-E8E5-AA23-89B3-FDB8D3DEFA54}"/>
              </a:ext>
            </a:extLst>
          </p:cNvPr>
          <p:cNvSpPr txBox="1"/>
          <p:nvPr userDrawn="1"/>
        </p:nvSpPr>
        <p:spPr>
          <a:xfrm>
            <a:off x="708485" y="19635786"/>
            <a:ext cx="6504666" cy="446276"/>
          </a:xfrm>
          <a:prstGeom prst="rect">
            <a:avLst/>
          </a:prstGeom>
          <a:noFill/>
        </p:spPr>
        <p:txBody>
          <a:bodyPr wrap="none" rtlCol="0">
            <a:spAutoFit/>
          </a:bodyPr>
          <a:lstStyle/>
          <a:p>
            <a:r>
              <a:rPr lang="en-US" sz="2300" dirty="0">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2969517273"/>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Left - Text Right">
    <p:spTree>
      <p:nvGrpSpPr>
        <p:cNvPr id="1" name=""/>
        <p:cNvGrpSpPr/>
        <p:nvPr/>
      </p:nvGrpSpPr>
      <p:grpSpPr>
        <a:xfrm>
          <a:off x="0" y="0"/>
          <a:ext cx="0" cy="0"/>
          <a:chOff x="0" y="0"/>
          <a:chExt cx="0" cy="0"/>
        </a:xfrm>
      </p:grpSpPr>
      <p:sp>
        <p:nvSpPr>
          <p:cNvPr id="13" name="Picture Placeholder 5">
            <a:extLst>
              <a:ext uri="{FF2B5EF4-FFF2-40B4-BE49-F238E27FC236}">
                <a16:creationId xmlns:a16="http://schemas.microsoft.com/office/drawing/2014/main" id="{9ECDE791-270C-BF8C-81C1-76A0831C1A19}"/>
              </a:ext>
            </a:extLst>
          </p:cNvPr>
          <p:cNvSpPr>
            <a:spLocks noGrp="1"/>
          </p:cNvSpPr>
          <p:nvPr>
            <p:ph type="pic" sz="quarter" idx="12"/>
          </p:nvPr>
        </p:nvSpPr>
        <p:spPr>
          <a:xfrm>
            <a:off x="0"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
        <p:nvSpPr>
          <p:cNvPr id="14" name="Title 1">
            <a:extLst>
              <a:ext uri="{FF2B5EF4-FFF2-40B4-BE49-F238E27FC236}">
                <a16:creationId xmlns:a16="http://schemas.microsoft.com/office/drawing/2014/main" id="{B145783C-AD8B-1C6E-6189-2C6A7ED49ED5}"/>
              </a:ext>
            </a:extLst>
          </p:cNvPr>
          <p:cNvSpPr>
            <a:spLocks noGrp="1"/>
          </p:cNvSpPr>
          <p:nvPr>
            <p:ph type="title" hasCustomPrompt="1"/>
          </p:nvPr>
        </p:nvSpPr>
        <p:spPr>
          <a:xfrm>
            <a:off x="19129248" y="302065"/>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15" name="Content Placeholder 2">
            <a:extLst>
              <a:ext uri="{FF2B5EF4-FFF2-40B4-BE49-F238E27FC236}">
                <a16:creationId xmlns:a16="http://schemas.microsoft.com/office/drawing/2014/main" id="{27C7C90A-73D6-E171-33CA-4E89BA293C60}"/>
              </a:ext>
            </a:extLst>
          </p:cNvPr>
          <p:cNvSpPr>
            <a:spLocks noGrp="1"/>
          </p:cNvSpPr>
          <p:nvPr>
            <p:ph idx="1" hasCustomPrompt="1"/>
          </p:nvPr>
        </p:nvSpPr>
        <p:spPr>
          <a:xfrm>
            <a:off x="19129248"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7">
            <a:extLst>
              <a:ext uri="{FF2B5EF4-FFF2-40B4-BE49-F238E27FC236}">
                <a16:creationId xmlns:a16="http://schemas.microsoft.com/office/drawing/2014/main" id="{293474C4-48DE-3777-A7E6-66A14FC6BB37}"/>
              </a:ext>
            </a:extLst>
          </p:cNvPr>
          <p:cNvSpPr>
            <a:spLocks noGrp="1"/>
          </p:cNvSpPr>
          <p:nvPr>
            <p:ph type="body" sz="quarter" idx="10" hasCustomPrompt="1"/>
          </p:nvPr>
        </p:nvSpPr>
        <p:spPr>
          <a:xfrm>
            <a:off x="19129248" y="3731768"/>
            <a:ext cx="14639544" cy="1408176"/>
          </a:xfrm>
          <a:prstGeom prst="rect">
            <a:avLst/>
          </a:prstGeom>
        </p:spPr>
        <p:txBody>
          <a:bodyPr/>
          <a:lstStyle>
            <a:lvl1pPr marL="0" indent="0" algn="l">
              <a:spcBef>
                <a:spcPts val="600"/>
              </a:spcBef>
              <a:spcAft>
                <a:spcPts val="600"/>
              </a:spcAft>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edit text styles</a:t>
            </a:r>
          </a:p>
        </p:txBody>
      </p:sp>
      <p:cxnSp>
        <p:nvCxnSpPr>
          <p:cNvPr id="17" name="Straight Connector 16">
            <a:extLst>
              <a:ext uri="{FF2B5EF4-FFF2-40B4-BE49-F238E27FC236}">
                <a16:creationId xmlns:a16="http://schemas.microsoft.com/office/drawing/2014/main" id="{71FA87B4-E089-FC07-89C2-EA0620853B79}"/>
              </a:ext>
            </a:extLst>
          </p:cNvPr>
          <p:cNvCxnSpPr>
            <a:cxnSpLocks/>
          </p:cNvCxnSpPr>
          <p:nvPr userDrawn="1"/>
        </p:nvCxnSpPr>
        <p:spPr>
          <a:xfrm>
            <a:off x="16413162" y="5693228"/>
            <a:ext cx="17282478"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4941307"/>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Left - Text Right NO SUBTITLE">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0F02E9B9-4BF5-6080-A68D-577B3CFA3984}"/>
              </a:ext>
            </a:extLst>
          </p:cNvPr>
          <p:cNvSpPr>
            <a:spLocks noGrp="1"/>
          </p:cNvSpPr>
          <p:nvPr>
            <p:ph idx="1" hasCustomPrompt="1"/>
          </p:nvPr>
        </p:nvSpPr>
        <p:spPr>
          <a:xfrm>
            <a:off x="19129248"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9" name="Straight Connector 8">
            <a:extLst>
              <a:ext uri="{FF2B5EF4-FFF2-40B4-BE49-F238E27FC236}">
                <a16:creationId xmlns:a16="http://schemas.microsoft.com/office/drawing/2014/main" id="{18D73545-7C20-075B-2C1C-DF7F4214DAD6}"/>
              </a:ext>
            </a:extLst>
          </p:cNvPr>
          <p:cNvCxnSpPr>
            <a:cxnSpLocks/>
          </p:cNvCxnSpPr>
          <p:nvPr userDrawn="1"/>
        </p:nvCxnSpPr>
        <p:spPr>
          <a:xfrm>
            <a:off x="16413162" y="5693228"/>
            <a:ext cx="17282478"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CA42E39E-F558-16B2-B1CE-93D204E3455A}"/>
              </a:ext>
            </a:extLst>
          </p:cNvPr>
          <p:cNvSpPr>
            <a:spLocks noGrp="1"/>
          </p:cNvSpPr>
          <p:nvPr>
            <p:ph type="title" hasCustomPrompt="1"/>
          </p:nvPr>
        </p:nvSpPr>
        <p:spPr>
          <a:xfrm>
            <a:off x="19129248" y="1218776"/>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6" name="Picture Placeholder 5">
            <a:extLst>
              <a:ext uri="{FF2B5EF4-FFF2-40B4-BE49-F238E27FC236}">
                <a16:creationId xmlns:a16="http://schemas.microsoft.com/office/drawing/2014/main" id="{E16075D2-4650-7EB1-4F7E-447F77C06521}"/>
              </a:ext>
            </a:extLst>
          </p:cNvPr>
          <p:cNvSpPr>
            <a:spLocks noGrp="1"/>
          </p:cNvSpPr>
          <p:nvPr>
            <p:ph type="pic" sz="quarter" idx="12"/>
          </p:nvPr>
        </p:nvSpPr>
        <p:spPr>
          <a:xfrm>
            <a:off x="0"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Tree>
    <p:extLst>
      <p:ext uri="{BB962C8B-B14F-4D97-AF65-F5344CB8AC3E}">
        <p14:creationId xmlns:p14="http://schemas.microsoft.com/office/powerpoint/2010/main" val="690247437"/>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Right - Text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8B60F29-EAFD-D95F-11A7-522A796CA55D}"/>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17" name="Picture Placeholder 5">
            <a:extLst>
              <a:ext uri="{FF2B5EF4-FFF2-40B4-BE49-F238E27FC236}">
                <a16:creationId xmlns:a16="http://schemas.microsoft.com/office/drawing/2014/main" id="{EF5E0159-2062-54D4-B444-4F04EED230CD}"/>
              </a:ext>
            </a:extLst>
          </p:cNvPr>
          <p:cNvSpPr>
            <a:spLocks noGrp="1"/>
          </p:cNvSpPr>
          <p:nvPr>
            <p:ph type="pic" sz="quarter" idx="13"/>
          </p:nvPr>
        </p:nvSpPr>
        <p:spPr>
          <a:xfrm>
            <a:off x="20162837"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
        <p:nvSpPr>
          <p:cNvPr id="10" name="Title 1">
            <a:extLst>
              <a:ext uri="{FF2B5EF4-FFF2-40B4-BE49-F238E27FC236}">
                <a16:creationId xmlns:a16="http://schemas.microsoft.com/office/drawing/2014/main" id="{51A7D3A0-47E2-AF7B-E89C-6F90C67A8992}"/>
              </a:ext>
            </a:extLst>
          </p:cNvPr>
          <p:cNvSpPr>
            <a:spLocks noGrp="1"/>
          </p:cNvSpPr>
          <p:nvPr>
            <p:ph type="title" hasCustomPrompt="1"/>
          </p:nvPr>
        </p:nvSpPr>
        <p:spPr>
          <a:xfrm>
            <a:off x="2596896" y="302065"/>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11" name="Content Placeholder 2">
            <a:extLst>
              <a:ext uri="{FF2B5EF4-FFF2-40B4-BE49-F238E27FC236}">
                <a16:creationId xmlns:a16="http://schemas.microsoft.com/office/drawing/2014/main" id="{67F9A406-CE29-3A8D-BC16-6BD86203C8EA}"/>
              </a:ext>
            </a:extLst>
          </p:cNvPr>
          <p:cNvSpPr>
            <a:spLocks noGrp="1"/>
          </p:cNvSpPr>
          <p:nvPr>
            <p:ph idx="1" hasCustomPrompt="1"/>
          </p:nvPr>
        </p:nvSpPr>
        <p:spPr>
          <a:xfrm>
            <a:off x="2596896"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7">
            <a:extLst>
              <a:ext uri="{FF2B5EF4-FFF2-40B4-BE49-F238E27FC236}">
                <a16:creationId xmlns:a16="http://schemas.microsoft.com/office/drawing/2014/main" id="{26CCF06A-1AE0-649C-7FD4-A4AD4CCADDBA}"/>
              </a:ext>
            </a:extLst>
          </p:cNvPr>
          <p:cNvSpPr>
            <a:spLocks noGrp="1"/>
          </p:cNvSpPr>
          <p:nvPr>
            <p:ph type="body" sz="quarter" idx="10" hasCustomPrompt="1"/>
          </p:nvPr>
        </p:nvSpPr>
        <p:spPr>
          <a:xfrm>
            <a:off x="2596896" y="3731768"/>
            <a:ext cx="14639544" cy="1408176"/>
          </a:xfrm>
          <a:prstGeom prst="rect">
            <a:avLst/>
          </a:prstGeom>
        </p:spPr>
        <p:txBody>
          <a:bodyPr/>
          <a:lstStyle>
            <a:lvl1pPr marL="0" indent="0" algn="l">
              <a:spcBef>
                <a:spcPts val="600"/>
              </a:spcBef>
              <a:spcAft>
                <a:spcPts val="600"/>
              </a:spcAft>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edit text styles</a:t>
            </a:r>
          </a:p>
        </p:txBody>
      </p:sp>
      <p:grpSp>
        <p:nvGrpSpPr>
          <p:cNvPr id="8" name="Group 7">
            <a:extLst>
              <a:ext uri="{FF2B5EF4-FFF2-40B4-BE49-F238E27FC236}">
                <a16:creationId xmlns:a16="http://schemas.microsoft.com/office/drawing/2014/main" id="{9028BF97-25AA-1462-7737-C9F688962248}"/>
              </a:ext>
            </a:extLst>
          </p:cNvPr>
          <p:cNvGrpSpPr/>
          <p:nvPr userDrawn="1"/>
        </p:nvGrpSpPr>
        <p:grpSpPr>
          <a:xfrm>
            <a:off x="0" y="19504414"/>
            <a:ext cx="2330569" cy="1082936"/>
            <a:chOff x="0" y="19504414"/>
            <a:chExt cx="2330569" cy="1082936"/>
          </a:xfrm>
        </p:grpSpPr>
        <p:sp>
          <p:nvSpPr>
            <p:cNvPr id="14" name="Rectangle 13">
              <a:extLst>
                <a:ext uri="{FF2B5EF4-FFF2-40B4-BE49-F238E27FC236}">
                  <a16:creationId xmlns:a16="http://schemas.microsoft.com/office/drawing/2014/main" id="{7DE7F96C-8641-759A-C4B4-91D493A323B7}"/>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D2AD3A61-7583-56FE-D581-B662F99B0A3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6" name="Straight Connector 15">
            <a:extLst>
              <a:ext uri="{FF2B5EF4-FFF2-40B4-BE49-F238E27FC236}">
                <a16:creationId xmlns:a16="http://schemas.microsoft.com/office/drawing/2014/main" id="{8B55D1BC-2F32-1320-2F7E-E97C10EFE149}"/>
              </a:ext>
            </a:extLst>
          </p:cNvPr>
          <p:cNvCxnSpPr>
            <a:cxnSpLocks/>
          </p:cNvCxnSpPr>
          <p:nvPr userDrawn="1"/>
        </p:nvCxnSpPr>
        <p:spPr>
          <a:xfrm>
            <a:off x="0" y="5693228"/>
            <a:ext cx="1723644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2758283"/>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DING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23CD4AC-6599-9139-48AD-37DCAEFC9C0F}"/>
              </a:ext>
            </a:extLst>
          </p:cNvPr>
          <p:cNvSpPr/>
          <p:nvPr userDrawn="1"/>
        </p:nvSpPr>
        <p:spPr>
          <a:xfrm>
            <a:off x="32689800" y="18333715"/>
            <a:ext cx="3886200" cy="224028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10" name="Title 1">
            <a:extLst>
              <a:ext uri="{FF2B5EF4-FFF2-40B4-BE49-F238E27FC236}">
                <a16:creationId xmlns:a16="http://schemas.microsoft.com/office/drawing/2014/main" id="{AF8CE70B-4A73-2CDA-4106-8F959E357877}"/>
              </a:ext>
            </a:extLst>
          </p:cNvPr>
          <p:cNvSpPr>
            <a:spLocks noGrp="1"/>
          </p:cNvSpPr>
          <p:nvPr>
            <p:ph type="title" hasCustomPrompt="1"/>
          </p:nvPr>
        </p:nvSpPr>
        <p:spPr>
          <a:xfrm>
            <a:off x="2596896" y="302065"/>
            <a:ext cx="14639544" cy="3365695"/>
          </a:xfrm>
        </p:spPr>
        <p:txBody>
          <a:bodyPr>
            <a:normAutofit/>
          </a:bodyPr>
          <a:lstStyle>
            <a:lvl1pPr algn="l">
              <a:spcBef>
                <a:spcPts val="600"/>
              </a:spcBef>
              <a:spcAft>
                <a:spcPts val="600"/>
              </a:spcAft>
              <a:defRPr sz="72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dirty="0"/>
              <a:t>Click To Add Title</a:t>
            </a:r>
          </a:p>
        </p:txBody>
      </p:sp>
      <p:sp>
        <p:nvSpPr>
          <p:cNvPr id="11" name="Content Placeholder 2">
            <a:extLst>
              <a:ext uri="{FF2B5EF4-FFF2-40B4-BE49-F238E27FC236}">
                <a16:creationId xmlns:a16="http://schemas.microsoft.com/office/drawing/2014/main" id="{65303E50-8A83-54D2-8D06-1904385F2BC8}"/>
              </a:ext>
            </a:extLst>
          </p:cNvPr>
          <p:cNvSpPr>
            <a:spLocks noGrp="1"/>
          </p:cNvSpPr>
          <p:nvPr>
            <p:ph idx="1" hasCustomPrompt="1"/>
          </p:nvPr>
        </p:nvSpPr>
        <p:spPr>
          <a:xfrm>
            <a:off x="2596896"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7">
            <a:extLst>
              <a:ext uri="{FF2B5EF4-FFF2-40B4-BE49-F238E27FC236}">
                <a16:creationId xmlns:a16="http://schemas.microsoft.com/office/drawing/2014/main" id="{21B69A0B-9760-28C1-5DE8-5EE814EF5249}"/>
              </a:ext>
            </a:extLst>
          </p:cNvPr>
          <p:cNvSpPr>
            <a:spLocks noGrp="1"/>
          </p:cNvSpPr>
          <p:nvPr>
            <p:ph type="body" sz="quarter" idx="10" hasCustomPrompt="1"/>
          </p:nvPr>
        </p:nvSpPr>
        <p:spPr>
          <a:xfrm>
            <a:off x="2596896" y="3731768"/>
            <a:ext cx="14639544" cy="1408176"/>
          </a:xfrm>
          <a:prstGeom prst="rect">
            <a:avLst/>
          </a:prstGeom>
        </p:spPr>
        <p:txBody>
          <a:bodyPr/>
          <a:lstStyle>
            <a:lvl1pPr marL="0" indent="0" algn="l">
              <a:spcBef>
                <a:spcPts val="600"/>
              </a:spcBef>
              <a:spcAft>
                <a:spcPts val="600"/>
              </a:spcAft>
              <a:buFontTx/>
              <a:buNone/>
              <a:defRPr sz="48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edit text styles</a:t>
            </a:r>
          </a:p>
        </p:txBody>
      </p:sp>
      <p:sp>
        <p:nvSpPr>
          <p:cNvPr id="14" name="Rectangle 13">
            <a:extLst>
              <a:ext uri="{FF2B5EF4-FFF2-40B4-BE49-F238E27FC236}">
                <a16:creationId xmlns:a16="http://schemas.microsoft.com/office/drawing/2014/main" id="{6265C1B2-04C0-DFB7-6EBD-AB040BF7DEFF}"/>
              </a:ext>
            </a:extLst>
          </p:cNvPr>
          <p:cNvSpPr/>
          <p:nvPr userDrawn="1"/>
        </p:nvSpPr>
        <p:spPr>
          <a:xfrm>
            <a:off x="20162837" y="0"/>
            <a:ext cx="16413163" cy="20573998"/>
          </a:xfrm>
          <a:prstGeom prst="rect">
            <a:avLst/>
          </a:prstGeom>
          <a:solidFill>
            <a:schemeClr val="tx1">
              <a:lumMod val="95000"/>
            </a:schemeClr>
          </a:solidFill>
          <a:ln w="9525">
            <a:noFill/>
          </a:ln>
        </p:spPr>
        <p:txBody>
          <a:bodyPr tIns="2194560" anchor="ctr"/>
          <a:lstStyle/>
          <a:p>
            <a:pPr lvl="0" indent="0" algn="ctr" defTabSz="2743200">
              <a:lnSpc>
                <a:spcPct val="90000"/>
              </a:lnSpc>
              <a:spcBef>
                <a:spcPts val="3000"/>
              </a:spcBef>
              <a:buFontTx/>
              <a:buNone/>
            </a:pPr>
            <a:endParaRPr lang="en-US" sz="4000" dirty="0" err="1">
              <a:solidFill>
                <a:schemeClr val="bg2"/>
              </a:solidFill>
              <a:latin typeface="NVIDIA Sans" panose="020B0503020203020204" pitchFamily="34" charset="0"/>
            </a:endParaRPr>
          </a:p>
        </p:txBody>
      </p:sp>
      <p:grpSp>
        <p:nvGrpSpPr>
          <p:cNvPr id="8" name="Group 7">
            <a:extLst>
              <a:ext uri="{FF2B5EF4-FFF2-40B4-BE49-F238E27FC236}">
                <a16:creationId xmlns:a16="http://schemas.microsoft.com/office/drawing/2014/main" id="{51C472DC-2279-F186-008D-6EC9A40B3DCA}"/>
              </a:ext>
            </a:extLst>
          </p:cNvPr>
          <p:cNvGrpSpPr/>
          <p:nvPr userDrawn="1"/>
        </p:nvGrpSpPr>
        <p:grpSpPr>
          <a:xfrm>
            <a:off x="0" y="19504414"/>
            <a:ext cx="2330569" cy="1082936"/>
            <a:chOff x="0" y="19504414"/>
            <a:chExt cx="2330569" cy="1082936"/>
          </a:xfrm>
        </p:grpSpPr>
        <p:sp>
          <p:nvSpPr>
            <p:cNvPr id="9" name="Rectangle 8">
              <a:extLst>
                <a:ext uri="{FF2B5EF4-FFF2-40B4-BE49-F238E27FC236}">
                  <a16:creationId xmlns:a16="http://schemas.microsoft.com/office/drawing/2014/main" id="{9DF31711-1359-3AFC-3118-FB20395A8CC3}"/>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0C69E3B1-A791-DCBA-5395-FDEBE9D6995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6" name="Straight Connector 15">
            <a:extLst>
              <a:ext uri="{FF2B5EF4-FFF2-40B4-BE49-F238E27FC236}">
                <a16:creationId xmlns:a16="http://schemas.microsoft.com/office/drawing/2014/main" id="{2EDC2502-4915-5E9A-D92C-046E02303113}"/>
              </a:ext>
            </a:extLst>
          </p:cNvPr>
          <p:cNvCxnSpPr>
            <a:cxnSpLocks/>
          </p:cNvCxnSpPr>
          <p:nvPr userDrawn="1"/>
        </p:nvCxnSpPr>
        <p:spPr>
          <a:xfrm>
            <a:off x="0" y="5693228"/>
            <a:ext cx="1723644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1698205"/>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Left NO SUBTITLE - Image R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B94EE8E-8499-E649-9D65-52E13C0DE2CB}"/>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10" name="Title 1">
            <a:extLst>
              <a:ext uri="{FF2B5EF4-FFF2-40B4-BE49-F238E27FC236}">
                <a16:creationId xmlns:a16="http://schemas.microsoft.com/office/drawing/2014/main" id="{D9224051-F6A0-1C68-72F2-09CC08062F0A}"/>
              </a:ext>
            </a:extLst>
          </p:cNvPr>
          <p:cNvSpPr>
            <a:spLocks noGrp="1"/>
          </p:cNvSpPr>
          <p:nvPr>
            <p:ph type="title" hasCustomPrompt="1"/>
          </p:nvPr>
        </p:nvSpPr>
        <p:spPr>
          <a:xfrm>
            <a:off x="2596896" y="1218776"/>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11" name="Content Placeholder 2">
            <a:extLst>
              <a:ext uri="{FF2B5EF4-FFF2-40B4-BE49-F238E27FC236}">
                <a16:creationId xmlns:a16="http://schemas.microsoft.com/office/drawing/2014/main" id="{63684755-C5FC-AC50-65BB-81DB0D4B45CB}"/>
              </a:ext>
            </a:extLst>
          </p:cNvPr>
          <p:cNvSpPr>
            <a:spLocks noGrp="1"/>
          </p:cNvSpPr>
          <p:nvPr>
            <p:ph idx="1" hasCustomPrompt="1"/>
          </p:nvPr>
        </p:nvSpPr>
        <p:spPr>
          <a:xfrm>
            <a:off x="2596896"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7" name="Group 6">
            <a:extLst>
              <a:ext uri="{FF2B5EF4-FFF2-40B4-BE49-F238E27FC236}">
                <a16:creationId xmlns:a16="http://schemas.microsoft.com/office/drawing/2014/main" id="{A3C3B833-0169-9942-0C34-3173DDB88C15}"/>
              </a:ext>
            </a:extLst>
          </p:cNvPr>
          <p:cNvGrpSpPr/>
          <p:nvPr userDrawn="1"/>
        </p:nvGrpSpPr>
        <p:grpSpPr>
          <a:xfrm>
            <a:off x="0" y="19504414"/>
            <a:ext cx="2330569" cy="1082936"/>
            <a:chOff x="0" y="19504414"/>
            <a:chExt cx="2330569" cy="1082936"/>
          </a:xfrm>
        </p:grpSpPr>
        <p:sp>
          <p:nvSpPr>
            <p:cNvPr id="8" name="Rectangle 7">
              <a:extLst>
                <a:ext uri="{FF2B5EF4-FFF2-40B4-BE49-F238E27FC236}">
                  <a16:creationId xmlns:a16="http://schemas.microsoft.com/office/drawing/2014/main" id="{D2A304D4-014C-60EE-E0A3-7A7D03BDE871}"/>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pic>
          <p:nvPicPr>
            <p:cNvPr id="13" name="Picture 12" descr="A picture containing shape&#10;&#10;Description automatically generated">
              <a:extLst>
                <a:ext uri="{FF2B5EF4-FFF2-40B4-BE49-F238E27FC236}">
                  <a16:creationId xmlns:a16="http://schemas.microsoft.com/office/drawing/2014/main" id="{56AC6FBB-55BD-E1DC-D634-E645384BD9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4" name="Straight Connector 13">
            <a:extLst>
              <a:ext uri="{FF2B5EF4-FFF2-40B4-BE49-F238E27FC236}">
                <a16:creationId xmlns:a16="http://schemas.microsoft.com/office/drawing/2014/main" id="{9303C766-949A-7CC3-8AB3-538B5C8F7C60}"/>
              </a:ext>
            </a:extLst>
          </p:cNvPr>
          <p:cNvCxnSpPr>
            <a:cxnSpLocks/>
          </p:cNvCxnSpPr>
          <p:nvPr userDrawn="1"/>
        </p:nvCxnSpPr>
        <p:spPr>
          <a:xfrm>
            <a:off x="0" y="5693228"/>
            <a:ext cx="1723644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
        <p:nvSpPr>
          <p:cNvPr id="15" name="Picture Placeholder 5">
            <a:extLst>
              <a:ext uri="{FF2B5EF4-FFF2-40B4-BE49-F238E27FC236}">
                <a16:creationId xmlns:a16="http://schemas.microsoft.com/office/drawing/2014/main" id="{54F47D23-438F-22E0-F300-A852BA1BDCAE}"/>
              </a:ext>
            </a:extLst>
          </p:cNvPr>
          <p:cNvSpPr>
            <a:spLocks noGrp="1"/>
          </p:cNvSpPr>
          <p:nvPr>
            <p:ph type="pic" sz="quarter" idx="12"/>
          </p:nvPr>
        </p:nvSpPr>
        <p:spPr>
          <a:xfrm>
            <a:off x="20162837"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Tree>
    <p:extLst>
      <p:ext uri="{BB962C8B-B14F-4D97-AF65-F5344CB8AC3E}">
        <p14:creationId xmlns:p14="http://schemas.microsoft.com/office/powerpoint/2010/main" val="3776656608"/>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Left TITLE ONLY - Image Righ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8F6DF6B-AA28-1E18-7D69-34A1E206799E}"/>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11" name="Picture Placeholder 5">
            <a:extLst>
              <a:ext uri="{FF2B5EF4-FFF2-40B4-BE49-F238E27FC236}">
                <a16:creationId xmlns:a16="http://schemas.microsoft.com/office/drawing/2014/main" id="{DF8B1F53-1589-33D7-3C32-077E788C6245}"/>
              </a:ext>
            </a:extLst>
          </p:cNvPr>
          <p:cNvSpPr>
            <a:spLocks noGrp="1"/>
          </p:cNvSpPr>
          <p:nvPr>
            <p:ph type="pic" sz="quarter" idx="13"/>
          </p:nvPr>
        </p:nvSpPr>
        <p:spPr>
          <a:xfrm>
            <a:off x="16422623" y="0"/>
            <a:ext cx="20153377"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
        <p:nvSpPr>
          <p:cNvPr id="9" name="Title 1">
            <a:extLst>
              <a:ext uri="{FF2B5EF4-FFF2-40B4-BE49-F238E27FC236}">
                <a16:creationId xmlns:a16="http://schemas.microsoft.com/office/drawing/2014/main" id="{10F4C1EF-D7E4-3702-6092-EFE862FFBFEA}"/>
              </a:ext>
            </a:extLst>
          </p:cNvPr>
          <p:cNvSpPr>
            <a:spLocks noGrp="1"/>
          </p:cNvSpPr>
          <p:nvPr>
            <p:ph type="title" hasCustomPrompt="1"/>
          </p:nvPr>
        </p:nvSpPr>
        <p:spPr>
          <a:xfrm>
            <a:off x="2596896" y="8604153"/>
            <a:ext cx="12179806" cy="3365695"/>
          </a:xfrm>
        </p:spPr>
        <p:txBody>
          <a:bodyPr anchor="ct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dirty="0"/>
              <a:t>Click To Add Title</a:t>
            </a:r>
          </a:p>
        </p:txBody>
      </p:sp>
      <p:grpSp>
        <p:nvGrpSpPr>
          <p:cNvPr id="6" name="Group 5">
            <a:extLst>
              <a:ext uri="{FF2B5EF4-FFF2-40B4-BE49-F238E27FC236}">
                <a16:creationId xmlns:a16="http://schemas.microsoft.com/office/drawing/2014/main" id="{5E137DE7-1D7A-32A3-A88D-722BA52766C9}"/>
              </a:ext>
            </a:extLst>
          </p:cNvPr>
          <p:cNvGrpSpPr/>
          <p:nvPr userDrawn="1"/>
        </p:nvGrpSpPr>
        <p:grpSpPr>
          <a:xfrm>
            <a:off x="0" y="19504414"/>
            <a:ext cx="2330569" cy="1082936"/>
            <a:chOff x="0" y="19504414"/>
            <a:chExt cx="2330569" cy="1082936"/>
          </a:xfrm>
        </p:grpSpPr>
        <p:sp>
          <p:nvSpPr>
            <p:cNvPr id="7" name="Rectangle 6">
              <a:extLst>
                <a:ext uri="{FF2B5EF4-FFF2-40B4-BE49-F238E27FC236}">
                  <a16:creationId xmlns:a16="http://schemas.microsoft.com/office/drawing/2014/main" id="{9907B295-1243-2BBD-AC77-7002AC68B56D}"/>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pic>
          <p:nvPicPr>
            <p:cNvPr id="10" name="Picture 9" descr="A picture containing shape&#10;&#10;Description automatically generated">
              <a:extLst>
                <a:ext uri="{FF2B5EF4-FFF2-40B4-BE49-F238E27FC236}">
                  <a16:creationId xmlns:a16="http://schemas.microsoft.com/office/drawing/2014/main" id="{9F124724-C9CF-DF8A-9FE0-CE1C65F9B0D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spTree>
    <p:extLst>
      <p:ext uri="{BB962C8B-B14F-4D97-AF65-F5344CB8AC3E}">
        <p14:creationId xmlns:p14="http://schemas.microsoft.com/office/powerpoint/2010/main" val="3272325723"/>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Left NO BULLETS - Image Right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C5DADC-C505-F594-3ED9-E07FA6C3859F}"/>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11" name="Title 1">
            <a:extLst>
              <a:ext uri="{FF2B5EF4-FFF2-40B4-BE49-F238E27FC236}">
                <a16:creationId xmlns:a16="http://schemas.microsoft.com/office/drawing/2014/main" id="{A21B97FD-6C93-BC60-D63A-B88F2C3C2374}"/>
              </a:ext>
            </a:extLst>
          </p:cNvPr>
          <p:cNvSpPr>
            <a:spLocks noGrp="1"/>
          </p:cNvSpPr>
          <p:nvPr>
            <p:ph type="title" hasCustomPrompt="1"/>
          </p:nvPr>
        </p:nvSpPr>
        <p:spPr>
          <a:xfrm>
            <a:off x="2596896" y="6829593"/>
            <a:ext cx="12143232" cy="3365695"/>
          </a:xfrm>
        </p:spPr>
        <p:txBody>
          <a:bodyPr anchor="b">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12" name="Text Placeholder 7">
            <a:extLst>
              <a:ext uri="{FF2B5EF4-FFF2-40B4-BE49-F238E27FC236}">
                <a16:creationId xmlns:a16="http://schemas.microsoft.com/office/drawing/2014/main" id="{9BB0DECC-5F4B-7918-876B-2BF2EA6527D5}"/>
              </a:ext>
            </a:extLst>
          </p:cNvPr>
          <p:cNvSpPr>
            <a:spLocks noGrp="1"/>
          </p:cNvSpPr>
          <p:nvPr>
            <p:ph type="body" sz="quarter" idx="10" hasCustomPrompt="1"/>
          </p:nvPr>
        </p:nvSpPr>
        <p:spPr>
          <a:xfrm>
            <a:off x="2596896" y="10283120"/>
            <a:ext cx="12143232" cy="1408176"/>
          </a:xfrm>
          <a:prstGeom prst="rect">
            <a:avLst/>
          </a:prstGeom>
        </p:spPr>
        <p:txBody>
          <a:bodyPr/>
          <a:lstStyle>
            <a:lvl1pPr marL="0" indent="0" algn="l">
              <a:spcBef>
                <a:spcPts val="600"/>
              </a:spcBef>
              <a:spcAft>
                <a:spcPts val="600"/>
              </a:spcAft>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edit text styles</a:t>
            </a:r>
          </a:p>
        </p:txBody>
      </p:sp>
      <p:grpSp>
        <p:nvGrpSpPr>
          <p:cNvPr id="2" name="Group 1">
            <a:extLst>
              <a:ext uri="{FF2B5EF4-FFF2-40B4-BE49-F238E27FC236}">
                <a16:creationId xmlns:a16="http://schemas.microsoft.com/office/drawing/2014/main" id="{34FD8965-93AC-C44D-A13A-AA1A59E48E89}"/>
              </a:ext>
            </a:extLst>
          </p:cNvPr>
          <p:cNvGrpSpPr/>
          <p:nvPr userDrawn="1"/>
        </p:nvGrpSpPr>
        <p:grpSpPr>
          <a:xfrm>
            <a:off x="0" y="19504414"/>
            <a:ext cx="2330569" cy="1082936"/>
            <a:chOff x="0" y="19504414"/>
            <a:chExt cx="2330569" cy="1082936"/>
          </a:xfrm>
        </p:grpSpPr>
        <p:sp>
          <p:nvSpPr>
            <p:cNvPr id="8" name="Rectangle 7">
              <a:extLst>
                <a:ext uri="{FF2B5EF4-FFF2-40B4-BE49-F238E27FC236}">
                  <a16:creationId xmlns:a16="http://schemas.microsoft.com/office/drawing/2014/main" id="{8376025B-4D61-0E71-7F02-BE092B8B6E56}"/>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3868D588-6D8B-CDEB-A2E0-D376E5C6CE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sp>
        <p:nvSpPr>
          <p:cNvPr id="16" name="Picture Placeholder 5">
            <a:extLst>
              <a:ext uri="{FF2B5EF4-FFF2-40B4-BE49-F238E27FC236}">
                <a16:creationId xmlns:a16="http://schemas.microsoft.com/office/drawing/2014/main" id="{822DB8DA-38BC-95A4-39B5-5464378B460A}"/>
              </a:ext>
            </a:extLst>
          </p:cNvPr>
          <p:cNvSpPr>
            <a:spLocks noGrp="1"/>
          </p:cNvSpPr>
          <p:nvPr>
            <p:ph type="pic" sz="quarter" idx="13"/>
          </p:nvPr>
        </p:nvSpPr>
        <p:spPr>
          <a:xfrm>
            <a:off x="16422623" y="0"/>
            <a:ext cx="20153377"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Tree>
    <p:extLst>
      <p:ext uri="{BB962C8B-B14F-4D97-AF65-F5344CB8AC3E}">
        <p14:creationId xmlns:p14="http://schemas.microsoft.com/office/powerpoint/2010/main" val="3397368572"/>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Layout">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6FA34CC3-F5EE-3A8A-AA13-FC23B233BCFE}"/>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20" name="Text Placeholder 7">
            <a:extLst>
              <a:ext uri="{FF2B5EF4-FFF2-40B4-BE49-F238E27FC236}">
                <a16:creationId xmlns:a16="http://schemas.microsoft.com/office/drawing/2014/main" id="{1A682B68-3659-B898-36D3-E447501FB6EE}"/>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21" name="Picture Placeholder 2">
            <a:extLst>
              <a:ext uri="{FF2B5EF4-FFF2-40B4-BE49-F238E27FC236}">
                <a16:creationId xmlns:a16="http://schemas.microsoft.com/office/drawing/2014/main" id="{359F3285-DAE4-EEAA-1022-7AE1DD168FD5}"/>
              </a:ext>
            </a:extLst>
          </p:cNvPr>
          <p:cNvSpPr>
            <a:spLocks noGrp="1"/>
          </p:cNvSpPr>
          <p:nvPr>
            <p:ph type="pic" sz="quarter" idx="41"/>
          </p:nvPr>
        </p:nvSpPr>
        <p:spPr>
          <a:xfrm>
            <a:off x="6062650" y="4849813"/>
            <a:ext cx="24450701"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endParaRPr lang="en-US" dirty="0"/>
          </a:p>
        </p:txBody>
      </p:sp>
      <p:sp>
        <p:nvSpPr>
          <p:cNvPr id="22" name="Text Placeholder 7">
            <a:extLst>
              <a:ext uri="{FF2B5EF4-FFF2-40B4-BE49-F238E27FC236}">
                <a16:creationId xmlns:a16="http://schemas.microsoft.com/office/drawing/2014/main" id="{3ACFA6DD-1412-CA3C-15F4-ED8AD6B2B859}"/>
              </a:ext>
            </a:extLst>
          </p:cNvPr>
          <p:cNvSpPr>
            <a:spLocks noGrp="1"/>
          </p:cNvSpPr>
          <p:nvPr>
            <p:ph type="body" sz="quarter" idx="71" hasCustomPrompt="1"/>
          </p:nvPr>
        </p:nvSpPr>
        <p:spPr>
          <a:xfrm>
            <a:off x="6062650" y="17063961"/>
            <a:ext cx="2445070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23" name="Text Placeholder 7">
            <a:extLst>
              <a:ext uri="{FF2B5EF4-FFF2-40B4-BE49-F238E27FC236}">
                <a16:creationId xmlns:a16="http://schemas.microsoft.com/office/drawing/2014/main" id="{A36BBB72-064F-A97E-FE2D-2916C4D3DAF2}"/>
              </a:ext>
            </a:extLst>
          </p:cNvPr>
          <p:cNvSpPr>
            <a:spLocks noGrp="1"/>
          </p:cNvSpPr>
          <p:nvPr>
            <p:ph type="body" sz="quarter" idx="72" hasCustomPrompt="1"/>
          </p:nvPr>
        </p:nvSpPr>
        <p:spPr>
          <a:xfrm>
            <a:off x="6062650" y="17751568"/>
            <a:ext cx="2445070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3930681091"/>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w/ Text">
    <p:spTree>
      <p:nvGrpSpPr>
        <p:cNvPr id="1" name=""/>
        <p:cNvGrpSpPr/>
        <p:nvPr/>
      </p:nvGrpSpPr>
      <p:grpSpPr>
        <a:xfrm>
          <a:off x="0" y="0"/>
          <a:ext cx="0" cy="0"/>
          <a:chOff x="0" y="0"/>
          <a:chExt cx="0" cy="0"/>
        </a:xfrm>
      </p:grpSpPr>
      <p:sp>
        <p:nvSpPr>
          <p:cNvPr id="19" name="Content Placeholder 2">
            <a:extLst>
              <a:ext uri="{FF2B5EF4-FFF2-40B4-BE49-F238E27FC236}">
                <a16:creationId xmlns:a16="http://schemas.microsoft.com/office/drawing/2014/main" id="{9904B512-77C9-3A9F-0589-67D0C765FDC0}"/>
              </a:ext>
            </a:extLst>
          </p:cNvPr>
          <p:cNvSpPr>
            <a:spLocks noGrp="1"/>
          </p:cNvSpPr>
          <p:nvPr>
            <p:ph idx="31" hasCustomPrompt="1"/>
          </p:nvPr>
        </p:nvSpPr>
        <p:spPr>
          <a:xfrm>
            <a:off x="19354800" y="6919968"/>
            <a:ext cx="15583596" cy="7879524"/>
          </a:xfrm>
          <a:prstGeom prst="rect">
            <a:avLst/>
          </a:prstGeom>
        </p:spPr>
        <p:txBody>
          <a:bodyPr anchor="ct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Picture Placeholder 2">
            <a:extLst>
              <a:ext uri="{FF2B5EF4-FFF2-40B4-BE49-F238E27FC236}">
                <a16:creationId xmlns:a16="http://schemas.microsoft.com/office/drawing/2014/main" id="{FC8AA277-6DD1-2CCF-12CD-C2AD75B0A14F}"/>
              </a:ext>
            </a:extLst>
          </p:cNvPr>
          <p:cNvSpPr>
            <a:spLocks noGrp="1"/>
          </p:cNvSpPr>
          <p:nvPr>
            <p:ph type="pic" sz="quarter" idx="11"/>
          </p:nvPr>
        </p:nvSpPr>
        <p:spPr>
          <a:xfrm>
            <a:off x="1637604" y="4849813"/>
            <a:ext cx="16345595"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endParaRPr lang="en-US" dirty="0"/>
          </a:p>
        </p:txBody>
      </p:sp>
      <p:sp>
        <p:nvSpPr>
          <p:cNvPr id="21" name="Text Placeholder 7">
            <a:extLst>
              <a:ext uri="{FF2B5EF4-FFF2-40B4-BE49-F238E27FC236}">
                <a16:creationId xmlns:a16="http://schemas.microsoft.com/office/drawing/2014/main" id="{4DD79B1E-BCCA-42A9-FF20-7B376772A569}"/>
              </a:ext>
            </a:extLst>
          </p:cNvPr>
          <p:cNvSpPr>
            <a:spLocks noGrp="1"/>
          </p:cNvSpPr>
          <p:nvPr>
            <p:ph type="body" sz="quarter" idx="71" hasCustomPrompt="1"/>
          </p:nvPr>
        </p:nvSpPr>
        <p:spPr>
          <a:xfrm>
            <a:off x="1637604" y="17063961"/>
            <a:ext cx="16345595"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22" name="Text Placeholder 7">
            <a:extLst>
              <a:ext uri="{FF2B5EF4-FFF2-40B4-BE49-F238E27FC236}">
                <a16:creationId xmlns:a16="http://schemas.microsoft.com/office/drawing/2014/main" id="{38FAA03E-2924-5648-AA06-0B8C894A49DD}"/>
              </a:ext>
            </a:extLst>
          </p:cNvPr>
          <p:cNvSpPr>
            <a:spLocks noGrp="1"/>
          </p:cNvSpPr>
          <p:nvPr>
            <p:ph type="body" sz="quarter" idx="72" hasCustomPrompt="1"/>
          </p:nvPr>
        </p:nvSpPr>
        <p:spPr>
          <a:xfrm>
            <a:off x="1637604" y="17751568"/>
            <a:ext cx="16345595"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23" name="Title 1">
            <a:extLst>
              <a:ext uri="{FF2B5EF4-FFF2-40B4-BE49-F238E27FC236}">
                <a16:creationId xmlns:a16="http://schemas.microsoft.com/office/drawing/2014/main" id="{A4A33F69-6DBC-F1DB-EAD6-D5B9002DFD19}"/>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30" name="Text Placeholder 7">
            <a:extLst>
              <a:ext uri="{FF2B5EF4-FFF2-40B4-BE49-F238E27FC236}">
                <a16:creationId xmlns:a16="http://schemas.microsoft.com/office/drawing/2014/main" id="{0430B97A-31FA-023E-3290-2B9B63D00591}"/>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4282953340"/>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up Image">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9BBA88D4-0997-C5B9-36CF-9B1633F8B55A}"/>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18" name="Text Placeholder 7">
            <a:extLst>
              <a:ext uri="{FF2B5EF4-FFF2-40B4-BE49-F238E27FC236}">
                <a16:creationId xmlns:a16="http://schemas.microsoft.com/office/drawing/2014/main" id="{CE739272-8253-AD42-BD05-8F666D49821D}"/>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20" name="Picture Placeholder 2">
            <a:extLst>
              <a:ext uri="{FF2B5EF4-FFF2-40B4-BE49-F238E27FC236}">
                <a16:creationId xmlns:a16="http://schemas.microsoft.com/office/drawing/2014/main" id="{278AB0E9-F286-1C40-1AD6-B85103B0AF6E}"/>
              </a:ext>
            </a:extLst>
          </p:cNvPr>
          <p:cNvSpPr>
            <a:spLocks noGrp="1"/>
          </p:cNvSpPr>
          <p:nvPr>
            <p:ph type="pic" sz="quarter" idx="11"/>
          </p:nvPr>
        </p:nvSpPr>
        <p:spPr>
          <a:xfrm>
            <a:off x="1637604" y="4849813"/>
            <a:ext cx="16345595"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endParaRPr lang="en-US" dirty="0"/>
          </a:p>
        </p:txBody>
      </p:sp>
      <p:sp>
        <p:nvSpPr>
          <p:cNvPr id="21" name="Picture Placeholder 2">
            <a:extLst>
              <a:ext uri="{FF2B5EF4-FFF2-40B4-BE49-F238E27FC236}">
                <a16:creationId xmlns:a16="http://schemas.microsoft.com/office/drawing/2014/main" id="{1FC3074C-54D1-DCE0-426E-97BA7CD58B85}"/>
              </a:ext>
            </a:extLst>
          </p:cNvPr>
          <p:cNvSpPr>
            <a:spLocks noGrp="1"/>
          </p:cNvSpPr>
          <p:nvPr>
            <p:ph type="pic" sz="quarter" idx="31"/>
          </p:nvPr>
        </p:nvSpPr>
        <p:spPr>
          <a:xfrm>
            <a:off x="18592799" y="4849813"/>
            <a:ext cx="16345595"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endParaRPr lang="en-US" dirty="0"/>
          </a:p>
        </p:txBody>
      </p:sp>
      <p:sp>
        <p:nvSpPr>
          <p:cNvPr id="22" name="Text Placeholder 7">
            <a:extLst>
              <a:ext uri="{FF2B5EF4-FFF2-40B4-BE49-F238E27FC236}">
                <a16:creationId xmlns:a16="http://schemas.microsoft.com/office/drawing/2014/main" id="{F25477F0-8392-CEDA-19F2-0A29016EECC0}"/>
              </a:ext>
            </a:extLst>
          </p:cNvPr>
          <p:cNvSpPr>
            <a:spLocks noGrp="1"/>
          </p:cNvSpPr>
          <p:nvPr>
            <p:ph type="body" sz="quarter" idx="71" hasCustomPrompt="1"/>
          </p:nvPr>
        </p:nvSpPr>
        <p:spPr>
          <a:xfrm>
            <a:off x="1637604" y="17063961"/>
            <a:ext cx="16345595"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23" name="Text Placeholder 7">
            <a:extLst>
              <a:ext uri="{FF2B5EF4-FFF2-40B4-BE49-F238E27FC236}">
                <a16:creationId xmlns:a16="http://schemas.microsoft.com/office/drawing/2014/main" id="{DA2AF85A-9EEE-C062-1006-74D7741E330F}"/>
              </a:ext>
            </a:extLst>
          </p:cNvPr>
          <p:cNvSpPr>
            <a:spLocks noGrp="1"/>
          </p:cNvSpPr>
          <p:nvPr>
            <p:ph type="body" sz="quarter" idx="72" hasCustomPrompt="1"/>
          </p:nvPr>
        </p:nvSpPr>
        <p:spPr>
          <a:xfrm>
            <a:off x="1637604" y="17751568"/>
            <a:ext cx="16345595"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24" name="Text Placeholder 7">
            <a:extLst>
              <a:ext uri="{FF2B5EF4-FFF2-40B4-BE49-F238E27FC236}">
                <a16:creationId xmlns:a16="http://schemas.microsoft.com/office/drawing/2014/main" id="{39E96633-6475-1F2C-E726-28BE8668FBC5}"/>
              </a:ext>
            </a:extLst>
          </p:cNvPr>
          <p:cNvSpPr>
            <a:spLocks noGrp="1"/>
          </p:cNvSpPr>
          <p:nvPr>
            <p:ph type="body" sz="quarter" idx="73" hasCustomPrompt="1"/>
          </p:nvPr>
        </p:nvSpPr>
        <p:spPr>
          <a:xfrm>
            <a:off x="18592805" y="17063961"/>
            <a:ext cx="16346278"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28" name="Text Placeholder 7">
            <a:extLst>
              <a:ext uri="{FF2B5EF4-FFF2-40B4-BE49-F238E27FC236}">
                <a16:creationId xmlns:a16="http://schemas.microsoft.com/office/drawing/2014/main" id="{F2428D4D-F13F-B280-6137-8C32CD9EEF0B}"/>
              </a:ext>
            </a:extLst>
          </p:cNvPr>
          <p:cNvSpPr>
            <a:spLocks noGrp="1"/>
          </p:cNvSpPr>
          <p:nvPr>
            <p:ph type="body" sz="quarter" idx="74" hasCustomPrompt="1"/>
          </p:nvPr>
        </p:nvSpPr>
        <p:spPr>
          <a:xfrm>
            <a:off x="18592805" y="17751568"/>
            <a:ext cx="16346278"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1985611420"/>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up Image Layout with Bullets">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C16114AB-138A-4EAC-3492-E7D7CA151DB9}"/>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20" name="Text Placeholder 7">
            <a:extLst>
              <a:ext uri="{FF2B5EF4-FFF2-40B4-BE49-F238E27FC236}">
                <a16:creationId xmlns:a16="http://schemas.microsoft.com/office/drawing/2014/main" id="{4B79CE2D-84D0-541E-C116-5E768BBF94D4}"/>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21" name="Picture Placeholder 2">
            <a:extLst>
              <a:ext uri="{FF2B5EF4-FFF2-40B4-BE49-F238E27FC236}">
                <a16:creationId xmlns:a16="http://schemas.microsoft.com/office/drawing/2014/main" id="{3431A644-F8BA-5000-F78A-9BB8A4809E2A}"/>
              </a:ext>
            </a:extLst>
          </p:cNvPr>
          <p:cNvSpPr>
            <a:spLocks noGrp="1"/>
          </p:cNvSpPr>
          <p:nvPr>
            <p:ph type="pic" sz="quarter" idx="11"/>
          </p:nvPr>
        </p:nvSpPr>
        <p:spPr>
          <a:xfrm>
            <a:off x="1637604" y="4849813"/>
            <a:ext cx="8832277"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endParaRPr lang="en-US" dirty="0"/>
          </a:p>
        </p:txBody>
      </p:sp>
      <p:sp>
        <p:nvSpPr>
          <p:cNvPr id="22" name="Content Placeholder 2">
            <a:extLst>
              <a:ext uri="{FF2B5EF4-FFF2-40B4-BE49-F238E27FC236}">
                <a16:creationId xmlns:a16="http://schemas.microsoft.com/office/drawing/2014/main" id="{B46989B9-88FE-F861-A0B6-8F80720B5C7E}"/>
              </a:ext>
            </a:extLst>
          </p:cNvPr>
          <p:cNvSpPr>
            <a:spLocks noGrp="1"/>
          </p:cNvSpPr>
          <p:nvPr>
            <p:ph idx="31" hasCustomPrompt="1"/>
          </p:nvPr>
        </p:nvSpPr>
        <p:spPr>
          <a:xfrm>
            <a:off x="11058350" y="6919968"/>
            <a:ext cx="6924849" cy="7879524"/>
          </a:xfrm>
          <a:prstGeom prst="rect">
            <a:avLst/>
          </a:prstGeom>
        </p:spPr>
        <p:txBody>
          <a:bodyPr anchor="ct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2">
            <a:extLst>
              <a:ext uri="{FF2B5EF4-FFF2-40B4-BE49-F238E27FC236}">
                <a16:creationId xmlns:a16="http://schemas.microsoft.com/office/drawing/2014/main" id="{973B8B69-1B16-2A38-932F-E517F5C05291}"/>
              </a:ext>
            </a:extLst>
          </p:cNvPr>
          <p:cNvSpPr>
            <a:spLocks noGrp="1"/>
          </p:cNvSpPr>
          <p:nvPr>
            <p:ph type="pic" sz="quarter" idx="32"/>
          </p:nvPr>
        </p:nvSpPr>
        <p:spPr>
          <a:xfrm>
            <a:off x="18592805" y="4849813"/>
            <a:ext cx="8832277"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endParaRPr lang="en-US" dirty="0"/>
          </a:p>
        </p:txBody>
      </p:sp>
      <p:sp>
        <p:nvSpPr>
          <p:cNvPr id="25" name="Content Placeholder 2">
            <a:extLst>
              <a:ext uri="{FF2B5EF4-FFF2-40B4-BE49-F238E27FC236}">
                <a16:creationId xmlns:a16="http://schemas.microsoft.com/office/drawing/2014/main" id="{660E8F47-2868-457B-7861-466422E34231}"/>
              </a:ext>
            </a:extLst>
          </p:cNvPr>
          <p:cNvSpPr>
            <a:spLocks noGrp="1"/>
          </p:cNvSpPr>
          <p:nvPr>
            <p:ph idx="35" hasCustomPrompt="1"/>
          </p:nvPr>
        </p:nvSpPr>
        <p:spPr>
          <a:xfrm>
            <a:off x="28013551" y="6919968"/>
            <a:ext cx="6924849" cy="7879524"/>
          </a:xfrm>
          <a:prstGeom prst="rect">
            <a:avLst/>
          </a:prstGeom>
        </p:spPr>
        <p:txBody>
          <a:bodyPr anchor="ct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6" name="Text Placeholder 7">
            <a:extLst>
              <a:ext uri="{FF2B5EF4-FFF2-40B4-BE49-F238E27FC236}">
                <a16:creationId xmlns:a16="http://schemas.microsoft.com/office/drawing/2014/main" id="{3B5FB899-4F67-DA8C-A516-B71387137DB8}"/>
              </a:ext>
            </a:extLst>
          </p:cNvPr>
          <p:cNvSpPr>
            <a:spLocks noGrp="1"/>
          </p:cNvSpPr>
          <p:nvPr>
            <p:ph type="body" sz="quarter" idx="71" hasCustomPrompt="1"/>
          </p:nvPr>
        </p:nvSpPr>
        <p:spPr>
          <a:xfrm>
            <a:off x="1637604" y="17063961"/>
            <a:ext cx="8832277"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27" name="Text Placeholder 7">
            <a:extLst>
              <a:ext uri="{FF2B5EF4-FFF2-40B4-BE49-F238E27FC236}">
                <a16:creationId xmlns:a16="http://schemas.microsoft.com/office/drawing/2014/main" id="{B1A5AAD0-2B0D-F6DE-8C5D-5C0625FD55A7}"/>
              </a:ext>
            </a:extLst>
          </p:cNvPr>
          <p:cNvSpPr>
            <a:spLocks noGrp="1"/>
          </p:cNvSpPr>
          <p:nvPr>
            <p:ph type="body" sz="quarter" idx="72" hasCustomPrompt="1"/>
          </p:nvPr>
        </p:nvSpPr>
        <p:spPr>
          <a:xfrm>
            <a:off x="1637604" y="17751568"/>
            <a:ext cx="8832277"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28" name="Text Placeholder 7">
            <a:extLst>
              <a:ext uri="{FF2B5EF4-FFF2-40B4-BE49-F238E27FC236}">
                <a16:creationId xmlns:a16="http://schemas.microsoft.com/office/drawing/2014/main" id="{DBD83B1D-F849-2310-DE25-451C7BD75C53}"/>
              </a:ext>
            </a:extLst>
          </p:cNvPr>
          <p:cNvSpPr>
            <a:spLocks noGrp="1"/>
          </p:cNvSpPr>
          <p:nvPr>
            <p:ph type="body" sz="quarter" idx="73" hasCustomPrompt="1"/>
          </p:nvPr>
        </p:nvSpPr>
        <p:spPr>
          <a:xfrm>
            <a:off x="18592805" y="17063961"/>
            <a:ext cx="8832646"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2" name="Text Placeholder 7">
            <a:extLst>
              <a:ext uri="{FF2B5EF4-FFF2-40B4-BE49-F238E27FC236}">
                <a16:creationId xmlns:a16="http://schemas.microsoft.com/office/drawing/2014/main" id="{E0292527-B9F3-D59F-1575-33C8C564E870}"/>
              </a:ext>
            </a:extLst>
          </p:cNvPr>
          <p:cNvSpPr>
            <a:spLocks noGrp="1"/>
          </p:cNvSpPr>
          <p:nvPr>
            <p:ph type="body" sz="quarter" idx="74" hasCustomPrompt="1"/>
          </p:nvPr>
        </p:nvSpPr>
        <p:spPr>
          <a:xfrm>
            <a:off x="18592805" y="17751568"/>
            <a:ext cx="8832646"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2801177057"/>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up Image">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06EC4D90-EA3E-9A18-FEA5-3EEF50715391}"/>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28" name="Text Placeholder 7">
            <a:extLst>
              <a:ext uri="{FF2B5EF4-FFF2-40B4-BE49-F238E27FC236}">
                <a16:creationId xmlns:a16="http://schemas.microsoft.com/office/drawing/2014/main" id="{3BFC61ED-E368-EADF-A0C1-3AE9904C78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30" name="Picture Placeholder 2">
            <a:extLst>
              <a:ext uri="{FF2B5EF4-FFF2-40B4-BE49-F238E27FC236}">
                <a16:creationId xmlns:a16="http://schemas.microsoft.com/office/drawing/2014/main" id="{5FE98CD1-AB1E-1E7B-2FF4-F7E242CBAB87}"/>
              </a:ext>
            </a:extLst>
          </p:cNvPr>
          <p:cNvSpPr>
            <a:spLocks noGrp="1"/>
          </p:cNvSpPr>
          <p:nvPr>
            <p:ph type="pic" sz="quarter" idx="24"/>
          </p:nvPr>
        </p:nvSpPr>
        <p:spPr>
          <a:xfrm>
            <a:off x="24148473" y="4849813"/>
            <a:ext cx="10789920" cy="12019835"/>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32" name="Picture Placeholder 2">
            <a:extLst>
              <a:ext uri="{FF2B5EF4-FFF2-40B4-BE49-F238E27FC236}">
                <a16:creationId xmlns:a16="http://schemas.microsoft.com/office/drawing/2014/main" id="{CCCE8B13-298C-67A4-073D-4636A3BCE7A9}"/>
              </a:ext>
            </a:extLst>
          </p:cNvPr>
          <p:cNvSpPr>
            <a:spLocks noGrp="1"/>
          </p:cNvSpPr>
          <p:nvPr>
            <p:ph type="pic" sz="quarter" idx="20"/>
          </p:nvPr>
        </p:nvSpPr>
        <p:spPr>
          <a:xfrm>
            <a:off x="12893038" y="4849813"/>
            <a:ext cx="10789920" cy="12019835"/>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33" name="Picture Placeholder 2">
            <a:extLst>
              <a:ext uri="{FF2B5EF4-FFF2-40B4-BE49-F238E27FC236}">
                <a16:creationId xmlns:a16="http://schemas.microsoft.com/office/drawing/2014/main" id="{F9FA27DB-2E4D-388B-2F4A-FE708B1D264C}"/>
              </a:ext>
            </a:extLst>
          </p:cNvPr>
          <p:cNvSpPr>
            <a:spLocks noGrp="1"/>
          </p:cNvSpPr>
          <p:nvPr>
            <p:ph type="pic" sz="quarter" idx="25"/>
          </p:nvPr>
        </p:nvSpPr>
        <p:spPr>
          <a:xfrm>
            <a:off x="1637604" y="4849813"/>
            <a:ext cx="10789920" cy="12019835"/>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34" name="Text Placeholder 7">
            <a:extLst>
              <a:ext uri="{FF2B5EF4-FFF2-40B4-BE49-F238E27FC236}">
                <a16:creationId xmlns:a16="http://schemas.microsoft.com/office/drawing/2014/main" id="{C5E18C58-3C84-ECE1-A164-6A5FF953635E}"/>
              </a:ext>
            </a:extLst>
          </p:cNvPr>
          <p:cNvSpPr>
            <a:spLocks noGrp="1"/>
          </p:cNvSpPr>
          <p:nvPr>
            <p:ph type="body" sz="quarter" idx="67" hasCustomPrompt="1"/>
          </p:nvPr>
        </p:nvSpPr>
        <p:spPr>
          <a:xfrm>
            <a:off x="1653110" y="17063961"/>
            <a:ext cx="1078992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5" name="Text Placeholder 7">
            <a:extLst>
              <a:ext uri="{FF2B5EF4-FFF2-40B4-BE49-F238E27FC236}">
                <a16:creationId xmlns:a16="http://schemas.microsoft.com/office/drawing/2014/main" id="{6D55A3EC-8AF3-3222-5E82-1A74FA5AB0D5}"/>
              </a:ext>
            </a:extLst>
          </p:cNvPr>
          <p:cNvSpPr>
            <a:spLocks noGrp="1"/>
          </p:cNvSpPr>
          <p:nvPr>
            <p:ph type="body" sz="quarter" idx="69" hasCustomPrompt="1"/>
          </p:nvPr>
        </p:nvSpPr>
        <p:spPr>
          <a:xfrm>
            <a:off x="1653110" y="17751568"/>
            <a:ext cx="1078992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36" name="Text Placeholder 7">
            <a:extLst>
              <a:ext uri="{FF2B5EF4-FFF2-40B4-BE49-F238E27FC236}">
                <a16:creationId xmlns:a16="http://schemas.microsoft.com/office/drawing/2014/main" id="{5F9A555E-B5A7-F2B9-6D6D-E24CAD68B927}"/>
              </a:ext>
            </a:extLst>
          </p:cNvPr>
          <p:cNvSpPr>
            <a:spLocks noGrp="1"/>
          </p:cNvSpPr>
          <p:nvPr>
            <p:ph type="body" sz="quarter" idx="71" hasCustomPrompt="1"/>
          </p:nvPr>
        </p:nvSpPr>
        <p:spPr>
          <a:xfrm>
            <a:off x="12893040" y="17063961"/>
            <a:ext cx="1078992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7" name="Text Placeholder 7">
            <a:extLst>
              <a:ext uri="{FF2B5EF4-FFF2-40B4-BE49-F238E27FC236}">
                <a16:creationId xmlns:a16="http://schemas.microsoft.com/office/drawing/2014/main" id="{EFC4CC4C-42B6-5D87-37D6-FE779B1ABFEB}"/>
              </a:ext>
            </a:extLst>
          </p:cNvPr>
          <p:cNvSpPr>
            <a:spLocks noGrp="1"/>
          </p:cNvSpPr>
          <p:nvPr>
            <p:ph type="body" sz="quarter" idx="72" hasCustomPrompt="1"/>
          </p:nvPr>
        </p:nvSpPr>
        <p:spPr>
          <a:xfrm>
            <a:off x="12893040" y="17751568"/>
            <a:ext cx="1078992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38" name="Text Placeholder 7">
            <a:extLst>
              <a:ext uri="{FF2B5EF4-FFF2-40B4-BE49-F238E27FC236}">
                <a16:creationId xmlns:a16="http://schemas.microsoft.com/office/drawing/2014/main" id="{E4DE79F6-DE99-BDFD-033A-5AB8981A3A0E}"/>
              </a:ext>
            </a:extLst>
          </p:cNvPr>
          <p:cNvSpPr>
            <a:spLocks noGrp="1"/>
          </p:cNvSpPr>
          <p:nvPr>
            <p:ph type="body" sz="quarter" idx="73" hasCustomPrompt="1"/>
          </p:nvPr>
        </p:nvSpPr>
        <p:spPr>
          <a:xfrm>
            <a:off x="24132970" y="17063961"/>
            <a:ext cx="1079037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9" name="Text Placeholder 7">
            <a:extLst>
              <a:ext uri="{FF2B5EF4-FFF2-40B4-BE49-F238E27FC236}">
                <a16:creationId xmlns:a16="http://schemas.microsoft.com/office/drawing/2014/main" id="{E6F712D3-EAE3-8A7F-010B-AFEF00AE6B00}"/>
              </a:ext>
            </a:extLst>
          </p:cNvPr>
          <p:cNvSpPr>
            <a:spLocks noGrp="1"/>
          </p:cNvSpPr>
          <p:nvPr>
            <p:ph type="body" sz="quarter" idx="74" hasCustomPrompt="1"/>
          </p:nvPr>
        </p:nvSpPr>
        <p:spPr>
          <a:xfrm>
            <a:off x="24132970" y="17751568"/>
            <a:ext cx="1079037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1068062243"/>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up Image">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59D9FFB-F331-2BA3-76DB-D0D67666F296}"/>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23" name="Text Placeholder 7">
            <a:extLst>
              <a:ext uri="{FF2B5EF4-FFF2-40B4-BE49-F238E27FC236}">
                <a16:creationId xmlns:a16="http://schemas.microsoft.com/office/drawing/2014/main" id="{4737A17E-9A03-1AA3-D59C-3833F19EFE44}"/>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30" name="Picture Placeholder 2">
            <a:extLst>
              <a:ext uri="{FF2B5EF4-FFF2-40B4-BE49-F238E27FC236}">
                <a16:creationId xmlns:a16="http://schemas.microsoft.com/office/drawing/2014/main" id="{7FF59CD9-73FD-415B-F082-C27D3FC74CC5}"/>
              </a:ext>
            </a:extLst>
          </p:cNvPr>
          <p:cNvSpPr>
            <a:spLocks noGrp="1"/>
          </p:cNvSpPr>
          <p:nvPr>
            <p:ph type="pic" sz="quarter" idx="24"/>
          </p:nvPr>
        </p:nvSpPr>
        <p:spPr>
          <a:xfrm>
            <a:off x="18520757" y="4849813"/>
            <a:ext cx="7982985"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31" name="Picture Placeholder 2">
            <a:extLst>
              <a:ext uri="{FF2B5EF4-FFF2-40B4-BE49-F238E27FC236}">
                <a16:creationId xmlns:a16="http://schemas.microsoft.com/office/drawing/2014/main" id="{90082BEB-34AF-6104-9172-84A9393C73A1}"/>
              </a:ext>
            </a:extLst>
          </p:cNvPr>
          <p:cNvSpPr>
            <a:spLocks noGrp="1"/>
          </p:cNvSpPr>
          <p:nvPr>
            <p:ph type="pic" sz="quarter" idx="20"/>
          </p:nvPr>
        </p:nvSpPr>
        <p:spPr>
          <a:xfrm>
            <a:off x="10072254" y="4849813"/>
            <a:ext cx="7982985"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39" name="Picture Placeholder 2">
            <a:extLst>
              <a:ext uri="{FF2B5EF4-FFF2-40B4-BE49-F238E27FC236}">
                <a16:creationId xmlns:a16="http://schemas.microsoft.com/office/drawing/2014/main" id="{1ACBD8DD-E9B6-20E0-AF99-F566611D5259}"/>
              </a:ext>
            </a:extLst>
          </p:cNvPr>
          <p:cNvSpPr>
            <a:spLocks noGrp="1"/>
          </p:cNvSpPr>
          <p:nvPr>
            <p:ph type="pic" sz="quarter" idx="28"/>
          </p:nvPr>
        </p:nvSpPr>
        <p:spPr>
          <a:xfrm>
            <a:off x="1637606" y="4849813"/>
            <a:ext cx="7969130"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0" name="Picture Placeholder 2">
            <a:extLst>
              <a:ext uri="{FF2B5EF4-FFF2-40B4-BE49-F238E27FC236}">
                <a16:creationId xmlns:a16="http://schemas.microsoft.com/office/drawing/2014/main" id="{3F34C73B-16DF-6108-33FA-2019F4A18A96}"/>
              </a:ext>
            </a:extLst>
          </p:cNvPr>
          <p:cNvSpPr>
            <a:spLocks noGrp="1"/>
          </p:cNvSpPr>
          <p:nvPr>
            <p:ph type="pic" sz="quarter" idx="29"/>
          </p:nvPr>
        </p:nvSpPr>
        <p:spPr>
          <a:xfrm>
            <a:off x="26969260" y="4849813"/>
            <a:ext cx="7969133"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1" name="Text Placeholder 7">
            <a:extLst>
              <a:ext uri="{FF2B5EF4-FFF2-40B4-BE49-F238E27FC236}">
                <a16:creationId xmlns:a16="http://schemas.microsoft.com/office/drawing/2014/main" id="{2A0C0A2B-E05B-6582-22E0-E2FB87D4F5FE}"/>
              </a:ext>
            </a:extLst>
          </p:cNvPr>
          <p:cNvSpPr>
            <a:spLocks noGrp="1"/>
          </p:cNvSpPr>
          <p:nvPr>
            <p:ph type="body" sz="quarter" idx="67" hasCustomPrompt="1"/>
          </p:nvPr>
        </p:nvSpPr>
        <p:spPr>
          <a:xfrm>
            <a:off x="10087333" y="17063961"/>
            <a:ext cx="7967906"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42" name="Text Placeholder 7">
            <a:extLst>
              <a:ext uri="{FF2B5EF4-FFF2-40B4-BE49-F238E27FC236}">
                <a16:creationId xmlns:a16="http://schemas.microsoft.com/office/drawing/2014/main" id="{F252818C-30B9-BEAB-C34B-3FDB45B07855}"/>
              </a:ext>
            </a:extLst>
          </p:cNvPr>
          <p:cNvSpPr>
            <a:spLocks noGrp="1"/>
          </p:cNvSpPr>
          <p:nvPr>
            <p:ph type="body" sz="quarter" idx="68" hasCustomPrompt="1"/>
          </p:nvPr>
        </p:nvSpPr>
        <p:spPr>
          <a:xfrm>
            <a:off x="1630527" y="17063961"/>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43" name="Text Placeholder 7">
            <a:extLst>
              <a:ext uri="{FF2B5EF4-FFF2-40B4-BE49-F238E27FC236}">
                <a16:creationId xmlns:a16="http://schemas.microsoft.com/office/drawing/2014/main" id="{E94F7E10-2AF0-1049-A3BD-C3667BA1A7B7}"/>
              </a:ext>
            </a:extLst>
          </p:cNvPr>
          <p:cNvSpPr>
            <a:spLocks noGrp="1"/>
          </p:cNvSpPr>
          <p:nvPr>
            <p:ph type="body" sz="quarter" idx="69" hasCustomPrompt="1"/>
          </p:nvPr>
        </p:nvSpPr>
        <p:spPr>
          <a:xfrm>
            <a:off x="10087333" y="17751568"/>
            <a:ext cx="7967906"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44" name="Text Placeholder 7">
            <a:extLst>
              <a:ext uri="{FF2B5EF4-FFF2-40B4-BE49-F238E27FC236}">
                <a16:creationId xmlns:a16="http://schemas.microsoft.com/office/drawing/2014/main" id="{CCE2100E-D959-41B2-929B-D1BC55772019}"/>
              </a:ext>
            </a:extLst>
          </p:cNvPr>
          <p:cNvSpPr>
            <a:spLocks noGrp="1"/>
          </p:cNvSpPr>
          <p:nvPr>
            <p:ph type="body" sz="quarter" idx="70" hasCustomPrompt="1"/>
          </p:nvPr>
        </p:nvSpPr>
        <p:spPr>
          <a:xfrm>
            <a:off x="1630527" y="17751568"/>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45" name="Text Placeholder 7">
            <a:extLst>
              <a:ext uri="{FF2B5EF4-FFF2-40B4-BE49-F238E27FC236}">
                <a16:creationId xmlns:a16="http://schemas.microsoft.com/office/drawing/2014/main" id="{F9556000-DFCA-8B90-EBBC-359C95C3B361}"/>
              </a:ext>
            </a:extLst>
          </p:cNvPr>
          <p:cNvSpPr>
            <a:spLocks noGrp="1"/>
          </p:cNvSpPr>
          <p:nvPr>
            <p:ph type="body" sz="quarter" idx="71" hasCustomPrompt="1"/>
          </p:nvPr>
        </p:nvSpPr>
        <p:spPr>
          <a:xfrm>
            <a:off x="18527529" y="17063961"/>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46" name="Text Placeholder 7">
            <a:extLst>
              <a:ext uri="{FF2B5EF4-FFF2-40B4-BE49-F238E27FC236}">
                <a16:creationId xmlns:a16="http://schemas.microsoft.com/office/drawing/2014/main" id="{80DB8C8F-25FA-6C95-C2D7-C138BAA32B50}"/>
              </a:ext>
            </a:extLst>
          </p:cNvPr>
          <p:cNvSpPr>
            <a:spLocks noGrp="1"/>
          </p:cNvSpPr>
          <p:nvPr>
            <p:ph type="body" sz="quarter" idx="72" hasCustomPrompt="1"/>
          </p:nvPr>
        </p:nvSpPr>
        <p:spPr>
          <a:xfrm>
            <a:off x="18527529" y="17751568"/>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47" name="Text Placeholder 7">
            <a:extLst>
              <a:ext uri="{FF2B5EF4-FFF2-40B4-BE49-F238E27FC236}">
                <a16:creationId xmlns:a16="http://schemas.microsoft.com/office/drawing/2014/main" id="{63D94597-BF94-1410-90DE-B1569E6B339A}"/>
              </a:ext>
            </a:extLst>
          </p:cNvPr>
          <p:cNvSpPr>
            <a:spLocks noGrp="1"/>
          </p:cNvSpPr>
          <p:nvPr>
            <p:ph type="body" sz="quarter" idx="73" hasCustomPrompt="1"/>
          </p:nvPr>
        </p:nvSpPr>
        <p:spPr>
          <a:xfrm>
            <a:off x="26976037" y="17063961"/>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48" name="Text Placeholder 7">
            <a:extLst>
              <a:ext uri="{FF2B5EF4-FFF2-40B4-BE49-F238E27FC236}">
                <a16:creationId xmlns:a16="http://schemas.microsoft.com/office/drawing/2014/main" id="{BF06A1A9-1746-181C-9E88-1422CE2DFEC1}"/>
              </a:ext>
            </a:extLst>
          </p:cNvPr>
          <p:cNvSpPr>
            <a:spLocks noGrp="1"/>
          </p:cNvSpPr>
          <p:nvPr>
            <p:ph type="body" sz="quarter" idx="74" hasCustomPrompt="1"/>
          </p:nvPr>
        </p:nvSpPr>
        <p:spPr>
          <a:xfrm>
            <a:off x="26976037" y="17751568"/>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2135586295"/>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27" name="Picture Placeholder 2">
            <a:extLst>
              <a:ext uri="{FF2B5EF4-FFF2-40B4-BE49-F238E27FC236}">
                <a16:creationId xmlns:a16="http://schemas.microsoft.com/office/drawing/2014/main" id="{8907B76C-DA4A-68FA-C798-F3D3ED6D3EEF}"/>
              </a:ext>
            </a:extLst>
          </p:cNvPr>
          <p:cNvSpPr>
            <a:spLocks noGrp="1"/>
          </p:cNvSpPr>
          <p:nvPr>
            <p:ph type="pic" sz="quarter" idx="24"/>
          </p:nvPr>
        </p:nvSpPr>
        <p:spPr>
          <a:xfrm>
            <a:off x="1289139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28" name="Picture Placeholder 2">
            <a:extLst>
              <a:ext uri="{FF2B5EF4-FFF2-40B4-BE49-F238E27FC236}">
                <a16:creationId xmlns:a16="http://schemas.microsoft.com/office/drawing/2014/main" id="{80A5F7E9-98C2-BE12-2CFF-1D4269C21CEF}"/>
              </a:ext>
            </a:extLst>
          </p:cNvPr>
          <p:cNvSpPr>
            <a:spLocks noGrp="1"/>
          </p:cNvSpPr>
          <p:nvPr>
            <p:ph type="pic" sz="quarter" idx="20"/>
          </p:nvPr>
        </p:nvSpPr>
        <p:spPr>
          <a:xfrm>
            <a:off x="164558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30" name="Picture Placeholder 2">
            <a:extLst>
              <a:ext uri="{FF2B5EF4-FFF2-40B4-BE49-F238E27FC236}">
                <a16:creationId xmlns:a16="http://schemas.microsoft.com/office/drawing/2014/main" id="{C40D16D0-F1BB-6699-BB7A-3010F14B4E5E}"/>
              </a:ext>
            </a:extLst>
          </p:cNvPr>
          <p:cNvSpPr>
            <a:spLocks noGrp="1"/>
          </p:cNvSpPr>
          <p:nvPr>
            <p:ph type="pic" sz="quarter" idx="28"/>
          </p:nvPr>
        </p:nvSpPr>
        <p:spPr>
          <a:xfrm>
            <a:off x="2414847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32" name="Text Placeholder 7">
            <a:extLst>
              <a:ext uri="{FF2B5EF4-FFF2-40B4-BE49-F238E27FC236}">
                <a16:creationId xmlns:a16="http://schemas.microsoft.com/office/drawing/2014/main" id="{669BAFFD-DE29-C3FE-3E3D-0742C54E776F}"/>
              </a:ext>
            </a:extLst>
          </p:cNvPr>
          <p:cNvSpPr>
            <a:spLocks noGrp="1"/>
          </p:cNvSpPr>
          <p:nvPr>
            <p:ph type="body" sz="quarter" idx="59" hasCustomPrompt="1"/>
          </p:nvPr>
        </p:nvSpPr>
        <p:spPr>
          <a:xfrm>
            <a:off x="1656844"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3" name="Text Placeholder 7">
            <a:extLst>
              <a:ext uri="{FF2B5EF4-FFF2-40B4-BE49-F238E27FC236}">
                <a16:creationId xmlns:a16="http://schemas.microsoft.com/office/drawing/2014/main" id="{6F8CDCB5-2334-0382-7EDF-D6A8C4C37919}"/>
              </a:ext>
            </a:extLst>
          </p:cNvPr>
          <p:cNvSpPr>
            <a:spLocks noGrp="1"/>
          </p:cNvSpPr>
          <p:nvPr>
            <p:ph type="body" sz="quarter" idx="63" hasCustomPrompt="1"/>
          </p:nvPr>
        </p:nvSpPr>
        <p:spPr>
          <a:xfrm>
            <a:off x="1656844"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34" name="Text Placeholder 7">
            <a:extLst>
              <a:ext uri="{FF2B5EF4-FFF2-40B4-BE49-F238E27FC236}">
                <a16:creationId xmlns:a16="http://schemas.microsoft.com/office/drawing/2014/main" id="{3E8130F2-A049-2C2C-49C2-814F60E02EF5}"/>
              </a:ext>
            </a:extLst>
          </p:cNvPr>
          <p:cNvSpPr>
            <a:spLocks noGrp="1"/>
          </p:cNvSpPr>
          <p:nvPr>
            <p:ph type="body" sz="quarter" idx="64" hasCustomPrompt="1"/>
          </p:nvPr>
        </p:nvSpPr>
        <p:spPr>
          <a:xfrm>
            <a:off x="12894348"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5" name="Text Placeholder 7">
            <a:extLst>
              <a:ext uri="{FF2B5EF4-FFF2-40B4-BE49-F238E27FC236}">
                <a16:creationId xmlns:a16="http://schemas.microsoft.com/office/drawing/2014/main" id="{2EF59D26-21AA-0628-FEAE-B2017AD93D46}"/>
              </a:ext>
            </a:extLst>
          </p:cNvPr>
          <p:cNvSpPr>
            <a:spLocks noGrp="1"/>
          </p:cNvSpPr>
          <p:nvPr>
            <p:ph type="body" sz="quarter" idx="65" hasCustomPrompt="1"/>
          </p:nvPr>
        </p:nvSpPr>
        <p:spPr>
          <a:xfrm>
            <a:off x="12894348"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36" name="Text Placeholder 7">
            <a:extLst>
              <a:ext uri="{FF2B5EF4-FFF2-40B4-BE49-F238E27FC236}">
                <a16:creationId xmlns:a16="http://schemas.microsoft.com/office/drawing/2014/main" id="{FA27073E-24AC-35B6-4579-F3553211D14F}"/>
              </a:ext>
            </a:extLst>
          </p:cNvPr>
          <p:cNvSpPr>
            <a:spLocks noGrp="1"/>
          </p:cNvSpPr>
          <p:nvPr>
            <p:ph type="body" sz="quarter" idx="66" hasCustomPrompt="1"/>
          </p:nvPr>
        </p:nvSpPr>
        <p:spPr>
          <a:xfrm>
            <a:off x="24151315" y="9981886"/>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7" name="Text Placeholder 7">
            <a:extLst>
              <a:ext uri="{FF2B5EF4-FFF2-40B4-BE49-F238E27FC236}">
                <a16:creationId xmlns:a16="http://schemas.microsoft.com/office/drawing/2014/main" id="{B7137105-F7C8-86F9-A19D-CC0280C95516}"/>
              </a:ext>
            </a:extLst>
          </p:cNvPr>
          <p:cNvSpPr>
            <a:spLocks noGrp="1"/>
          </p:cNvSpPr>
          <p:nvPr>
            <p:ph type="body" sz="quarter" idx="67" hasCustomPrompt="1"/>
          </p:nvPr>
        </p:nvSpPr>
        <p:spPr>
          <a:xfrm>
            <a:off x="24151315" y="10669493"/>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38" name="Picture Placeholder 2">
            <a:extLst>
              <a:ext uri="{FF2B5EF4-FFF2-40B4-BE49-F238E27FC236}">
                <a16:creationId xmlns:a16="http://schemas.microsoft.com/office/drawing/2014/main" id="{C215F7B2-F4E2-412D-DB90-96FF4E146F17}"/>
              </a:ext>
            </a:extLst>
          </p:cNvPr>
          <p:cNvSpPr>
            <a:spLocks noGrp="1"/>
          </p:cNvSpPr>
          <p:nvPr>
            <p:ph type="pic" sz="quarter" idx="75"/>
          </p:nvPr>
        </p:nvSpPr>
        <p:spPr>
          <a:xfrm>
            <a:off x="18520757" y="11931888"/>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8" name="Picture Placeholder 2">
            <a:extLst>
              <a:ext uri="{FF2B5EF4-FFF2-40B4-BE49-F238E27FC236}">
                <a16:creationId xmlns:a16="http://schemas.microsoft.com/office/drawing/2014/main" id="{F6B1B50B-4191-7EA1-DD61-A96EBE2A0C65}"/>
              </a:ext>
            </a:extLst>
          </p:cNvPr>
          <p:cNvSpPr>
            <a:spLocks noGrp="1"/>
          </p:cNvSpPr>
          <p:nvPr>
            <p:ph type="pic" sz="quarter" idx="76"/>
          </p:nvPr>
        </p:nvSpPr>
        <p:spPr>
          <a:xfrm>
            <a:off x="7265320" y="11931888"/>
            <a:ext cx="10789919" cy="4937760"/>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9" name="Text Placeholder 7">
            <a:extLst>
              <a:ext uri="{FF2B5EF4-FFF2-40B4-BE49-F238E27FC236}">
                <a16:creationId xmlns:a16="http://schemas.microsoft.com/office/drawing/2014/main" id="{65B4C94D-3029-61DE-18DE-8A6472E970BD}"/>
              </a:ext>
            </a:extLst>
          </p:cNvPr>
          <p:cNvSpPr>
            <a:spLocks noGrp="1"/>
          </p:cNvSpPr>
          <p:nvPr>
            <p:ph type="body" sz="quarter" idx="77" hasCustomPrompt="1"/>
          </p:nvPr>
        </p:nvSpPr>
        <p:spPr>
          <a:xfrm>
            <a:off x="7276587" y="17063961"/>
            <a:ext cx="1077865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50" name="Text Placeholder 7">
            <a:extLst>
              <a:ext uri="{FF2B5EF4-FFF2-40B4-BE49-F238E27FC236}">
                <a16:creationId xmlns:a16="http://schemas.microsoft.com/office/drawing/2014/main" id="{CE518717-6ECD-F803-EEF8-2B2D7CF9EB49}"/>
              </a:ext>
            </a:extLst>
          </p:cNvPr>
          <p:cNvSpPr>
            <a:spLocks noGrp="1"/>
          </p:cNvSpPr>
          <p:nvPr>
            <p:ph type="body" sz="quarter" idx="78" hasCustomPrompt="1"/>
          </p:nvPr>
        </p:nvSpPr>
        <p:spPr>
          <a:xfrm>
            <a:off x="7276587" y="17751568"/>
            <a:ext cx="1077865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51" name="Text Placeholder 7">
            <a:extLst>
              <a:ext uri="{FF2B5EF4-FFF2-40B4-BE49-F238E27FC236}">
                <a16:creationId xmlns:a16="http://schemas.microsoft.com/office/drawing/2014/main" id="{C5D8EE17-AD94-2DE2-C337-573533395DAF}"/>
              </a:ext>
            </a:extLst>
          </p:cNvPr>
          <p:cNvSpPr>
            <a:spLocks noGrp="1"/>
          </p:cNvSpPr>
          <p:nvPr>
            <p:ph type="body" sz="quarter" idx="79" hasCustomPrompt="1"/>
          </p:nvPr>
        </p:nvSpPr>
        <p:spPr>
          <a:xfrm>
            <a:off x="18533554" y="17063961"/>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52" name="Text Placeholder 7">
            <a:extLst>
              <a:ext uri="{FF2B5EF4-FFF2-40B4-BE49-F238E27FC236}">
                <a16:creationId xmlns:a16="http://schemas.microsoft.com/office/drawing/2014/main" id="{85A95BB1-6B72-7CA5-06BB-430623F1D273}"/>
              </a:ext>
            </a:extLst>
          </p:cNvPr>
          <p:cNvSpPr>
            <a:spLocks noGrp="1"/>
          </p:cNvSpPr>
          <p:nvPr>
            <p:ph type="body" sz="quarter" idx="80" hasCustomPrompt="1"/>
          </p:nvPr>
        </p:nvSpPr>
        <p:spPr>
          <a:xfrm>
            <a:off x="18533554" y="17751568"/>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53" name="Title 1">
            <a:extLst>
              <a:ext uri="{FF2B5EF4-FFF2-40B4-BE49-F238E27FC236}">
                <a16:creationId xmlns:a16="http://schemas.microsoft.com/office/drawing/2014/main" id="{8DC5F873-F78F-F1B6-1AFB-37B1EE5098FA}"/>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54" name="Text Placeholder 7">
            <a:extLst>
              <a:ext uri="{FF2B5EF4-FFF2-40B4-BE49-F238E27FC236}">
                <a16:creationId xmlns:a16="http://schemas.microsoft.com/office/drawing/2014/main" id="{8631CFA9-583B-6069-2D7A-BD83D75791B2}"/>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714430386"/>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30" name="Picture Placeholder 2">
            <a:extLst>
              <a:ext uri="{FF2B5EF4-FFF2-40B4-BE49-F238E27FC236}">
                <a16:creationId xmlns:a16="http://schemas.microsoft.com/office/drawing/2014/main" id="{B1953C1A-70BD-1EAA-9874-87A836A8195E}"/>
              </a:ext>
            </a:extLst>
          </p:cNvPr>
          <p:cNvSpPr>
            <a:spLocks noGrp="1"/>
          </p:cNvSpPr>
          <p:nvPr>
            <p:ph type="pic" sz="quarter" idx="24"/>
          </p:nvPr>
        </p:nvSpPr>
        <p:spPr>
          <a:xfrm>
            <a:off x="1289139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1" name="Picture Placeholder 2">
            <a:extLst>
              <a:ext uri="{FF2B5EF4-FFF2-40B4-BE49-F238E27FC236}">
                <a16:creationId xmlns:a16="http://schemas.microsoft.com/office/drawing/2014/main" id="{9252F9A9-D932-EDF6-7A48-D5D93A404550}"/>
              </a:ext>
            </a:extLst>
          </p:cNvPr>
          <p:cNvSpPr>
            <a:spLocks noGrp="1"/>
          </p:cNvSpPr>
          <p:nvPr>
            <p:ph type="pic" sz="quarter" idx="20"/>
          </p:nvPr>
        </p:nvSpPr>
        <p:spPr>
          <a:xfrm>
            <a:off x="164558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2" name="Picture Placeholder 2">
            <a:extLst>
              <a:ext uri="{FF2B5EF4-FFF2-40B4-BE49-F238E27FC236}">
                <a16:creationId xmlns:a16="http://schemas.microsoft.com/office/drawing/2014/main" id="{D0D95889-F2DB-3BC9-69A2-99832FFC9845}"/>
              </a:ext>
            </a:extLst>
          </p:cNvPr>
          <p:cNvSpPr>
            <a:spLocks noGrp="1"/>
          </p:cNvSpPr>
          <p:nvPr>
            <p:ph type="pic" sz="quarter" idx="28"/>
          </p:nvPr>
        </p:nvSpPr>
        <p:spPr>
          <a:xfrm>
            <a:off x="2414847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3" name="Text Placeholder 7">
            <a:extLst>
              <a:ext uri="{FF2B5EF4-FFF2-40B4-BE49-F238E27FC236}">
                <a16:creationId xmlns:a16="http://schemas.microsoft.com/office/drawing/2014/main" id="{20BBE6F4-0357-A4FD-1E64-134C0BB676E5}"/>
              </a:ext>
            </a:extLst>
          </p:cNvPr>
          <p:cNvSpPr>
            <a:spLocks noGrp="1"/>
          </p:cNvSpPr>
          <p:nvPr>
            <p:ph type="body" sz="quarter" idx="59" hasCustomPrompt="1"/>
          </p:nvPr>
        </p:nvSpPr>
        <p:spPr>
          <a:xfrm>
            <a:off x="1656844"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44" name="Text Placeholder 7">
            <a:extLst>
              <a:ext uri="{FF2B5EF4-FFF2-40B4-BE49-F238E27FC236}">
                <a16:creationId xmlns:a16="http://schemas.microsoft.com/office/drawing/2014/main" id="{BFAE3A57-5BF4-79B4-4629-2CC735C71FE5}"/>
              </a:ext>
            </a:extLst>
          </p:cNvPr>
          <p:cNvSpPr>
            <a:spLocks noGrp="1"/>
          </p:cNvSpPr>
          <p:nvPr>
            <p:ph type="body" sz="quarter" idx="63" hasCustomPrompt="1"/>
          </p:nvPr>
        </p:nvSpPr>
        <p:spPr>
          <a:xfrm>
            <a:off x="1656844"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45" name="Text Placeholder 7">
            <a:extLst>
              <a:ext uri="{FF2B5EF4-FFF2-40B4-BE49-F238E27FC236}">
                <a16:creationId xmlns:a16="http://schemas.microsoft.com/office/drawing/2014/main" id="{99A50CCA-B5CD-F9AE-216F-C421A1BD9F04}"/>
              </a:ext>
            </a:extLst>
          </p:cNvPr>
          <p:cNvSpPr>
            <a:spLocks noGrp="1"/>
          </p:cNvSpPr>
          <p:nvPr>
            <p:ph type="body" sz="quarter" idx="64" hasCustomPrompt="1"/>
          </p:nvPr>
        </p:nvSpPr>
        <p:spPr>
          <a:xfrm>
            <a:off x="12894348"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46" name="Text Placeholder 7">
            <a:extLst>
              <a:ext uri="{FF2B5EF4-FFF2-40B4-BE49-F238E27FC236}">
                <a16:creationId xmlns:a16="http://schemas.microsoft.com/office/drawing/2014/main" id="{757508AA-A2C8-98B6-81F3-50D83C5092CF}"/>
              </a:ext>
            </a:extLst>
          </p:cNvPr>
          <p:cNvSpPr>
            <a:spLocks noGrp="1"/>
          </p:cNvSpPr>
          <p:nvPr>
            <p:ph type="body" sz="quarter" idx="65" hasCustomPrompt="1"/>
          </p:nvPr>
        </p:nvSpPr>
        <p:spPr>
          <a:xfrm>
            <a:off x="12894348"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47" name="Text Placeholder 7">
            <a:extLst>
              <a:ext uri="{FF2B5EF4-FFF2-40B4-BE49-F238E27FC236}">
                <a16:creationId xmlns:a16="http://schemas.microsoft.com/office/drawing/2014/main" id="{F4222A90-C423-A76E-E4A1-DC33CE530C35}"/>
              </a:ext>
            </a:extLst>
          </p:cNvPr>
          <p:cNvSpPr>
            <a:spLocks noGrp="1"/>
          </p:cNvSpPr>
          <p:nvPr>
            <p:ph type="body" sz="quarter" idx="66" hasCustomPrompt="1"/>
          </p:nvPr>
        </p:nvSpPr>
        <p:spPr>
          <a:xfrm>
            <a:off x="24151315" y="9981886"/>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54" name="Text Placeholder 7">
            <a:extLst>
              <a:ext uri="{FF2B5EF4-FFF2-40B4-BE49-F238E27FC236}">
                <a16:creationId xmlns:a16="http://schemas.microsoft.com/office/drawing/2014/main" id="{4209A868-D6F4-3E49-A6A2-D0B83BADF3A9}"/>
              </a:ext>
            </a:extLst>
          </p:cNvPr>
          <p:cNvSpPr>
            <a:spLocks noGrp="1"/>
          </p:cNvSpPr>
          <p:nvPr>
            <p:ph type="body" sz="quarter" idx="67" hasCustomPrompt="1"/>
          </p:nvPr>
        </p:nvSpPr>
        <p:spPr>
          <a:xfrm>
            <a:off x="24151315" y="10669493"/>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55" name="Picture Placeholder 2">
            <a:extLst>
              <a:ext uri="{FF2B5EF4-FFF2-40B4-BE49-F238E27FC236}">
                <a16:creationId xmlns:a16="http://schemas.microsoft.com/office/drawing/2014/main" id="{9C37E9B7-863B-6FEB-5E35-885ED1194BFF}"/>
              </a:ext>
            </a:extLst>
          </p:cNvPr>
          <p:cNvSpPr>
            <a:spLocks noGrp="1"/>
          </p:cNvSpPr>
          <p:nvPr>
            <p:ph type="pic" sz="quarter" idx="68"/>
          </p:nvPr>
        </p:nvSpPr>
        <p:spPr>
          <a:xfrm>
            <a:off x="12902654" y="11931889"/>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6" name="Picture Placeholder 2">
            <a:extLst>
              <a:ext uri="{FF2B5EF4-FFF2-40B4-BE49-F238E27FC236}">
                <a16:creationId xmlns:a16="http://schemas.microsoft.com/office/drawing/2014/main" id="{577FA631-E033-ADBD-0DC9-D0DB5E39C199}"/>
              </a:ext>
            </a:extLst>
          </p:cNvPr>
          <p:cNvSpPr>
            <a:spLocks noGrp="1"/>
          </p:cNvSpPr>
          <p:nvPr>
            <p:ph type="pic" sz="quarter" idx="69"/>
          </p:nvPr>
        </p:nvSpPr>
        <p:spPr>
          <a:xfrm>
            <a:off x="1656844" y="11931889"/>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7" name="Picture Placeholder 2">
            <a:extLst>
              <a:ext uri="{FF2B5EF4-FFF2-40B4-BE49-F238E27FC236}">
                <a16:creationId xmlns:a16="http://schemas.microsoft.com/office/drawing/2014/main" id="{381881A2-4556-E0E7-4976-CE4CA8B44BD2}"/>
              </a:ext>
            </a:extLst>
          </p:cNvPr>
          <p:cNvSpPr>
            <a:spLocks noGrp="1"/>
          </p:cNvSpPr>
          <p:nvPr>
            <p:ph type="pic" sz="quarter" idx="70"/>
          </p:nvPr>
        </p:nvSpPr>
        <p:spPr>
          <a:xfrm>
            <a:off x="24159734" y="11931889"/>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8" name="Text Placeholder 7">
            <a:extLst>
              <a:ext uri="{FF2B5EF4-FFF2-40B4-BE49-F238E27FC236}">
                <a16:creationId xmlns:a16="http://schemas.microsoft.com/office/drawing/2014/main" id="{3E8E5407-C49C-0C9D-34F8-F6F0488021F6}"/>
              </a:ext>
            </a:extLst>
          </p:cNvPr>
          <p:cNvSpPr>
            <a:spLocks noGrp="1"/>
          </p:cNvSpPr>
          <p:nvPr>
            <p:ph type="body" sz="quarter" idx="71" hasCustomPrompt="1"/>
          </p:nvPr>
        </p:nvSpPr>
        <p:spPr>
          <a:xfrm>
            <a:off x="1668105" y="17063961"/>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59" name="Text Placeholder 7">
            <a:extLst>
              <a:ext uri="{FF2B5EF4-FFF2-40B4-BE49-F238E27FC236}">
                <a16:creationId xmlns:a16="http://schemas.microsoft.com/office/drawing/2014/main" id="{22DA5A94-C231-4766-8AC7-EF73C16EBD61}"/>
              </a:ext>
            </a:extLst>
          </p:cNvPr>
          <p:cNvSpPr>
            <a:spLocks noGrp="1"/>
          </p:cNvSpPr>
          <p:nvPr>
            <p:ph type="body" sz="quarter" idx="72" hasCustomPrompt="1"/>
          </p:nvPr>
        </p:nvSpPr>
        <p:spPr>
          <a:xfrm>
            <a:off x="1668105" y="17751568"/>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60" name="Text Placeholder 7">
            <a:extLst>
              <a:ext uri="{FF2B5EF4-FFF2-40B4-BE49-F238E27FC236}">
                <a16:creationId xmlns:a16="http://schemas.microsoft.com/office/drawing/2014/main" id="{00B4030C-05CF-B466-BA8F-C340617A5787}"/>
              </a:ext>
            </a:extLst>
          </p:cNvPr>
          <p:cNvSpPr>
            <a:spLocks noGrp="1"/>
          </p:cNvSpPr>
          <p:nvPr>
            <p:ph type="body" sz="quarter" idx="73" hasCustomPrompt="1"/>
          </p:nvPr>
        </p:nvSpPr>
        <p:spPr>
          <a:xfrm>
            <a:off x="12905609" y="17063961"/>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61" name="Text Placeholder 7">
            <a:extLst>
              <a:ext uri="{FF2B5EF4-FFF2-40B4-BE49-F238E27FC236}">
                <a16:creationId xmlns:a16="http://schemas.microsoft.com/office/drawing/2014/main" id="{894CEECC-D038-E547-DC3E-DE08CED8E7DA}"/>
              </a:ext>
            </a:extLst>
          </p:cNvPr>
          <p:cNvSpPr>
            <a:spLocks noGrp="1"/>
          </p:cNvSpPr>
          <p:nvPr>
            <p:ph type="body" sz="quarter" idx="74" hasCustomPrompt="1"/>
          </p:nvPr>
        </p:nvSpPr>
        <p:spPr>
          <a:xfrm>
            <a:off x="12905609" y="17751568"/>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62" name="Text Placeholder 7">
            <a:extLst>
              <a:ext uri="{FF2B5EF4-FFF2-40B4-BE49-F238E27FC236}">
                <a16:creationId xmlns:a16="http://schemas.microsoft.com/office/drawing/2014/main" id="{194DC10A-126A-4CF6-0FD2-5B6BB2EFDEBD}"/>
              </a:ext>
            </a:extLst>
          </p:cNvPr>
          <p:cNvSpPr>
            <a:spLocks noGrp="1"/>
          </p:cNvSpPr>
          <p:nvPr>
            <p:ph type="body" sz="quarter" idx="75" hasCustomPrompt="1"/>
          </p:nvPr>
        </p:nvSpPr>
        <p:spPr>
          <a:xfrm>
            <a:off x="24162576" y="17063961"/>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63" name="Text Placeholder 7">
            <a:extLst>
              <a:ext uri="{FF2B5EF4-FFF2-40B4-BE49-F238E27FC236}">
                <a16:creationId xmlns:a16="http://schemas.microsoft.com/office/drawing/2014/main" id="{57F8B789-2F41-F510-798B-CCE7F38AB05B}"/>
              </a:ext>
            </a:extLst>
          </p:cNvPr>
          <p:cNvSpPr>
            <a:spLocks noGrp="1"/>
          </p:cNvSpPr>
          <p:nvPr>
            <p:ph type="body" sz="quarter" idx="76" hasCustomPrompt="1"/>
          </p:nvPr>
        </p:nvSpPr>
        <p:spPr>
          <a:xfrm>
            <a:off x="24162576" y="17751568"/>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64" name="Title 1">
            <a:extLst>
              <a:ext uri="{FF2B5EF4-FFF2-40B4-BE49-F238E27FC236}">
                <a16:creationId xmlns:a16="http://schemas.microsoft.com/office/drawing/2014/main" id="{01540E5A-2872-4A69-C821-D69B87963A67}"/>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65" name="Text Placeholder 7">
            <a:extLst>
              <a:ext uri="{FF2B5EF4-FFF2-40B4-BE49-F238E27FC236}">
                <a16:creationId xmlns:a16="http://schemas.microsoft.com/office/drawing/2014/main" id="{C4FBCAD5-F75E-2024-91A6-AF69090C6A02}"/>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2237050608"/>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30" name="Text Placeholder 7">
            <a:extLst>
              <a:ext uri="{FF2B5EF4-FFF2-40B4-BE49-F238E27FC236}">
                <a16:creationId xmlns:a16="http://schemas.microsoft.com/office/drawing/2014/main" id="{544D2068-6849-9B7C-6BC5-5E5F7AA4A629}"/>
              </a:ext>
            </a:extLst>
          </p:cNvPr>
          <p:cNvSpPr>
            <a:spLocks noGrp="1"/>
          </p:cNvSpPr>
          <p:nvPr>
            <p:ph type="body" sz="quarter" idx="37" hasCustomPrompt="1"/>
          </p:nvPr>
        </p:nvSpPr>
        <p:spPr>
          <a:xfrm>
            <a:off x="14335071" y="17059122"/>
            <a:ext cx="795528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4" name="Text Placeholder 7">
            <a:extLst>
              <a:ext uri="{FF2B5EF4-FFF2-40B4-BE49-F238E27FC236}">
                <a16:creationId xmlns:a16="http://schemas.microsoft.com/office/drawing/2014/main" id="{CBD648D6-A7DD-1281-7F44-26AAC46ED236}"/>
              </a:ext>
            </a:extLst>
          </p:cNvPr>
          <p:cNvSpPr>
            <a:spLocks noGrp="1"/>
          </p:cNvSpPr>
          <p:nvPr>
            <p:ph type="body" sz="quarter" idx="39" hasCustomPrompt="1"/>
          </p:nvPr>
        </p:nvSpPr>
        <p:spPr>
          <a:xfrm>
            <a:off x="5886573" y="17059122"/>
            <a:ext cx="7970338"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5" name="Text Placeholder 7">
            <a:extLst>
              <a:ext uri="{FF2B5EF4-FFF2-40B4-BE49-F238E27FC236}">
                <a16:creationId xmlns:a16="http://schemas.microsoft.com/office/drawing/2014/main" id="{CA889FC2-EEE4-383A-34F1-AA6640C2BEE9}"/>
              </a:ext>
            </a:extLst>
          </p:cNvPr>
          <p:cNvSpPr>
            <a:spLocks noGrp="1"/>
          </p:cNvSpPr>
          <p:nvPr>
            <p:ph type="body" sz="quarter" idx="40" hasCustomPrompt="1"/>
          </p:nvPr>
        </p:nvSpPr>
        <p:spPr>
          <a:xfrm>
            <a:off x="14335071" y="17727056"/>
            <a:ext cx="795528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36" name="Text Placeholder 7">
            <a:extLst>
              <a:ext uri="{FF2B5EF4-FFF2-40B4-BE49-F238E27FC236}">
                <a16:creationId xmlns:a16="http://schemas.microsoft.com/office/drawing/2014/main" id="{97DD1B20-C6FB-A50F-E2B0-453434ECCBAC}"/>
              </a:ext>
            </a:extLst>
          </p:cNvPr>
          <p:cNvSpPr>
            <a:spLocks noGrp="1"/>
          </p:cNvSpPr>
          <p:nvPr>
            <p:ph type="body" sz="quarter" idx="43" hasCustomPrompt="1"/>
          </p:nvPr>
        </p:nvSpPr>
        <p:spPr>
          <a:xfrm>
            <a:off x="5886573" y="17727056"/>
            <a:ext cx="7970338"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37" name="Picture Placeholder 2">
            <a:extLst>
              <a:ext uri="{FF2B5EF4-FFF2-40B4-BE49-F238E27FC236}">
                <a16:creationId xmlns:a16="http://schemas.microsoft.com/office/drawing/2014/main" id="{AE5F378B-4650-A769-498F-70E97D832944}"/>
              </a:ext>
            </a:extLst>
          </p:cNvPr>
          <p:cNvSpPr>
            <a:spLocks noGrp="1"/>
          </p:cNvSpPr>
          <p:nvPr>
            <p:ph type="pic" sz="quarter" idx="46"/>
          </p:nvPr>
        </p:nvSpPr>
        <p:spPr>
          <a:xfrm>
            <a:off x="5886573"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38" name="Picture Placeholder 2">
            <a:extLst>
              <a:ext uri="{FF2B5EF4-FFF2-40B4-BE49-F238E27FC236}">
                <a16:creationId xmlns:a16="http://schemas.microsoft.com/office/drawing/2014/main" id="{4D0EBD50-D183-BA46-8F9A-CA94A31E251D}"/>
              </a:ext>
            </a:extLst>
          </p:cNvPr>
          <p:cNvSpPr>
            <a:spLocks noGrp="1"/>
          </p:cNvSpPr>
          <p:nvPr>
            <p:ph type="pic" sz="quarter" idx="47"/>
          </p:nvPr>
        </p:nvSpPr>
        <p:spPr>
          <a:xfrm>
            <a:off x="14335074"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8" name="Picture Placeholder 2">
            <a:extLst>
              <a:ext uri="{FF2B5EF4-FFF2-40B4-BE49-F238E27FC236}">
                <a16:creationId xmlns:a16="http://schemas.microsoft.com/office/drawing/2014/main" id="{B28D2A90-D084-131D-BC81-F32026B9D485}"/>
              </a:ext>
            </a:extLst>
          </p:cNvPr>
          <p:cNvSpPr>
            <a:spLocks noGrp="1"/>
          </p:cNvSpPr>
          <p:nvPr>
            <p:ph type="pic" sz="quarter" idx="48"/>
          </p:nvPr>
        </p:nvSpPr>
        <p:spPr>
          <a:xfrm>
            <a:off x="22783576"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9" name="Text Placeholder 7">
            <a:extLst>
              <a:ext uri="{FF2B5EF4-FFF2-40B4-BE49-F238E27FC236}">
                <a16:creationId xmlns:a16="http://schemas.microsoft.com/office/drawing/2014/main" id="{C31F641B-69D7-D8F7-664B-8DC4432B48D7}"/>
              </a:ext>
            </a:extLst>
          </p:cNvPr>
          <p:cNvSpPr>
            <a:spLocks noGrp="1"/>
          </p:cNvSpPr>
          <p:nvPr>
            <p:ph type="body" sz="quarter" idx="50" hasCustomPrompt="1"/>
          </p:nvPr>
        </p:nvSpPr>
        <p:spPr>
          <a:xfrm>
            <a:off x="22783575" y="17059122"/>
            <a:ext cx="7951467"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50" name="Text Placeholder 7">
            <a:extLst>
              <a:ext uri="{FF2B5EF4-FFF2-40B4-BE49-F238E27FC236}">
                <a16:creationId xmlns:a16="http://schemas.microsoft.com/office/drawing/2014/main" id="{523F0B05-8C96-0447-48C6-977D2CE10924}"/>
              </a:ext>
            </a:extLst>
          </p:cNvPr>
          <p:cNvSpPr>
            <a:spLocks noGrp="1"/>
          </p:cNvSpPr>
          <p:nvPr>
            <p:ph type="body" sz="quarter" idx="51" hasCustomPrompt="1"/>
          </p:nvPr>
        </p:nvSpPr>
        <p:spPr>
          <a:xfrm>
            <a:off x="22783575" y="17727056"/>
            <a:ext cx="7951467"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51" name="Picture Placeholder 2">
            <a:extLst>
              <a:ext uri="{FF2B5EF4-FFF2-40B4-BE49-F238E27FC236}">
                <a16:creationId xmlns:a16="http://schemas.microsoft.com/office/drawing/2014/main" id="{450F6A7B-55D2-E137-09E7-D5EB0FECCA2C}"/>
              </a:ext>
            </a:extLst>
          </p:cNvPr>
          <p:cNvSpPr>
            <a:spLocks noGrp="1"/>
          </p:cNvSpPr>
          <p:nvPr>
            <p:ph type="pic" sz="quarter" idx="24"/>
          </p:nvPr>
        </p:nvSpPr>
        <p:spPr>
          <a:xfrm>
            <a:off x="18534610"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2" name="Picture Placeholder 2">
            <a:extLst>
              <a:ext uri="{FF2B5EF4-FFF2-40B4-BE49-F238E27FC236}">
                <a16:creationId xmlns:a16="http://schemas.microsoft.com/office/drawing/2014/main" id="{36E7E436-EF57-51FD-A8FB-FDA402DAB660}"/>
              </a:ext>
            </a:extLst>
          </p:cNvPr>
          <p:cNvSpPr>
            <a:spLocks noGrp="1"/>
          </p:cNvSpPr>
          <p:nvPr>
            <p:ph type="pic" sz="quarter" idx="20"/>
          </p:nvPr>
        </p:nvSpPr>
        <p:spPr>
          <a:xfrm>
            <a:off x="10086108"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3" name="Picture Placeholder 2">
            <a:extLst>
              <a:ext uri="{FF2B5EF4-FFF2-40B4-BE49-F238E27FC236}">
                <a16:creationId xmlns:a16="http://schemas.microsoft.com/office/drawing/2014/main" id="{11D06D85-EEB0-0A4E-44A0-04EB0FDA4913}"/>
              </a:ext>
            </a:extLst>
          </p:cNvPr>
          <p:cNvSpPr>
            <a:spLocks noGrp="1"/>
          </p:cNvSpPr>
          <p:nvPr>
            <p:ph type="pic" sz="quarter" idx="52"/>
          </p:nvPr>
        </p:nvSpPr>
        <p:spPr>
          <a:xfrm>
            <a:off x="1637606"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65" name="Picture Placeholder 2">
            <a:extLst>
              <a:ext uri="{FF2B5EF4-FFF2-40B4-BE49-F238E27FC236}">
                <a16:creationId xmlns:a16="http://schemas.microsoft.com/office/drawing/2014/main" id="{9CAB601B-BE03-84B9-C2D3-F9A9DD36F0DA}"/>
              </a:ext>
            </a:extLst>
          </p:cNvPr>
          <p:cNvSpPr>
            <a:spLocks noGrp="1"/>
          </p:cNvSpPr>
          <p:nvPr>
            <p:ph type="pic" sz="quarter" idx="28"/>
          </p:nvPr>
        </p:nvSpPr>
        <p:spPr>
          <a:xfrm>
            <a:off x="26983113"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66" name="Text Placeholder 7">
            <a:extLst>
              <a:ext uri="{FF2B5EF4-FFF2-40B4-BE49-F238E27FC236}">
                <a16:creationId xmlns:a16="http://schemas.microsoft.com/office/drawing/2014/main" id="{2901EEFF-A05E-86EF-2959-BEBE7506CE37}"/>
              </a:ext>
            </a:extLst>
          </p:cNvPr>
          <p:cNvSpPr>
            <a:spLocks noGrp="1"/>
          </p:cNvSpPr>
          <p:nvPr>
            <p:ph type="body" sz="quarter" idx="59" hasCustomPrompt="1"/>
          </p:nvPr>
        </p:nvSpPr>
        <p:spPr>
          <a:xfrm>
            <a:off x="10094409"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67" name="Text Placeholder 7">
            <a:extLst>
              <a:ext uri="{FF2B5EF4-FFF2-40B4-BE49-F238E27FC236}">
                <a16:creationId xmlns:a16="http://schemas.microsoft.com/office/drawing/2014/main" id="{CA5DE0BE-2247-E600-19F8-62852DE95A34}"/>
              </a:ext>
            </a:extLst>
          </p:cNvPr>
          <p:cNvSpPr>
            <a:spLocks noGrp="1"/>
          </p:cNvSpPr>
          <p:nvPr>
            <p:ph type="body" sz="quarter" idx="60" hasCustomPrompt="1"/>
          </p:nvPr>
        </p:nvSpPr>
        <p:spPr>
          <a:xfrm>
            <a:off x="1637603" y="9981886"/>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68" name="Text Placeholder 7">
            <a:extLst>
              <a:ext uri="{FF2B5EF4-FFF2-40B4-BE49-F238E27FC236}">
                <a16:creationId xmlns:a16="http://schemas.microsoft.com/office/drawing/2014/main" id="{7D33E875-82FA-EFBA-E610-7A1BB8D8E0D0}"/>
              </a:ext>
            </a:extLst>
          </p:cNvPr>
          <p:cNvSpPr>
            <a:spLocks noGrp="1"/>
          </p:cNvSpPr>
          <p:nvPr>
            <p:ph type="body" sz="quarter" idx="61" hasCustomPrompt="1"/>
          </p:nvPr>
        </p:nvSpPr>
        <p:spPr>
          <a:xfrm>
            <a:off x="10094409"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69" name="Text Placeholder 7">
            <a:extLst>
              <a:ext uri="{FF2B5EF4-FFF2-40B4-BE49-F238E27FC236}">
                <a16:creationId xmlns:a16="http://schemas.microsoft.com/office/drawing/2014/main" id="{16E04D83-5D56-3ED0-0106-291190FF16C1}"/>
              </a:ext>
            </a:extLst>
          </p:cNvPr>
          <p:cNvSpPr>
            <a:spLocks noGrp="1"/>
          </p:cNvSpPr>
          <p:nvPr>
            <p:ph type="body" sz="quarter" idx="62" hasCustomPrompt="1"/>
          </p:nvPr>
        </p:nvSpPr>
        <p:spPr>
          <a:xfrm>
            <a:off x="1637603" y="10669493"/>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70" name="Text Placeholder 7">
            <a:extLst>
              <a:ext uri="{FF2B5EF4-FFF2-40B4-BE49-F238E27FC236}">
                <a16:creationId xmlns:a16="http://schemas.microsoft.com/office/drawing/2014/main" id="{B72D7370-4F41-FFA7-2106-37908325FCCD}"/>
              </a:ext>
            </a:extLst>
          </p:cNvPr>
          <p:cNvSpPr>
            <a:spLocks noGrp="1"/>
          </p:cNvSpPr>
          <p:nvPr>
            <p:ph type="body" sz="quarter" idx="63" hasCustomPrompt="1"/>
          </p:nvPr>
        </p:nvSpPr>
        <p:spPr>
          <a:xfrm>
            <a:off x="18534605"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71" name="Text Placeholder 7">
            <a:extLst>
              <a:ext uri="{FF2B5EF4-FFF2-40B4-BE49-F238E27FC236}">
                <a16:creationId xmlns:a16="http://schemas.microsoft.com/office/drawing/2014/main" id="{AFF43D71-DEF4-2B0C-C6B4-BCAFBD852717}"/>
              </a:ext>
            </a:extLst>
          </p:cNvPr>
          <p:cNvSpPr>
            <a:spLocks noGrp="1"/>
          </p:cNvSpPr>
          <p:nvPr>
            <p:ph type="body" sz="quarter" idx="64" hasCustomPrompt="1"/>
          </p:nvPr>
        </p:nvSpPr>
        <p:spPr>
          <a:xfrm>
            <a:off x="18534605"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72" name="Text Placeholder 7">
            <a:extLst>
              <a:ext uri="{FF2B5EF4-FFF2-40B4-BE49-F238E27FC236}">
                <a16:creationId xmlns:a16="http://schemas.microsoft.com/office/drawing/2014/main" id="{F818D8AD-CFB5-A8CB-CABB-19C1B1AFE5BA}"/>
              </a:ext>
            </a:extLst>
          </p:cNvPr>
          <p:cNvSpPr>
            <a:spLocks noGrp="1"/>
          </p:cNvSpPr>
          <p:nvPr>
            <p:ph type="body" sz="quarter" idx="65" hasCustomPrompt="1"/>
          </p:nvPr>
        </p:nvSpPr>
        <p:spPr>
          <a:xfrm>
            <a:off x="26983113" y="9981886"/>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73" name="Text Placeholder 7">
            <a:extLst>
              <a:ext uri="{FF2B5EF4-FFF2-40B4-BE49-F238E27FC236}">
                <a16:creationId xmlns:a16="http://schemas.microsoft.com/office/drawing/2014/main" id="{23409FA5-2A41-C5C8-6575-A607630F90FC}"/>
              </a:ext>
            </a:extLst>
          </p:cNvPr>
          <p:cNvSpPr>
            <a:spLocks noGrp="1"/>
          </p:cNvSpPr>
          <p:nvPr>
            <p:ph type="body" sz="quarter" idx="66" hasCustomPrompt="1"/>
          </p:nvPr>
        </p:nvSpPr>
        <p:spPr>
          <a:xfrm>
            <a:off x="26983113" y="10669493"/>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74" name="Title 1">
            <a:extLst>
              <a:ext uri="{FF2B5EF4-FFF2-40B4-BE49-F238E27FC236}">
                <a16:creationId xmlns:a16="http://schemas.microsoft.com/office/drawing/2014/main" id="{3B193957-7130-A79D-273C-851474BDCDC0}"/>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75" name="Text Placeholder 7">
            <a:extLst>
              <a:ext uri="{FF2B5EF4-FFF2-40B4-BE49-F238E27FC236}">
                <a16:creationId xmlns:a16="http://schemas.microsoft.com/office/drawing/2014/main" id="{DA822B21-EE98-CD37-EC99-C8836B3004D5}"/>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3590059090"/>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41" name="Picture Placeholder 2">
            <a:extLst>
              <a:ext uri="{FF2B5EF4-FFF2-40B4-BE49-F238E27FC236}">
                <a16:creationId xmlns:a16="http://schemas.microsoft.com/office/drawing/2014/main" id="{5EA57D4F-DD4C-CA06-8F17-B354B7AF0AE5}"/>
              </a:ext>
            </a:extLst>
          </p:cNvPr>
          <p:cNvSpPr>
            <a:spLocks noGrp="1"/>
          </p:cNvSpPr>
          <p:nvPr>
            <p:ph type="pic" sz="quarter" idx="46"/>
          </p:nvPr>
        </p:nvSpPr>
        <p:spPr>
          <a:xfrm>
            <a:off x="1637603"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2" name="Picture Placeholder 2">
            <a:extLst>
              <a:ext uri="{FF2B5EF4-FFF2-40B4-BE49-F238E27FC236}">
                <a16:creationId xmlns:a16="http://schemas.microsoft.com/office/drawing/2014/main" id="{06F88D93-EC5D-0F4F-2D03-D40CFF157D49}"/>
              </a:ext>
            </a:extLst>
          </p:cNvPr>
          <p:cNvSpPr>
            <a:spLocks noGrp="1"/>
          </p:cNvSpPr>
          <p:nvPr>
            <p:ph type="pic" sz="quarter" idx="47"/>
          </p:nvPr>
        </p:nvSpPr>
        <p:spPr>
          <a:xfrm>
            <a:off x="10086104"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3" name="Picture Placeholder 2">
            <a:extLst>
              <a:ext uri="{FF2B5EF4-FFF2-40B4-BE49-F238E27FC236}">
                <a16:creationId xmlns:a16="http://schemas.microsoft.com/office/drawing/2014/main" id="{E2460103-C7AD-1E73-A79D-2130A59BA43E}"/>
              </a:ext>
            </a:extLst>
          </p:cNvPr>
          <p:cNvSpPr>
            <a:spLocks noGrp="1"/>
          </p:cNvSpPr>
          <p:nvPr>
            <p:ph type="pic" sz="quarter" idx="48"/>
          </p:nvPr>
        </p:nvSpPr>
        <p:spPr>
          <a:xfrm>
            <a:off x="18534606"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4" name="Picture Placeholder 2">
            <a:extLst>
              <a:ext uri="{FF2B5EF4-FFF2-40B4-BE49-F238E27FC236}">
                <a16:creationId xmlns:a16="http://schemas.microsoft.com/office/drawing/2014/main" id="{CB4626F4-FF48-A6FD-42A0-87CB9D35E8BB}"/>
              </a:ext>
            </a:extLst>
          </p:cNvPr>
          <p:cNvSpPr>
            <a:spLocks noGrp="1"/>
          </p:cNvSpPr>
          <p:nvPr>
            <p:ph type="pic" sz="quarter" idx="24"/>
          </p:nvPr>
        </p:nvSpPr>
        <p:spPr>
          <a:xfrm>
            <a:off x="18534610"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5" name="Picture Placeholder 2">
            <a:extLst>
              <a:ext uri="{FF2B5EF4-FFF2-40B4-BE49-F238E27FC236}">
                <a16:creationId xmlns:a16="http://schemas.microsoft.com/office/drawing/2014/main" id="{EBBF469D-EB9A-C1CD-A4E0-EFCD4EF63ED8}"/>
              </a:ext>
            </a:extLst>
          </p:cNvPr>
          <p:cNvSpPr>
            <a:spLocks noGrp="1"/>
          </p:cNvSpPr>
          <p:nvPr>
            <p:ph type="pic" sz="quarter" idx="20"/>
          </p:nvPr>
        </p:nvSpPr>
        <p:spPr>
          <a:xfrm>
            <a:off x="10086108"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6" name="Picture Placeholder 2">
            <a:extLst>
              <a:ext uri="{FF2B5EF4-FFF2-40B4-BE49-F238E27FC236}">
                <a16:creationId xmlns:a16="http://schemas.microsoft.com/office/drawing/2014/main" id="{398E7A27-AB90-AE4B-9C41-537061139935}"/>
              </a:ext>
            </a:extLst>
          </p:cNvPr>
          <p:cNvSpPr>
            <a:spLocks noGrp="1"/>
          </p:cNvSpPr>
          <p:nvPr>
            <p:ph type="pic" sz="quarter" idx="52"/>
          </p:nvPr>
        </p:nvSpPr>
        <p:spPr>
          <a:xfrm>
            <a:off x="1637606"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7" name="Picture Placeholder 2">
            <a:extLst>
              <a:ext uri="{FF2B5EF4-FFF2-40B4-BE49-F238E27FC236}">
                <a16:creationId xmlns:a16="http://schemas.microsoft.com/office/drawing/2014/main" id="{375CDD23-925E-31A1-C3FF-2D6ED9D05AAB}"/>
              </a:ext>
            </a:extLst>
          </p:cNvPr>
          <p:cNvSpPr>
            <a:spLocks noGrp="1"/>
          </p:cNvSpPr>
          <p:nvPr>
            <p:ph type="pic" sz="quarter" idx="28"/>
          </p:nvPr>
        </p:nvSpPr>
        <p:spPr>
          <a:xfrm>
            <a:off x="26983113"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4" name="Picture Placeholder 2">
            <a:extLst>
              <a:ext uri="{FF2B5EF4-FFF2-40B4-BE49-F238E27FC236}">
                <a16:creationId xmlns:a16="http://schemas.microsoft.com/office/drawing/2014/main" id="{15BDAD05-3EAC-DFAA-EDD1-1D9E9C002116}"/>
              </a:ext>
            </a:extLst>
          </p:cNvPr>
          <p:cNvSpPr>
            <a:spLocks noGrp="1"/>
          </p:cNvSpPr>
          <p:nvPr>
            <p:ph type="pic" sz="quarter" idx="53"/>
          </p:nvPr>
        </p:nvSpPr>
        <p:spPr>
          <a:xfrm>
            <a:off x="26968061"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5" name="Text Placeholder 7">
            <a:extLst>
              <a:ext uri="{FF2B5EF4-FFF2-40B4-BE49-F238E27FC236}">
                <a16:creationId xmlns:a16="http://schemas.microsoft.com/office/drawing/2014/main" id="{2360B2E4-D618-5423-3E76-F376EBCA0102}"/>
              </a:ext>
            </a:extLst>
          </p:cNvPr>
          <p:cNvSpPr>
            <a:spLocks noGrp="1"/>
          </p:cNvSpPr>
          <p:nvPr>
            <p:ph type="body" sz="quarter" idx="59" hasCustomPrompt="1"/>
          </p:nvPr>
        </p:nvSpPr>
        <p:spPr>
          <a:xfrm>
            <a:off x="10094409"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56" name="Text Placeholder 7">
            <a:extLst>
              <a:ext uri="{FF2B5EF4-FFF2-40B4-BE49-F238E27FC236}">
                <a16:creationId xmlns:a16="http://schemas.microsoft.com/office/drawing/2014/main" id="{AD06D986-4434-AF51-6805-3B97BBB76942}"/>
              </a:ext>
            </a:extLst>
          </p:cNvPr>
          <p:cNvSpPr>
            <a:spLocks noGrp="1"/>
          </p:cNvSpPr>
          <p:nvPr>
            <p:ph type="body" sz="quarter" idx="60" hasCustomPrompt="1"/>
          </p:nvPr>
        </p:nvSpPr>
        <p:spPr>
          <a:xfrm>
            <a:off x="1637603" y="9981886"/>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57" name="Text Placeholder 7">
            <a:extLst>
              <a:ext uri="{FF2B5EF4-FFF2-40B4-BE49-F238E27FC236}">
                <a16:creationId xmlns:a16="http://schemas.microsoft.com/office/drawing/2014/main" id="{1F515353-8B00-746C-A2DE-32E93A0F1A02}"/>
              </a:ext>
            </a:extLst>
          </p:cNvPr>
          <p:cNvSpPr>
            <a:spLocks noGrp="1"/>
          </p:cNvSpPr>
          <p:nvPr>
            <p:ph type="body" sz="quarter" idx="61" hasCustomPrompt="1"/>
          </p:nvPr>
        </p:nvSpPr>
        <p:spPr>
          <a:xfrm>
            <a:off x="10094409"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58" name="Text Placeholder 7">
            <a:extLst>
              <a:ext uri="{FF2B5EF4-FFF2-40B4-BE49-F238E27FC236}">
                <a16:creationId xmlns:a16="http://schemas.microsoft.com/office/drawing/2014/main" id="{5744BB22-B21A-41F1-3AC0-E5405D3F38B9}"/>
              </a:ext>
            </a:extLst>
          </p:cNvPr>
          <p:cNvSpPr>
            <a:spLocks noGrp="1"/>
          </p:cNvSpPr>
          <p:nvPr>
            <p:ph type="body" sz="quarter" idx="62" hasCustomPrompt="1"/>
          </p:nvPr>
        </p:nvSpPr>
        <p:spPr>
          <a:xfrm>
            <a:off x="1637603" y="10669493"/>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59" name="Text Placeholder 7">
            <a:extLst>
              <a:ext uri="{FF2B5EF4-FFF2-40B4-BE49-F238E27FC236}">
                <a16:creationId xmlns:a16="http://schemas.microsoft.com/office/drawing/2014/main" id="{8435F4BE-979D-A31E-822F-BE5B89134C2E}"/>
              </a:ext>
            </a:extLst>
          </p:cNvPr>
          <p:cNvSpPr>
            <a:spLocks noGrp="1"/>
          </p:cNvSpPr>
          <p:nvPr>
            <p:ph type="body" sz="quarter" idx="63" hasCustomPrompt="1"/>
          </p:nvPr>
        </p:nvSpPr>
        <p:spPr>
          <a:xfrm>
            <a:off x="18534605"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60" name="Text Placeholder 7">
            <a:extLst>
              <a:ext uri="{FF2B5EF4-FFF2-40B4-BE49-F238E27FC236}">
                <a16:creationId xmlns:a16="http://schemas.microsoft.com/office/drawing/2014/main" id="{677BC232-CE11-33FD-E959-01E1784345E8}"/>
              </a:ext>
            </a:extLst>
          </p:cNvPr>
          <p:cNvSpPr>
            <a:spLocks noGrp="1"/>
          </p:cNvSpPr>
          <p:nvPr>
            <p:ph type="body" sz="quarter" idx="64" hasCustomPrompt="1"/>
          </p:nvPr>
        </p:nvSpPr>
        <p:spPr>
          <a:xfrm>
            <a:off x="18534605"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61" name="Text Placeholder 7">
            <a:extLst>
              <a:ext uri="{FF2B5EF4-FFF2-40B4-BE49-F238E27FC236}">
                <a16:creationId xmlns:a16="http://schemas.microsoft.com/office/drawing/2014/main" id="{44F4CD93-1747-0EB8-E78A-72E497AAB234}"/>
              </a:ext>
            </a:extLst>
          </p:cNvPr>
          <p:cNvSpPr>
            <a:spLocks noGrp="1"/>
          </p:cNvSpPr>
          <p:nvPr>
            <p:ph type="body" sz="quarter" idx="65" hasCustomPrompt="1"/>
          </p:nvPr>
        </p:nvSpPr>
        <p:spPr>
          <a:xfrm>
            <a:off x="26983113" y="9981886"/>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62" name="Text Placeholder 7">
            <a:extLst>
              <a:ext uri="{FF2B5EF4-FFF2-40B4-BE49-F238E27FC236}">
                <a16:creationId xmlns:a16="http://schemas.microsoft.com/office/drawing/2014/main" id="{1A697863-003A-44B9-586E-527F58EF7822}"/>
              </a:ext>
            </a:extLst>
          </p:cNvPr>
          <p:cNvSpPr>
            <a:spLocks noGrp="1"/>
          </p:cNvSpPr>
          <p:nvPr>
            <p:ph type="body" sz="quarter" idx="66" hasCustomPrompt="1"/>
          </p:nvPr>
        </p:nvSpPr>
        <p:spPr>
          <a:xfrm>
            <a:off x="26983113" y="10669493"/>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63" name="Text Placeholder 7">
            <a:extLst>
              <a:ext uri="{FF2B5EF4-FFF2-40B4-BE49-F238E27FC236}">
                <a16:creationId xmlns:a16="http://schemas.microsoft.com/office/drawing/2014/main" id="{F51F4D18-0362-FD9E-AC25-A4A81A8B19E3}"/>
              </a:ext>
            </a:extLst>
          </p:cNvPr>
          <p:cNvSpPr>
            <a:spLocks noGrp="1"/>
          </p:cNvSpPr>
          <p:nvPr>
            <p:ph type="body" sz="quarter" idx="67" hasCustomPrompt="1"/>
          </p:nvPr>
        </p:nvSpPr>
        <p:spPr>
          <a:xfrm>
            <a:off x="10087333" y="17059122"/>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64" name="Text Placeholder 7">
            <a:extLst>
              <a:ext uri="{FF2B5EF4-FFF2-40B4-BE49-F238E27FC236}">
                <a16:creationId xmlns:a16="http://schemas.microsoft.com/office/drawing/2014/main" id="{53B0CD77-A671-31CB-AC75-0C7EC845BB12}"/>
              </a:ext>
            </a:extLst>
          </p:cNvPr>
          <p:cNvSpPr>
            <a:spLocks noGrp="1"/>
          </p:cNvSpPr>
          <p:nvPr>
            <p:ph type="body" sz="quarter" idx="68" hasCustomPrompt="1"/>
          </p:nvPr>
        </p:nvSpPr>
        <p:spPr>
          <a:xfrm>
            <a:off x="1630527" y="17059122"/>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75" name="Text Placeholder 7">
            <a:extLst>
              <a:ext uri="{FF2B5EF4-FFF2-40B4-BE49-F238E27FC236}">
                <a16:creationId xmlns:a16="http://schemas.microsoft.com/office/drawing/2014/main" id="{D5373FC8-B0DB-5978-E125-CA5A68C02573}"/>
              </a:ext>
            </a:extLst>
          </p:cNvPr>
          <p:cNvSpPr>
            <a:spLocks noGrp="1"/>
          </p:cNvSpPr>
          <p:nvPr>
            <p:ph type="body" sz="quarter" idx="69" hasCustomPrompt="1"/>
          </p:nvPr>
        </p:nvSpPr>
        <p:spPr>
          <a:xfrm>
            <a:off x="10087333" y="17746729"/>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76" name="Text Placeholder 7">
            <a:extLst>
              <a:ext uri="{FF2B5EF4-FFF2-40B4-BE49-F238E27FC236}">
                <a16:creationId xmlns:a16="http://schemas.microsoft.com/office/drawing/2014/main" id="{E6B03167-9698-83DC-3B32-0493773EDDC2}"/>
              </a:ext>
            </a:extLst>
          </p:cNvPr>
          <p:cNvSpPr>
            <a:spLocks noGrp="1"/>
          </p:cNvSpPr>
          <p:nvPr>
            <p:ph type="body" sz="quarter" idx="70" hasCustomPrompt="1"/>
          </p:nvPr>
        </p:nvSpPr>
        <p:spPr>
          <a:xfrm>
            <a:off x="1630527" y="17746729"/>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77" name="Text Placeholder 7">
            <a:extLst>
              <a:ext uri="{FF2B5EF4-FFF2-40B4-BE49-F238E27FC236}">
                <a16:creationId xmlns:a16="http://schemas.microsoft.com/office/drawing/2014/main" id="{A6B7D653-72EF-B0B1-6654-9E4D6E8DCA75}"/>
              </a:ext>
            </a:extLst>
          </p:cNvPr>
          <p:cNvSpPr>
            <a:spLocks noGrp="1"/>
          </p:cNvSpPr>
          <p:nvPr>
            <p:ph type="body" sz="quarter" idx="71" hasCustomPrompt="1"/>
          </p:nvPr>
        </p:nvSpPr>
        <p:spPr>
          <a:xfrm>
            <a:off x="18527529" y="17059122"/>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78" name="Text Placeholder 7">
            <a:extLst>
              <a:ext uri="{FF2B5EF4-FFF2-40B4-BE49-F238E27FC236}">
                <a16:creationId xmlns:a16="http://schemas.microsoft.com/office/drawing/2014/main" id="{68246EB6-5778-F487-E211-E6E38EDCBD39}"/>
              </a:ext>
            </a:extLst>
          </p:cNvPr>
          <p:cNvSpPr>
            <a:spLocks noGrp="1"/>
          </p:cNvSpPr>
          <p:nvPr>
            <p:ph type="body" sz="quarter" idx="72" hasCustomPrompt="1"/>
          </p:nvPr>
        </p:nvSpPr>
        <p:spPr>
          <a:xfrm>
            <a:off x="18527529" y="17746729"/>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79" name="Text Placeholder 7">
            <a:extLst>
              <a:ext uri="{FF2B5EF4-FFF2-40B4-BE49-F238E27FC236}">
                <a16:creationId xmlns:a16="http://schemas.microsoft.com/office/drawing/2014/main" id="{46E19FE0-274C-8D86-A257-C3C9C6050C55}"/>
              </a:ext>
            </a:extLst>
          </p:cNvPr>
          <p:cNvSpPr>
            <a:spLocks noGrp="1"/>
          </p:cNvSpPr>
          <p:nvPr>
            <p:ph type="body" sz="quarter" idx="73" hasCustomPrompt="1"/>
          </p:nvPr>
        </p:nvSpPr>
        <p:spPr>
          <a:xfrm>
            <a:off x="26976037" y="17059122"/>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80" name="Text Placeholder 7">
            <a:extLst>
              <a:ext uri="{FF2B5EF4-FFF2-40B4-BE49-F238E27FC236}">
                <a16:creationId xmlns:a16="http://schemas.microsoft.com/office/drawing/2014/main" id="{6EE28B31-BBFD-198B-6E2A-89E9C4CCFA8B}"/>
              </a:ext>
            </a:extLst>
          </p:cNvPr>
          <p:cNvSpPr>
            <a:spLocks noGrp="1"/>
          </p:cNvSpPr>
          <p:nvPr>
            <p:ph type="body" sz="quarter" idx="74" hasCustomPrompt="1"/>
          </p:nvPr>
        </p:nvSpPr>
        <p:spPr>
          <a:xfrm>
            <a:off x="26976037" y="17746729"/>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81" name="Title 1">
            <a:extLst>
              <a:ext uri="{FF2B5EF4-FFF2-40B4-BE49-F238E27FC236}">
                <a16:creationId xmlns:a16="http://schemas.microsoft.com/office/drawing/2014/main" id="{7782373E-DEA5-D3FA-DF0B-FC71246BA41C}"/>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82" name="Text Placeholder 7">
            <a:extLst>
              <a:ext uri="{FF2B5EF4-FFF2-40B4-BE49-F238E27FC236}">
                <a16:creationId xmlns:a16="http://schemas.microsoft.com/office/drawing/2014/main" id="{66E4B878-2BFA-C852-759E-04F4BD4E4538}"/>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2959063998"/>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37" name="Text Placeholder 7">
            <a:extLst>
              <a:ext uri="{FF2B5EF4-FFF2-40B4-BE49-F238E27FC236}">
                <a16:creationId xmlns:a16="http://schemas.microsoft.com/office/drawing/2014/main" id="{AC8872D6-E3D9-128D-6975-7E43AE049DD0}"/>
              </a:ext>
            </a:extLst>
          </p:cNvPr>
          <p:cNvSpPr>
            <a:spLocks noGrp="1"/>
          </p:cNvSpPr>
          <p:nvPr>
            <p:ph type="body" sz="quarter" idx="37" hasCustomPrompt="1"/>
          </p:nvPr>
        </p:nvSpPr>
        <p:spPr>
          <a:xfrm>
            <a:off x="11782110" y="17059122"/>
            <a:ext cx="626148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8" name="Text Placeholder 7">
            <a:extLst>
              <a:ext uri="{FF2B5EF4-FFF2-40B4-BE49-F238E27FC236}">
                <a16:creationId xmlns:a16="http://schemas.microsoft.com/office/drawing/2014/main" id="{124D63DA-1ECC-62E5-3223-DD9853116B97}"/>
              </a:ext>
            </a:extLst>
          </p:cNvPr>
          <p:cNvSpPr>
            <a:spLocks noGrp="1"/>
          </p:cNvSpPr>
          <p:nvPr>
            <p:ph type="body" sz="quarter" idx="39" hasCustomPrompt="1"/>
          </p:nvPr>
        </p:nvSpPr>
        <p:spPr>
          <a:xfrm>
            <a:off x="5037420" y="17059122"/>
            <a:ext cx="625484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48" name="Text Placeholder 7">
            <a:extLst>
              <a:ext uri="{FF2B5EF4-FFF2-40B4-BE49-F238E27FC236}">
                <a16:creationId xmlns:a16="http://schemas.microsoft.com/office/drawing/2014/main" id="{4296C6CE-75C2-58D3-2077-098855EC5071}"/>
              </a:ext>
            </a:extLst>
          </p:cNvPr>
          <p:cNvSpPr>
            <a:spLocks noGrp="1"/>
          </p:cNvSpPr>
          <p:nvPr>
            <p:ph type="body" sz="quarter" idx="40" hasCustomPrompt="1"/>
          </p:nvPr>
        </p:nvSpPr>
        <p:spPr>
          <a:xfrm>
            <a:off x="11782110" y="17727056"/>
            <a:ext cx="626148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49" name="Text Placeholder 7">
            <a:extLst>
              <a:ext uri="{FF2B5EF4-FFF2-40B4-BE49-F238E27FC236}">
                <a16:creationId xmlns:a16="http://schemas.microsoft.com/office/drawing/2014/main" id="{CB889168-9CA5-7858-11A4-7E282071DDD1}"/>
              </a:ext>
            </a:extLst>
          </p:cNvPr>
          <p:cNvSpPr>
            <a:spLocks noGrp="1"/>
          </p:cNvSpPr>
          <p:nvPr>
            <p:ph type="body" sz="quarter" idx="43" hasCustomPrompt="1"/>
          </p:nvPr>
        </p:nvSpPr>
        <p:spPr>
          <a:xfrm>
            <a:off x="5037420" y="17727056"/>
            <a:ext cx="625484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50" name="Picture Placeholder 2">
            <a:extLst>
              <a:ext uri="{FF2B5EF4-FFF2-40B4-BE49-F238E27FC236}">
                <a16:creationId xmlns:a16="http://schemas.microsoft.com/office/drawing/2014/main" id="{3F8F5E2E-FAA9-873C-63EB-B4940E3D4908}"/>
              </a:ext>
            </a:extLst>
          </p:cNvPr>
          <p:cNvSpPr>
            <a:spLocks noGrp="1"/>
          </p:cNvSpPr>
          <p:nvPr>
            <p:ph type="pic" sz="quarter" idx="46"/>
          </p:nvPr>
        </p:nvSpPr>
        <p:spPr>
          <a:xfrm>
            <a:off x="5021177"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1" name="Picture Placeholder 2">
            <a:extLst>
              <a:ext uri="{FF2B5EF4-FFF2-40B4-BE49-F238E27FC236}">
                <a16:creationId xmlns:a16="http://schemas.microsoft.com/office/drawing/2014/main" id="{119A3EE3-90A6-60F9-3E78-60D1CE1FB244}"/>
              </a:ext>
            </a:extLst>
          </p:cNvPr>
          <p:cNvSpPr>
            <a:spLocks noGrp="1"/>
          </p:cNvSpPr>
          <p:nvPr>
            <p:ph type="pic" sz="quarter" idx="47"/>
          </p:nvPr>
        </p:nvSpPr>
        <p:spPr>
          <a:xfrm>
            <a:off x="11779715"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2" name="Picture Placeholder 2">
            <a:extLst>
              <a:ext uri="{FF2B5EF4-FFF2-40B4-BE49-F238E27FC236}">
                <a16:creationId xmlns:a16="http://schemas.microsoft.com/office/drawing/2014/main" id="{C639A2E5-6B54-F354-C964-79CE29BEB3D6}"/>
              </a:ext>
            </a:extLst>
          </p:cNvPr>
          <p:cNvSpPr>
            <a:spLocks noGrp="1"/>
          </p:cNvSpPr>
          <p:nvPr>
            <p:ph type="pic" sz="quarter" idx="48"/>
          </p:nvPr>
        </p:nvSpPr>
        <p:spPr>
          <a:xfrm>
            <a:off x="25286158"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3" name="Text Placeholder 7">
            <a:extLst>
              <a:ext uri="{FF2B5EF4-FFF2-40B4-BE49-F238E27FC236}">
                <a16:creationId xmlns:a16="http://schemas.microsoft.com/office/drawing/2014/main" id="{405A4B4F-FDD8-68B8-BEC0-2C9F5E7703BC}"/>
              </a:ext>
            </a:extLst>
          </p:cNvPr>
          <p:cNvSpPr>
            <a:spLocks noGrp="1"/>
          </p:cNvSpPr>
          <p:nvPr>
            <p:ph type="body" sz="quarter" idx="50" hasCustomPrompt="1"/>
          </p:nvPr>
        </p:nvSpPr>
        <p:spPr>
          <a:xfrm>
            <a:off x="18532409" y="17059122"/>
            <a:ext cx="626364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65" name="Text Placeholder 7">
            <a:extLst>
              <a:ext uri="{FF2B5EF4-FFF2-40B4-BE49-F238E27FC236}">
                <a16:creationId xmlns:a16="http://schemas.microsoft.com/office/drawing/2014/main" id="{6A9D8994-57AB-FC46-F970-8A9BC7CAD264}"/>
              </a:ext>
            </a:extLst>
          </p:cNvPr>
          <p:cNvSpPr>
            <a:spLocks noGrp="1"/>
          </p:cNvSpPr>
          <p:nvPr>
            <p:ph type="body" sz="quarter" idx="51" hasCustomPrompt="1"/>
          </p:nvPr>
        </p:nvSpPr>
        <p:spPr>
          <a:xfrm>
            <a:off x="18532409" y="17727056"/>
            <a:ext cx="626364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66" name="Picture Placeholder 2">
            <a:extLst>
              <a:ext uri="{FF2B5EF4-FFF2-40B4-BE49-F238E27FC236}">
                <a16:creationId xmlns:a16="http://schemas.microsoft.com/office/drawing/2014/main" id="{34A2868F-2DD9-684C-4C82-813EEBD15ACA}"/>
              </a:ext>
            </a:extLst>
          </p:cNvPr>
          <p:cNvSpPr>
            <a:spLocks noGrp="1"/>
          </p:cNvSpPr>
          <p:nvPr>
            <p:ph type="pic" sz="quarter" idx="24"/>
          </p:nvPr>
        </p:nvSpPr>
        <p:spPr>
          <a:xfrm>
            <a:off x="15152060"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67" name="Picture Placeholder 2">
            <a:extLst>
              <a:ext uri="{FF2B5EF4-FFF2-40B4-BE49-F238E27FC236}">
                <a16:creationId xmlns:a16="http://schemas.microsoft.com/office/drawing/2014/main" id="{D2FB10F1-37BA-6882-EBF3-73F1E627FFB6}"/>
              </a:ext>
            </a:extLst>
          </p:cNvPr>
          <p:cNvSpPr>
            <a:spLocks noGrp="1"/>
          </p:cNvSpPr>
          <p:nvPr>
            <p:ph type="pic" sz="quarter" idx="20"/>
          </p:nvPr>
        </p:nvSpPr>
        <p:spPr>
          <a:xfrm>
            <a:off x="8394833"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68" name="Picture Placeholder 2">
            <a:extLst>
              <a:ext uri="{FF2B5EF4-FFF2-40B4-BE49-F238E27FC236}">
                <a16:creationId xmlns:a16="http://schemas.microsoft.com/office/drawing/2014/main" id="{F7972475-48C0-DE70-4A42-09E610902CE7}"/>
              </a:ext>
            </a:extLst>
          </p:cNvPr>
          <p:cNvSpPr>
            <a:spLocks noGrp="1"/>
          </p:cNvSpPr>
          <p:nvPr>
            <p:ph type="pic" sz="quarter" idx="52"/>
          </p:nvPr>
        </p:nvSpPr>
        <p:spPr>
          <a:xfrm>
            <a:off x="1637606"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69" name="Picture Placeholder 2">
            <a:extLst>
              <a:ext uri="{FF2B5EF4-FFF2-40B4-BE49-F238E27FC236}">
                <a16:creationId xmlns:a16="http://schemas.microsoft.com/office/drawing/2014/main" id="{03F70687-E13E-779B-ECD8-584B6FB4FB10}"/>
              </a:ext>
            </a:extLst>
          </p:cNvPr>
          <p:cNvSpPr>
            <a:spLocks noGrp="1"/>
          </p:cNvSpPr>
          <p:nvPr>
            <p:ph type="pic" sz="quarter" idx="28"/>
          </p:nvPr>
        </p:nvSpPr>
        <p:spPr>
          <a:xfrm>
            <a:off x="21909287"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70" name="Picture Placeholder 2">
            <a:extLst>
              <a:ext uri="{FF2B5EF4-FFF2-40B4-BE49-F238E27FC236}">
                <a16:creationId xmlns:a16="http://schemas.microsoft.com/office/drawing/2014/main" id="{EB21B6ED-31E4-7226-13B1-F2AA1B5EC045}"/>
              </a:ext>
            </a:extLst>
          </p:cNvPr>
          <p:cNvSpPr>
            <a:spLocks noGrp="1"/>
          </p:cNvSpPr>
          <p:nvPr>
            <p:ph type="pic" sz="quarter" idx="53"/>
          </p:nvPr>
        </p:nvSpPr>
        <p:spPr>
          <a:xfrm>
            <a:off x="28666515"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71" name="Picture Placeholder 2">
            <a:extLst>
              <a:ext uri="{FF2B5EF4-FFF2-40B4-BE49-F238E27FC236}">
                <a16:creationId xmlns:a16="http://schemas.microsoft.com/office/drawing/2014/main" id="{6C21D96F-4A3F-E55C-9A59-55E018F25D9C}"/>
              </a:ext>
            </a:extLst>
          </p:cNvPr>
          <p:cNvSpPr>
            <a:spLocks noGrp="1"/>
          </p:cNvSpPr>
          <p:nvPr>
            <p:ph type="pic" sz="quarter" idx="54"/>
          </p:nvPr>
        </p:nvSpPr>
        <p:spPr>
          <a:xfrm>
            <a:off x="18527620"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72" name="Text Placeholder 7">
            <a:extLst>
              <a:ext uri="{FF2B5EF4-FFF2-40B4-BE49-F238E27FC236}">
                <a16:creationId xmlns:a16="http://schemas.microsoft.com/office/drawing/2014/main" id="{485D12D2-2B06-3201-0659-EE86413C68DB}"/>
              </a:ext>
            </a:extLst>
          </p:cNvPr>
          <p:cNvSpPr>
            <a:spLocks noGrp="1"/>
          </p:cNvSpPr>
          <p:nvPr>
            <p:ph type="body" sz="quarter" idx="55" hasCustomPrompt="1"/>
          </p:nvPr>
        </p:nvSpPr>
        <p:spPr>
          <a:xfrm>
            <a:off x="25307424" y="17059122"/>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73" name="Text Placeholder 7">
            <a:extLst>
              <a:ext uri="{FF2B5EF4-FFF2-40B4-BE49-F238E27FC236}">
                <a16:creationId xmlns:a16="http://schemas.microsoft.com/office/drawing/2014/main" id="{7241A741-AE7C-3428-6194-0F6E94BF06FB}"/>
              </a:ext>
            </a:extLst>
          </p:cNvPr>
          <p:cNvSpPr>
            <a:spLocks noGrp="1"/>
          </p:cNvSpPr>
          <p:nvPr>
            <p:ph type="body" sz="quarter" idx="56" hasCustomPrompt="1"/>
          </p:nvPr>
        </p:nvSpPr>
        <p:spPr>
          <a:xfrm>
            <a:off x="25307424" y="17727056"/>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74" name="Text Placeholder 7">
            <a:extLst>
              <a:ext uri="{FF2B5EF4-FFF2-40B4-BE49-F238E27FC236}">
                <a16:creationId xmlns:a16="http://schemas.microsoft.com/office/drawing/2014/main" id="{8D28CF82-511F-AF83-F5D5-77ECB99010E2}"/>
              </a:ext>
            </a:extLst>
          </p:cNvPr>
          <p:cNvSpPr>
            <a:spLocks noGrp="1"/>
          </p:cNvSpPr>
          <p:nvPr>
            <p:ph type="body" sz="quarter" idx="57" hasCustomPrompt="1"/>
          </p:nvPr>
        </p:nvSpPr>
        <p:spPr>
          <a:xfrm>
            <a:off x="15141913"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81" name="Text Placeholder 7">
            <a:extLst>
              <a:ext uri="{FF2B5EF4-FFF2-40B4-BE49-F238E27FC236}">
                <a16:creationId xmlns:a16="http://schemas.microsoft.com/office/drawing/2014/main" id="{1439B33F-68A6-6AFE-68C2-8A0B706EE9E2}"/>
              </a:ext>
            </a:extLst>
          </p:cNvPr>
          <p:cNvSpPr>
            <a:spLocks noGrp="1"/>
          </p:cNvSpPr>
          <p:nvPr>
            <p:ph type="body" sz="quarter" idx="58" hasCustomPrompt="1"/>
          </p:nvPr>
        </p:nvSpPr>
        <p:spPr>
          <a:xfrm>
            <a:off x="8391957"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82" name="Text Placeholder 7">
            <a:extLst>
              <a:ext uri="{FF2B5EF4-FFF2-40B4-BE49-F238E27FC236}">
                <a16:creationId xmlns:a16="http://schemas.microsoft.com/office/drawing/2014/main" id="{1B9EFC83-50E5-49BB-B838-4F101E95ABDC}"/>
              </a:ext>
            </a:extLst>
          </p:cNvPr>
          <p:cNvSpPr>
            <a:spLocks noGrp="1"/>
          </p:cNvSpPr>
          <p:nvPr>
            <p:ph type="body" sz="quarter" idx="59" hasCustomPrompt="1"/>
          </p:nvPr>
        </p:nvSpPr>
        <p:spPr>
          <a:xfrm>
            <a:off x="15141913"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83" name="Text Placeholder 7">
            <a:extLst>
              <a:ext uri="{FF2B5EF4-FFF2-40B4-BE49-F238E27FC236}">
                <a16:creationId xmlns:a16="http://schemas.microsoft.com/office/drawing/2014/main" id="{BFB3F389-B76A-63C4-BC38-E857B1B0979C}"/>
              </a:ext>
            </a:extLst>
          </p:cNvPr>
          <p:cNvSpPr>
            <a:spLocks noGrp="1"/>
          </p:cNvSpPr>
          <p:nvPr>
            <p:ph type="body" sz="quarter" idx="60" hasCustomPrompt="1"/>
          </p:nvPr>
        </p:nvSpPr>
        <p:spPr>
          <a:xfrm>
            <a:off x="8391957"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84" name="Text Placeholder 7">
            <a:extLst>
              <a:ext uri="{FF2B5EF4-FFF2-40B4-BE49-F238E27FC236}">
                <a16:creationId xmlns:a16="http://schemas.microsoft.com/office/drawing/2014/main" id="{8AAEBAC8-FBC5-9068-A8B4-AEE29F8FC0A3}"/>
              </a:ext>
            </a:extLst>
          </p:cNvPr>
          <p:cNvSpPr>
            <a:spLocks noGrp="1"/>
          </p:cNvSpPr>
          <p:nvPr>
            <p:ph type="body" sz="quarter" idx="61" hasCustomPrompt="1"/>
          </p:nvPr>
        </p:nvSpPr>
        <p:spPr>
          <a:xfrm>
            <a:off x="21900662"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85" name="Text Placeholder 7">
            <a:extLst>
              <a:ext uri="{FF2B5EF4-FFF2-40B4-BE49-F238E27FC236}">
                <a16:creationId xmlns:a16="http://schemas.microsoft.com/office/drawing/2014/main" id="{A17BBB11-F155-8A2D-2741-A48639DDC938}"/>
              </a:ext>
            </a:extLst>
          </p:cNvPr>
          <p:cNvSpPr>
            <a:spLocks noGrp="1"/>
          </p:cNvSpPr>
          <p:nvPr>
            <p:ph type="body" sz="quarter" idx="62" hasCustomPrompt="1"/>
          </p:nvPr>
        </p:nvSpPr>
        <p:spPr>
          <a:xfrm>
            <a:off x="21900662"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86" name="Text Placeholder 7">
            <a:extLst>
              <a:ext uri="{FF2B5EF4-FFF2-40B4-BE49-F238E27FC236}">
                <a16:creationId xmlns:a16="http://schemas.microsoft.com/office/drawing/2014/main" id="{74BB25EE-CFA9-E005-5BB1-CAC4EA6436EA}"/>
              </a:ext>
            </a:extLst>
          </p:cNvPr>
          <p:cNvSpPr>
            <a:spLocks noGrp="1"/>
          </p:cNvSpPr>
          <p:nvPr>
            <p:ph type="body" sz="quarter" idx="63" hasCustomPrompt="1"/>
          </p:nvPr>
        </p:nvSpPr>
        <p:spPr>
          <a:xfrm>
            <a:off x="28666515" y="9981886"/>
            <a:ext cx="62639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87" name="Text Placeholder 7">
            <a:extLst>
              <a:ext uri="{FF2B5EF4-FFF2-40B4-BE49-F238E27FC236}">
                <a16:creationId xmlns:a16="http://schemas.microsoft.com/office/drawing/2014/main" id="{3505C59D-AFAD-58D3-4166-F5257E096C44}"/>
              </a:ext>
            </a:extLst>
          </p:cNvPr>
          <p:cNvSpPr>
            <a:spLocks noGrp="1"/>
          </p:cNvSpPr>
          <p:nvPr>
            <p:ph type="body" sz="quarter" idx="64" hasCustomPrompt="1"/>
          </p:nvPr>
        </p:nvSpPr>
        <p:spPr>
          <a:xfrm>
            <a:off x="28666515" y="10669493"/>
            <a:ext cx="62639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88" name="Text Placeholder 7">
            <a:extLst>
              <a:ext uri="{FF2B5EF4-FFF2-40B4-BE49-F238E27FC236}">
                <a16:creationId xmlns:a16="http://schemas.microsoft.com/office/drawing/2014/main" id="{9183A493-96AB-21A4-F2F2-55F4C25B4A32}"/>
              </a:ext>
            </a:extLst>
          </p:cNvPr>
          <p:cNvSpPr>
            <a:spLocks noGrp="1"/>
          </p:cNvSpPr>
          <p:nvPr>
            <p:ph type="body" sz="quarter" idx="65" hasCustomPrompt="1"/>
          </p:nvPr>
        </p:nvSpPr>
        <p:spPr>
          <a:xfrm>
            <a:off x="1637606"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89" name="Text Placeholder 7">
            <a:extLst>
              <a:ext uri="{FF2B5EF4-FFF2-40B4-BE49-F238E27FC236}">
                <a16:creationId xmlns:a16="http://schemas.microsoft.com/office/drawing/2014/main" id="{39F09929-49C9-A912-1E78-C37DD2A4005F}"/>
              </a:ext>
            </a:extLst>
          </p:cNvPr>
          <p:cNvSpPr>
            <a:spLocks noGrp="1"/>
          </p:cNvSpPr>
          <p:nvPr>
            <p:ph type="body" sz="quarter" idx="66" hasCustomPrompt="1"/>
          </p:nvPr>
        </p:nvSpPr>
        <p:spPr>
          <a:xfrm>
            <a:off x="1637606"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90" name="Title 1">
            <a:extLst>
              <a:ext uri="{FF2B5EF4-FFF2-40B4-BE49-F238E27FC236}">
                <a16:creationId xmlns:a16="http://schemas.microsoft.com/office/drawing/2014/main" id="{2700C3A0-30EC-1996-7732-DE4E1CF959F1}"/>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91" name="Text Placeholder 7">
            <a:extLst>
              <a:ext uri="{FF2B5EF4-FFF2-40B4-BE49-F238E27FC236}">
                <a16:creationId xmlns:a16="http://schemas.microsoft.com/office/drawing/2014/main" id="{A0EDA14A-3243-B144-7B6A-EA7981E5DC1E}"/>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1818591978"/>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39" name="Text Placeholder 7">
            <a:extLst>
              <a:ext uri="{FF2B5EF4-FFF2-40B4-BE49-F238E27FC236}">
                <a16:creationId xmlns:a16="http://schemas.microsoft.com/office/drawing/2014/main" id="{E9B94E87-6C45-B9E5-F5AE-D69D71E61652}"/>
              </a:ext>
            </a:extLst>
          </p:cNvPr>
          <p:cNvSpPr>
            <a:spLocks noGrp="1"/>
          </p:cNvSpPr>
          <p:nvPr>
            <p:ph type="body" sz="quarter" idx="37" hasCustomPrompt="1"/>
          </p:nvPr>
        </p:nvSpPr>
        <p:spPr>
          <a:xfrm>
            <a:off x="8382295" y="17059122"/>
            <a:ext cx="626148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40" name="Text Placeholder 7">
            <a:extLst>
              <a:ext uri="{FF2B5EF4-FFF2-40B4-BE49-F238E27FC236}">
                <a16:creationId xmlns:a16="http://schemas.microsoft.com/office/drawing/2014/main" id="{960A4EC5-468D-A3E6-9294-084BA073A235}"/>
              </a:ext>
            </a:extLst>
          </p:cNvPr>
          <p:cNvSpPr>
            <a:spLocks noGrp="1"/>
          </p:cNvSpPr>
          <p:nvPr>
            <p:ph type="body" sz="quarter" idx="39" hasCustomPrompt="1"/>
          </p:nvPr>
        </p:nvSpPr>
        <p:spPr>
          <a:xfrm>
            <a:off x="1637605" y="17059122"/>
            <a:ext cx="625484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42" name="Text Placeholder 7">
            <a:extLst>
              <a:ext uri="{FF2B5EF4-FFF2-40B4-BE49-F238E27FC236}">
                <a16:creationId xmlns:a16="http://schemas.microsoft.com/office/drawing/2014/main" id="{7AB65765-2201-817D-E699-AB8E899F5A05}"/>
              </a:ext>
            </a:extLst>
          </p:cNvPr>
          <p:cNvSpPr>
            <a:spLocks noGrp="1"/>
          </p:cNvSpPr>
          <p:nvPr>
            <p:ph type="body" sz="quarter" idx="40" hasCustomPrompt="1"/>
          </p:nvPr>
        </p:nvSpPr>
        <p:spPr>
          <a:xfrm>
            <a:off x="8382295" y="17727056"/>
            <a:ext cx="626148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44" name="Text Placeholder 7">
            <a:extLst>
              <a:ext uri="{FF2B5EF4-FFF2-40B4-BE49-F238E27FC236}">
                <a16:creationId xmlns:a16="http://schemas.microsoft.com/office/drawing/2014/main" id="{A54B1517-FE34-AAC0-C4EE-52F7D477D2DC}"/>
              </a:ext>
            </a:extLst>
          </p:cNvPr>
          <p:cNvSpPr>
            <a:spLocks noGrp="1"/>
          </p:cNvSpPr>
          <p:nvPr>
            <p:ph type="body" sz="quarter" idx="43" hasCustomPrompt="1"/>
          </p:nvPr>
        </p:nvSpPr>
        <p:spPr>
          <a:xfrm>
            <a:off x="1637605" y="17727056"/>
            <a:ext cx="625484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45" name="Picture Placeholder 2">
            <a:extLst>
              <a:ext uri="{FF2B5EF4-FFF2-40B4-BE49-F238E27FC236}">
                <a16:creationId xmlns:a16="http://schemas.microsoft.com/office/drawing/2014/main" id="{30BC2C71-2AC1-DDC7-734C-63EE3CA218F6}"/>
              </a:ext>
            </a:extLst>
          </p:cNvPr>
          <p:cNvSpPr>
            <a:spLocks noGrp="1"/>
          </p:cNvSpPr>
          <p:nvPr>
            <p:ph type="pic" sz="quarter" idx="46"/>
          </p:nvPr>
        </p:nvSpPr>
        <p:spPr>
          <a:xfrm>
            <a:off x="1637605"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6" name="Picture Placeholder 2">
            <a:extLst>
              <a:ext uri="{FF2B5EF4-FFF2-40B4-BE49-F238E27FC236}">
                <a16:creationId xmlns:a16="http://schemas.microsoft.com/office/drawing/2014/main" id="{4A5495BC-7C50-8C58-B54F-D3C882FECC10}"/>
              </a:ext>
            </a:extLst>
          </p:cNvPr>
          <p:cNvSpPr>
            <a:spLocks noGrp="1"/>
          </p:cNvSpPr>
          <p:nvPr>
            <p:ph type="pic" sz="quarter" idx="47"/>
          </p:nvPr>
        </p:nvSpPr>
        <p:spPr>
          <a:xfrm>
            <a:off x="8396143"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7" name="Picture Placeholder 2">
            <a:extLst>
              <a:ext uri="{FF2B5EF4-FFF2-40B4-BE49-F238E27FC236}">
                <a16:creationId xmlns:a16="http://schemas.microsoft.com/office/drawing/2014/main" id="{48C56C91-18A4-7D8E-94FC-6714566B099C}"/>
              </a:ext>
            </a:extLst>
          </p:cNvPr>
          <p:cNvSpPr>
            <a:spLocks noGrp="1"/>
          </p:cNvSpPr>
          <p:nvPr>
            <p:ph type="pic" sz="quarter" idx="48"/>
          </p:nvPr>
        </p:nvSpPr>
        <p:spPr>
          <a:xfrm>
            <a:off x="21902586"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4" name="Text Placeholder 7">
            <a:extLst>
              <a:ext uri="{FF2B5EF4-FFF2-40B4-BE49-F238E27FC236}">
                <a16:creationId xmlns:a16="http://schemas.microsoft.com/office/drawing/2014/main" id="{528A02C1-AD1D-1EE4-C6AC-3B590D527780}"/>
              </a:ext>
            </a:extLst>
          </p:cNvPr>
          <p:cNvSpPr>
            <a:spLocks noGrp="1"/>
          </p:cNvSpPr>
          <p:nvPr>
            <p:ph type="body" sz="quarter" idx="50" hasCustomPrompt="1"/>
          </p:nvPr>
        </p:nvSpPr>
        <p:spPr>
          <a:xfrm>
            <a:off x="15132594" y="17059122"/>
            <a:ext cx="626364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55" name="Text Placeholder 7">
            <a:extLst>
              <a:ext uri="{FF2B5EF4-FFF2-40B4-BE49-F238E27FC236}">
                <a16:creationId xmlns:a16="http://schemas.microsoft.com/office/drawing/2014/main" id="{F1D675D5-3EFF-B8AD-BA35-187E996A9B67}"/>
              </a:ext>
            </a:extLst>
          </p:cNvPr>
          <p:cNvSpPr>
            <a:spLocks noGrp="1"/>
          </p:cNvSpPr>
          <p:nvPr>
            <p:ph type="body" sz="quarter" idx="51" hasCustomPrompt="1"/>
          </p:nvPr>
        </p:nvSpPr>
        <p:spPr>
          <a:xfrm>
            <a:off x="15132594" y="17727056"/>
            <a:ext cx="626364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56" name="Picture Placeholder 2">
            <a:extLst>
              <a:ext uri="{FF2B5EF4-FFF2-40B4-BE49-F238E27FC236}">
                <a16:creationId xmlns:a16="http://schemas.microsoft.com/office/drawing/2014/main" id="{F1029ABF-1C3A-2F51-92CB-AA5A3AC353FE}"/>
              </a:ext>
            </a:extLst>
          </p:cNvPr>
          <p:cNvSpPr>
            <a:spLocks noGrp="1"/>
          </p:cNvSpPr>
          <p:nvPr>
            <p:ph type="pic" sz="quarter" idx="24"/>
          </p:nvPr>
        </p:nvSpPr>
        <p:spPr>
          <a:xfrm>
            <a:off x="15152060"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7" name="Picture Placeholder 2">
            <a:extLst>
              <a:ext uri="{FF2B5EF4-FFF2-40B4-BE49-F238E27FC236}">
                <a16:creationId xmlns:a16="http://schemas.microsoft.com/office/drawing/2014/main" id="{8FE2B66F-F99F-570D-A31D-3578C4B3B179}"/>
              </a:ext>
            </a:extLst>
          </p:cNvPr>
          <p:cNvSpPr>
            <a:spLocks noGrp="1"/>
          </p:cNvSpPr>
          <p:nvPr>
            <p:ph type="pic" sz="quarter" idx="20"/>
          </p:nvPr>
        </p:nvSpPr>
        <p:spPr>
          <a:xfrm>
            <a:off x="8394833"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8" name="Picture Placeholder 2">
            <a:extLst>
              <a:ext uri="{FF2B5EF4-FFF2-40B4-BE49-F238E27FC236}">
                <a16:creationId xmlns:a16="http://schemas.microsoft.com/office/drawing/2014/main" id="{42FEAB60-4C6E-41A0-FC52-815836156837}"/>
              </a:ext>
            </a:extLst>
          </p:cNvPr>
          <p:cNvSpPr>
            <a:spLocks noGrp="1"/>
          </p:cNvSpPr>
          <p:nvPr>
            <p:ph type="pic" sz="quarter" idx="52"/>
          </p:nvPr>
        </p:nvSpPr>
        <p:spPr>
          <a:xfrm>
            <a:off x="1637606"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9" name="Picture Placeholder 2">
            <a:extLst>
              <a:ext uri="{FF2B5EF4-FFF2-40B4-BE49-F238E27FC236}">
                <a16:creationId xmlns:a16="http://schemas.microsoft.com/office/drawing/2014/main" id="{A2963118-2A95-082A-4DFF-6C0DA33F59BA}"/>
              </a:ext>
            </a:extLst>
          </p:cNvPr>
          <p:cNvSpPr>
            <a:spLocks noGrp="1"/>
          </p:cNvSpPr>
          <p:nvPr>
            <p:ph type="pic" sz="quarter" idx="28"/>
          </p:nvPr>
        </p:nvSpPr>
        <p:spPr>
          <a:xfrm>
            <a:off x="21909287"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60" name="Picture Placeholder 2">
            <a:extLst>
              <a:ext uri="{FF2B5EF4-FFF2-40B4-BE49-F238E27FC236}">
                <a16:creationId xmlns:a16="http://schemas.microsoft.com/office/drawing/2014/main" id="{F1791F3A-0E82-06A9-0588-000305CD1590}"/>
              </a:ext>
            </a:extLst>
          </p:cNvPr>
          <p:cNvSpPr>
            <a:spLocks noGrp="1"/>
          </p:cNvSpPr>
          <p:nvPr>
            <p:ph type="pic" sz="quarter" idx="53"/>
          </p:nvPr>
        </p:nvSpPr>
        <p:spPr>
          <a:xfrm>
            <a:off x="28666515"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61" name="Picture Placeholder 2">
            <a:extLst>
              <a:ext uri="{FF2B5EF4-FFF2-40B4-BE49-F238E27FC236}">
                <a16:creationId xmlns:a16="http://schemas.microsoft.com/office/drawing/2014/main" id="{7E0D42E0-350E-2247-45F3-56D42F8A4B66}"/>
              </a:ext>
            </a:extLst>
          </p:cNvPr>
          <p:cNvSpPr>
            <a:spLocks noGrp="1"/>
          </p:cNvSpPr>
          <p:nvPr>
            <p:ph type="pic" sz="quarter" idx="54"/>
          </p:nvPr>
        </p:nvSpPr>
        <p:spPr>
          <a:xfrm>
            <a:off x="15144048"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62" name="Text Placeholder 7">
            <a:extLst>
              <a:ext uri="{FF2B5EF4-FFF2-40B4-BE49-F238E27FC236}">
                <a16:creationId xmlns:a16="http://schemas.microsoft.com/office/drawing/2014/main" id="{A7640883-7B53-617D-BE12-A19E85F82D74}"/>
              </a:ext>
            </a:extLst>
          </p:cNvPr>
          <p:cNvSpPr>
            <a:spLocks noGrp="1"/>
          </p:cNvSpPr>
          <p:nvPr>
            <p:ph type="body" sz="quarter" idx="55" hasCustomPrompt="1"/>
          </p:nvPr>
        </p:nvSpPr>
        <p:spPr>
          <a:xfrm>
            <a:off x="21907609" y="17059122"/>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63" name="Text Placeholder 7">
            <a:extLst>
              <a:ext uri="{FF2B5EF4-FFF2-40B4-BE49-F238E27FC236}">
                <a16:creationId xmlns:a16="http://schemas.microsoft.com/office/drawing/2014/main" id="{D9B189E3-4BDB-A032-87AD-39D194013B83}"/>
              </a:ext>
            </a:extLst>
          </p:cNvPr>
          <p:cNvSpPr>
            <a:spLocks noGrp="1"/>
          </p:cNvSpPr>
          <p:nvPr>
            <p:ph type="body" sz="quarter" idx="56" hasCustomPrompt="1"/>
          </p:nvPr>
        </p:nvSpPr>
        <p:spPr>
          <a:xfrm>
            <a:off x="21907609" y="17727056"/>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64" name="Text Placeholder 7">
            <a:extLst>
              <a:ext uri="{FF2B5EF4-FFF2-40B4-BE49-F238E27FC236}">
                <a16:creationId xmlns:a16="http://schemas.microsoft.com/office/drawing/2014/main" id="{2A34B9E8-CFB0-ABCC-D2C4-A8F174FDB901}"/>
              </a:ext>
            </a:extLst>
          </p:cNvPr>
          <p:cNvSpPr>
            <a:spLocks noGrp="1"/>
          </p:cNvSpPr>
          <p:nvPr>
            <p:ph type="body" sz="quarter" idx="57" hasCustomPrompt="1"/>
          </p:nvPr>
        </p:nvSpPr>
        <p:spPr>
          <a:xfrm>
            <a:off x="15141913"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75" name="Text Placeholder 7">
            <a:extLst>
              <a:ext uri="{FF2B5EF4-FFF2-40B4-BE49-F238E27FC236}">
                <a16:creationId xmlns:a16="http://schemas.microsoft.com/office/drawing/2014/main" id="{716C5C95-2BC4-4D5A-9F5E-FA8B8CECBF63}"/>
              </a:ext>
            </a:extLst>
          </p:cNvPr>
          <p:cNvSpPr>
            <a:spLocks noGrp="1"/>
          </p:cNvSpPr>
          <p:nvPr>
            <p:ph type="body" sz="quarter" idx="58" hasCustomPrompt="1"/>
          </p:nvPr>
        </p:nvSpPr>
        <p:spPr>
          <a:xfrm>
            <a:off x="8391957"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76" name="Text Placeholder 7">
            <a:extLst>
              <a:ext uri="{FF2B5EF4-FFF2-40B4-BE49-F238E27FC236}">
                <a16:creationId xmlns:a16="http://schemas.microsoft.com/office/drawing/2014/main" id="{471A9256-6A6C-5C2D-1DEA-813569F4D299}"/>
              </a:ext>
            </a:extLst>
          </p:cNvPr>
          <p:cNvSpPr>
            <a:spLocks noGrp="1"/>
          </p:cNvSpPr>
          <p:nvPr>
            <p:ph type="body" sz="quarter" idx="59" hasCustomPrompt="1"/>
          </p:nvPr>
        </p:nvSpPr>
        <p:spPr>
          <a:xfrm>
            <a:off x="15141913"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77" name="Text Placeholder 7">
            <a:extLst>
              <a:ext uri="{FF2B5EF4-FFF2-40B4-BE49-F238E27FC236}">
                <a16:creationId xmlns:a16="http://schemas.microsoft.com/office/drawing/2014/main" id="{43D755B0-CB88-73DF-77BE-F524AF555427}"/>
              </a:ext>
            </a:extLst>
          </p:cNvPr>
          <p:cNvSpPr>
            <a:spLocks noGrp="1"/>
          </p:cNvSpPr>
          <p:nvPr>
            <p:ph type="body" sz="quarter" idx="60" hasCustomPrompt="1"/>
          </p:nvPr>
        </p:nvSpPr>
        <p:spPr>
          <a:xfrm>
            <a:off x="8391957"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78" name="Text Placeholder 7">
            <a:extLst>
              <a:ext uri="{FF2B5EF4-FFF2-40B4-BE49-F238E27FC236}">
                <a16:creationId xmlns:a16="http://schemas.microsoft.com/office/drawing/2014/main" id="{3198CB65-E1BB-0862-2BBA-EDF38803C3B4}"/>
              </a:ext>
            </a:extLst>
          </p:cNvPr>
          <p:cNvSpPr>
            <a:spLocks noGrp="1"/>
          </p:cNvSpPr>
          <p:nvPr>
            <p:ph type="body" sz="quarter" idx="61" hasCustomPrompt="1"/>
          </p:nvPr>
        </p:nvSpPr>
        <p:spPr>
          <a:xfrm>
            <a:off x="21900662"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79" name="Text Placeholder 7">
            <a:extLst>
              <a:ext uri="{FF2B5EF4-FFF2-40B4-BE49-F238E27FC236}">
                <a16:creationId xmlns:a16="http://schemas.microsoft.com/office/drawing/2014/main" id="{D76AC962-A132-DA02-DE26-644561C88B3B}"/>
              </a:ext>
            </a:extLst>
          </p:cNvPr>
          <p:cNvSpPr>
            <a:spLocks noGrp="1"/>
          </p:cNvSpPr>
          <p:nvPr>
            <p:ph type="body" sz="quarter" idx="62" hasCustomPrompt="1"/>
          </p:nvPr>
        </p:nvSpPr>
        <p:spPr>
          <a:xfrm>
            <a:off x="21900662"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80" name="Text Placeholder 7">
            <a:extLst>
              <a:ext uri="{FF2B5EF4-FFF2-40B4-BE49-F238E27FC236}">
                <a16:creationId xmlns:a16="http://schemas.microsoft.com/office/drawing/2014/main" id="{7EC2D322-35AF-3168-CAE7-F7242C22DE6D}"/>
              </a:ext>
            </a:extLst>
          </p:cNvPr>
          <p:cNvSpPr>
            <a:spLocks noGrp="1"/>
          </p:cNvSpPr>
          <p:nvPr>
            <p:ph type="body" sz="quarter" idx="63" hasCustomPrompt="1"/>
          </p:nvPr>
        </p:nvSpPr>
        <p:spPr>
          <a:xfrm>
            <a:off x="28666515" y="9981886"/>
            <a:ext cx="62639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90" name="Text Placeholder 7">
            <a:extLst>
              <a:ext uri="{FF2B5EF4-FFF2-40B4-BE49-F238E27FC236}">
                <a16:creationId xmlns:a16="http://schemas.microsoft.com/office/drawing/2014/main" id="{B0179DD1-4F77-A229-F54C-117D786F649E}"/>
              </a:ext>
            </a:extLst>
          </p:cNvPr>
          <p:cNvSpPr>
            <a:spLocks noGrp="1"/>
          </p:cNvSpPr>
          <p:nvPr>
            <p:ph type="body" sz="quarter" idx="64" hasCustomPrompt="1"/>
          </p:nvPr>
        </p:nvSpPr>
        <p:spPr>
          <a:xfrm>
            <a:off x="28666515" y="10669493"/>
            <a:ext cx="62639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91" name="Picture Placeholder 2">
            <a:extLst>
              <a:ext uri="{FF2B5EF4-FFF2-40B4-BE49-F238E27FC236}">
                <a16:creationId xmlns:a16="http://schemas.microsoft.com/office/drawing/2014/main" id="{1B3ED7E6-3440-4DEC-6512-E64B9960C25B}"/>
              </a:ext>
            </a:extLst>
          </p:cNvPr>
          <p:cNvSpPr>
            <a:spLocks noGrp="1"/>
          </p:cNvSpPr>
          <p:nvPr>
            <p:ph type="pic" sz="quarter" idx="65"/>
          </p:nvPr>
        </p:nvSpPr>
        <p:spPr>
          <a:xfrm>
            <a:off x="28661124"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92" name="Text Placeholder 7">
            <a:extLst>
              <a:ext uri="{FF2B5EF4-FFF2-40B4-BE49-F238E27FC236}">
                <a16:creationId xmlns:a16="http://schemas.microsoft.com/office/drawing/2014/main" id="{9C3AE372-0E56-771E-CCB5-C1E77A38D343}"/>
              </a:ext>
            </a:extLst>
          </p:cNvPr>
          <p:cNvSpPr>
            <a:spLocks noGrp="1"/>
          </p:cNvSpPr>
          <p:nvPr>
            <p:ph type="body" sz="quarter" idx="66" hasCustomPrompt="1"/>
          </p:nvPr>
        </p:nvSpPr>
        <p:spPr>
          <a:xfrm>
            <a:off x="28644881" y="17103569"/>
            <a:ext cx="62639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93" name="Text Placeholder 7">
            <a:extLst>
              <a:ext uri="{FF2B5EF4-FFF2-40B4-BE49-F238E27FC236}">
                <a16:creationId xmlns:a16="http://schemas.microsoft.com/office/drawing/2014/main" id="{F415D1AB-B98D-8EC8-08B0-3DAD5A3D8CB4}"/>
              </a:ext>
            </a:extLst>
          </p:cNvPr>
          <p:cNvSpPr>
            <a:spLocks noGrp="1"/>
          </p:cNvSpPr>
          <p:nvPr>
            <p:ph type="body" sz="quarter" idx="67" hasCustomPrompt="1"/>
          </p:nvPr>
        </p:nvSpPr>
        <p:spPr>
          <a:xfrm>
            <a:off x="28644881" y="17791176"/>
            <a:ext cx="62639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94" name="Text Placeholder 7">
            <a:extLst>
              <a:ext uri="{FF2B5EF4-FFF2-40B4-BE49-F238E27FC236}">
                <a16:creationId xmlns:a16="http://schemas.microsoft.com/office/drawing/2014/main" id="{5A71691E-DD29-C12F-E295-A972376CE117}"/>
              </a:ext>
            </a:extLst>
          </p:cNvPr>
          <p:cNvSpPr>
            <a:spLocks noGrp="1"/>
          </p:cNvSpPr>
          <p:nvPr>
            <p:ph type="body" sz="quarter" idx="68" hasCustomPrompt="1"/>
          </p:nvPr>
        </p:nvSpPr>
        <p:spPr>
          <a:xfrm>
            <a:off x="1637606"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95" name="Text Placeholder 7">
            <a:extLst>
              <a:ext uri="{FF2B5EF4-FFF2-40B4-BE49-F238E27FC236}">
                <a16:creationId xmlns:a16="http://schemas.microsoft.com/office/drawing/2014/main" id="{909DF864-DBFA-F92D-B685-429A430B2601}"/>
              </a:ext>
            </a:extLst>
          </p:cNvPr>
          <p:cNvSpPr>
            <a:spLocks noGrp="1"/>
          </p:cNvSpPr>
          <p:nvPr>
            <p:ph type="body" sz="quarter" idx="69" hasCustomPrompt="1"/>
          </p:nvPr>
        </p:nvSpPr>
        <p:spPr>
          <a:xfrm>
            <a:off x="1637606"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96" name="Title 1">
            <a:extLst>
              <a:ext uri="{FF2B5EF4-FFF2-40B4-BE49-F238E27FC236}">
                <a16:creationId xmlns:a16="http://schemas.microsoft.com/office/drawing/2014/main" id="{4AD4D5AB-34C6-812D-8AD2-BF8272B62835}"/>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97" name="Text Placeholder 7">
            <a:extLst>
              <a:ext uri="{FF2B5EF4-FFF2-40B4-BE49-F238E27FC236}">
                <a16:creationId xmlns:a16="http://schemas.microsoft.com/office/drawing/2014/main" id="{B1FCE4BF-7751-CC7B-D446-A5791D382E69}"/>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3322413346"/>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Use Case Layou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FC72E11-DD16-4EAC-A294-E115038AA2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Picture Placeholder 2">
            <a:extLst>
              <a:ext uri="{FF2B5EF4-FFF2-40B4-BE49-F238E27FC236}">
                <a16:creationId xmlns:a16="http://schemas.microsoft.com/office/drawing/2014/main" id="{377920F6-AC26-4611-AAD3-44D6CEA3FBAE}"/>
              </a:ext>
            </a:extLst>
          </p:cNvPr>
          <p:cNvSpPr>
            <a:spLocks noGrp="1"/>
          </p:cNvSpPr>
          <p:nvPr>
            <p:ph type="pic" sz="quarter" idx="11" hasCustomPrompt="1"/>
          </p:nvPr>
        </p:nvSpPr>
        <p:spPr>
          <a:xfrm>
            <a:off x="0" y="0"/>
            <a:ext cx="36576000" cy="20574000"/>
          </a:xfrm>
          <a:prstGeom prst="rect">
            <a:avLst/>
          </a:prstGeom>
          <a:solidFill>
            <a:schemeClr val="tx1">
              <a:lumMod val="95000"/>
            </a:schemeClr>
          </a:solidFill>
          <a:ln w="19050">
            <a:noFill/>
          </a:ln>
        </p:spPr>
        <p:txBody>
          <a:bodyPr tIns="0" bIns="4206240" anchor="ctr"/>
          <a:lstStyle>
            <a:lvl1pPr marL="0" indent="0" algn="ctr">
              <a:buFontTx/>
              <a:buNone/>
              <a:defRPr sz="7200">
                <a:solidFill>
                  <a:schemeClr val="bg1"/>
                </a:solidFill>
                <a:latin typeface="+mn-lt"/>
              </a:defRPr>
            </a:lvl1pPr>
          </a:lstStyle>
          <a:p>
            <a:r>
              <a:rPr lang="en-US" dirty="0"/>
              <a:t>Click to add image</a:t>
            </a:r>
          </a:p>
        </p:txBody>
      </p:sp>
    </p:spTree>
    <p:extLst>
      <p:ext uri="{BB962C8B-B14F-4D97-AF65-F5344CB8AC3E}">
        <p14:creationId xmlns:p14="http://schemas.microsoft.com/office/powerpoint/2010/main" val="1130100509"/>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Demo - Image Layou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FC72E11-DD16-4EAC-A294-E115038AA2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Picture Placeholder 2">
            <a:extLst>
              <a:ext uri="{FF2B5EF4-FFF2-40B4-BE49-F238E27FC236}">
                <a16:creationId xmlns:a16="http://schemas.microsoft.com/office/drawing/2014/main" id="{377920F6-AC26-4611-AAD3-44D6CEA3FBAE}"/>
              </a:ext>
            </a:extLst>
          </p:cNvPr>
          <p:cNvSpPr>
            <a:spLocks noGrp="1"/>
          </p:cNvSpPr>
          <p:nvPr>
            <p:ph type="pic" sz="quarter" idx="11" hasCustomPrompt="1"/>
          </p:nvPr>
        </p:nvSpPr>
        <p:spPr>
          <a:xfrm>
            <a:off x="0" y="0"/>
            <a:ext cx="36576000" cy="20574000"/>
          </a:xfrm>
          <a:prstGeom prst="rect">
            <a:avLst/>
          </a:prstGeom>
          <a:solidFill>
            <a:schemeClr val="tx1">
              <a:lumMod val="95000"/>
            </a:schemeClr>
          </a:solidFill>
          <a:ln w="19050">
            <a:noFill/>
          </a:ln>
        </p:spPr>
        <p:txBody>
          <a:bodyPr tIns="0" bIns="4206240" anchor="ctr"/>
          <a:lstStyle>
            <a:lvl1pPr marL="0" indent="0" algn="ctr">
              <a:buFontTx/>
              <a:buNone/>
              <a:defRPr sz="7200">
                <a:solidFill>
                  <a:schemeClr val="bg1"/>
                </a:solidFill>
                <a:latin typeface="+mn-lt"/>
              </a:defRPr>
            </a:lvl1pPr>
          </a:lstStyle>
          <a:p>
            <a:r>
              <a:rPr lang="en-US" dirty="0"/>
              <a:t>Click to add image of video/demo</a:t>
            </a:r>
          </a:p>
        </p:txBody>
      </p:sp>
    </p:spTree>
    <p:extLst>
      <p:ext uri="{BB962C8B-B14F-4D97-AF65-F5344CB8AC3E}">
        <p14:creationId xmlns:p14="http://schemas.microsoft.com/office/powerpoint/2010/main" val="3390819932"/>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emo - Insert Video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F834EEA-7CA3-4C82-B29B-3EA15B8822C9}"/>
              </a:ext>
            </a:extLst>
          </p:cNvPr>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17" name="Media Placeholder 7">
            <a:extLst>
              <a:ext uri="{FF2B5EF4-FFF2-40B4-BE49-F238E27FC236}">
                <a16:creationId xmlns:a16="http://schemas.microsoft.com/office/drawing/2014/main" id="{95086AA8-FFA8-416F-AD2F-0B7223809227}"/>
              </a:ext>
            </a:extLst>
          </p:cNvPr>
          <p:cNvSpPr>
            <a:spLocks noGrp="1"/>
          </p:cNvSpPr>
          <p:nvPr>
            <p:ph type="media" sz="quarter" idx="11" hasCustomPrompt="1"/>
          </p:nvPr>
        </p:nvSpPr>
        <p:spPr>
          <a:xfrm>
            <a:off x="0" y="0"/>
            <a:ext cx="36576000" cy="20574000"/>
          </a:xfrm>
          <a:prstGeom prst="rect">
            <a:avLst/>
          </a:prstGeom>
          <a:solidFill>
            <a:schemeClr val="tx1">
              <a:lumMod val="95000"/>
            </a:schemeClr>
          </a:solidFill>
          <a:ln w="19050">
            <a:noFill/>
          </a:ln>
        </p:spPr>
        <p:txBody>
          <a:bodyPr tIns="0" bIns="4206240" anchor="ctr"/>
          <a:lstStyle>
            <a:lvl1pPr marL="0" indent="0" algn="ctr">
              <a:buFontTx/>
              <a:buNone/>
              <a:defRPr lang="en-US" sz="8400" b="1" dirty="0">
                <a:solidFill>
                  <a:schemeClr val="bg1"/>
                </a:solidFill>
                <a:latin typeface="+mn-lt"/>
              </a:defRPr>
            </a:lvl1pPr>
          </a:lstStyle>
          <a:p>
            <a:pPr marL="857250" lvl="0" indent="-857250" algn="ctr"/>
            <a:r>
              <a:rPr lang="en-US" dirty="0"/>
              <a:t>Click to add video</a:t>
            </a:r>
          </a:p>
        </p:txBody>
      </p:sp>
    </p:spTree>
    <p:extLst>
      <p:ext uri="{BB962C8B-B14F-4D97-AF65-F5344CB8AC3E}">
        <p14:creationId xmlns:p14="http://schemas.microsoft.com/office/powerpoint/2010/main" val="2602793038"/>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pic>
        <p:nvPicPr>
          <p:cNvPr id="3" name="Picture 2" descr="A green and white background&#10;&#10;Description automatically generated">
            <a:extLst>
              <a:ext uri="{FF2B5EF4-FFF2-40B4-BE49-F238E27FC236}">
                <a16:creationId xmlns:a16="http://schemas.microsoft.com/office/drawing/2014/main" id="{708A9C7D-B92D-A13B-AE0E-7F3EA434A10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Rectangle 4">
            <a:extLst>
              <a:ext uri="{FF2B5EF4-FFF2-40B4-BE49-F238E27FC236}">
                <a16:creationId xmlns:a16="http://schemas.microsoft.com/office/drawing/2014/main" id="{6F1316F0-7ADD-BB87-23BE-740C3B3B0100}"/>
              </a:ext>
            </a:extLst>
          </p:cNvPr>
          <p:cNvSpPr/>
          <p:nvPr userDrawn="1"/>
        </p:nvSpPr>
        <p:spPr>
          <a:xfrm>
            <a:off x="0" y="6963916"/>
            <a:ext cx="36576000" cy="13610084"/>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cxnSp>
        <p:nvCxnSpPr>
          <p:cNvPr id="6" name="Straight Connector 5">
            <a:extLst>
              <a:ext uri="{FF2B5EF4-FFF2-40B4-BE49-F238E27FC236}">
                <a16:creationId xmlns:a16="http://schemas.microsoft.com/office/drawing/2014/main" id="{CB1478E8-E56F-B47D-1F5A-CBA4655161C3}"/>
              </a:ext>
            </a:extLst>
          </p:cNvPr>
          <p:cNvCxnSpPr/>
          <p:nvPr userDrawn="1"/>
        </p:nvCxnSpPr>
        <p:spPr>
          <a:xfrm>
            <a:off x="0" y="11329275"/>
            <a:ext cx="36576000" cy="0"/>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2514600" y="0"/>
            <a:ext cx="31546800" cy="2514601"/>
          </a:xfrm>
        </p:spPr>
        <p:txBody>
          <a:bodyPr/>
          <a:lstStyle>
            <a:lvl1pPr>
              <a:defRPr sz="7200" b="1" cap="none">
                <a:solidFill>
                  <a:schemeClr val="bg1"/>
                </a:solidFill>
                <a:latin typeface="NVIDIA Sans" panose="020B0503020203020204" pitchFamily="34" charset="0"/>
                <a:cs typeface="NVIDIA Sans" panose="020B0503020203020204" pitchFamily="34" charset="0"/>
              </a:defRPr>
            </a:lvl1pPr>
          </a:lstStyle>
          <a:p>
            <a:r>
              <a:rPr lang="en-US" dirty="0"/>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30660233"/>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mplex_Timeline">
    <p:spTree>
      <p:nvGrpSpPr>
        <p:cNvPr id="1" name=""/>
        <p:cNvGrpSpPr/>
        <p:nvPr/>
      </p:nvGrpSpPr>
      <p:grpSpPr>
        <a:xfrm>
          <a:off x="0" y="0"/>
          <a:ext cx="0" cy="0"/>
          <a:chOff x="0" y="0"/>
          <a:chExt cx="0" cy="0"/>
        </a:xfrm>
      </p:grpSpPr>
      <p:pic>
        <p:nvPicPr>
          <p:cNvPr id="4" name="Picture 3" descr="A green and white background&#10;&#10;Description automatically generated">
            <a:extLst>
              <a:ext uri="{FF2B5EF4-FFF2-40B4-BE49-F238E27FC236}">
                <a16:creationId xmlns:a16="http://schemas.microsoft.com/office/drawing/2014/main" id="{868E8BC8-DCAA-6E80-5181-5371045BDE5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Rectangle 4">
            <a:extLst>
              <a:ext uri="{FF2B5EF4-FFF2-40B4-BE49-F238E27FC236}">
                <a16:creationId xmlns:a16="http://schemas.microsoft.com/office/drawing/2014/main" id="{D046080A-6CDE-3FF2-A128-47CFF5F0C9C5}"/>
              </a:ext>
            </a:extLst>
          </p:cNvPr>
          <p:cNvSpPr/>
          <p:nvPr userDrawn="1"/>
        </p:nvSpPr>
        <p:spPr>
          <a:xfrm>
            <a:off x="0" y="6963916"/>
            <a:ext cx="36576000" cy="13610084"/>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2514600" y="0"/>
            <a:ext cx="31546800" cy="2514601"/>
          </a:xfrm>
        </p:spPr>
        <p:txBody>
          <a:bodyPr/>
          <a:lstStyle>
            <a:lvl1pPr>
              <a:defRPr sz="7200" b="1" cap="none">
                <a:solidFill>
                  <a:schemeClr val="bg1"/>
                </a:solidFill>
                <a:latin typeface="NVIDIA Sans" panose="020B0503020203020204" pitchFamily="34" charset="0"/>
                <a:cs typeface="NVIDIA Sans" panose="020B0503020203020204" pitchFamily="34" charset="0"/>
              </a:defRPr>
            </a:lvl1pPr>
          </a:lstStyle>
          <a:p>
            <a:r>
              <a:rPr lang="en-US" dirty="0"/>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1947985491"/>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meline w/ Images Layout">
    <p:spTree>
      <p:nvGrpSpPr>
        <p:cNvPr id="1" name=""/>
        <p:cNvGrpSpPr/>
        <p:nvPr/>
      </p:nvGrpSpPr>
      <p:grpSpPr>
        <a:xfrm>
          <a:off x="0" y="0"/>
          <a:ext cx="0" cy="0"/>
          <a:chOff x="0" y="0"/>
          <a:chExt cx="0" cy="0"/>
        </a:xfrm>
      </p:grpSpPr>
      <p:pic>
        <p:nvPicPr>
          <p:cNvPr id="4" name="Picture 3" descr="A green and white background&#10;&#10;Description automatically generated">
            <a:extLst>
              <a:ext uri="{FF2B5EF4-FFF2-40B4-BE49-F238E27FC236}">
                <a16:creationId xmlns:a16="http://schemas.microsoft.com/office/drawing/2014/main" id="{19281CF6-82C4-D591-C93F-79BF14277CD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Rectangle 4">
            <a:extLst>
              <a:ext uri="{FF2B5EF4-FFF2-40B4-BE49-F238E27FC236}">
                <a16:creationId xmlns:a16="http://schemas.microsoft.com/office/drawing/2014/main" id="{8C0EE250-813A-B3FC-C9DB-11B6E237EC3B}"/>
              </a:ext>
            </a:extLst>
          </p:cNvPr>
          <p:cNvSpPr/>
          <p:nvPr userDrawn="1"/>
        </p:nvSpPr>
        <p:spPr>
          <a:xfrm>
            <a:off x="0" y="6963916"/>
            <a:ext cx="36576000" cy="13610084"/>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2514600" y="0"/>
            <a:ext cx="31546800" cy="2514601"/>
          </a:xfrm>
        </p:spPr>
        <p:txBody>
          <a:bodyPr/>
          <a:lstStyle>
            <a:lvl1pPr>
              <a:defRPr sz="7200" b="1" cap="none">
                <a:solidFill>
                  <a:schemeClr val="bg1"/>
                </a:solidFill>
                <a:latin typeface="NVIDIA Sans" panose="020B0503020203020204" pitchFamily="34" charset="0"/>
                <a:cs typeface="NVIDIA Sans" panose="020B0503020203020204" pitchFamily="34" charset="0"/>
              </a:defRPr>
            </a:lvl1pPr>
          </a:lstStyle>
          <a:p>
            <a:r>
              <a:rPr lang="en-US" dirty="0"/>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cxnSp>
        <p:nvCxnSpPr>
          <p:cNvPr id="12" name="Straight Connector 11">
            <a:extLst>
              <a:ext uri="{FF2B5EF4-FFF2-40B4-BE49-F238E27FC236}">
                <a16:creationId xmlns:a16="http://schemas.microsoft.com/office/drawing/2014/main" id="{B81A4C02-2335-3840-A0B5-647FE4372B5A}"/>
              </a:ext>
            </a:extLst>
          </p:cNvPr>
          <p:cNvCxnSpPr/>
          <p:nvPr userDrawn="1"/>
        </p:nvCxnSpPr>
        <p:spPr>
          <a:xfrm>
            <a:off x="0" y="12517118"/>
            <a:ext cx="36576000" cy="0"/>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Picture Placeholder 2">
            <a:extLst>
              <a:ext uri="{FF2B5EF4-FFF2-40B4-BE49-F238E27FC236}">
                <a16:creationId xmlns:a16="http://schemas.microsoft.com/office/drawing/2014/main" id="{327B64A9-49B7-26AE-EEC1-3DFB7714FDFA}"/>
              </a:ext>
            </a:extLst>
          </p:cNvPr>
          <p:cNvSpPr>
            <a:spLocks noGrp="1"/>
          </p:cNvSpPr>
          <p:nvPr>
            <p:ph type="pic" sz="quarter" idx="11"/>
          </p:nvPr>
        </p:nvSpPr>
        <p:spPr>
          <a:xfrm>
            <a:off x="1104900" y="8828853"/>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endParaRPr lang="en-US" dirty="0"/>
          </a:p>
        </p:txBody>
      </p:sp>
      <p:sp>
        <p:nvSpPr>
          <p:cNvPr id="14" name="Text Placeholder 7">
            <a:extLst>
              <a:ext uri="{FF2B5EF4-FFF2-40B4-BE49-F238E27FC236}">
                <a16:creationId xmlns:a16="http://schemas.microsoft.com/office/drawing/2014/main" id="{65B24A7F-7007-8F97-B7C8-699C5938267B}"/>
              </a:ext>
            </a:extLst>
          </p:cNvPr>
          <p:cNvSpPr>
            <a:spLocks noGrp="1"/>
          </p:cNvSpPr>
          <p:nvPr>
            <p:ph type="body" sz="quarter" idx="12" hasCustomPrompt="1"/>
          </p:nvPr>
        </p:nvSpPr>
        <p:spPr>
          <a:xfrm>
            <a:off x="1104901" y="7235683"/>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18" name="Text Placeholder 7">
            <a:extLst>
              <a:ext uri="{FF2B5EF4-FFF2-40B4-BE49-F238E27FC236}">
                <a16:creationId xmlns:a16="http://schemas.microsoft.com/office/drawing/2014/main" id="{BE9F7FB4-6AA0-B491-27B8-845C8CCE95D1}"/>
              </a:ext>
            </a:extLst>
          </p:cNvPr>
          <p:cNvSpPr>
            <a:spLocks noGrp="1"/>
          </p:cNvSpPr>
          <p:nvPr>
            <p:ph type="body" sz="quarter" idx="30" hasCustomPrompt="1"/>
          </p:nvPr>
        </p:nvSpPr>
        <p:spPr>
          <a:xfrm>
            <a:off x="1104900" y="7947588"/>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19" name="Text Placeholder 7">
            <a:extLst>
              <a:ext uri="{FF2B5EF4-FFF2-40B4-BE49-F238E27FC236}">
                <a16:creationId xmlns:a16="http://schemas.microsoft.com/office/drawing/2014/main" id="{831C6138-3339-1502-9812-8B9B39AF6DD1}"/>
              </a:ext>
            </a:extLst>
          </p:cNvPr>
          <p:cNvSpPr>
            <a:spLocks noGrp="1"/>
          </p:cNvSpPr>
          <p:nvPr>
            <p:ph type="body" sz="quarter" idx="31" hasCustomPrompt="1"/>
          </p:nvPr>
        </p:nvSpPr>
        <p:spPr>
          <a:xfrm>
            <a:off x="1104901" y="6492954"/>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Year</a:t>
            </a:r>
          </a:p>
        </p:txBody>
      </p:sp>
      <p:sp>
        <p:nvSpPr>
          <p:cNvPr id="20" name="Picture Placeholder 2">
            <a:extLst>
              <a:ext uri="{FF2B5EF4-FFF2-40B4-BE49-F238E27FC236}">
                <a16:creationId xmlns:a16="http://schemas.microsoft.com/office/drawing/2014/main" id="{56B4F135-9336-3722-2593-739C386518BC}"/>
              </a:ext>
            </a:extLst>
          </p:cNvPr>
          <p:cNvSpPr>
            <a:spLocks noGrp="1"/>
          </p:cNvSpPr>
          <p:nvPr>
            <p:ph type="pic" sz="quarter" idx="32"/>
          </p:nvPr>
        </p:nvSpPr>
        <p:spPr>
          <a:xfrm>
            <a:off x="8153396" y="12016056"/>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endParaRPr lang="en-US" dirty="0"/>
          </a:p>
        </p:txBody>
      </p:sp>
      <p:sp>
        <p:nvSpPr>
          <p:cNvPr id="21" name="Text Placeholder 7">
            <a:extLst>
              <a:ext uri="{FF2B5EF4-FFF2-40B4-BE49-F238E27FC236}">
                <a16:creationId xmlns:a16="http://schemas.microsoft.com/office/drawing/2014/main" id="{016A6D24-C230-8F9B-A12F-04BF3B073AA1}"/>
              </a:ext>
            </a:extLst>
          </p:cNvPr>
          <p:cNvSpPr>
            <a:spLocks noGrp="1"/>
          </p:cNvSpPr>
          <p:nvPr>
            <p:ph type="body" sz="quarter" idx="33" hasCustomPrompt="1"/>
          </p:nvPr>
        </p:nvSpPr>
        <p:spPr>
          <a:xfrm>
            <a:off x="8153397" y="10422886"/>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22" name="Text Placeholder 7">
            <a:extLst>
              <a:ext uri="{FF2B5EF4-FFF2-40B4-BE49-F238E27FC236}">
                <a16:creationId xmlns:a16="http://schemas.microsoft.com/office/drawing/2014/main" id="{36F5CC89-1592-52B8-63DE-F83AAF64EBD0}"/>
              </a:ext>
            </a:extLst>
          </p:cNvPr>
          <p:cNvSpPr>
            <a:spLocks noGrp="1"/>
          </p:cNvSpPr>
          <p:nvPr>
            <p:ph type="body" sz="quarter" idx="34" hasCustomPrompt="1"/>
          </p:nvPr>
        </p:nvSpPr>
        <p:spPr>
          <a:xfrm>
            <a:off x="8153396" y="11134791"/>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23" name="Text Placeholder 7">
            <a:extLst>
              <a:ext uri="{FF2B5EF4-FFF2-40B4-BE49-F238E27FC236}">
                <a16:creationId xmlns:a16="http://schemas.microsoft.com/office/drawing/2014/main" id="{71F14B17-DED6-D507-0F6F-0880EA7DD569}"/>
              </a:ext>
            </a:extLst>
          </p:cNvPr>
          <p:cNvSpPr>
            <a:spLocks noGrp="1"/>
          </p:cNvSpPr>
          <p:nvPr>
            <p:ph type="body" sz="quarter" idx="35" hasCustomPrompt="1"/>
          </p:nvPr>
        </p:nvSpPr>
        <p:spPr>
          <a:xfrm>
            <a:off x="8153397" y="9680157"/>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Year</a:t>
            </a:r>
          </a:p>
        </p:txBody>
      </p:sp>
      <p:sp>
        <p:nvSpPr>
          <p:cNvPr id="24" name="Picture Placeholder 2">
            <a:extLst>
              <a:ext uri="{FF2B5EF4-FFF2-40B4-BE49-F238E27FC236}">
                <a16:creationId xmlns:a16="http://schemas.microsoft.com/office/drawing/2014/main" id="{549A52FF-8F33-D50C-49C1-0A55140F3322}"/>
              </a:ext>
            </a:extLst>
          </p:cNvPr>
          <p:cNvSpPr>
            <a:spLocks noGrp="1"/>
          </p:cNvSpPr>
          <p:nvPr>
            <p:ph type="pic" sz="quarter" idx="36"/>
          </p:nvPr>
        </p:nvSpPr>
        <p:spPr>
          <a:xfrm>
            <a:off x="15163793" y="8828853"/>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endParaRPr lang="en-US" dirty="0"/>
          </a:p>
        </p:txBody>
      </p:sp>
      <p:sp>
        <p:nvSpPr>
          <p:cNvPr id="25" name="Text Placeholder 7">
            <a:extLst>
              <a:ext uri="{FF2B5EF4-FFF2-40B4-BE49-F238E27FC236}">
                <a16:creationId xmlns:a16="http://schemas.microsoft.com/office/drawing/2014/main" id="{C5D8802B-FD04-DC3F-D5E6-9A1D927089AB}"/>
              </a:ext>
            </a:extLst>
          </p:cNvPr>
          <p:cNvSpPr>
            <a:spLocks noGrp="1"/>
          </p:cNvSpPr>
          <p:nvPr>
            <p:ph type="body" sz="quarter" idx="37" hasCustomPrompt="1"/>
          </p:nvPr>
        </p:nvSpPr>
        <p:spPr>
          <a:xfrm>
            <a:off x="15163794" y="7235683"/>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26" name="Text Placeholder 7">
            <a:extLst>
              <a:ext uri="{FF2B5EF4-FFF2-40B4-BE49-F238E27FC236}">
                <a16:creationId xmlns:a16="http://schemas.microsoft.com/office/drawing/2014/main" id="{A4956259-B8C8-1248-4F09-69EFFCCA6C29}"/>
              </a:ext>
            </a:extLst>
          </p:cNvPr>
          <p:cNvSpPr>
            <a:spLocks noGrp="1"/>
          </p:cNvSpPr>
          <p:nvPr>
            <p:ph type="body" sz="quarter" idx="38" hasCustomPrompt="1"/>
          </p:nvPr>
        </p:nvSpPr>
        <p:spPr>
          <a:xfrm>
            <a:off x="15163793" y="7947588"/>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27" name="Text Placeholder 7">
            <a:extLst>
              <a:ext uri="{FF2B5EF4-FFF2-40B4-BE49-F238E27FC236}">
                <a16:creationId xmlns:a16="http://schemas.microsoft.com/office/drawing/2014/main" id="{3A510AB1-7D48-519B-BE8D-994DD848CCC0}"/>
              </a:ext>
            </a:extLst>
          </p:cNvPr>
          <p:cNvSpPr>
            <a:spLocks noGrp="1"/>
          </p:cNvSpPr>
          <p:nvPr>
            <p:ph type="body" sz="quarter" idx="39" hasCustomPrompt="1"/>
          </p:nvPr>
        </p:nvSpPr>
        <p:spPr>
          <a:xfrm>
            <a:off x="15163794" y="6492954"/>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Year</a:t>
            </a:r>
          </a:p>
        </p:txBody>
      </p:sp>
      <p:sp>
        <p:nvSpPr>
          <p:cNvPr id="28" name="Picture Placeholder 2">
            <a:extLst>
              <a:ext uri="{FF2B5EF4-FFF2-40B4-BE49-F238E27FC236}">
                <a16:creationId xmlns:a16="http://schemas.microsoft.com/office/drawing/2014/main" id="{0F3F011E-890F-E527-A5CB-421C1CE541C0}"/>
              </a:ext>
            </a:extLst>
          </p:cNvPr>
          <p:cNvSpPr>
            <a:spLocks noGrp="1"/>
          </p:cNvSpPr>
          <p:nvPr>
            <p:ph type="pic" sz="quarter" idx="40"/>
          </p:nvPr>
        </p:nvSpPr>
        <p:spPr>
          <a:xfrm>
            <a:off x="22212297" y="12016056"/>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endParaRPr lang="en-US" dirty="0"/>
          </a:p>
        </p:txBody>
      </p:sp>
      <p:sp>
        <p:nvSpPr>
          <p:cNvPr id="29" name="Text Placeholder 7">
            <a:extLst>
              <a:ext uri="{FF2B5EF4-FFF2-40B4-BE49-F238E27FC236}">
                <a16:creationId xmlns:a16="http://schemas.microsoft.com/office/drawing/2014/main" id="{D1CAB8F0-0055-E057-4C4A-7B3C6F7B9416}"/>
              </a:ext>
            </a:extLst>
          </p:cNvPr>
          <p:cNvSpPr>
            <a:spLocks noGrp="1"/>
          </p:cNvSpPr>
          <p:nvPr>
            <p:ph type="body" sz="quarter" idx="41" hasCustomPrompt="1"/>
          </p:nvPr>
        </p:nvSpPr>
        <p:spPr>
          <a:xfrm>
            <a:off x="22212298" y="10422886"/>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0" name="Text Placeholder 7">
            <a:extLst>
              <a:ext uri="{FF2B5EF4-FFF2-40B4-BE49-F238E27FC236}">
                <a16:creationId xmlns:a16="http://schemas.microsoft.com/office/drawing/2014/main" id="{D8F5B73D-560B-E470-3B25-EAD525666BEB}"/>
              </a:ext>
            </a:extLst>
          </p:cNvPr>
          <p:cNvSpPr>
            <a:spLocks noGrp="1"/>
          </p:cNvSpPr>
          <p:nvPr>
            <p:ph type="body" sz="quarter" idx="42" hasCustomPrompt="1"/>
          </p:nvPr>
        </p:nvSpPr>
        <p:spPr>
          <a:xfrm>
            <a:off x="22212297" y="11134791"/>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31" name="Text Placeholder 7">
            <a:extLst>
              <a:ext uri="{FF2B5EF4-FFF2-40B4-BE49-F238E27FC236}">
                <a16:creationId xmlns:a16="http://schemas.microsoft.com/office/drawing/2014/main" id="{1960F0BA-603E-23D9-F49B-C5B4462632DB}"/>
              </a:ext>
            </a:extLst>
          </p:cNvPr>
          <p:cNvSpPr>
            <a:spLocks noGrp="1"/>
          </p:cNvSpPr>
          <p:nvPr>
            <p:ph type="body" sz="quarter" idx="43" hasCustomPrompt="1"/>
          </p:nvPr>
        </p:nvSpPr>
        <p:spPr>
          <a:xfrm>
            <a:off x="22212298" y="9680157"/>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Year</a:t>
            </a:r>
          </a:p>
        </p:txBody>
      </p:sp>
      <p:sp>
        <p:nvSpPr>
          <p:cNvPr id="32" name="Picture Placeholder 2">
            <a:extLst>
              <a:ext uri="{FF2B5EF4-FFF2-40B4-BE49-F238E27FC236}">
                <a16:creationId xmlns:a16="http://schemas.microsoft.com/office/drawing/2014/main" id="{BBA2ABA5-D670-2BB6-7840-47F6198C0D4D}"/>
              </a:ext>
            </a:extLst>
          </p:cNvPr>
          <p:cNvSpPr>
            <a:spLocks noGrp="1"/>
          </p:cNvSpPr>
          <p:nvPr>
            <p:ph type="pic" sz="quarter" idx="44"/>
          </p:nvPr>
        </p:nvSpPr>
        <p:spPr>
          <a:xfrm>
            <a:off x="29298902" y="8828853"/>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endParaRPr lang="en-US" dirty="0"/>
          </a:p>
        </p:txBody>
      </p:sp>
      <p:sp>
        <p:nvSpPr>
          <p:cNvPr id="33" name="Text Placeholder 7">
            <a:extLst>
              <a:ext uri="{FF2B5EF4-FFF2-40B4-BE49-F238E27FC236}">
                <a16:creationId xmlns:a16="http://schemas.microsoft.com/office/drawing/2014/main" id="{CBEE0231-5854-76AF-A0C6-70879C2EA774}"/>
              </a:ext>
            </a:extLst>
          </p:cNvPr>
          <p:cNvSpPr>
            <a:spLocks noGrp="1"/>
          </p:cNvSpPr>
          <p:nvPr>
            <p:ph type="body" sz="quarter" idx="45" hasCustomPrompt="1"/>
          </p:nvPr>
        </p:nvSpPr>
        <p:spPr>
          <a:xfrm>
            <a:off x="29298903" y="7235683"/>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4" name="Text Placeholder 7">
            <a:extLst>
              <a:ext uri="{FF2B5EF4-FFF2-40B4-BE49-F238E27FC236}">
                <a16:creationId xmlns:a16="http://schemas.microsoft.com/office/drawing/2014/main" id="{0376ABB2-52CB-85AB-C186-532F75164A98}"/>
              </a:ext>
            </a:extLst>
          </p:cNvPr>
          <p:cNvSpPr>
            <a:spLocks noGrp="1"/>
          </p:cNvSpPr>
          <p:nvPr>
            <p:ph type="body" sz="quarter" idx="46" hasCustomPrompt="1"/>
          </p:nvPr>
        </p:nvSpPr>
        <p:spPr>
          <a:xfrm>
            <a:off x="29298902" y="7947588"/>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35" name="Text Placeholder 7">
            <a:extLst>
              <a:ext uri="{FF2B5EF4-FFF2-40B4-BE49-F238E27FC236}">
                <a16:creationId xmlns:a16="http://schemas.microsoft.com/office/drawing/2014/main" id="{63880F57-14E0-B28C-BF79-E4DCF3B7D679}"/>
              </a:ext>
            </a:extLst>
          </p:cNvPr>
          <p:cNvSpPr>
            <a:spLocks noGrp="1"/>
          </p:cNvSpPr>
          <p:nvPr>
            <p:ph type="body" sz="quarter" idx="47" hasCustomPrompt="1"/>
          </p:nvPr>
        </p:nvSpPr>
        <p:spPr>
          <a:xfrm>
            <a:off x="29298903" y="6492954"/>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Year</a:t>
            </a:r>
          </a:p>
        </p:txBody>
      </p:sp>
    </p:spTree>
    <p:extLst>
      <p:ext uri="{BB962C8B-B14F-4D97-AF65-F5344CB8AC3E}">
        <p14:creationId xmlns:p14="http://schemas.microsoft.com/office/powerpoint/2010/main" val="589048930"/>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Quote - LONG Layout">
    <p:spTree>
      <p:nvGrpSpPr>
        <p:cNvPr id="1" name=""/>
        <p:cNvGrpSpPr/>
        <p:nvPr/>
      </p:nvGrpSpPr>
      <p:grpSpPr>
        <a:xfrm>
          <a:off x="0" y="0"/>
          <a:ext cx="0" cy="0"/>
          <a:chOff x="0" y="0"/>
          <a:chExt cx="0" cy="0"/>
        </a:xfrm>
      </p:grpSpPr>
      <p:pic>
        <p:nvPicPr>
          <p:cNvPr id="6" name="Picture 5" descr="A green and white background&#10;&#10;Description automatically generated">
            <a:extLst>
              <a:ext uri="{FF2B5EF4-FFF2-40B4-BE49-F238E27FC236}">
                <a16:creationId xmlns:a16="http://schemas.microsoft.com/office/drawing/2014/main" id="{3BFE9B15-7828-3FC3-BCF0-23F89A1309F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36576003" cy="20574001"/>
          </a:xfrm>
          <a:prstGeom prst="rect">
            <a:avLst/>
          </a:prstGeom>
        </p:spPr>
      </p:pic>
      <p:sp>
        <p:nvSpPr>
          <p:cNvPr id="5" name="Rectangle 4">
            <a:extLst>
              <a:ext uri="{FF2B5EF4-FFF2-40B4-BE49-F238E27FC236}">
                <a16:creationId xmlns:a16="http://schemas.microsoft.com/office/drawing/2014/main" id="{CD79F16E-B355-8896-6563-603510529C31}"/>
              </a:ext>
            </a:extLst>
          </p:cNvPr>
          <p:cNvSpPr/>
          <p:nvPr userDrawn="1"/>
        </p:nvSpPr>
        <p:spPr>
          <a:xfrm>
            <a:off x="0" y="4143768"/>
            <a:ext cx="36576000" cy="2151778"/>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20" name="Rectangle 19">
            <a:extLst>
              <a:ext uri="{FF2B5EF4-FFF2-40B4-BE49-F238E27FC236}">
                <a16:creationId xmlns:a16="http://schemas.microsoft.com/office/drawing/2014/main" id="{EC5A15EA-E928-94AA-543D-8EA2FF0183F9}"/>
              </a:ext>
            </a:extLst>
          </p:cNvPr>
          <p:cNvSpPr/>
          <p:nvPr userDrawn="1"/>
        </p:nvSpPr>
        <p:spPr>
          <a:xfrm flipV="1">
            <a:off x="0" y="1526990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9" name="Rectangle 8">
            <a:extLst>
              <a:ext uri="{FF2B5EF4-FFF2-40B4-BE49-F238E27FC236}">
                <a16:creationId xmlns:a16="http://schemas.microsoft.com/office/drawing/2014/main" id="{83F43A3E-D43D-124C-0C49-E1D720395FC6}"/>
              </a:ext>
            </a:extLst>
          </p:cNvPr>
          <p:cNvSpPr/>
          <p:nvPr userDrawn="1"/>
        </p:nvSpPr>
        <p:spPr>
          <a:xfrm>
            <a:off x="0" y="106823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7" name="Text Placeholder 4">
            <a:extLst>
              <a:ext uri="{FF2B5EF4-FFF2-40B4-BE49-F238E27FC236}">
                <a16:creationId xmlns:a16="http://schemas.microsoft.com/office/drawing/2014/main" id="{7CD9C284-B78C-1241-4B2A-F563F642D070}"/>
              </a:ext>
            </a:extLst>
          </p:cNvPr>
          <p:cNvSpPr>
            <a:spLocks noGrp="1"/>
          </p:cNvSpPr>
          <p:nvPr>
            <p:ph type="body" sz="quarter" idx="13" hasCustomPrompt="1"/>
          </p:nvPr>
        </p:nvSpPr>
        <p:spPr>
          <a:xfrm>
            <a:off x="6158753" y="13434560"/>
            <a:ext cx="24258494" cy="1043922"/>
          </a:xfrm>
          <a:prstGeom prst="rect">
            <a:avLst/>
          </a:prstGeom>
        </p:spPr>
        <p:txBody>
          <a:bodyPr/>
          <a:lstStyle>
            <a:lvl1pPr marL="0" indent="0" algn="ctr">
              <a:lnSpc>
                <a:spcPct val="90000"/>
              </a:lnSpc>
              <a:spcBef>
                <a:spcPts val="0"/>
              </a:spcBef>
              <a:buFontTx/>
              <a:buNone/>
              <a:defRPr sz="4400" i="1" cap="none" baseline="0">
                <a:solidFill>
                  <a:schemeClr val="tx2"/>
                </a:solidFill>
                <a:latin typeface="NVIDIA Sans" panose="020B0503020203020204" pitchFamily="34" charset="0"/>
                <a:cs typeface="NVIDIA Sans" panose="020B05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dirty="0"/>
              <a:t>— Quote source</a:t>
            </a:r>
          </a:p>
        </p:txBody>
      </p:sp>
      <p:sp>
        <p:nvSpPr>
          <p:cNvPr id="8" name="Text Placeholder 4">
            <a:extLst>
              <a:ext uri="{FF2B5EF4-FFF2-40B4-BE49-F238E27FC236}">
                <a16:creationId xmlns:a16="http://schemas.microsoft.com/office/drawing/2014/main" id="{434FF7EA-90ED-54BC-F712-E8CE0FF23DFE}"/>
              </a:ext>
            </a:extLst>
          </p:cNvPr>
          <p:cNvSpPr>
            <a:spLocks noGrp="1"/>
          </p:cNvSpPr>
          <p:nvPr>
            <p:ph type="body" sz="quarter" idx="14" hasCustomPrompt="1"/>
          </p:nvPr>
        </p:nvSpPr>
        <p:spPr>
          <a:xfrm>
            <a:off x="6158754" y="5706208"/>
            <a:ext cx="24258494" cy="7307014"/>
          </a:xfrm>
          <a:prstGeom prst="rect">
            <a:avLst/>
          </a:prstGeom>
        </p:spPr>
        <p:txBody>
          <a:bodyPr anchor="ctr"/>
          <a:lstStyle>
            <a:lvl1pPr marL="0" indent="0" algn="ctr">
              <a:lnSpc>
                <a:spcPct val="90000"/>
              </a:lnSpc>
              <a:spcBef>
                <a:spcPts val="0"/>
              </a:spcBef>
              <a:buFontTx/>
              <a:buNone/>
              <a:defRPr sz="12000" cap="none" baseline="0">
                <a:solidFill>
                  <a:schemeClr val="bg1"/>
                </a:solidFill>
                <a:latin typeface="NVIDIA Sans Light" panose="020B0303020203020204" pitchFamily="34" charset="0"/>
                <a:cs typeface="NVIDIA Sans Light" panose="020B03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dirty="0"/>
              <a:t>Click to add quote</a:t>
            </a:r>
          </a:p>
        </p:txBody>
      </p:sp>
      <p:sp>
        <p:nvSpPr>
          <p:cNvPr id="10" name="TextBox 9">
            <a:extLst>
              <a:ext uri="{FF2B5EF4-FFF2-40B4-BE49-F238E27FC236}">
                <a16:creationId xmlns:a16="http://schemas.microsoft.com/office/drawing/2014/main" id="{CD9D91CB-444B-B15F-7D27-F8959442EE8D}"/>
              </a:ext>
            </a:extLst>
          </p:cNvPr>
          <p:cNvSpPr txBox="1"/>
          <p:nvPr userDrawn="1"/>
        </p:nvSpPr>
        <p:spPr>
          <a:xfrm rot="10800000">
            <a:off x="17582278" y="12276665"/>
            <a:ext cx="1468672" cy="4508927"/>
          </a:xfrm>
          <a:prstGeom prst="rect">
            <a:avLst/>
          </a:prstGeom>
          <a:noFill/>
        </p:spPr>
        <p:txBody>
          <a:bodyPr wrap="none" rtlCol="0">
            <a:spAutoFit/>
          </a:bodyPr>
          <a:lstStyle/>
          <a:p>
            <a:pPr algn="ctr"/>
            <a:r>
              <a:rPr lang="en-US" sz="28700" dirty="0">
                <a:solidFill>
                  <a:schemeClr val="tx2"/>
                </a:solidFill>
                <a:latin typeface="NVIDIA Sans Light" panose="020B0303020203020204" pitchFamily="34" charset="0"/>
                <a:cs typeface="NVIDIA Sans Light" panose="020B0303020203020204" pitchFamily="34" charset="0"/>
              </a:rPr>
              <a:t>“</a:t>
            </a:r>
          </a:p>
        </p:txBody>
      </p:sp>
      <p:cxnSp>
        <p:nvCxnSpPr>
          <p:cNvPr id="13" name="Straight Connector 12">
            <a:extLst>
              <a:ext uri="{FF2B5EF4-FFF2-40B4-BE49-F238E27FC236}">
                <a16:creationId xmlns:a16="http://schemas.microsoft.com/office/drawing/2014/main" id="{0A168394-A768-2D2C-2FE6-DB4613D6BDFB}"/>
              </a:ext>
            </a:extLst>
          </p:cNvPr>
          <p:cNvCxnSpPr>
            <a:cxnSpLocks/>
          </p:cNvCxnSpPr>
          <p:nvPr userDrawn="1"/>
        </p:nvCxnSpPr>
        <p:spPr>
          <a:xfrm>
            <a:off x="6158753" y="15523509"/>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CF7CCAE-8B92-5A79-CBAF-C805450DD64B}"/>
              </a:ext>
            </a:extLst>
          </p:cNvPr>
          <p:cNvCxnSpPr>
            <a:cxnSpLocks/>
          </p:cNvCxnSpPr>
          <p:nvPr userDrawn="1"/>
        </p:nvCxnSpPr>
        <p:spPr>
          <a:xfrm>
            <a:off x="19022336" y="15523509"/>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5F9A1B02-4A67-4CC9-F283-AC371711F42A}"/>
              </a:ext>
            </a:extLst>
          </p:cNvPr>
          <p:cNvGrpSpPr/>
          <p:nvPr userDrawn="1"/>
        </p:nvGrpSpPr>
        <p:grpSpPr>
          <a:xfrm>
            <a:off x="6158753" y="3796809"/>
            <a:ext cx="24258494" cy="4508927"/>
            <a:chOff x="6158753" y="6234204"/>
            <a:chExt cx="24258494" cy="4508927"/>
          </a:xfrm>
        </p:grpSpPr>
        <p:sp>
          <p:nvSpPr>
            <p:cNvPr id="16" name="TextBox 15">
              <a:extLst>
                <a:ext uri="{FF2B5EF4-FFF2-40B4-BE49-F238E27FC236}">
                  <a16:creationId xmlns:a16="http://schemas.microsoft.com/office/drawing/2014/main" id="{DA3E7C50-8DF7-896F-E1BB-D5842FE7F8E9}"/>
                </a:ext>
              </a:extLst>
            </p:cNvPr>
            <p:cNvSpPr txBox="1"/>
            <p:nvPr userDrawn="1"/>
          </p:nvSpPr>
          <p:spPr>
            <a:xfrm>
              <a:off x="17553664" y="6234204"/>
              <a:ext cx="1468672" cy="4508927"/>
            </a:xfrm>
            <a:prstGeom prst="rect">
              <a:avLst/>
            </a:prstGeom>
            <a:noFill/>
          </p:spPr>
          <p:txBody>
            <a:bodyPr wrap="none" rtlCol="0">
              <a:spAutoFit/>
            </a:bodyPr>
            <a:lstStyle/>
            <a:p>
              <a:pPr algn="ctr"/>
              <a:r>
                <a:rPr lang="en-US" sz="28700" dirty="0">
                  <a:solidFill>
                    <a:schemeClr val="tx2"/>
                  </a:solidFill>
                  <a:latin typeface="NVIDIA Sans Light" panose="020B0303020203020204" pitchFamily="34" charset="0"/>
                  <a:cs typeface="NVIDIA Sans Light" panose="020B0303020203020204" pitchFamily="34" charset="0"/>
                </a:rPr>
                <a:t>“</a:t>
              </a:r>
            </a:p>
          </p:txBody>
        </p:sp>
        <p:cxnSp>
          <p:nvCxnSpPr>
            <p:cNvPr id="17" name="Straight Connector 16">
              <a:extLst>
                <a:ext uri="{FF2B5EF4-FFF2-40B4-BE49-F238E27FC236}">
                  <a16:creationId xmlns:a16="http://schemas.microsoft.com/office/drawing/2014/main" id="{0C4E42D4-651A-0018-08AF-103C03C79F4C}"/>
                </a:ext>
              </a:extLst>
            </p:cNvPr>
            <p:cNvCxnSpPr>
              <a:cxnSpLocks/>
            </p:cNvCxnSpPr>
            <p:nvPr userDrawn="1"/>
          </p:nvCxnSpPr>
          <p:spPr>
            <a:xfrm>
              <a:off x="6158753" y="7454586"/>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5DE2FD7-58D2-230B-D513-D6416CD17B37}"/>
                </a:ext>
              </a:extLst>
            </p:cNvPr>
            <p:cNvCxnSpPr>
              <a:cxnSpLocks/>
            </p:cNvCxnSpPr>
            <p:nvPr userDrawn="1"/>
          </p:nvCxnSpPr>
          <p:spPr>
            <a:xfrm>
              <a:off x="19022336" y="7454586"/>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3130377"/>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Quote - SHORT Layout">
    <p:spTree>
      <p:nvGrpSpPr>
        <p:cNvPr id="1" name=""/>
        <p:cNvGrpSpPr/>
        <p:nvPr/>
      </p:nvGrpSpPr>
      <p:grpSpPr>
        <a:xfrm>
          <a:off x="0" y="0"/>
          <a:ext cx="0" cy="0"/>
          <a:chOff x="0" y="0"/>
          <a:chExt cx="0" cy="0"/>
        </a:xfrm>
      </p:grpSpPr>
      <p:pic>
        <p:nvPicPr>
          <p:cNvPr id="2" name="Picture 1" descr="A green and white background&#10;&#10;Description automatically generated">
            <a:extLst>
              <a:ext uri="{FF2B5EF4-FFF2-40B4-BE49-F238E27FC236}">
                <a16:creationId xmlns:a16="http://schemas.microsoft.com/office/drawing/2014/main" id="{61701B74-047D-F92D-ADA0-7BF31D83E2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36576003" cy="20574001"/>
          </a:xfrm>
          <a:prstGeom prst="rect">
            <a:avLst/>
          </a:prstGeom>
        </p:spPr>
      </p:pic>
      <p:sp>
        <p:nvSpPr>
          <p:cNvPr id="6" name="Rectangle 5">
            <a:extLst>
              <a:ext uri="{FF2B5EF4-FFF2-40B4-BE49-F238E27FC236}">
                <a16:creationId xmlns:a16="http://schemas.microsoft.com/office/drawing/2014/main" id="{A85FB945-6B24-57D3-B359-4FC5884B9E2A}"/>
              </a:ext>
            </a:extLst>
          </p:cNvPr>
          <p:cNvSpPr/>
          <p:nvPr userDrawn="1"/>
        </p:nvSpPr>
        <p:spPr>
          <a:xfrm>
            <a:off x="0" y="4143768"/>
            <a:ext cx="36576000" cy="2151778"/>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7" name="Rectangle 6">
            <a:extLst>
              <a:ext uri="{FF2B5EF4-FFF2-40B4-BE49-F238E27FC236}">
                <a16:creationId xmlns:a16="http://schemas.microsoft.com/office/drawing/2014/main" id="{0E0A1354-6E59-B3D9-5AE9-EFF6955F88F2}"/>
              </a:ext>
            </a:extLst>
          </p:cNvPr>
          <p:cNvSpPr/>
          <p:nvPr userDrawn="1"/>
        </p:nvSpPr>
        <p:spPr>
          <a:xfrm flipV="1">
            <a:off x="0" y="1526990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8" name="Rectangle 7">
            <a:extLst>
              <a:ext uri="{FF2B5EF4-FFF2-40B4-BE49-F238E27FC236}">
                <a16:creationId xmlns:a16="http://schemas.microsoft.com/office/drawing/2014/main" id="{F0807B0F-0A81-6159-CB17-9A246F14A280}"/>
              </a:ext>
            </a:extLst>
          </p:cNvPr>
          <p:cNvSpPr/>
          <p:nvPr userDrawn="1"/>
        </p:nvSpPr>
        <p:spPr>
          <a:xfrm>
            <a:off x="0" y="106823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5" name="Rectangle 4">
            <a:extLst>
              <a:ext uri="{FF2B5EF4-FFF2-40B4-BE49-F238E27FC236}">
                <a16:creationId xmlns:a16="http://schemas.microsoft.com/office/drawing/2014/main" id="{A4688F64-F571-BC4C-9D1B-F87497A44084}"/>
              </a:ext>
            </a:extLst>
          </p:cNvPr>
          <p:cNvSpPr/>
          <p:nvPr userDrawn="1"/>
        </p:nvSpPr>
        <p:spPr>
          <a:xfrm>
            <a:off x="0" y="4143768"/>
            <a:ext cx="36576000" cy="2151778"/>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27" name="Text Placeholder 4">
            <a:extLst>
              <a:ext uri="{FF2B5EF4-FFF2-40B4-BE49-F238E27FC236}">
                <a16:creationId xmlns:a16="http://schemas.microsoft.com/office/drawing/2014/main" id="{79BB071F-1DED-7BC0-205E-742D1CC39ADE}"/>
              </a:ext>
            </a:extLst>
          </p:cNvPr>
          <p:cNvSpPr>
            <a:spLocks noGrp="1"/>
          </p:cNvSpPr>
          <p:nvPr>
            <p:ph type="body" sz="quarter" idx="13" hasCustomPrompt="1"/>
          </p:nvPr>
        </p:nvSpPr>
        <p:spPr>
          <a:xfrm>
            <a:off x="6158753" y="11878330"/>
            <a:ext cx="24258494" cy="1043922"/>
          </a:xfrm>
          <a:prstGeom prst="rect">
            <a:avLst/>
          </a:prstGeom>
        </p:spPr>
        <p:txBody>
          <a:bodyPr/>
          <a:lstStyle>
            <a:lvl1pPr marL="0" indent="0" algn="ctr">
              <a:lnSpc>
                <a:spcPct val="90000"/>
              </a:lnSpc>
              <a:spcBef>
                <a:spcPts val="0"/>
              </a:spcBef>
              <a:buFontTx/>
              <a:buNone/>
              <a:defRPr sz="4400" i="1" cap="none" baseline="0">
                <a:solidFill>
                  <a:schemeClr val="tx2"/>
                </a:solidFill>
                <a:latin typeface="NVIDIA Sans" panose="020B0503020203020204" pitchFamily="34" charset="0"/>
                <a:cs typeface="NVIDIA Sans" panose="020B05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dirty="0"/>
              <a:t>— Quote source</a:t>
            </a:r>
          </a:p>
        </p:txBody>
      </p:sp>
      <p:sp>
        <p:nvSpPr>
          <p:cNvPr id="28" name="Text Placeholder 4">
            <a:extLst>
              <a:ext uri="{FF2B5EF4-FFF2-40B4-BE49-F238E27FC236}">
                <a16:creationId xmlns:a16="http://schemas.microsoft.com/office/drawing/2014/main" id="{652C8912-97F2-5FEC-2170-801AFD44E796}"/>
              </a:ext>
            </a:extLst>
          </p:cNvPr>
          <p:cNvSpPr>
            <a:spLocks noGrp="1"/>
          </p:cNvSpPr>
          <p:nvPr>
            <p:ph type="body" sz="quarter" idx="14" hasCustomPrompt="1"/>
          </p:nvPr>
        </p:nvSpPr>
        <p:spPr>
          <a:xfrm>
            <a:off x="6158754" y="7053551"/>
            <a:ext cx="24258494" cy="4403224"/>
          </a:xfrm>
          <a:prstGeom prst="rect">
            <a:avLst/>
          </a:prstGeom>
        </p:spPr>
        <p:txBody>
          <a:bodyPr anchor="ctr"/>
          <a:lstStyle>
            <a:lvl1pPr marL="0" indent="0" algn="ctr">
              <a:lnSpc>
                <a:spcPct val="90000"/>
              </a:lnSpc>
              <a:spcBef>
                <a:spcPts val="0"/>
              </a:spcBef>
              <a:buFontTx/>
              <a:buNone/>
              <a:defRPr sz="12000" cap="none" baseline="0">
                <a:solidFill>
                  <a:schemeClr val="bg1"/>
                </a:solidFill>
                <a:latin typeface="NVIDIA Sans Light" panose="020B0303020203020204" pitchFamily="34" charset="0"/>
                <a:cs typeface="NVIDIA Sans Light" panose="020B03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dirty="0"/>
              <a:t>Click to add quote</a:t>
            </a:r>
          </a:p>
        </p:txBody>
      </p:sp>
      <p:grpSp>
        <p:nvGrpSpPr>
          <p:cNvPr id="29" name="Group 28">
            <a:extLst>
              <a:ext uri="{FF2B5EF4-FFF2-40B4-BE49-F238E27FC236}">
                <a16:creationId xmlns:a16="http://schemas.microsoft.com/office/drawing/2014/main" id="{54182597-2C50-3A4E-9225-0ED4ED207042}"/>
              </a:ext>
            </a:extLst>
          </p:cNvPr>
          <p:cNvGrpSpPr/>
          <p:nvPr userDrawn="1"/>
        </p:nvGrpSpPr>
        <p:grpSpPr>
          <a:xfrm>
            <a:off x="6158753" y="5267062"/>
            <a:ext cx="24258494" cy="10102852"/>
            <a:chOff x="6158753" y="6264684"/>
            <a:chExt cx="24258494" cy="10102852"/>
          </a:xfrm>
        </p:grpSpPr>
        <p:grpSp>
          <p:nvGrpSpPr>
            <p:cNvPr id="30" name="Group 29">
              <a:extLst>
                <a:ext uri="{FF2B5EF4-FFF2-40B4-BE49-F238E27FC236}">
                  <a16:creationId xmlns:a16="http://schemas.microsoft.com/office/drawing/2014/main" id="{09B0E8CB-44E4-719C-A5CF-735DA9699441}"/>
                </a:ext>
              </a:extLst>
            </p:cNvPr>
            <p:cNvGrpSpPr/>
            <p:nvPr userDrawn="1"/>
          </p:nvGrpSpPr>
          <p:grpSpPr>
            <a:xfrm>
              <a:off x="17553664" y="6264684"/>
              <a:ext cx="1497286" cy="10102852"/>
              <a:chOff x="17553664" y="5634063"/>
              <a:chExt cx="1497286" cy="10102852"/>
            </a:xfrm>
          </p:grpSpPr>
          <p:sp>
            <p:nvSpPr>
              <p:cNvPr id="39" name="TextBox 38">
                <a:extLst>
                  <a:ext uri="{FF2B5EF4-FFF2-40B4-BE49-F238E27FC236}">
                    <a16:creationId xmlns:a16="http://schemas.microsoft.com/office/drawing/2014/main" id="{31D0B919-1FC7-23E4-68BE-05C833FAB722}"/>
                  </a:ext>
                </a:extLst>
              </p:cNvPr>
              <p:cNvSpPr txBox="1"/>
              <p:nvPr/>
            </p:nvSpPr>
            <p:spPr>
              <a:xfrm>
                <a:off x="17553664" y="5634063"/>
                <a:ext cx="1468672" cy="4508927"/>
              </a:xfrm>
              <a:prstGeom prst="rect">
                <a:avLst/>
              </a:prstGeom>
              <a:noFill/>
            </p:spPr>
            <p:txBody>
              <a:bodyPr wrap="none" rtlCol="0">
                <a:spAutoFit/>
              </a:bodyPr>
              <a:lstStyle/>
              <a:p>
                <a:pPr algn="ctr"/>
                <a:r>
                  <a:rPr lang="en-US" sz="28700" dirty="0">
                    <a:solidFill>
                      <a:schemeClr val="tx2"/>
                    </a:solidFill>
                    <a:latin typeface="NVIDIA Sans Light" panose="020B0303020203020204" pitchFamily="34" charset="0"/>
                    <a:cs typeface="NVIDIA Sans Light" panose="020B0303020203020204" pitchFamily="34" charset="0"/>
                  </a:rPr>
                  <a:t>“</a:t>
                </a:r>
              </a:p>
            </p:txBody>
          </p:sp>
          <p:sp>
            <p:nvSpPr>
              <p:cNvPr id="40" name="TextBox 39">
                <a:extLst>
                  <a:ext uri="{FF2B5EF4-FFF2-40B4-BE49-F238E27FC236}">
                    <a16:creationId xmlns:a16="http://schemas.microsoft.com/office/drawing/2014/main" id="{4BD82AED-32A6-66BD-FAD0-B98CE3AFC77E}"/>
                  </a:ext>
                </a:extLst>
              </p:cNvPr>
              <p:cNvSpPr txBox="1"/>
              <p:nvPr/>
            </p:nvSpPr>
            <p:spPr>
              <a:xfrm rot="10800000">
                <a:off x="17582278" y="11227988"/>
                <a:ext cx="1468672" cy="4508927"/>
              </a:xfrm>
              <a:prstGeom prst="rect">
                <a:avLst/>
              </a:prstGeom>
              <a:noFill/>
            </p:spPr>
            <p:txBody>
              <a:bodyPr wrap="none" rtlCol="0">
                <a:spAutoFit/>
              </a:bodyPr>
              <a:lstStyle/>
              <a:p>
                <a:pPr algn="ctr"/>
                <a:r>
                  <a:rPr lang="en-US" sz="28700" dirty="0">
                    <a:solidFill>
                      <a:schemeClr val="tx2"/>
                    </a:solidFill>
                    <a:latin typeface="NVIDIA Sans Light" panose="020B0303020203020204" pitchFamily="34" charset="0"/>
                    <a:cs typeface="NVIDIA Sans Light" panose="020B0303020203020204" pitchFamily="34" charset="0"/>
                  </a:rPr>
                  <a:t>“</a:t>
                </a:r>
              </a:p>
            </p:txBody>
          </p:sp>
        </p:grpSp>
        <p:cxnSp>
          <p:nvCxnSpPr>
            <p:cNvPr id="31" name="Straight Connector 30">
              <a:extLst>
                <a:ext uri="{FF2B5EF4-FFF2-40B4-BE49-F238E27FC236}">
                  <a16:creationId xmlns:a16="http://schemas.microsoft.com/office/drawing/2014/main" id="{191EC44D-F0B4-790F-3089-A3B3D01B77A7}"/>
                </a:ext>
              </a:extLst>
            </p:cNvPr>
            <p:cNvCxnSpPr>
              <a:cxnSpLocks/>
            </p:cNvCxnSpPr>
            <p:nvPr userDrawn="1"/>
          </p:nvCxnSpPr>
          <p:spPr>
            <a:xfrm>
              <a:off x="6158753" y="7454586"/>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7DAC6E7-C5E7-D30C-B66F-007182DE7AC2}"/>
                </a:ext>
              </a:extLst>
            </p:cNvPr>
            <p:cNvCxnSpPr>
              <a:cxnSpLocks/>
            </p:cNvCxnSpPr>
            <p:nvPr userDrawn="1"/>
          </p:nvCxnSpPr>
          <p:spPr>
            <a:xfrm>
              <a:off x="19022336" y="7454586"/>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77AA061-58A0-8C4F-C050-0B149A72E614}"/>
                </a:ext>
              </a:extLst>
            </p:cNvPr>
            <p:cNvCxnSpPr>
              <a:cxnSpLocks/>
            </p:cNvCxnSpPr>
            <p:nvPr userDrawn="1"/>
          </p:nvCxnSpPr>
          <p:spPr>
            <a:xfrm>
              <a:off x="6158753" y="15144241"/>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916F238-457C-1E6C-1D73-143F4C3F6160}"/>
                </a:ext>
              </a:extLst>
            </p:cNvPr>
            <p:cNvCxnSpPr>
              <a:cxnSpLocks/>
            </p:cNvCxnSpPr>
            <p:nvPr userDrawn="1"/>
          </p:nvCxnSpPr>
          <p:spPr>
            <a:xfrm>
              <a:off x="19022336" y="15144241"/>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44065880"/>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pic>
        <p:nvPicPr>
          <p:cNvPr id="8" name="Picture 7" descr="A green curved lines with a bright light behind them&#10;&#10;Description automatically generated">
            <a:extLst>
              <a:ext uri="{FF2B5EF4-FFF2-40B4-BE49-F238E27FC236}">
                <a16:creationId xmlns:a16="http://schemas.microsoft.com/office/drawing/2014/main" id="{F807122B-A2F6-379E-64FD-A4985E493AF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408" r="51136" b="926"/>
          <a:stretch/>
        </p:blipFill>
        <p:spPr>
          <a:xfrm>
            <a:off x="0" y="0"/>
            <a:ext cx="17150706" cy="20574000"/>
          </a:xfrm>
          <a:prstGeom prst="rect">
            <a:avLst/>
          </a:prstGeom>
        </p:spPr>
      </p:pic>
      <p:sp>
        <p:nvSpPr>
          <p:cNvPr id="3" name="Rectangle 2">
            <a:extLst>
              <a:ext uri="{FF2B5EF4-FFF2-40B4-BE49-F238E27FC236}">
                <a16:creationId xmlns:a16="http://schemas.microsoft.com/office/drawing/2014/main" id="{3EFDB0CE-6D06-5D9D-4F40-64EBE09315DF}"/>
              </a:ext>
            </a:extLst>
          </p:cNvPr>
          <p:cNvSpPr/>
          <p:nvPr userDrawn="1"/>
        </p:nvSpPr>
        <p:spPr>
          <a:xfrm>
            <a:off x="0" y="0"/>
            <a:ext cx="17150706" cy="20574000"/>
          </a:xfrm>
          <a:prstGeom prst="rect">
            <a:avLst/>
          </a:prstGeom>
          <a:solidFill>
            <a:schemeClr val="tx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6" name="Rectangle 5">
            <a:extLst>
              <a:ext uri="{FF2B5EF4-FFF2-40B4-BE49-F238E27FC236}">
                <a16:creationId xmlns:a16="http://schemas.microsoft.com/office/drawing/2014/main" id="{5714B981-6D72-A82B-BB74-685EAD4F2156}"/>
              </a:ext>
            </a:extLst>
          </p:cNvPr>
          <p:cNvSpPr/>
          <p:nvPr userDrawn="1"/>
        </p:nvSpPr>
        <p:spPr>
          <a:xfrm>
            <a:off x="17204620" y="5394960"/>
            <a:ext cx="566928" cy="151790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Tree>
    <p:extLst>
      <p:ext uri="{BB962C8B-B14F-4D97-AF65-F5344CB8AC3E}">
        <p14:creationId xmlns:p14="http://schemas.microsoft.com/office/powerpoint/2010/main" val="3500587989"/>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a16="http://schemas.microsoft.com/office/drawing/2014/main" xmlns="">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ransition">
    <p:spTree>
      <p:nvGrpSpPr>
        <p:cNvPr id="1" name=""/>
        <p:cNvGrpSpPr/>
        <p:nvPr/>
      </p:nvGrpSpPr>
      <p:grpSpPr>
        <a:xfrm>
          <a:off x="0" y="0"/>
          <a:ext cx="0" cy="0"/>
          <a:chOff x="0" y="0"/>
          <a:chExt cx="0" cy="0"/>
        </a:xfrm>
      </p:grpSpPr>
      <p:pic>
        <p:nvPicPr>
          <p:cNvPr id="4" name="Picture 3" descr="A close-up of green and white&#10;&#10;Description automatically generated">
            <a:extLst>
              <a:ext uri="{FF2B5EF4-FFF2-40B4-BE49-F238E27FC236}">
                <a16:creationId xmlns:a16="http://schemas.microsoft.com/office/drawing/2014/main" id="{F680AE5A-C426-36FD-E875-65C352F89B6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Text Placeholder 4">
            <a:extLst>
              <a:ext uri="{FF2B5EF4-FFF2-40B4-BE49-F238E27FC236}">
                <a16:creationId xmlns:a16="http://schemas.microsoft.com/office/drawing/2014/main" id="{986AD3F4-3771-EC4B-882B-5E3EA6379A9B}"/>
              </a:ext>
            </a:extLst>
          </p:cNvPr>
          <p:cNvSpPr>
            <a:spLocks noGrp="1"/>
          </p:cNvSpPr>
          <p:nvPr>
            <p:ph type="body" sz="quarter" idx="13" hasCustomPrompt="1"/>
          </p:nvPr>
        </p:nvSpPr>
        <p:spPr>
          <a:xfrm>
            <a:off x="1473866" y="1865236"/>
            <a:ext cx="18476688" cy="5943600"/>
          </a:xfrm>
          <a:prstGeom prst="rect">
            <a:avLst/>
          </a:prstGeom>
        </p:spPr>
        <p:txBody>
          <a:bodyPr anchor="b"/>
          <a:lstStyle>
            <a:lvl1pPr marL="0" indent="0" algn="l">
              <a:spcBef>
                <a:spcPts val="0"/>
              </a:spcBef>
              <a:buFontTx/>
              <a:buNone/>
              <a:defRPr lang="en-US" sz="9000" b="1" kern="0" cap="none" baseline="0" dirty="0" smtClean="0">
                <a:solidFill>
                  <a:schemeClr val="bg1"/>
                </a:solidFill>
                <a:latin typeface="NVIDIA Sans" panose="020B0503020203020204" pitchFamily="34" charset="0"/>
                <a:ea typeface="+mj-ea"/>
                <a:cs typeface="NVIDIA Sans" panose="020B0503020203020204" pitchFamily="34" charset="0"/>
              </a:defRPr>
            </a:lvl1pPr>
            <a:lvl2pPr marL="2562790" indent="0">
              <a:buFontTx/>
              <a:buNone/>
              <a:defRPr lang="en-US" sz="8000" b="1" kern="0" cap="all" baseline="0" dirty="0" smtClean="0">
                <a:solidFill>
                  <a:schemeClr val="tx1"/>
                </a:solidFill>
                <a:latin typeface="NVIDIA Sans" panose="020B0503020203020204" pitchFamily="34" charset="0"/>
                <a:ea typeface="+mj-ea"/>
                <a:cs typeface="+mj-cs"/>
              </a:defRPr>
            </a:lvl2pPr>
            <a:lvl3pPr marL="4883584" indent="0">
              <a:buFontTx/>
              <a:buNone/>
              <a:defRPr lang="en-US" sz="8000" b="1" kern="0" cap="all" baseline="0" dirty="0" smtClean="0">
                <a:solidFill>
                  <a:schemeClr val="tx1"/>
                </a:solidFill>
                <a:latin typeface="NVIDIA Sans" panose="020B0503020203020204" pitchFamily="34" charset="0"/>
                <a:ea typeface="+mj-ea"/>
                <a:cs typeface="+mj-cs"/>
              </a:defRPr>
            </a:lvl3pPr>
            <a:lvl4pPr marL="6933729" indent="0">
              <a:buFontTx/>
              <a:buNone/>
              <a:defRPr lang="en-US" sz="8000" b="1" kern="0" cap="all" baseline="0" dirty="0" smtClean="0">
                <a:solidFill>
                  <a:schemeClr val="tx1"/>
                </a:solidFill>
                <a:latin typeface="NVIDIA Sans" panose="020B0503020203020204" pitchFamily="34" charset="0"/>
                <a:ea typeface="+mj-ea"/>
                <a:cs typeface="+mj-cs"/>
              </a:defRPr>
            </a:lvl4pPr>
            <a:lvl5pPr marL="8471409" indent="0">
              <a:buFontTx/>
              <a:buNone/>
              <a:defRPr lang="en-US" sz="8000" b="1" kern="0" cap="all" baseline="0" dirty="0">
                <a:solidFill>
                  <a:schemeClr val="tx1"/>
                </a:solidFill>
                <a:latin typeface="NVIDIA Sans" panose="020B0503020203020204" pitchFamily="34" charset="0"/>
                <a:ea typeface="+mj-ea"/>
                <a:cs typeface="+mj-cs"/>
              </a:defRPr>
            </a:lvl5pPr>
          </a:lstStyle>
          <a:p>
            <a:pPr lvl="0"/>
            <a:r>
              <a:rPr lang="en-US" dirty="0"/>
              <a:t>Click To Add Text</a:t>
            </a:r>
          </a:p>
        </p:txBody>
      </p:sp>
      <p:sp>
        <p:nvSpPr>
          <p:cNvPr id="8" name="Rectangle 7">
            <a:extLst>
              <a:ext uri="{FF2B5EF4-FFF2-40B4-BE49-F238E27FC236}">
                <a16:creationId xmlns:a16="http://schemas.microsoft.com/office/drawing/2014/main" id="{991690F0-C869-92D8-B1E3-3151C511786C}"/>
              </a:ext>
            </a:extLst>
          </p:cNvPr>
          <p:cNvSpPr/>
          <p:nvPr userDrawn="1"/>
        </p:nvSpPr>
        <p:spPr>
          <a:xfrm>
            <a:off x="-1" y="0"/>
            <a:ext cx="566928" cy="74980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Tree>
    <p:extLst>
      <p:ext uri="{BB962C8B-B14F-4D97-AF65-F5344CB8AC3E}">
        <p14:creationId xmlns:p14="http://schemas.microsoft.com/office/powerpoint/2010/main" val="1553221842"/>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5068417-0A49-4E97-BD32-9EE897037421}"/>
              </a:ext>
            </a:extLst>
          </p:cNvPr>
          <p:cNvSpPr/>
          <p:nvPr userDrawn="1"/>
        </p:nvSpPr>
        <p:spPr>
          <a:xfrm>
            <a:off x="0" y="0"/>
            <a:ext cx="36576000" cy="20574000"/>
          </a:xfrm>
          <a:prstGeom prst="rect">
            <a:avLst/>
          </a:prstGeom>
          <a:solidFill>
            <a:srgbClr val="9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4">
            <a:extLst>
              <a:ext uri="{FF2B5EF4-FFF2-40B4-BE49-F238E27FC236}">
                <a16:creationId xmlns:a16="http://schemas.microsoft.com/office/drawing/2014/main" id="{5CE798D4-9140-2EC5-6DC9-6C6A5F5737E4}"/>
              </a:ext>
            </a:extLst>
          </p:cNvPr>
          <p:cNvSpPr>
            <a:spLocks noGrp="1"/>
          </p:cNvSpPr>
          <p:nvPr>
            <p:ph type="body" sz="quarter" idx="10" hasCustomPrompt="1"/>
          </p:nvPr>
        </p:nvSpPr>
        <p:spPr>
          <a:xfrm>
            <a:off x="7634260" y="10771999"/>
            <a:ext cx="22733876" cy="5476186"/>
          </a:xfrm>
          <a:prstGeom prst="rect">
            <a:avLst/>
          </a:prstGeom>
        </p:spPr>
        <p:txBody>
          <a:bodyPr/>
          <a:lstStyle>
            <a:lvl1pPr marL="0" indent="0" algn="l">
              <a:lnSpc>
                <a:spcPct val="90000"/>
              </a:lnSpc>
              <a:spcBef>
                <a:spcPts val="0"/>
              </a:spcBef>
              <a:buFontTx/>
              <a:buNone/>
              <a:defRPr sz="4400" cap="none" baseline="0">
                <a:solidFill>
                  <a:schemeClr val="tx1"/>
                </a:solidFill>
                <a:latin typeface="NVIDIA Sans Medium" panose="020B0603020203020204" pitchFamily="34" charset="0"/>
                <a:cs typeface="NVIDIA Sans Medium" panose="020B06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dirty="0"/>
              <a:t>Edit Text Style</a:t>
            </a:r>
          </a:p>
        </p:txBody>
      </p:sp>
      <p:sp>
        <p:nvSpPr>
          <p:cNvPr id="10" name="Title 1">
            <a:extLst>
              <a:ext uri="{FF2B5EF4-FFF2-40B4-BE49-F238E27FC236}">
                <a16:creationId xmlns:a16="http://schemas.microsoft.com/office/drawing/2014/main" id="{9FAAD9D4-FB4F-9DA0-9C5E-7AD5B9D1B73A}"/>
              </a:ext>
            </a:extLst>
          </p:cNvPr>
          <p:cNvSpPr>
            <a:spLocks noGrp="1"/>
          </p:cNvSpPr>
          <p:nvPr>
            <p:ph type="title" hasCustomPrompt="1"/>
          </p:nvPr>
        </p:nvSpPr>
        <p:spPr>
          <a:xfrm>
            <a:off x="7634260" y="9024760"/>
            <a:ext cx="22733877" cy="1754266"/>
          </a:xfrm>
          <a:prstGeom prst="rect">
            <a:avLst/>
          </a:prstGeom>
        </p:spPr>
        <p:txBody>
          <a:bodyPr/>
          <a:lstStyle>
            <a:lvl1pPr algn="l">
              <a:defRPr sz="12000" b="0" cap="none">
                <a:solidFill>
                  <a:schemeClr val="tx1"/>
                </a:solidFill>
                <a:latin typeface="NVIDIA Sans Light" panose="020B0303020203020204" pitchFamily="34" charset="0"/>
                <a:cs typeface="NVIDIA Sans Light" panose="020B0303020203020204" pitchFamily="34" charset="0"/>
              </a:defRPr>
            </a:lvl1pPr>
          </a:lstStyle>
          <a:p>
            <a:r>
              <a:rPr lang="en-US" dirty="0"/>
              <a:t>Click to add text</a:t>
            </a:r>
          </a:p>
        </p:txBody>
      </p:sp>
      <p:pic>
        <p:nvPicPr>
          <p:cNvPr id="11" name="Picture 10" descr="A close up of a logo&#10;&#10;Description automatically generated">
            <a:extLst>
              <a:ext uri="{FF2B5EF4-FFF2-40B4-BE49-F238E27FC236}">
                <a16:creationId xmlns:a16="http://schemas.microsoft.com/office/drawing/2014/main" id="{71DC9D6B-A1D3-6E9D-3F5B-25ABC3B87F48}"/>
              </a:ext>
            </a:extLst>
          </p:cNvPr>
          <p:cNvPicPr>
            <a:picLocks noChangeAspect="1"/>
          </p:cNvPicPr>
          <p:nvPr userDrawn="1"/>
        </p:nvPicPr>
        <p:blipFill>
          <a:blip r:embed="rId2"/>
          <a:stretch>
            <a:fillRect/>
          </a:stretch>
        </p:blipFill>
        <p:spPr>
          <a:xfrm>
            <a:off x="7193140" y="6248046"/>
            <a:ext cx="2357259" cy="2357256"/>
          </a:xfrm>
          <a:prstGeom prst="rect">
            <a:avLst/>
          </a:prstGeom>
        </p:spPr>
      </p:pic>
    </p:spTree>
    <p:extLst>
      <p:ext uri="{BB962C8B-B14F-4D97-AF65-F5344CB8AC3E}">
        <p14:creationId xmlns:p14="http://schemas.microsoft.com/office/powerpoint/2010/main" val="514405411"/>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5" name="Picture 4" descr="A green and white background&#10;&#10;Description automatically generated">
            <a:extLst>
              <a:ext uri="{FF2B5EF4-FFF2-40B4-BE49-F238E27FC236}">
                <a16:creationId xmlns:a16="http://schemas.microsoft.com/office/drawing/2014/main" id="{59444DC2-EE0C-D166-FB2A-0933A4B04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pic>
        <p:nvPicPr>
          <p:cNvPr id="3" name="Picture 2" descr="A picture containing graphics, logo, symbol, graphic design&#10;&#10;Description automatically generated">
            <a:extLst>
              <a:ext uri="{FF2B5EF4-FFF2-40B4-BE49-F238E27FC236}">
                <a16:creationId xmlns:a16="http://schemas.microsoft.com/office/drawing/2014/main" id="{9BB9031F-8728-8968-10CA-E5BDE38FC76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16125" y="773531"/>
            <a:ext cx="8365991" cy="2882310"/>
          </a:xfrm>
          <a:prstGeom prst="rect">
            <a:avLst/>
          </a:prstGeom>
        </p:spPr>
      </p:pic>
    </p:spTree>
    <p:extLst>
      <p:ext uri="{BB962C8B-B14F-4D97-AF65-F5344CB8AC3E}">
        <p14:creationId xmlns:p14="http://schemas.microsoft.com/office/powerpoint/2010/main" val="3577155796"/>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Subtitle, Bullets">
  <p:cSld name="1_Title, Subtitle, Bullets">
    <p:spTree>
      <p:nvGrpSpPr>
        <p:cNvPr id="1" name="Shape 55"/>
        <p:cNvGrpSpPr/>
        <p:nvPr/>
      </p:nvGrpSpPr>
      <p:grpSpPr>
        <a:xfrm>
          <a:off x="0" y="0"/>
          <a:ext cx="0" cy="0"/>
          <a:chOff x="0" y="0"/>
          <a:chExt cx="0" cy="0"/>
        </a:xfrm>
      </p:grpSpPr>
      <p:sp>
        <p:nvSpPr>
          <p:cNvPr id="56" name="Google Shape;56;p14"/>
          <p:cNvSpPr txBox="1">
            <a:spLocks noGrp="1"/>
          </p:cNvSpPr>
          <p:nvPr>
            <p:ph type="title"/>
          </p:nvPr>
        </p:nvSpPr>
        <p:spPr>
          <a:xfrm>
            <a:off x="2514600" y="0"/>
            <a:ext cx="31546800" cy="25152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lt1"/>
              </a:buClr>
              <a:buSzPts val="1800"/>
              <a:buFont typeface="NVIDIA Sans"/>
              <a:buNone/>
              <a:defRPr sz="7200" b="1" cap="none">
                <a:latin typeface="NVIDIA Sans"/>
                <a:ea typeface="NVIDIA Sans"/>
                <a:cs typeface="NVIDIA Sans"/>
                <a:sym typeface="NVIDIA San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7" name="Google Shape;57;p14"/>
          <p:cNvSpPr txBox="1">
            <a:spLocks noGrp="1"/>
          </p:cNvSpPr>
          <p:nvPr>
            <p:ph type="body" idx="1"/>
          </p:nvPr>
        </p:nvSpPr>
        <p:spPr>
          <a:xfrm>
            <a:off x="2514600" y="2487168"/>
            <a:ext cx="31546800" cy="1407600"/>
          </a:xfrm>
          <a:prstGeom prst="rect">
            <a:avLst/>
          </a:prstGeom>
          <a:noFill/>
          <a:ln>
            <a:noFill/>
          </a:ln>
        </p:spPr>
        <p:txBody>
          <a:bodyPr spcFirstLastPara="1" wrap="square" lIns="91425" tIns="45700" rIns="91425" bIns="45700" anchor="t" anchorCtr="0">
            <a:noAutofit/>
          </a:bodyPr>
          <a:lstStyle>
            <a:lvl1pPr marL="1828800" marR="0" lvl="0" indent="-914400" algn="ctr" rtl="0">
              <a:lnSpc>
                <a:spcPct val="90000"/>
              </a:lnSpc>
              <a:spcBef>
                <a:spcPts val="0"/>
              </a:spcBef>
              <a:spcAft>
                <a:spcPts val="0"/>
              </a:spcAft>
              <a:buClr>
                <a:schemeClr val="dk2"/>
              </a:buClr>
              <a:buSzPts val="1200"/>
              <a:buFont typeface="Arial"/>
              <a:buNone/>
              <a:defRPr sz="4800" b="0" i="0" u="none" strike="noStrike" cap="none">
                <a:solidFill>
                  <a:schemeClr val="dk2"/>
                </a:solidFill>
                <a:latin typeface="NVIDIA Sans"/>
                <a:ea typeface="NVIDIA Sans"/>
                <a:cs typeface="NVIDIA Sans"/>
                <a:sym typeface="NVIDIA Sans"/>
              </a:defRPr>
            </a:lvl1pPr>
            <a:lvl2pPr marL="3657600" marR="0" lvl="1" indent="-914400" algn="ctr" rtl="0">
              <a:lnSpc>
                <a:spcPct val="90000"/>
              </a:lnSpc>
              <a:spcBef>
                <a:spcPts val="1500"/>
              </a:spcBef>
              <a:spcAft>
                <a:spcPts val="0"/>
              </a:spcAft>
              <a:buClr>
                <a:schemeClr val="dk1"/>
              </a:buClr>
              <a:buSzPts val="1100"/>
              <a:buFont typeface="Arial"/>
              <a:buNone/>
              <a:defRPr sz="4400" b="0" i="0" u="none" strike="noStrike" cap="none">
                <a:solidFill>
                  <a:schemeClr val="dk1"/>
                </a:solidFill>
                <a:latin typeface="Trebuchet MS"/>
                <a:ea typeface="Trebuchet MS"/>
                <a:cs typeface="Trebuchet MS"/>
                <a:sym typeface="Trebuchet MS"/>
              </a:defRPr>
            </a:lvl2pPr>
            <a:lvl3pPr marL="5486400" marR="0" lvl="2" indent="-914400" algn="ctr" rtl="0">
              <a:lnSpc>
                <a:spcPct val="90000"/>
              </a:lnSpc>
              <a:spcBef>
                <a:spcPts val="1500"/>
              </a:spcBef>
              <a:spcAft>
                <a:spcPts val="0"/>
              </a:spcAft>
              <a:buClr>
                <a:schemeClr val="dk1"/>
              </a:buClr>
              <a:buSzPts val="1100"/>
              <a:buFont typeface="Arial"/>
              <a:buNone/>
              <a:defRPr sz="4400" b="0" i="0" u="none" strike="noStrike" cap="none">
                <a:solidFill>
                  <a:schemeClr val="dk1"/>
                </a:solidFill>
                <a:latin typeface="Trebuchet MS"/>
                <a:ea typeface="Trebuchet MS"/>
                <a:cs typeface="Trebuchet MS"/>
                <a:sym typeface="Trebuchet MS"/>
              </a:defRPr>
            </a:lvl3pPr>
            <a:lvl4pPr marL="7315200" marR="0" lvl="3" indent="-914400" algn="ctr" rtl="0">
              <a:lnSpc>
                <a:spcPct val="90000"/>
              </a:lnSpc>
              <a:spcBef>
                <a:spcPts val="1500"/>
              </a:spcBef>
              <a:spcAft>
                <a:spcPts val="0"/>
              </a:spcAft>
              <a:buClr>
                <a:schemeClr val="dk1"/>
              </a:buClr>
              <a:buSzPts val="1100"/>
              <a:buFont typeface="Arial"/>
              <a:buNone/>
              <a:defRPr sz="4400" b="0" i="0" u="none" strike="noStrike" cap="none">
                <a:solidFill>
                  <a:schemeClr val="dk1"/>
                </a:solidFill>
                <a:latin typeface="Trebuchet MS"/>
                <a:ea typeface="Trebuchet MS"/>
                <a:cs typeface="Trebuchet MS"/>
                <a:sym typeface="Trebuchet MS"/>
              </a:defRPr>
            </a:lvl4pPr>
            <a:lvl5pPr marL="9144000" marR="0" lvl="4" indent="-914400" algn="ctr" rtl="0">
              <a:lnSpc>
                <a:spcPct val="90000"/>
              </a:lnSpc>
              <a:spcBef>
                <a:spcPts val="1500"/>
              </a:spcBef>
              <a:spcAft>
                <a:spcPts val="0"/>
              </a:spcAft>
              <a:buClr>
                <a:schemeClr val="dk1"/>
              </a:buClr>
              <a:buSzPts val="1100"/>
              <a:buFont typeface="Arial"/>
              <a:buNone/>
              <a:defRPr sz="4400" b="0" i="0" u="none" strike="noStrike" cap="none">
                <a:solidFill>
                  <a:schemeClr val="dk1"/>
                </a:solidFill>
                <a:latin typeface="Trebuchet MS"/>
                <a:ea typeface="Trebuchet MS"/>
                <a:cs typeface="Trebuchet MS"/>
                <a:sym typeface="Trebuchet MS"/>
              </a:defRPr>
            </a:lvl5pPr>
            <a:lvl6pPr marL="10972800" marR="0" lvl="5" indent="-1257300" algn="l" rtl="0">
              <a:lnSpc>
                <a:spcPct val="90000"/>
              </a:lnSpc>
              <a:spcBef>
                <a:spcPts val="1500"/>
              </a:spcBef>
              <a:spcAft>
                <a:spcPts val="0"/>
              </a:spcAft>
              <a:buClr>
                <a:schemeClr val="dk1"/>
              </a:buClr>
              <a:buSzPts val="1350"/>
              <a:buFont typeface="Arial"/>
              <a:buChar char="•"/>
              <a:defRPr sz="5400" b="0" i="0" u="none" strike="noStrike" cap="none">
                <a:solidFill>
                  <a:schemeClr val="dk1"/>
                </a:solidFill>
                <a:latin typeface="NVIDIA Sans"/>
                <a:ea typeface="NVIDIA Sans"/>
                <a:cs typeface="NVIDIA Sans"/>
                <a:sym typeface="NVIDIA Sans"/>
              </a:defRPr>
            </a:lvl6pPr>
            <a:lvl7pPr marL="12801600" marR="0" lvl="6" indent="-1257300" algn="l" rtl="0">
              <a:lnSpc>
                <a:spcPct val="90000"/>
              </a:lnSpc>
              <a:spcBef>
                <a:spcPts val="1500"/>
              </a:spcBef>
              <a:spcAft>
                <a:spcPts val="0"/>
              </a:spcAft>
              <a:buClr>
                <a:schemeClr val="dk1"/>
              </a:buClr>
              <a:buSzPts val="1350"/>
              <a:buFont typeface="Arial"/>
              <a:buChar char="•"/>
              <a:defRPr sz="5400" b="0" i="0" u="none" strike="noStrike" cap="none">
                <a:solidFill>
                  <a:schemeClr val="dk1"/>
                </a:solidFill>
                <a:latin typeface="NVIDIA Sans"/>
                <a:ea typeface="NVIDIA Sans"/>
                <a:cs typeface="NVIDIA Sans"/>
                <a:sym typeface="NVIDIA Sans"/>
              </a:defRPr>
            </a:lvl7pPr>
            <a:lvl8pPr marL="14630400" marR="0" lvl="7" indent="-1257300" algn="l" rtl="0">
              <a:lnSpc>
                <a:spcPct val="90000"/>
              </a:lnSpc>
              <a:spcBef>
                <a:spcPts val="1500"/>
              </a:spcBef>
              <a:spcAft>
                <a:spcPts val="0"/>
              </a:spcAft>
              <a:buClr>
                <a:schemeClr val="dk1"/>
              </a:buClr>
              <a:buSzPts val="1350"/>
              <a:buFont typeface="Arial"/>
              <a:buChar char="•"/>
              <a:defRPr sz="5400" b="0" i="0" u="none" strike="noStrike" cap="none">
                <a:solidFill>
                  <a:schemeClr val="dk1"/>
                </a:solidFill>
                <a:latin typeface="NVIDIA Sans"/>
                <a:ea typeface="NVIDIA Sans"/>
                <a:cs typeface="NVIDIA Sans"/>
                <a:sym typeface="NVIDIA Sans"/>
              </a:defRPr>
            </a:lvl8pPr>
            <a:lvl9pPr marL="16459200" marR="0" lvl="8" indent="-1257300" algn="l" rtl="0">
              <a:lnSpc>
                <a:spcPct val="90000"/>
              </a:lnSpc>
              <a:spcBef>
                <a:spcPts val="1500"/>
              </a:spcBef>
              <a:spcAft>
                <a:spcPts val="0"/>
              </a:spcAft>
              <a:buClr>
                <a:schemeClr val="dk1"/>
              </a:buClr>
              <a:buSzPts val="1350"/>
              <a:buFont typeface="Arial"/>
              <a:buChar char="•"/>
              <a:defRPr sz="5400" b="0" i="0" u="none" strike="noStrike" cap="none">
                <a:solidFill>
                  <a:schemeClr val="dk1"/>
                </a:solidFill>
                <a:latin typeface="NVIDIA Sans"/>
                <a:ea typeface="NVIDIA Sans"/>
                <a:cs typeface="NVIDIA Sans"/>
                <a:sym typeface="NVIDIA Sans"/>
              </a:defRPr>
            </a:lvl9pPr>
          </a:lstStyle>
          <a:p>
            <a:endParaRPr/>
          </a:p>
        </p:txBody>
      </p:sp>
      <p:sp>
        <p:nvSpPr>
          <p:cNvPr id="58" name="Google Shape;58;p14"/>
          <p:cNvSpPr txBox="1">
            <a:spLocks noGrp="1"/>
          </p:cNvSpPr>
          <p:nvPr>
            <p:ph type="body" idx="2"/>
          </p:nvPr>
        </p:nvSpPr>
        <p:spPr>
          <a:xfrm>
            <a:off x="2514600" y="4846320"/>
            <a:ext cx="31546800" cy="13652400"/>
          </a:xfrm>
          <a:prstGeom prst="rect">
            <a:avLst/>
          </a:prstGeom>
          <a:noFill/>
          <a:ln>
            <a:noFill/>
          </a:ln>
        </p:spPr>
        <p:txBody>
          <a:bodyPr spcFirstLastPara="1" wrap="square" lIns="91425" tIns="45700" rIns="91425" bIns="45700" anchor="t" anchorCtr="0">
            <a:noAutofit/>
          </a:bodyPr>
          <a:lstStyle>
            <a:lvl1pPr marL="1828800" marR="0" lvl="0" indent="-1193800" algn="l" rtl="0">
              <a:lnSpc>
                <a:spcPct val="90000"/>
              </a:lnSpc>
              <a:spcBef>
                <a:spcPts val="3000"/>
              </a:spcBef>
              <a:spcAft>
                <a:spcPts val="0"/>
              </a:spcAft>
              <a:buClr>
                <a:schemeClr val="dk2"/>
              </a:buClr>
              <a:buSzPts val="1100"/>
              <a:buFont typeface="Arial"/>
              <a:buChar char="•"/>
              <a:defRPr sz="4400" b="0" i="0" u="none" strike="noStrike" cap="none">
                <a:solidFill>
                  <a:schemeClr val="lt1"/>
                </a:solidFill>
                <a:latin typeface="NVIDIA Sans"/>
                <a:ea typeface="NVIDIA Sans"/>
                <a:cs typeface="NVIDIA Sans"/>
                <a:sym typeface="NVIDIA Sans"/>
              </a:defRPr>
            </a:lvl1pPr>
            <a:lvl2pPr marL="3657600" marR="0" lvl="1" indent="-1168400" algn="l" rtl="0">
              <a:lnSpc>
                <a:spcPct val="90000"/>
              </a:lnSpc>
              <a:spcBef>
                <a:spcPts val="1500"/>
              </a:spcBef>
              <a:spcAft>
                <a:spcPts val="0"/>
              </a:spcAft>
              <a:buClr>
                <a:schemeClr val="dk2"/>
              </a:buClr>
              <a:buSzPts val="1000"/>
              <a:buFont typeface="Arial"/>
              <a:buChar char="•"/>
              <a:defRPr sz="4000" b="0" i="0" u="none" strike="noStrike" cap="none">
                <a:solidFill>
                  <a:schemeClr val="lt1"/>
                </a:solidFill>
                <a:latin typeface="NVIDIA Sans"/>
                <a:ea typeface="NVIDIA Sans"/>
                <a:cs typeface="NVIDIA Sans"/>
                <a:sym typeface="NVIDIA Sans"/>
              </a:defRPr>
            </a:lvl2pPr>
            <a:lvl3pPr marL="5486400" marR="0" lvl="2" indent="-1143000" algn="l" rtl="0">
              <a:lnSpc>
                <a:spcPct val="90000"/>
              </a:lnSpc>
              <a:spcBef>
                <a:spcPts val="1500"/>
              </a:spcBef>
              <a:spcAft>
                <a:spcPts val="0"/>
              </a:spcAft>
              <a:buClr>
                <a:schemeClr val="dk2"/>
              </a:buClr>
              <a:buSzPts val="900"/>
              <a:buFont typeface="Arial"/>
              <a:buChar char="•"/>
              <a:defRPr sz="3600" b="0" i="0" u="none" strike="noStrike" cap="none">
                <a:solidFill>
                  <a:schemeClr val="lt1"/>
                </a:solidFill>
                <a:latin typeface="NVIDIA Sans"/>
                <a:ea typeface="NVIDIA Sans"/>
                <a:cs typeface="NVIDIA Sans"/>
                <a:sym typeface="NVIDIA Sans"/>
              </a:defRPr>
            </a:lvl3pPr>
            <a:lvl4pPr marL="7315200" marR="0" lvl="3" indent="-1117600" algn="l" rtl="0">
              <a:lnSpc>
                <a:spcPct val="90000"/>
              </a:lnSpc>
              <a:spcBef>
                <a:spcPts val="1500"/>
              </a:spcBef>
              <a:spcAft>
                <a:spcPts val="0"/>
              </a:spcAft>
              <a:buClr>
                <a:schemeClr val="dk2"/>
              </a:buClr>
              <a:buSzPts val="800"/>
              <a:buFont typeface="Arial"/>
              <a:buChar char="•"/>
              <a:defRPr sz="3200" b="0" i="0" u="none" strike="noStrike" cap="none">
                <a:solidFill>
                  <a:schemeClr val="lt1"/>
                </a:solidFill>
                <a:latin typeface="NVIDIA Sans"/>
                <a:ea typeface="NVIDIA Sans"/>
                <a:cs typeface="NVIDIA Sans"/>
                <a:sym typeface="NVIDIA Sans"/>
              </a:defRPr>
            </a:lvl4pPr>
            <a:lvl5pPr marL="9144000" marR="0" lvl="4" indent="-1092200" algn="l" rtl="0">
              <a:lnSpc>
                <a:spcPct val="90000"/>
              </a:lnSpc>
              <a:spcBef>
                <a:spcPts val="1500"/>
              </a:spcBef>
              <a:spcAft>
                <a:spcPts val="0"/>
              </a:spcAft>
              <a:buClr>
                <a:schemeClr val="dk2"/>
              </a:buClr>
              <a:buSzPts val="700"/>
              <a:buFont typeface="Arial"/>
              <a:buChar char="•"/>
              <a:defRPr sz="2800" b="0" i="0" u="none" strike="noStrike" cap="none">
                <a:solidFill>
                  <a:schemeClr val="lt1"/>
                </a:solidFill>
                <a:latin typeface="NVIDIA Sans"/>
                <a:ea typeface="NVIDIA Sans"/>
                <a:cs typeface="NVIDIA Sans"/>
                <a:sym typeface="NVIDIA Sans"/>
              </a:defRPr>
            </a:lvl5pPr>
            <a:lvl6pPr marL="10972800" marR="0" lvl="5" indent="-1257300" algn="l" rtl="0">
              <a:lnSpc>
                <a:spcPct val="90000"/>
              </a:lnSpc>
              <a:spcBef>
                <a:spcPts val="1500"/>
              </a:spcBef>
              <a:spcAft>
                <a:spcPts val="0"/>
              </a:spcAft>
              <a:buClr>
                <a:schemeClr val="dk1"/>
              </a:buClr>
              <a:buSzPts val="1350"/>
              <a:buFont typeface="Arial"/>
              <a:buChar char="•"/>
              <a:defRPr sz="5400" b="0" i="0" u="none" strike="noStrike" cap="none">
                <a:solidFill>
                  <a:schemeClr val="dk1"/>
                </a:solidFill>
                <a:latin typeface="NVIDIA Sans"/>
                <a:ea typeface="NVIDIA Sans"/>
                <a:cs typeface="NVIDIA Sans"/>
                <a:sym typeface="NVIDIA Sans"/>
              </a:defRPr>
            </a:lvl6pPr>
            <a:lvl7pPr marL="12801600" marR="0" lvl="6" indent="-1257300" algn="l" rtl="0">
              <a:lnSpc>
                <a:spcPct val="90000"/>
              </a:lnSpc>
              <a:spcBef>
                <a:spcPts val="1500"/>
              </a:spcBef>
              <a:spcAft>
                <a:spcPts val="0"/>
              </a:spcAft>
              <a:buClr>
                <a:schemeClr val="dk1"/>
              </a:buClr>
              <a:buSzPts val="1350"/>
              <a:buFont typeface="Arial"/>
              <a:buChar char="•"/>
              <a:defRPr sz="5400" b="0" i="0" u="none" strike="noStrike" cap="none">
                <a:solidFill>
                  <a:schemeClr val="dk1"/>
                </a:solidFill>
                <a:latin typeface="NVIDIA Sans"/>
                <a:ea typeface="NVIDIA Sans"/>
                <a:cs typeface="NVIDIA Sans"/>
                <a:sym typeface="NVIDIA Sans"/>
              </a:defRPr>
            </a:lvl7pPr>
            <a:lvl8pPr marL="14630400" marR="0" lvl="7" indent="-1257300" algn="l" rtl="0">
              <a:lnSpc>
                <a:spcPct val="90000"/>
              </a:lnSpc>
              <a:spcBef>
                <a:spcPts val="1500"/>
              </a:spcBef>
              <a:spcAft>
                <a:spcPts val="0"/>
              </a:spcAft>
              <a:buClr>
                <a:schemeClr val="dk1"/>
              </a:buClr>
              <a:buSzPts val="1350"/>
              <a:buFont typeface="Arial"/>
              <a:buChar char="•"/>
              <a:defRPr sz="5400" b="0" i="0" u="none" strike="noStrike" cap="none">
                <a:solidFill>
                  <a:schemeClr val="dk1"/>
                </a:solidFill>
                <a:latin typeface="NVIDIA Sans"/>
                <a:ea typeface="NVIDIA Sans"/>
                <a:cs typeface="NVIDIA Sans"/>
                <a:sym typeface="NVIDIA Sans"/>
              </a:defRPr>
            </a:lvl8pPr>
            <a:lvl9pPr marL="16459200" marR="0" lvl="8" indent="-1257300" algn="l" rtl="0">
              <a:lnSpc>
                <a:spcPct val="90000"/>
              </a:lnSpc>
              <a:spcBef>
                <a:spcPts val="1500"/>
              </a:spcBef>
              <a:spcAft>
                <a:spcPts val="0"/>
              </a:spcAft>
              <a:buClr>
                <a:schemeClr val="dk1"/>
              </a:buClr>
              <a:buSzPts val="1350"/>
              <a:buFont typeface="Arial"/>
              <a:buChar char="•"/>
              <a:defRPr sz="5400" b="0" i="0" u="none" strike="noStrike" cap="none">
                <a:solidFill>
                  <a:schemeClr val="dk1"/>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194441231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1.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14600" y="0"/>
            <a:ext cx="31546800" cy="2514600"/>
          </a:xfrm>
          <a:prstGeom prst="rect">
            <a:avLst/>
          </a:prstGeom>
        </p:spPr>
        <p:txBody>
          <a:bodyPr vert="horz" lIns="91440" tIns="45720" rIns="91440" bIns="45720" rtlCol="0" anchor="b">
            <a:normAutofit/>
          </a:bodyPr>
          <a:lstStyle/>
          <a:p>
            <a:r>
              <a:rPr lang="en-US" dirty="0"/>
              <a:t>Click To Add Title</a:t>
            </a:r>
          </a:p>
        </p:txBody>
      </p:sp>
      <p:grpSp>
        <p:nvGrpSpPr>
          <p:cNvPr id="8" name="Group 7">
            <a:extLst>
              <a:ext uri="{FF2B5EF4-FFF2-40B4-BE49-F238E27FC236}">
                <a16:creationId xmlns:a16="http://schemas.microsoft.com/office/drawing/2014/main" id="{71DA1210-4468-5B83-C91A-BBA62AF1227D}"/>
              </a:ext>
            </a:extLst>
          </p:cNvPr>
          <p:cNvGrpSpPr/>
          <p:nvPr userDrawn="1"/>
        </p:nvGrpSpPr>
        <p:grpSpPr>
          <a:xfrm>
            <a:off x="34061399" y="19504414"/>
            <a:ext cx="2514601" cy="1072783"/>
            <a:chOff x="34061399" y="19504414"/>
            <a:chExt cx="2514601" cy="1072783"/>
          </a:xfrm>
        </p:grpSpPr>
        <p:sp>
          <p:nvSpPr>
            <p:cNvPr id="5" name="Rectangle 4">
              <a:extLst>
                <a:ext uri="{FF2B5EF4-FFF2-40B4-BE49-F238E27FC236}">
                  <a16:creationId xmlns:a16="http://schemas.microsoft.com/office/drawing/2014/main" id="{B76547AF-589A-45F3-BD57-EACA3BF60CFD}"/>
                </a:ext>
              </a:extLst>
            </p:cNvPr>
            <p:cNvSpPr/>
            <p:nvPr userDrawn="1"/>
          </p:nvSpPr>
          <p:spPr>
            <a:xfrm>
              <a:off x="36420552" y="19687526"/>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pic>
          <p:nvPicPr>
            <p:cNvPr id="9" name="Picture 8" descr="A picture containing shape&#10;&#10;Description automatically generated">
              <a:extLst>
                <a:ext uri="{FF2B5EF4-FFF2-40B4-BE49-F238E27FC236}">
                  <a16:creationId xmlns:a16="http://schemas.microsoft.com/office/drawing/2014/main" id="{0F64E9CA-B4B2-365B-092F-3051F7475EA8}"/>
                </a:ext>
              </a:extLst>
            </p:cNvPr>
            <p:cNvPicPr>
              <a:picLocks noChangeAspect="1"/>
            </p:cNvPicPr>
            <p:nvPr userDrawn="1"/>
          </p:nvPicPr>
          <p:blipFill>
            <a:blip r:embed="rId43">
              <a:extLst>
                <a:ext uri="{28A0092B-C50C-407E-A947-70E740481C1C}">
                  <a14:useLocalDpi xmlns:a14="http://schemas.microsoft.com/office/drawing/2010/main" val="0"/>
                </a:ext>
              </a:extLst>
            </a:blip>
            <a:stretch>
              <a:fillRect/>
            </a:stretch>
          </p:blipFill>
          <p:spPr>
            <a:xfrm>
              <a:off x="34061399" y="19504414"/>
              <a:ext cx="2003438" cy="690238"/>
            </a:xfrm>
            <a:prstGeom prst="rect">
              <a:avLst/>
            </a:prstGeom>
          </p:spPr>
        </p:pic>
      </p:grpSp>
    </p:spTree>
    <p:extLst>
      <p:ext uri="{BB962C8B-B14F-4D97-AF65-F5344CB8AC3E}">
        <p14:creationId xmlns:p14="http://schemas.microsoft.com/office/powerpoint/2010/main" val="8324075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722" r:id="rId3"/>
    <p:sldLayoutId id="2147483718" r:id="rId4"/>
    <p:sldLayoutId id="2147483681" r:id="rId5"/>
    <p:sldLayoutId id="2147483680" r:id="rId6"/>
    <p:sldLayoutId id="2147483682" r:id="rId7"/>
    <p:sldLayoutId id="2147483683" r:id="rId8"/>
    <p:sldLayoutId id="2147483705" r:id="rId9"/>
    <p:sldLayoutId id="2147483685" r:id="rId10"/>
    <p:sldLayoutId id="2147483686" r:id="rId11"/>
    <p:sldLayoutId id="2147483687" r:id="rId12"/>
    <p:sldLayoutId id="2147483691" r:id="rId13"/>
    <p:sldLayoutId id="2147483688" r:id="rId14"/>
    <p:sldLayoutId id="2147483690" r:id="rId15"/>
    <p:sldLayoutId id="2147483689" r:id="rId16"/>
    <p:sldLayoutId id="2147483692" r:id="rId17"/>
    <p:sldLayoutId id="2147483693" r:id="rId18"/>
    <p:sldLayoutId id="2147483709" r:id="rId19"/>
    <p:sldLayoutId id="2147483723" r:id="rId20"/>
    <p:sldLayoutId id="2147483710" r:id="rId21"/>
    <p:sldLayoutId id="2147483711" r:id="rId22"/>
    <p:sldLayoutId id="2147483712" r:id="rId23"/>
    <p:sldLayoutId id="2147483713" r:id="rId24"/>
    <p:sldLayoutId id="2147483714" r:id="rId25"/>
    <p:sldLayoutId id="2147483715" r:id="rId26"/>
    <p:sldLayoutId id="2147483716" r:id="rId27"/>
    <p:sldLayoutId id="2147483717" r:id="rId28"/>
    <p:sldLayoutId id="2147483695" r:id="rId29"/>
    <p:sldLayoutId id="2147483721" r:id="rId30"/>
    <p:sldLayoutId id="2147483694" r:id="rId31"/>
    <p:sldLayoutId id="2147483719" r:id="rId32"/>
    <p:sldLayoutId id="2147483724" r:id="rId33"/>
    <p:sldLayoutId id="2147483720" r:id="rId34"/>
    <p:sldLayoutId id="2147483672" r:id="rId35"/>
    <p:sldLayoutId id="2147483708" r:id="rId36"/>
    <p:sldLayoutId id="2147483725" r:id="rId37"/>
    <p:sldLayoutId id="2147483679" r:id="rId38"/>
    <p:sldLayoutId id="2147483676" r:id="rId39"/>
    <p:sldLayoutId id="2147483684" r:id="rId40"/>
    <p:sldLayoutId id="2147483726" r:id="rId41"/>
  </p:sldLayoutIdLst>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txStyles>
    <p:titleStyle>
      <a:lvl1pPr algn="ctr" defTabSz="2743200" rtl="0" eaLnBrk="1" latinLnBrk="0" hangingPunct="1">
        <a:lnSpc>
          <a:spcPct val="90000"/>
        </a:lnSpc>
        <a:spcBef>
          <a:spcPct val="0"/>
        </a:spcBef>
        <a:buNone/>
        <a:defRPr sz="7200" b="1" kern="1200" cap="none" baseline="0">
          <a:solidFill>
            <a:schemeClr val="bg1"/>
          </a:solidFill>
          <a:latin typeface="NVIDIA Sans" panose="020B0503020203020204" pitchFamily="34" charset="0"/>
          <a:ea typeface="+mj-ea"/>
          <a:cs typeface="NVIDIA Sans" panose="020B0503020203020204" pitchFamily="34" charset="0"/>
        </a:defRPr>
      </a:lvl1pPr>
    </p:titleStyle>
    <p:bodyStyle>
      <a:lvl1pPr marL="685800" indent="-685800" algn="l" defTabSz="2743200" rtl="0" eaLnBrk="1" latinLnBrk="0" hangingPunct="1">
        <a:lnSpc>
          <a:spcPct val="90000"/>
        </a:lnSpc>
        <a:spcBef>
          <a:spcPts val="3000"/>
        </a:spcBef>
        <a:buFont typeface="NVIDIA Sans" panose="020B0503020203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NVIDIA Sans" panose="020B0503020203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NVIDIA Sans" panose="020B0503020203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microsoft.com/office/2018/10/relationships/comments" Target="../comments/modernComment_20CA8D10_57327D62.xml"/><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notesSlide" Target="../notesSlides/notesSlide3.xml"/><Relationship Id="rId16"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5" Type="http://schemas.openxmlformats.org/officeDocument/2006/relationships/image" Target="../media/image2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s>
</file>

<file path=ppt/slides/_rels/slide4.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sv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25.png"/><Relationship Id="rId9" Type="http://schemas.openxmlformats.org/officeDocument/2006/relationships/image" Target="../media/image3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42.png"/></Relationships>
</file>

<file path=ppt/slides/_rels/slide13.xml.rels><?xml version="1.0" encoding="UTF-8" standalone="yes"?>
<Relationships xmlns="http://schemas.openxmlformats.org/package/2006/relationships"><Relationship Id="rId3" Type="http://schemas.microsoft.com/office/2018/10/relationships/comments" Target="../comments/modernComment_7FFFFF37_A0868665.xml"/><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chart" Target="../charts/chart1.xml"/><Relationship Id="rId4" Type="http://schemas.openxmlformats.org/officeDocument/2006/relationships/hyperlink" Target="https://aibenchmarking.ngc.nvidia.com/benchmark"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5.xml"/><Relationship Id="rId1" Type="http://schemas.openxmlformats.org/officeDocument/2006/relationships/slideLayout" Target="../slideLayouts/slideLayout41.xml"/><Relationship Id="rId6" Type="http://schemas.openxmlformats.org/officeDocument/2006/relationships/image" Target="../media/image45.png"/><Relationship Id="rId5" Type="http://schemas.openxmlformats.org/officeDocument/2006/relationships/image" Target="../media/image12.png"/><Relationship Id="rId4" Type="http://schemas.openxmlformats.org/officeDocument/2006/relationships/image" Target="../media/image44.png"/></Relationships>
</file>

<file path=ppt/slides/_rels/slide16.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 Id="rId9" Type="http://schemas.openxmlformats.org/officeDocument/2006/relationships/image" Target="../media/image5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NVIDIA NIM</a:t>
            </a:r>
          </a:p>
        </p:txBody>
      </p:sp>
      <p:sp>
        <p:nvSpPr>
          <p:cNvPr id="3" name="Subtitle 2"/>
          <p:cNvSpPr>
            <a:spLocks noGrp="1"/>
          </p:cNvSpPr>
          <p:nvPr>
            <p:ph type="subTitle" idx="1"/>
          </p:nvPr>
        </p:nvSpPr>
        <p:spPr/>
        <p:txBody>
          <a:bodyPr/>
          <a:lstStyle/>
          <a:p>
            <a:r>
              <a:t>Inference Microservices — from checkpoint to stable endpoint in one command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9574" y="19633768"/>
            <a:ext cx="6503213" cy="446456"/>
          </a:xfrm>
          <a:prstGeom prst="rect">
            <a:avLst/>
          </a:prstGeom>
          <a:noFill/>
        </p:spPr>
        <p:txBody>
          <a:bodyPr wrap="none">
            <a:spAutoFit/>
          </a:bodyPr>
          <a:lstStyle/>
          <a:p>
            <a:r>
              <a:rPr sz="2300">
                <a:solidFill>
                  <a:srgbClr val="000000"/>
                </a:solidFill>
                <a:latin typeface="NVIDIA Sans Medium"/>
              </a:rPr>
              <a:t>NVIDIA CONFIDENTIAL. DO NOT DISTRIBUTE.</a:t>
            </a:r>
          </a:p>
        </p:txBody>
      </p:sp>
      <p:sp>
        <p:nvSpPr>
          <p:cNvPr id="3" name="TextBox 2"/>
          <p:cNvSpPr txBox="1"/>
          <p:nvPr/>
        </p:nvSpPr>
        <p:spPr>
          <a:xfrm>
            <a:off x="1463040" y="1097280"/>
            <a:ext cx="33649920" cy="2377440"/>
          </a:xfrm>
          <a:prstGeom prst="rect">
            <a:avLst/>
          </a:prstGeom>
          <a:noFill/>
        </p:spPr>
        <p:txBody>
          <a:bodyPr wrap="square" lIns="50000" tIns="20000" rIns="50000" bIns="20000" anchor="ctr">
            <a:spAutoFit/>
          </a:bodyPr>
          <a:lstStyle/>
          <a:p>
            <a:pPr algn="l"/>
            <a:r>
              <a:rPr sz="7200" b="1" i="0">
                <a:solidFill>
                  <a:srgbClr val="000000"/>
                </a:solidFill>
                <a:latin typeface="NVIDIA Sans Medium"/>
              </a:rPr>
              <a:t>The Deployment Problem</a:t>
            </a:r>
          </a:p>
        </p:txBody>
      </p:sp>
      <p:sp>
        <p:nvSpPr>
          <p:cNvPr id="4" name="TextBox 3"/>
          <p:cNvSpPr txBox="1"/>
          <p:nvPr/>
        </p:nvSpPr>
        <p:spPr>
          <a:xfrm>
            <a:off x="1463040" y="3474720"/>
            <a:ext cx="33649920" cy="1280160"/>
          </a:xfrm>
          <a:prstGeom prst="rect">
            <a:avLst/>
          </a:prstGeom>
          <a:noFill/>
        </p:spPr>
        <p:txBody>
          <a:bodyPr wrap="square" lIns="50000" tIns="20000" rIns="50000" bIns="20000" anchor="ctr">
            <a:spAutoFit/>
          </a:bodyPr>
          <a:lstStyle/>
          <a:p>
            <a:pPr algn="l"/>
            <a:r>
              <a:rPr sz="4400" b="0" i="1">
                <a:solidFill>
                  <a:srgbClr val="5E5E5E"/>
                </a:solidFill>
                <a:latin typeface="NVIDIA Sans"/>
              </a:rPr>
              <a:t>What it costs to serve an LLM in production — without NIM</a:t>
            </a:r>
          </a:p>
        </p:txBody>
      </p:sp>
      <p:sp>
        <p:nvSpPr>
          <p:cNvPr id="5" name="Rectangle 4"/>
          <p:cNvSpPr/>
          <p:nvPr/>
        </p:nvSpPr>
        <p:spPr>
          <a:xfrm>
            <a:off x="1463040" y="4901184"/>
            <a:ext cx="2194560" cy="109728"/>
          </a:xfrm>
          <a:prstGeom prst="rect">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2011680" y="5852160"/>
            <a:ext cx="16093440" cy="5669280"/>
          </a:xfrm>
          <a:prstGeom prst="roundRect">
            <a:avLst>
              <a:gd name="adj" fmla="val 4000"/>
            </a:avLst>
          </a:prstGeom>
          <a:solidFill>
            <a:srgbClr val="FFFFFF"/>
          </a:solidFill>
          <a:ln w="15240">
            <a:solidFill>
              <a:srgbClr val="890C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0" y="6400800"/>
            <a:ext cx="14630400" cy="1463040"/>
          </a:xfrm>
          <a:prstGeom prst="rect">
            <a:avLst/>
          </a:prstGeom>
          <a:noFill/>
        </p:spPr>
        <p:txBody>
          <a:bodyPr wrap="square" lIns="50000" tIns="20000" rIns="50000" bIns="20000" anchor="t">
            <a:spAutoFit/>
          </a:bodyPr>
          <a:lstStyle/>
          <a:p>
            <a:pPr algn="l"/>
            <a:r>
              <a:rPr sz="4800" b="1" i="0">
                <a:solidFill>
                  <a:srgbClr val="890C58"/>
                </a:solidFill>
                <a:latin typeface="NVIDIA Sans Medium"/>
              </a:rPr>
              <a:t>Hours from checkpoint to endpoint</a:t>
            </a:r>
          </a:p>
        </p:txBody>
      </p:sp>
      <p:sp>
        <p:nvSpPr>
          <p:cNvPr id="8" name="TextBox 7"/>
          <p:cNvSpPr txBox="1"/>
          <p:nvPr/>
        </p:nvSpPr>
        <p:spPr>
          <a:xfrm>
            <a:off x="2743200" y="8046720"/>
            <a:ext cx="14630400" cy="3108960"/>
          </a:xfrm>
          <a:prstGeom prst="rect">
            <a:avLst/>
          </a:prstGeom>
          <a:noFill/>
        </p:spPr>
        <p:txBody>
          <a:bodyPr wrap="square" lIns="50000" tIns="20000" rIns="50000" bIns="20000" anchor="t">
            <a:spAutoFit/>
          </a:bodyPr>
          <a:lstStyle/>
          <a:p>
            <a:pPr algn="l"/>
            <a:r>
              <a:rPr sz="4000" b="0" i="0">
                <a:solidFill>
                  <a:srgbClr val="000000"/>
                </a:solidFill>
                <a:latin typeface="NVIDIA Sans"/>
              </a:rPr>
              <a:t>Container, server, batching, TRT-LLM compile, API surface, health probes — all DIY</a:t>
            </a:r>
          </a:p>
        </p:txBody>
      </p:sp>
      <p:sp>
        <p:nvSpPr>
          <p:cNvPr id="9" name="Rounded Rectangle 8"/>
          <p:cNvSpPr/>
          <p:nvPr/>
        </p:nvSpPr>
        <p:spPr>
          <a:xfrm>
            <a:off x="18653760" y="5852160"/>
            <a:ext cx="16093440" cy="5669280"/>
          </a:xfrm>
          <a:prstGeom prst="roundRect">
            <a:avLst>
              <a:gd name="adj" fmla="val 4000"/>
            </a:avLst>
          </a:prstGeom>
          <a:solidFill>
            <a:srgbClr val="FFFFFF"/>
          </a:solidFill>
          <a:ln w="15240">
            <a:solidFill>
              <a:srgbClr val="890C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9385280" y="6400800"/>
            <a:ext cx="14630400" cy="1463040"/>
          </a:xfrm>
          <a:prstGeom prst="rect">
            <a:avLst/>
          </a:prstGeom>
          <a:noFill/>
        </p:spPr>
        <p:txBody>
          <a:bodyPr wrap="square" lIns="50000" tIns="20000" rIns="50000" bIns="20000" anchor="t">
            <a:spAutoFit/>
          </a:bodyPr>
          <a:lstStyle/>
          <a:p>
            <a:pPr algn="l"/>
            <a:r>
              <a:rPr sz="4800" b="1" i="0">
                <a:solidFill>
                  <a:srgbClr val="890C58"/>
                </a:solidFill>
                <a:latin typeface="NVIDIA Sans Medium"/>
              </a:rPr>
              <a:t>Reproducibility is fragile</a:t>
            </a:r>
          </a:p>
        </p:txBody>
      </p:sp>
      <p:sp>
        <p:nvSpPr>
          <p:cNvPr id="11" name="TextBox 10"/>
          <p:cNvSpPr txBox="1"/>
          <p:nvPr/>
        </p:nvSpPr>
        <p:spPr>
          <a:xfrm>
            <a:off x="19385280" y="8046720"/>
            <a:ext cx="14630400" cy="655944"/>
          </a:xfrm>
          <a:prstGeom prst="rect">
            <a:avLst/>
          </a:prstGeom>
          <a:noFill/>
        </p:spPr>
        <p:txBody>
          <a:bodyPr wrap="square" lIns="50000" tIns="20000" rIns="50000" bIns="20000" anchor="t">
            <a:spAutoFit/>
          </a:bodyPr>
          <a:lstStyle/>
          <a:p>
            <a:pPr algn="l"/>
            <a:r>
              <a:rPr sz="4000" b="0" i="0" dirty="0">
                <a:solidFill>
                  <a:srgbClr val="000000"/>
                </a:solidFill>
                <a:latin typeface="NVIDIA Sans"/>
              </a:rPr>
              <a:t>Backend versions drift</a:t>
            </a:r>
          </a:p>
        </p:txBody>
      </p:sp>
      <p:sp>
        <p:nvSpPr>
          <p:cNvPr id="12" name="Rounded Rectangle 11"/>
          <p:cNvSpPr/>
          <p:nvPr/>
        </p:nvSpPr>
        <p:spPr>
          <a:xfrm>
            <a:off x="2011680" y="12252960"/>
            <a:ext cx="16093440" cy="5669280"/>
          </a:xfrm>
          <a:prstGeom prst="roundRect">
            <a:avLst>
              <a:gd name="adj" fmla="val 4000"/>
            </a:avLst>
          </a:prstGeom>
          <a:solidFill>
            <a:srgbClr val="FFFFFF"/>
          </a:solidFill>
          <a:ln w="15240">
            <a:solidFill>
              <a:srgbClr val="890C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743200" y="12801600"/>
            <a:ext cx="14630400" cy="1463040"/>
          </a:xfrm>
          <a:prstGeom prst="rect">
            <a:avLst/>
          </a:prstGeom>
          <a:noFill/>
        </p:spPr>
        <p:txBody>
          <a:bodyPr wrap="square" lIns="50000" tIns="20000" rIns="50000" bIns="20000" anchor="t">
            <a:spAutoFit/>
          </a:bodyPr>
          <a:lstStyle/>
          <a:p>
            <a:pPr algn="l"/>
            <a:r>
              <a:rPr sz="4800" b="1" i="0">
                <a:solidFill>
                  <a:srgbClr val="890C58"/>
                </a:solidFill>
                <a:latin typeface="NVIDIA Sans Medium"/>
              </a:rPr>
              <a:t>API surface is non-standard</a:t>
            </a:r>
          </a:p>
        </p:txBody>
      </p:sp>
      <p:sp>
        <p:nvSpPr>
          <p:cNvPr id="14" name="TextBox 13"/>
          <p:cNvSpPr txBox="1"/>
          <p:nvPr/>
        </p:nvSpPr>
        <p:spPr>
          <a:xfrm>
            <a:off x="2743200" y="14447520"/>
            <a:ext cx="14630400" cy="3108960"/>
          </a:xfrm>
          <a:prstGeom prst="rect">
            <a:avLst/>
          </a:prstGeom>
          <a:noFill/>
        </p:spPr>
        <p:txBody>
          <a:bodyPr wrap="square" lIns="50000" tIns="20000" rIns="50000" bIns="20000" anchor="t">
            <a:spAutoFit/>
          </a:bodyPr>
          <a:lstStyle/>
          <a:p>
            <a:pPr algn="l"/>
            <a:r>
              <a:rPr sz="4000" b="0" i="0">
                <a:solidFill>
                  <a:srgbClr val="000000"/>
                </a:solidFill>
                <a:latin typeface="NVIDIA Sans"/>
              </a:rPr>
              <a:t>Every team writes their own /chat /completions /embeddings</a:t>
            </a:r>
          </a:p>
        </p:txBody>
      </p:sp>
      <p:sp>
        <p:nvSpPr>
          <p:cNvPr id="15" name="Rounded Rectangle 14"/>
          <p:cNvSpPr/>
          <p:nvPr/>
        </p:nvSpPr>
        <p:spPr>
          <a:xfrm>
            <a:off x="18653760" y="12252960"/>
            <a:ext cx="16093440" cy="5669280"/>
          </a:xfrm>
          <a:prstGeom prst="roundRect">
            <a:avLst>
              <a:gd name="adj" fmla="val 4000"/>
            </a:avLst>
          </a:prstGeom>
          <a:solidFill>
            <a:srgbClr val="FFFFFF"/>
          </a:solidFill>
          <a:ln w="15240">
            <a:solidFill>
              <a:srgbClr val="890C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9385280" y="12801600"/>
            <a:ext cx="14630400" cy="1463040"/>
          </a:xfrm>
          <a:prstGeom prst="rect">
            <a:avLst/>
          </a:prstGeom>
          <a:noFill/>
        </p:spPr>
        <p:txBody>
          <a:bodyPr wrap="square" lIns="50000" tIns="20000" rIns="50000" bIns="20000" anchor="t">
            <a:spAutoFit/>
          </a:bodyPr>
          <a:lstStyle/>
          <a:p>
            <a:pPr algn="l"/>
            <a:r>
              <a:rPr sz="4800" b="1" i="0">
                <a:solidFill>
                  <a:srgbClr val="890C58"/>
                </a:solidFill>
                <a:latin typeface="NVIDIA Sans Medium"/>
              </a:rPr>
              <a:t>Optimisation is dark art</a:t>
            </a:r>
          </a:p>
        </p:txBody>
      </p:sp>
      <p:sp>
        <p:nvSpPr>
          <p:cNvPr id="17" name="TextBox 16"/>
          <p:cNvSpPr txBox="1"/>
          <p:nvPr/>
        </p:nvSpPr>
        <p:spPr>
          <a:xfrm>
            <a:off x="19385280" y="14447520"/>
            <a:ext cx="14630400" cy="3108960"/>
          </a:xfrm>
          <a:prstGeom prst="rect">
            <a:avLst/>
          </a:prstGeom>
          <a:noFill/>
        </p:spPr>
        <p:txBody>
          <a:bodyPr wrap="square" lIns="50000" tIns="20000" rIns="50000" bIns="20000" anchor="t">
            <a:spAutoFit/>
          </a:bodyPr>
          <a:lstStyle/>
          <a:p>
            <a:pPr algn="l"/>
            <a:r>
              <a:rPr sz="4000" b="0" i="0">
                <a:solidFill>
                  <a:srgbClr val="000000"/>
                </a:solidFill>
                <a:latin typeface="NVIDIA Sans"/>
              </a:rPr>
              <a:t>Picking TRT-LLM / vLLM / SGLang per model is a research project on its own</a:t>
            </a:r>
          </a:p>
        </p:txBody>
      </p:sp>
      <p:sp>
        <p:nvSpPr>
          <p:cNvPr id="18" name="TextBox 17"/>
          <p:cNvSpPr txBox="1"/>
          <p:nvPr/>
        </p:nvSpPr>
        <p:spPr>
          <a:xfrm>
            <a:off x="2011680" y="18288000"/>
            <a:ext cx="32918400" cy="1097280"/>
          </a:xfrm>
          <a:prstGeom prst="rect">
            <a:avLst/>
          </a:prstGeom>
          <a:noFill/>
        </p:spPr>
        <p:txBody>
          <a:bodyPr wrap="square" lIns="50000" tIns="20000" rIns="50000" bIns="20000" anchor="t">
            <a:spAutoFit/>
          </a:bodyPr>
          <a:lstStyle/>
          <a:p>
            <a:pPr algn="ctr"/>
            <a:r>
              <a:rPr sz="4000" b="0" i="1">
                <a:solidFill>
                  <a:srgbClr val="5E5E5E"/>
                </a:solidFill>
                <a:latin typeface="NVIDIA Sans"/>
              </a:rPr>
              <a:t>Every team rediscovers these problems on every deployment — that's what NIM eliminates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2D297-FF47-239A-3016-5EFEF6F86C7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C09E97B-C64A-9295-A5A4-58931E0CC8DC}"/>
              </a:ext>
            </a:extLst>
          </p:cNvPr>
          <p:cNvSpPr>
            <a:spLocks noGrp="1"/>
          </p:cNvSpPr>
          <p:nvPr>
            <p:ph type="title"/>
          </p:nvPr>
        </p:nvSpPr>
        <p:spPr/>
        <p:txBody>
          <a:bodyPr/>
          <a:lstStyle/>
          <a:p>
            <a:r>
              <a:rPr lang="en-US"/>
              <a:t>Model Deployment Lifecycle</a:t>
            </a:r>
          </a:p>
        </p:txBody>
      </p:sp>
      <p:sp>
        <p:nvSpPr>
          <p:cNvPr id="6" name="Text Placeholder 5">
            <a:extLst>
              <a:ext uri="{FF2B5EF4-FFF2-40B4-BE49-F238E27FC236}">
                <a16:creationId xmlns:a16="http://schemas.microsoft.com/office/drawing/2014/main" id="{4DE0B8A4-6411-6CE5-62C8-37F45530FD84}"/>
              </a:ext>
            </a:extLst>
          </p:cNvPr>
          <p:cNvSpPr>
            <a:spLocks noGrp="1"/>
          </p:cNvSpPr>
          <p:nvPr>
            <p:ph type="body" sz="quarter" idx="10"/>
          </p:nvPr>
        </p:nvSpPr>
        <p:spPr/>
        <p:txBody>
          <a:bodyPr/>
          <a:lstStyle/>
          <a:p>
            <a:r>
              <a:rPr lang="en-US"/>
              <a:t>NIM turns weeks of engineering effort into hours</a:t>
            </a:r>
          </a:p>
        </p:txBody>
      </p:sp>
      <p:sp>
        <p:nvSpPr>
          <p:cNvPr id="43" name="Text Placeholder 8">
            <a:extLst>
              <a:ext uri="{FF2B5EF4-FFF2-40B4-BE49-F238E27FC236}">
                <a16:creationId xmlns:a16="http://schemas.microsoft.com/office/drawing/2014/main" id="{64499F83-EE68-5AC1-18CB-6E67B3CC991A}"/>
              </a:ext>
            </a:extLst>
          </p:cNvPr>
          <p:cNvSpPr txBox="1">
            <a:spLocks/>
          </p:cNvSpPr>
          <p:nvPr/>
        </p:nvSpPr>
        <p:spPr>
          <a:xfrm>
            <a:off x="30944254" y="7640423"/>
            <a:ext cx="1797574" cy="677689"/>
          </a:xfrm>
          <a:prstGeom prst="rect">
            <a:avLst/>
          </a:prstGeom>
        </p:spPr>
        <p:txBody>
          <a:bodyPr/>
          <a:lstStyle>
            <a:lvl1pPr marL="685800" indent="-685800" algn="l" defTabSz="2743200" rtl="0" eaLnBrk="1" latinLnBrk="0" hangingPunct="1">
              <a:lnSpc>
                <a:spcPct val="90000"/>
              </a:lnSpc>
              <a:spcBef>
                <a:spcPts val="3000"/>
              </a:spcBef>
              <a:buFont typeface="NVIDIA Sans" panose="020B0503020203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NVIDIA Sans" panose="020B0503020203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NVIDIA Sans" panose="020B0503020203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a:lstStyle>
          <a:p>
            <a:pPr marL="0" indent="0" algn="ctr">
              <a:buNone/>
            </a:pPr>
            <a:r>
              <a:rPr lang="en-US" sz="2800">
                <a:solidFill>
                  <a:schemeClr val="bg1"/>
                </a:solidFill>
                <a:latin typeface="+mj-lt"/>
              </a:rPr>
              <a:t>Monthly Updates</a:t>
            </a:r>
          </a:p>
        </p:txBody>
      </p:sp>
      <p:pic>
        <p:nvPicPr>
          <p:cNvPr id="2" name="Picture Placeholder 13" descr="A green line drawing of a computer screen with a graph going up&#10;&#10;AI-generated content may be incorrect.">
            <a:extLst>
              <a:ext uri="{FF2B5EF4-FFF2-40B4-BE49-F238E27FC236}">
                <a16:creationId xmlns:a16="http://schemas.microsoft.com/office/drawing/2014/main" id="{4612A230-9671-209A-A160-A02EAAA64E2B}"/>
              </a:ext>
            </a:extLst>
          </p:cNvPr>
          <p:cNvPicPr>
            <a:picLocks noChangeAspect="1"/>
          </p:cNvPicPr>
          <p:nvPr/>
        </p:nvPicPr>
        <p:blipFill>
          <a:blip r:embed="rId4">
            <a:biLevel thresh="75000"/>
            <a:extLst>
              <a:ext uri="{28A0092B-C50C-407E-A947-70E740481C1C}">
                <a14:useLocalDpi xmlns:a14="http://schemas.microsoft.com/office/drawing/2010/main" val="0"/>
              </a:ext>
            </a:extLst>
          </a:blip>
          <a:srcRect t="18968" b="18968"/>
          <a:stretch>
            <a:fillRect/>
          </a:stretch>
        </p:blipFill>
        <p:spPr>
          <a:xfrm>
            <a:off x="10050851" y="5543019"/>
            <a:ext cx="2823011" cy="1752212"/>
          </a:xfrm>
          <a:prstGeom prst="rect">
            <a:avLst/>
          </a:prstGeom>
          <a:noFill/>
          <a:ln w="9525">
            <a:noFill/>
          </a:ln>
        </p:spPr>
      </p:pic>
      <p:sp>
        <p:nvSpPr>
          <p:cNvPr id="46" name="Text Placeholder 8">
            <a:extLst>
              <a:ext uri="{FF2B5EF4-FFF2-40B4-BE49-F238E27FC236}">
                <a16:creationId xmlns:a16="http://schemas.microsoft.com/office/drawing/2014/main" id="{AD77F912-3D70-052A-E563-AD3977B0FA88}"/>
              </a:ext>
            </a:extLst>
          </p:cNvPr>
          <p:cNvSpPr txBox="1">
            <a:spLocks/>
          </p:cNvSpPr>
          <p:nvPr/>
        </p:nvSpPr>
        <p:spPr>
          <a:xfrm>
            <a:off x="9389224" y="7772422"/>
            <a:ext cx="4146267" cy="988052"/>
          </a:xfrm>
          <a:prstGeom prst="rect">
            <a:avLst/>
          </a:prstGeom>
        </p:spPr>
        <p:txBody>
          <a:bodyPr/>
          <a:lstStyle>
            <a:lvl1pPr marL="685800" indent="-685800" algn="l" defTabSz="2743200" rtl="0" eaLnBrk="1" latinLnBrk="0" hangingPunct="1">
              <a:lnSpc>
                <a:spcPct val="90000"/>
              </a:lnSpc>
              <a:spcBef>
                <a:spcPts val="3000"/>
              </a:spcBef>
              <a:buFont typeface="NVIDIA Sans" panose="020B0503020203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NVIDIA Sans" panose="020B0503020203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NVIDIA Sans" panose="020B0503020203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a:lstStyle>
          <a:p>
            <a:pPr marL="0" indent="0" algn="ctr">
              <a:buNone/>
            </a:pPr>
            <a:r>
              <a:rPr lang="en-US" sz="2800">
                <a:solidFill>
                  <a:schemeClr val="bg1"/>
                </a:solidFill>
                <a:latin typeface="+mj-lt"/>
              </a:rPr>
              <a:t>Multi-backend performance sweeps</a:t>
            </a:r>
          </a:p>
        </p:txBody>
      </p:sp>
      <p:sp>
        <p:nvSpPr>
          <p:cNvPr id="47" name="Text Placeholder 8">
            <a:extLst>
              <a:ext uri="{FF2B5EF4-FFF2-40B4-BE49-F238E27FC236}">
                <a16:creationId xmlns:a16="http://schemas.microsoft.com/office/drawing/2014/main" id="{F4C68664-AF2A-66FC-B081-1EB83846F8CC}"/>
              </a:ext>
            </a:extLst>
          </p:cNvPr>
          <p:cNvSpPr txBox="1">
            <a:spLocks/>
          </p:cNvSpPr>
          <p:nvPr/>
        </p:nvSpPr>
        <p:spPr>
          <a:xfrm>
            <a:off x="13644511" y="7827261"/>
            <a:ext cx="3775001" cy="855273"/>
          </a:xfrm>
          <a:prstGeom prst="rect">
            <a:avLst/>
          </a:prstGeom>
        </p:spPr>
        <p:txBody>
          <a:bodyPr/>
          <a:lstStyle>
            <a:lvl1pPr marL="685800" indent="-685800" algn="l" defTabSz="2743200" rtl="0" eaLnBrk="1" latinLnBrk="0" hangingPunct="1">
              <a:lnSpc>
                <a:spcPct val="90000"/>
              </a:lnSpc>
              <a:spcBef>
                <a:spcPts val="3000"/>
              </a:spcBef>
              <a:buFont typeface="NVIDIA Sans" panose="020B0503020203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NVIDIA Sans" panose="020B0503020203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NVIDIA Sans" panose="020B0503020203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a:lstStyle>
          <a:p>
            <a:pPr marL="0" indent="0" algn="ctr">
              <a:buNone/>
            </a:pPr>
            <a:r>
              <a:rPr lang="en-US" sz="2800">
                <a:solidFill>
                  <a:schemeClr val="bg1"/>
                </a:solidFill>
                <a:latin typeface="+mj-lt"/>
              </a:rPr>
              <a:t>Security hardening &amp; code audit</a:t>
            </a:r>
          </a:p>
        </p:txBody>
      </p:sp>
      <p:pic>
        <p:nvPicPr>
          <p:cNvPr id="49" name="Picture 48" descr="A green outline of a lock in a hexagon shape&#10;&#10;AI-generated content may be incorrect.">
            <a:extLst>
              <a:ext uri="{FF2B5EF4-FFF2-40B4-BE49-F238E27FC236}">
                <a16:creationId xmlns:a16="http://schemas.microsoft.com/office/drawing/2014/main" id="{6122998E-DD6A-52D3-87B3-F7FCCAD4283B}"/>
              </a:ext>
            </a:extLst>
          </p:cNvPr>
          <p:cNvPicPr>
            <a:picLocks noChangeAspect="1"/>
          </p:cNvPicPr>
          <p:nvPr/>
        </p:nvPicPr>
        <p:blipFill>
          <a:blip r:embed="rId5">
            <a:biLevel thresh="75000"/>
            <a:extLst>
              <a:ext uri="{28A0092B-C50C-407E-A947-70E740481C1C}">
                <a14:useLocalDpi xmlns:a14="http://schemas.microsoft.com/office/drawing/2010/main" val="0"/>
              </a:ext>
            </a:extLst>
          </a:blip>
          <a:stretch>
            <a:fillRect/>
          </a:stretch>
        </p:blipFill>
        <p:spPr>
          <a:xfrm>
            <a:off x="14302173" y="5155637"/>
            <a:ext cx="2581761" cy="2581761"/>
          </a:xfrm>
          <a:prstGeom prst="rect">
            <a:avLst/>
          </a:prstGeom>
        </p:spPr>
      </p:pic>
      <p:sp>
        <p:nvSpPr>
          <p:cNvPr id="50" name="Text Placeholder 8">
            <a:extLst>
              <a:ext uri="{FF2B5EF4-FFF2-40B4-BE49-F238E27FC236}">
                <a16:creationId xmlns:a16="http://schemas.microsoft.com/office/drawing/2014/main" id="{E71F0627-3759-354C-84B1-0ECB3E070FF9}"/>
              </a:ext>
            </a:extLst>
          </p:cNvPr>
          <p:cNvSpPr txBox="1">
            <a:spLocks/>
          </p:cNvSpPr>
          <p:nvPr/>
        </p:nvSpPr>
        <p:spPr>
          <a:xfrm>
            <a:off x="18063149" y="7786880"/>
            <a:ext cx="2862717" cy="773600"/>
          </a:xfrm>
          <a:prstGeom prst="rect">
            <a:avLst/>
          </a:prstGeom>
        </p:spPr>
        <p:txBody>
          <a:bodyPr/>
          <a:lstStyle>
            <a:lvl1pPr marL="685800" indent="-685800" algn="l" defTabSz="2743200" rtl="0" eaLnBrk="1" latinLnBrk="0" hangingPunct="1">
              <a:lnSpc>
                <a:spcPct val="90000"/>
              </a:lnSpc>
              <a:spcBef>
                <a:spcPts val="3000"/>
              </a:spcBef>
              <a:buFont typeface="NVIDIA Sans" panose="020B0503020203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NVIDIA Sans" panose="020B0503020203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NVIDIA Sans" panose="020B0503020203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a:lstStyle>
          <a:p>
            <a:pPr marL="0" indent="0" algn="ctr">
              <a:buNone/>
            </a:pPr>
            <a:r>
              <a:rPr lang="en-US" sz="2800">
                <a:solidFill>
                  <a:schemeClr val="bg1"/>
                </a:solidFill>
                <a:latin typeface="+mj-lt"/>
              </a:rPr>
              <a:t>QA &amp; validation testing</a:t>
            </a:r>
          </a:p>
        </p:txBody>
      </p:sp>
      <p:sp>
        <p:nvSpPr>
          <p:cNvPr id="52" name="Text Placeholder 8">
            <a:extLst>
              <a:ext uri="{FF2B5EF4-FFF2-40B4-BE49-F238E27FC236}">
                <a16:creationId xmlns:a16="http://schemas.microsoft.com/office/drawing/2014/main" id="{EB9AA420-EC95-065E-4BBB-FD679AD8DE2D}"/>
              </a:ext>
            </a:extLst>
          </p:cNvPr>
          <p:cNvSpPr txBox="1">
            <a:spLocks/>
          </p:cNvSpPr>
          <p:nvPr/>
        </p:nvSpPr>
        <p:spPr>
          <a:xfrm>
            <a:off x="26621738" y="7640423"/>
            <a:ext cx="3167763" cy="750359"/>
          </a:xfrm>
          <a:prstGeom prst="rect">
            <a:avLst/>
          </a:prstGeom>
        </p:spPr>
        <p:txBody>
          <a:bodyPr/>
          <a:lstStyle>
            <a:lvl1pPr marL="685800" indent="-685800" algn="l" defTabSz="2743200" rtl="0" eaLnBrk="1" latinLnBrk="0" hangingPunct="1">
              <a:lnSpc>
                <a:spcPct val="90000"/>
              </a:lnSpc>
              <a:spcBef>
                <a:spcPts val="3000"/>
              </a:spcBef>
              <a:buFont typeface="NVIDIA Sans" panose="020B0503020203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NVIDIA Sans" panose="020B0503020203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NVIDIA Sans" panose="020B0503020203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a:lstStyle>
          <a:p>
            <a:pPr marL="0" indent="0" algn="ctr">
              <a:buNone/>
            </a:pPr>
            <a:r>
              <a:rPr lang="en-US" sz="2800">
                <a:solidFill>
                  <a:schemeClr val="bg1"/>
                </a:solidFill>
                <a:latin typeface="+mj-lt"/>
              </a:rPr>
              <a:t>Kubernetes Deployment</a:t>
            </a:r>
          </a:p>
        </p:txBody>
      </p:sp>
      <p:pic>
        <p:nvPicPr>
          <p:cNvPr id="53" name="Picture 52" descr="A green and black logo&#10;&#10;AI-generated content may be incorrect.">
            <a:extLst>
              <a:ext uri="{FF2B5EF4-FFF2-40B4-BE49-F238E27FC236}">
                <a16:creationId xmlns:a16="http://schemas.microsoft.com/office/drawing/2014/main" id="{CB487E5A-956A-2D9A-AA87-7259E192DACB}"/>
              </a:ext>
            </a:extLst>
          </p:cNvPr>
          <p:cNvPicPr>
            <a:picLocks noChangeAspect="1"/>
          </p:cNvPicPr>
          <p:nvPr/>
        </p:nvPicPr>
        <p:blipFill>
          <a:blip r:embed="rId6">
            <a:biLevel thresh="75000"/>
            <a:extLst>
              <a:ext uri="{28A0092B-C50C-407E-A947-70E740481C1C}">
                <a14:useLocalDpi xmlns:a14="http://schemas.microsoft.com/office/drawing/2010/main" val="0"/>
              </a:ext>
            </a:extLst>
          </a:blip>
          <a:stretch>
            <a:fillRect/>
          </a:stretch>
        </p:blipFill>
        <p:spPr>
          <a:xfrm>
            <a:off x="18215673" y="5014280"/>
            <a:ext cx="2783714" cy="2783714"/>
          </a:xfrm>
          <a:prstGeom prst="rect">
            <a:avLst/>
          </a:prstGeom>
        </p:spPr>
      </p:pic>
      <p:pic>
        <p:nvPicPr>
          <p:cNvPr id="55" name="Picture 54" descr="A green heart with a line of pulse&#10;&#10;AI-generated content may be incorrect.">
            <a:extLst>
              <a:ext uri="{FF2B5EF4-FFF2-40B4-BE49-F238E27FC236}">
                <a16:creationId xmlns:a16="http://schemas.microsoft.com/office/drawing/2014/main" id="{9FF71AEC-8A2C-B631-3D02-5AA57DACBEEA}"/>
              </a:ext>
            </a:extLst>
          </p:cNvPr>
          <p:cNvPicPr>
            <a:picLocks noChangeAspect="1"/>
          </p:cNvPicPr>
          <p:nvPr/>
        </p:nvPicPr>
        <p:blipFill>
          <a:blip r:embed="rId7">
            <a:biLevel thresh="75000"/>
            <a:extLst>
              <a:ext uri="{28A0092B-C50C-407E-A947-70E740481C1C}">
                <a14:useLocalDpi xmlns:a14="http://schemas.microsoft.com/office/drawing/2010/main" val="0"/>
              </a:ext>
            </a:extLst>
          </a:blip>
          <a:stretch>
            <a:fillRect/>
          </a:stretch>
        </p:blipFill>
        <p:spPr>
          <a:xfrm>
            <a:off x="22454776" y="4874566"/>
            <a:ext cx="2862717" cy="2862717"/>
          </a:xfrm>
          <a:prstGeom prst="rect">
            <a:avLst/>
          </a:prstGeom>
        </p:spPr>
      </p:pic>
      <p:sp>
        <p:nvSpPr>
          <p:cNvPr id="58" name="Text Placeholder 8">
            <a:extLst>
              <a:ext uri="{FF2B5EF4-FFF2-40B4-BE49-F238E27FC236}">
                <a16:creationId xmlns:a16="http://schemas.microsoft.com/office/drawing/2014/main" id="{94B70819-BD34-F121-80B0-0D6E8207783C}"/>
              </a:ext>
            </a:extLst>
          </p:cNvPr>
          <p:cNvSpPr txBox="1">
            <a:spLocks/>
          </p:cNvSpPr>
          <p:nvPr/>
        </p:nvSpPr>
        <p:spPr>
          <a:xfrm>
            <a:off x="21732436" y="7635525"/>
            <a:ext cx="3913399" cy="750359"/>
          </a:xfrm>
          <a:prstGeom prst="rect">
            <a:avLst/>
          </a:prstGeom>
        </p:spPr>
        <p:txBody>
          <a:bodyPr/>
          <a:lstStyle>
            <a:lvl1pPr marL="685800" indent="-685800" algn="l" defTabSz="2743200" rtl="0" eaLnBrk="1" latinLnBrk="0" hangingPunct="1">
              <a:lnSpc>
                <a:spcPct val="90000"/>
              </a:lnSpc>
              <a:spcBef>
                <a:spcPts val="3000"/>
              </a:spcBef>
              <a:buFont typeface="NVIDIA Sans" panose="020B0503020203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NVIDIA Sans" panose="020B0503020203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NVIDIA Sans" panose="020B0503020203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a:lstStyle>
          <a:p>
            <a:pPr marL="0" indent="0" algn="ctr">
              <a:buNone/>
            </a:pPr>
            <a:r>
              <a:rPr lang="en-US" sz="2800">
                <a:solidFill>
                  <a:schemeClr val="bg1"/>
                </a:solidFill>
                <a:latin typeface="+mj-lt"/>
              </a:rPr>
              <a:t>Monitoring &amp; Logging implementation</a:t>
            </a:r>
          </a:p>
        </p:txBody>
      </p:sp>
      <p:pic>
        <p:nvPicPr>
          <p:cNvPr id="59" name="Picture 58" descr="A logo with a cube and clouds&#10;&#10;AI-generated content may be incorrect.">
            <a:extLst>
              <a:ext uri="{FF2B5EF4-FFF2-40B4-BE49-F238E27FC236}">
                <a16:creationId xmlns:a16="http://schemas.microsoft.com/office/drawing/2014/main" id="{68D80C2C-45AA-DE67-7C4A-8FCD73B2EDA3}"/>
              </a:ext>
            </a:extLst>
          </p:cNvPr>
          <p:cNvPicPr>
            <a:picLocks noChangeAspect="1"/>
          </p:cNvPicPr>
          <p:nvPr/>
        </p:nvPicPr>
        <p:blipFill>
          <a:blip r:embed="rId8">
            <a:biLevel thresh="75000"/>
            <a:extLst>
              <a:ext uri="{28A0092B-C50C-407E-A947-70E740481C1C}">
                <a14:useLocalDpi xmlns:a14="http://schemas.microsoft.com/office/drawing/2010/main" val="0"/>
              </a:ext>
            </a:extLst>
          </a:blip>
          <a:stretch>
            <a:fillRect/>
          </a:stretch>
        </p:blipFill>
        <p:spPr>
          <a:xfrm>
            <a:off x="26863213" y="4955609"/>
            <a:ext cx="2684814" cy="2684814"/>
          </a:xfrm>
          <a:prstGeom prst="rect">
            <a:avLst/>
          </a:prstGeom>
        </p:spPr>
      </p:pic>
      <p:cxnSp>
        <p:nvCxnSpPr>
          <p:cNvPr id="65" name="Straight Arrow Connector 64">
            <a:extLst>
              <a:ext uri="{FF2B5EF4-FFF2-40B4-BE49-F238E27FC236}">
                <a16:creationId xmlns:a16="http://schemas.microsoft.com/office/drawing/2014/main" id="{15453F35-B0C4-7770-55A8-E6CAEB1B7320}"/>
              </a:ext>
            </a:extLst>
          </p:cNvPr>
          <p:cNvCxnSpPr>
            <a:cxnSpLocks/>
          </p:cNvCxnSpPr>
          <p:nvPr/>
        </p:nvCxnSpPr>
        <p:spPr>
          <a:xfrm flipV="1">
            <a:off x="13290511" y="6351060"/>
            <a:ext cx="786809" cy="8621"/>
          </a:xfrm>
          <a:prstGeom prst="straightConnector1">
            <a:avLst/>
          </a:prstGeom>
          <a:ln w="635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1D8AD94A-7B5E-1B0C-C3F0-A4192AB3C616}"/>
              </a:ext>
            </a:extLst>
          </p:cNvPr>
          <p:cNvCxnSpPr>
            <a:cxnSpLocks/>
          </p:cNvCxnSpPr>
          <p:nvPr/>
        </p:nvCxnSpPr>
        <p:spPr>
          <a:xfrm flipV="1">
            <a:off x="17063518" y="6351060"/>
            <a:ext cx="786482" cy="8621"/>
          </a:xfrm>
          <a:prstGeom prst="straightConnector1">
            <a:avLst/>
          </a:prstGeom>
          <a:ln w="635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AD8769DC-7926-DDEF-01A8-8A5534F19FED}"/>
              </a:ext>
            </a:extLst>
          </p:cNvPr>
          <p:cNvCxnSpPr>
            <a:cxnSpLocks/>
          </p:cNvCxnSpPr>
          <p:nvPr/>
        </p:nvCxnSpPr>
        <p:spPr>
          <a:xfrm flipV="1">
            <a:off x="21281458" y="6351058"/>
            <a:ext cx="778015" cy="8623"/>
          </a:xfrm>
          <a:prstGeom prst="straightConnector1">
            <a:avLst/>
          </a:prstGeom>
          <a:ln w="635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5D0850A5-206F-FB80-3DDC-3A33211B86FE}"/>
              </a:ext>
            </a:extLst>
          </p:cNvPr>
          <p:cNvCxnSpPr>
            <a:cxnSpLocks/>
          </p:cNvCxnSpPr>
          <p:nvPr/>
        </p:nvCxnSpPr>
        <p:spPr>
          <a:xfrm flipV="1">
            <a:off x="25685352" y="6381877"/>
            <a:ext cx="807186" cy="8623"/>
          </a:xfrm>
          <a:prstGeom prst="straightConnector1">
            <a:avLst/>
          </a:prstGeom>
          <a:ln w="63500">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69" name="Picture 68" descr="A green squares with arrows and ticks&#10;&#10;AI-generated content may be incorrect.">
            <a:extLst>
              <a:ext uri="{FF2B5EF4-FFF2-40B4-BE49-F238E27FC236}">
                <a16:creationId xmlns:a16="http://schemas.microsoft.com/office/drawing/2014/main" id="{8DF1D061-C7E9-086F-35DB-3D3CF76E6E81}"/>
              </a:ext>
            </a:extLst>
          </p:cNvPr>
          <p:cNvPicPr>
            <a:picLocks noChangeAspect="1"/>
          </p:cNvPicPr>
          <p:nvPr/>
        </p:nvPicPr>
        <p:blipFill>
          <a:blip r:embed="rId9">
            <a:biLevel thresh="75000"/>
            <a:extLst>
              <a:ext uri="{28A0092B-C50C-407E-A947-70E740481C1C}">
                <a14:useLocalDpi xmlns:a14="http://schemas.microsoft.com/office/drawing/2010/main" val="0"/>
              </a:ext>
            </a:extLst>
          </a:blip>
          <a:stretch>
            <a:fillRect/>
          </a:stretch>
        </p:blipFill>
        <p:spPr>
          <a:xfrm>
            <a:off x="30585741" y="5247555"/>
            <a:ext cx="2438705" cy="2438705"/>
          </a:xfrm>
          <a:prstGeom prst="rect">
            <a:avLst/>
          </a:prstGeom>
        </p:spPr>
      </p:pic>
      <p:sp>
        <p:nvSpPr>
          <p:cNvPr id="15" name="Text Placeholder 8">
            <a:extLst>
              <a:ext uri="{FF2B5EF4-FFF2-40B4-BE49-F238E27FC236}">
                <a16:creationId xmlns:a16="http://schemas.microsoft.com/office/drawing/2014/main" id="{966715CE-A80B-3647-8129-C7A2BE70E4D6}"/>
              </a:ext>
            </a:extLst>
          </p:cNvPr>
          <p:cNvSpPr txBox="1">
            <a:spLocks/>
          </p:cNvSpPr>
          <p:nvPr/>
        </p:nvSpPr>
        <p:spPr>
          <a:xfrm>
            <a:off x="10204304" y="8946767"/>
            <a:ext cx="2325121" cy="750359"/>
          </a:xfrm>
          <a:prstGeom prst="rect">
            <a:avLst/>
          </a:prstGeom>
          <a:noFill/>
        </p:spPr>
        <p:txBody>
          <a:bodyPr anchor="ctr"/>
          <a:lstStyle>
            <a:lvl1pPr marL="685800" indent="-685800" algn="l" defTabSz="2743200" rtl="0" eaLnBrk="1" latinLnBrk="0" hangingPunct="1">
              <a:lnSpc>
                <a:spcPct val="90000"/>
              </a:lnSpc>
              <a:spcBef>
                <a:spcPts val="3000"/>
              </a:spcBef>
              <a:buFont typeface="NVIDIA Sans" panose="020B0503020203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NVIDIA Sans" panose="020B0503020203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NVIDIA Sans" panose="020B0503020203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a:lstStyle>
          <a:p>
            <a:pPr marL="0" indent="0" algn="ctr">
              <a:buNone/>
            </a:pPr>
            <a:r>
              <a:rPr lang="en-US" sz="3200">
                <a:solidFill>
                  <a:schemeClr val="accent3"/>
                </a:solidFill>
              </a:rPr>
              <a:t>5-10 days</a:t>
            </a:r>
          </a:p>
        </p:txBody>
      </p:sp>
      <p:sp>
        <p:nvSpPr>
          <p:cNvPr id="16" name="Text Placeholder 8">
            <a:extLst>
              <a:ext uri="{FF2B5EF4-FFF2-40B4-BE49-F238E27FC236}">
                <a16:creationId xmlns:a16="http://schemas.microsoft.com/office/drawing/2014/main" id="{545F0BC8-F618-9D65-9A6E-066561E6CBEF}"/>
              </a:ext>
            </a:extLst>
          </p:cNvPr>
          <p:cNvSpPr txBox="1">
            <a:spLocks/>
          </p:cNvSpPr>
          <p:nvPr/>
        </p:nvSpPr>
        <p:spPr>
          <a:xfrm>
            <a:off x="14597126" y="8936353"/>
            <a:ext cx="2014717" cy="750359"/>
          </a:xfrm>
          <a:prstGeom prst="rect">
            <a:avLst/>
          </a:prstGeom>
          <a:noFill/>
        </p:spPr>
        <p:txBody>
          <a:bodyPr anchor="ctr"/>
          <a:lstStyle>
            <a:lvl1pPr marL="685800" indent="-685800" algn="l" defTabSz="2743200" rtl="0" eaLnBrk="1" latinLnBrk="0" hangingPunct="1">
              <a:lnSpc>
                <a:spcPct val="90000"/>
              </a:lnSpc>
              <a:spcBef>
                <a:spcPts val="3000"/>
              </a:spcBef>
              <a:buFont typeface="NVIDIA Sans" panose="020B0503020203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NVIDIA Sans" panose="020B0503020203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NVIDIA Sans" panose="020B0503020203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a:lstStyle>
          <a:p>
            <a:pPr marL="0" indent="0" algn="ctr">
              <a:buNone/>
            </a:pPr>
            <a:r>
              <a:rPr lang="en-US" sz="3200">
                <a:solidFill>
                  <a:schemeClr val="accent3"/>
                </a:solidFill>
              </a:rPr>
              <a:t>3-5 days</a:t>
            </a:r>
          </a:p>
        </p:txBody>
      </p:sp>
      <p:sp>
        <p:nvSpPr>
          <p:cNvPr id="17" name="Text Placeholder 8">
            <a:extLst>
              <a:ext uri="{FF2B5EF4-FFF2-40B4-BE49-F238E27FC236}">
                <a16:creationId xmlns:a16="http://schemas.microsoft.com/office/drawing/2014/main" id="{C11718F4-CD57-1C74-27FE-69FE6D995170}"/>
              </a:ext>
            </a:extLst>
          </p:cNvPr>
          <p:cNvSpPr txBox="1">
            <a:spLocks/>
          </p:cNvSpPr>
          <p:nvPr/>
        </p:nvSpPr>
        <p:spPr>
          <a:xfrm>
            <a:off x="18487148" y="8936352"/>
            <a:ext cx="2014717" cy="750359"/>
          </a:xfrm>
          <a:prstGeom prst="rect">
            <a:avLst/>
          </a:prstGeom>
          <a:noFill/>
        </p:spPr>
        <p:txBody>
          <a:bodyPr anchor="ctr"/>
          <a:lstStyle>
            <a:lvl1pPr marL="685800" indent="-685800" algn="l" defTabSz="2743200" rtl="0" eaLnBrk="1" latinLnBrk="0" hangingPunct="1">
              <a:lnSpc>
                <a:spcPct val="90000"/>
              </a:lnSpc>
              <a:spcBef>
                <a:spcPts val="3000"/>
              </a:spcBef>
              <a:buFont typeface="NVIDIA Sans" panose="020B0503020203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NVIDIA Sans" panose="020B0503020203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NVIDIA Sans" panose="020B0503020203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a:lstStyle>
          <a:p>
            <a:pPr marL="0" indent="0" algn="ctr">
              <a:buNone/>
            </a:pPr>
            <a:r>
              <a:rPr lang="en-US" sz="3200">
                <a:solidFill>
                  <a:schemeClr val="accent3"/>
                </a:solidFill>
              </a:rPr>
              <a:t>2-5 days</a:t>
            </a:r>
          </a:p>
        </p:txBody>
      </p:sp>
      <p:sp>
        <p:nvSpPr>
          <p:cNvPr id="18" name="Text Placeholder 8">
            <a:extLst>
              <a:ext uri="{FF2B5EF4-FFF2-40B4-BE49-F238E27FC236}">
                <a16:creationId xmlns:a16="http://schemas.microsoft.com/office/drawing/2014/main" id="{30D8FEFF-70FD-08E6-C285-C4CD5C7DDBFB}"/>
              </a:ext>
            </a:extLst>
          </p:cNvPr>
          <p:cNvSpPr txBox="1">
            <a:spLocks/>
          </p:cNvSpPr>
          <p:nvPr/>
        </p:nvSpPr>
        <p:spPr>
          <a:xfrm>
            <a:off x="22878774" y="8936352"/>
            <a:ext cx="2014717" cy="750359"/>
          </a:xfrm>
          <a:prstGeom prst="rect">
            <a:avLst/>
          </a:prstGeom>
          <a:noFill/>
        </p:spPr>
        <p:txBody>
          <a:bodyPr anchor="ctr"/>
          <a:lstStyle>
            <a:lvl1pPr marL="685800" indent="-685800" algn="l" defTabSz="2743200" rtl="0" eaLnBrk="1" latinLnBrk="0" hangingPunct="1">
              <a:lnSpc>
                <a:spcPct val="90000"/>
              </a:lnSpc>
              <a:spcBef>
                <a:spcPts val="3000"/>
              </a:spcBef>
              <a:buFont typeface="NVIDIA Sans" panose="020B0503020203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NVIDIA Sans" panose="020B0503020203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NVIDIA Sans" panose="020B0503020203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a:lstStyle>
          <a:p>
            <a:pPr marL="0" indent="0" algn="ctr">
              <a:buNone/>
            </a:pPr>
            <a:r>
              <a:rPr lang="en-US" sz="3200">
                <a:solidFill>
                  <a:schemeClr val="accent3"/>
                </a:solidFill>
              </a:rPr>
              <a:t>2-5 days</a:t>
            </a:r>
          </a:p>
        </p:txBody>
      </p:sp>
      <p:sp>
        <p:nvSpPr>
          <p:cNvPr id="20" name="Text Placeholder 8">
            <a:extLst>
              <a:ext uri="{FF2B5EF4-FFF2-40B4-BE49-F238E27FC236}">
                <a16:creationId xmlns:a16="http://schemas.microsoft.com/office/drawing/2014/main" id="{1EA1E931-E8EA-FBA1-9771-12C4D1DB357B}"/>
              </a:ext>
            </a:extLst>
          </p:cNvPr>
          <p:cNvSpPr txBox="1">
            <a:spLocks/>
          </p:cNvSpPr>
          <p:nvPr/>
        </p:nvSpPr>
        <p:spPr>
          <a:xfrm>
            <a:off x="27198260" y="8936352"/>
            <a:ext cx="2014717" cy="750359"/>
          </a:xfrm>
          <a:prstGeom prst="rect">
            <a:avLst/>
          </a:prstGeom>
          <a:noFill/>
        </p:spPr>
        <p:txBody>
          <a:bodyPr anchor="ctr"/>
          <a:lstStyle>
            <a:lvl1pPr marL="685800" indent="-685800" algn="l" defTabSz="2743200" rtl="0" eaLnBrk="1" latinLnBrk="0" hangingPunct="1">
              <a:lnSpc>
                <a:spcPct val="90000"/>
              </a:lnSpc>
              <a:spcBef>
                <a:spcPts val="3000"/>
              </a:spcBef>
              <a:buFont typeface="NVIDIA Sans" panose="020B0503020203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NVIDIA Sans" panose="020B0503020203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NVIDIA Sans" panose="020B0503020203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a:lstStyle>
          <a:p>
            <a:pPr marL="0" indent="0" algn="ctr">
              <a:buNone/>
            </a:pPr>
            <a:r>
              <a:rPr lang="en-US" sz="3200">
                <a:solidFill>
                  <a:schemeClr val="accent3"/>
                </a:solidFill>
              </a:rPr>
              <a:t>2-5 days</a:t>
            </a:r>
          </a:p>
        </p:txBody>
      </p:sp>
      <p:cxnSp>
        <p:nvCxnSpPr>
          <p:cNvPr id="22" name="Straight Arrow Connector 21">
            <a:extLst>
              <a:ext uri="{FF2B5EF4-FFF2-40B4-BE49-F238E27FC236}">
                <a16:creationId xmlns:a16="http://schemas.microsoft.com/office/drawing/2014/main" id="{D7A4A3B7-0790-422C-EBCB-6D433F22FD9C}"/>
              </a:ext>
            </a:extLst>
          </p:cNvPr>
          <p:cNvCxnSpPr>
            <a:cxnSpLocks/>
          </p:cNvCxnSpPr>
          <p:nvPr/>
        </p:nvCxnSpPr>
        <p:spPr>
          <a:xfrm flipV="1">
            <a:off x="29782823" y="6351058"/>
            <a:ext cx="859155" cy="8623"/>
          </a:xfrm>
          <a:prstGeom prst="straightConnector1">
            <a:avLst/>
          </a:prstGeom>
          <a:ln w="63500">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93" name="Picture 92" descr="A green and black logo&#10;&#10;AI-generated content may be incorrect.">
            <a:extLst>
              <a:ext uri="{FF2B5EF4-FFF2-40B4-BE49-F238E27FC236}">
                <a16:creationId xmlns:a16="http://schemas.microsoft.com/office/drawing/2014/main" id="{4DAD5319-F66D-11A1-33F9-6764D423EACF}"/>
              </a:ext>
            </a:extLst>
          </p:cNvPr>
          <p:cNvPicPr>
            <a:picLocks noChangeAspect="1"/>
          </p:cNvPicPr>
          <p:nvPr/>
        </p:nvPicPr>
        <p:blipFill>
          <a:blip r:embed="rId10">
            <a:biLevel thresh="75000"/>
            <a:extLst>
              <a:ext uri="{28A0092B-C50C-407E-A947-70E740481C1C}">
                <a14:useLocalDpi xmlns:a14="http://schemas.microsoft.com/office/drawing/2010/main" val="0"/>
              </a:ext>
            </a:extLst>
          </a:blip>
          <a:stretch>
            <a:fillRect/>
          </a:stretch>
        </p:blipFill>
        <p:spPr>
          <a:xfrm>
            <a:off x="2401311" y="7942476"/>
            <a:ext cx="1358218" cy="1358218"/>
          </a:xfrm>
          <a:prstGeom prst="rect">
            <a:avLst/>
          </a:prstGeom>
        </p:spPr>
      </p:pic>
      <p:sp>
        <p:nvSpPr>
          <p:cNvPr id="57" name="Rectangle 56">
            <a:extLst>
              <a:ext uri="{FF2B5EF4-FFF2-40B4-BE49-F238E27FC236}">
                <a16:creationId xmlns:a16="http://schemas.microsoft.com/office/drawing/2014/main" id="{C3E468FB-0DB4-FE7B-B24B-902D88D5E7CE}"/>
              </a:ext>
            </a:extLst>
          </p:cNvPr>
          <p:cNvSpPr/>
          <p:nvPr/>
        </p:nvSpPr>
        <p:spPr>
          <a:xfrm>
            <a:off x="7282734" y="16941755"/>
            <a:ext cx="1100103" cy="11371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Trebuchet MS" panose="020B0603020202020204" pitchFamily="34" charset="0"/>
            </a:endParaRPr>
          </a:p>
        </p:txBody>
      </p:sp>
      <p:pic>
        <p:nvPicPr>
          <p:cNvPr id="60" name="Graphic 18">
            <a:extLst>
              <a:ext uri="{FF2B5EF4-FFF2-40B4-BE49-F238E27FC236}">
                <a16:creationId xmlns:a16="http://schemas.microsoft.com/office/drawing/2014/main" id="{10E0B907-9BB1-1F71-371C-BC87AAE793B5}"/>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20387063" y="12441297"/>
            <a:ext cx="924795" cy="1222898"/>
          </a:xfrm>
          <a:prstGeom prst="rect">
            <a:avLst/>
          </a:prstGeom>
        </p:spPr>
      </p:pic>
      <p:pic>
        <p:nvPicPr>
          <p:cNvPr id="13" name="Picture 12" descr="A green and black logo&#10;&#10;AI-generated content may be incorrect.">
            <a:extLst>
              <a:ext uri="{FF2B5EF4-FFF2-40B4-BE49-F238E27FC236}">
                <a16:creationId xmlns:a16="http://schemas.microsoft.com/office/drawing/2014/main" id="{F8611E03-BC69-2F57-9693-AEEE54B82DE5}"/>
              </a:ext>
            </a:extLst>
          </p:cNvPr>
          <p:cNvPicPr>
            <a:picLocks noChangeAspect="1"/>
          </p:cNvPicPr>
          <p:nvPr/>
        </p:nvPicPr>
        <p:blipFill>
          <a:blip r:embed="rId12">
            <a:biLevel thresh="75000"/>
            <a:extLst>
              <a:ext uri="{28A0092B-C50C-407E-A947-70E740481C1C}">
                <a14:useLocalDpi xmlns:a14="http://schemas.microsoft.com/office/drawing/2010/main" val="0"/>
              </a:ext>
            </a:extLst>
          </a:blip>
          <a:stretch>
            <a:fillRect/>
          </a:stretch>
        </p:blipFill>
        <p:spPr>
          <a:xfrm>
            <a:off x="13425005" y="13317091"/>
            <a:ext cx="2772758" cy="2772758"/>
          </a:xfrm>
          <a:prstGeom prst="rect">
            <a:avLst/>
          </a:prstGeom>
          <a:ln>
            <a:noFill/>
          </a:ln>
        </p:spPr>
      </p:pic>
      <p:sp>
        <p:nvSpPr>
          <p:cNvPr id="14" name="Text Placeholder 8">
            <a:extLst>
              <a:ext uri="{FF2B5EF4-FFF2-40B4-BE49-F238E27FC236}">
                <a16:creationId xmlns:a16="http://schemas.microsoft.com/office/drawing/2014/main" id="{1D26B502-64FB-7E92-4C17-58DC700D5E3A}"/>
              </a:ext>
            </a:extLst>
          </p:cNvPr>
          <p:cNvSpPr txBox="1">
            <a:spLocks/>
          </p:cNvSpPr>
          <p:nvPr/>
        </p:nvSpPr>
        <p:spPr>
          <a:xfrm>
            <a:off x="13169700" y="15843361"/>
            <a:ext cx="3473541" cy="750359"/>
          </a:xfrm>
          <a:prstGeom prst="rect">
            <a:avLst/>
          </a:prstGeom>
          <a:solidFill>
            <a:schemeClr val="tx1"/>
          </a:solidFill>
          <a:ln>
            <a:noFill/>
          </a:ln>
        </p:spPr>
        <p:txBody>
          <a:bodyPr anchor="ctr"/>
          <a:lstStyle>
            <a:lvl1pPr marL="685800" indent="-685800" algn="l" defTabSz="2743200" rtl="0" eaLnBrk="1" latinLnBrk="0" hangingPunct="1">
              <a:lnSpc>
                <a:spcPct val="90000"/>
              </a:lnSpc>
              <a:spcBef>
                <a:spcPts val="3000"/>
              </a:spcBef>
              <a:buFont typeface="NVIDIA Sans" panose="020B0503020203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NVIDIA Sans" panose="020B0503020203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NVIDIA Sans" panose="020B0503020203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a:lstStyle>
          <a:p>
            <a:pPr marL="0" indent="0" algn="ctr">
              <a:buNone/>
            </a:pPr>
            <a:r>
              <a:rPr lang="en-US" sz="3600">
                <a:solidFill>
                  <a:schemeClr val="tx2"/>
                </a:solidFill>
                <a:latin typeface="+mj-lt"/>
              </a:rPr>
              <a:t>NVIDIA NIM Factory</a:t>
            </a:r>
          </a:p>
        </p:txBody>
      </p:sp>
      <p:pic>
        <p:nvPicPr>
          <p:cNvPr id="26" name="Picture 25" descr="A green and black logo&#10;&#10;AI-generated content may be incorrect.">
            <a:extLst>
              <a:ext uri="{FF2B5EF4-FFF2-40B4-BE49-F238E27FC236}">
                <a16:creationId xmlns:a16="http://schemas.microsoft.com/office/drawing/2014/main" id="{67720D94-8F1B-FC31-CF00-10A8070F026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853323" y="12317801"/>
            <a:ext cx="1371600" cy="1371600"/>
          </a:xfrm>
          <a:prstGeom prst="rect">
            <a:avLst/>
          </a:prstGeom>
        </p:spPr>
      </p:pic>
      <p:pic>
        <p:nvPicPr>
          <p:cNvPr id="48" name="Picture 47" descr="A green and black logo&#10;&#10;AI-generated content may be incorrect.">
            <a:extLst>
              <a:ext uri="{FF2B5EF4-FFF2-40B4-BE49-F238E27FC236}">
                <a16:creationId xmlns:a16="http://schemas.microsoft.com/office/drawing/2014/main" id="{8D95A729-5F6D-D56C-7859-CC7EEECC96D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853323" y="15243412"/>
            <a:ext cx="1371600" cy="1371600"/>
          </a:xfrm>
          <a:prstGeom prst="rect">
            <a:avLst/>
          </a:prstGeom>
        </p:spPr>
      </p:pic>
      <p:pic>
        <p:nvPicPr>
          <p:cNvPr id="54" name="Picture 53" descr="A green and black logo&#10;&#10;AI-generated content may be incorrect.">
            <a:extLst>
              <a:ext uri="{FF2B5EF4-FFF2-40B4-BE49-F238E27FC236}">
                <a16:creationId xmlns:a16="http://schemas.microsoft.com/office/drawing/2014/main" id="{E1108841-E1BB-A7BB-6AEA-2A52E1FB678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853323" y="16608320"/>
            <a:ext cx="1371600" cy="1371600"/>
          </a:xfrm>
          <a:prstGeom prst="rect">
            <a:avLst/>
          </a:prstGeom>
        </p:spPr>
      </p:pic>
      <p:sp>
        <p:nvSpPr>
          <p:cNvPr id="62" name="Rounded Rectangle 61">
            <a:extLst>
              <a:ext uri="{FF2B5EF4-FFF2-40B4-BE49-F238E27FC236}">
                <a16:creationId xmlns:a16="http://schemas.microsoft.com/office/drawing/2014/main" id="{55BAAE49-1E00-F6C2-74B7-FBE764B38154}"/>
              </a:ext>
            </a:extLst>
          </p:cNvPr>
          <p:cNvSpPr/>
          <p:nvPr/>
        </p:nvSpPr>
        <p:spPr>
          <a:xfrm>
            <a:off x="11364871" y="13125355"/>
            <a:ext cx="6893025" cy="4446747"/>
          </a:xfrm>
          <a:prstGeom prst="round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Trebuchet MS" panose="020B0603020202020204" pitchFamily="34" charset="0"/>
            </a:endParaRPr>
          </a:p>
        </p:txBody>
      </p:sp>
      <p:sp>
        <p:nvSpPr>
          <p:cNvPr id="105" name="Rounded Rectangle 104">
            <a:extLst>
              <a:ext uri="{FF2B5EF4-FFF2-40B4-BE49-F238E27FC236}">
                <a16:creationId xmlns:a16="http://schemas.microsoft.com/office/drawing/2014/main" id="{22147018-B3CE-35D7-11E3-435376833D13}"/>
              </a:ext>
            </a:extLst>
          </p:cNvPr>
          <p:cNvSpPr/>
          <p:nvPr/>
        </p:nvSpPr>
        <p:spPr>
          <a:xfrm>
            <a:off x="23159942" y="13833732"/>
            <a:ext cx="2909255" cy="2865478"/>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Trebuchet MS" panose="020B0603020202020204" pitchFamily="34" charset="0"/>
            </a:endParaRPr>
          </a:p>
        </p:txBody>
      </p:sp>
      <p:pic>
        <p:nvPicPr>
          <p:cNvPr id="106" name="Picture 105" descr="A group of people with black background&#10;&#10;AI-generated content may be incorrect.">
            <a:extLst>
              <a:ext uri="{FF2B5EF4-FFF2-40B4-BE49-F238E27FC236}">
                <a16:creationId xmlns:a16="http://schemas.microsoft.com/office/drawing/2014/main" id="{82E13BAB-1830-A565-222B-F87981886C3A}"/>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3587365" y="13806333"/>
            <a:ext cx="1970199" cy="1970199"/>
          </a:xfrm>
          <a:prstGeom prst="rect">
            <a:avLst/>
          </a:prstGeom>
        </p:spPr>
      </p:pic>
      <p:sp>
        <p:nvSpPr>
          <p:cNvPr id="107" name="Text Placeholder 8">
            <a:extLst>
              <a:ext uri="{FF2B5EF4-FFF2-40B4-BE49-F238E27FC236}">
                <a16:creationId xmlns:a16="http://schemas.microsoft.com/office/drawing/2014/main" id="{B5AD7194-F6E5-5FFC-738D-A61212514714}"/>
              </a:ext>
            </a:extLst>
          </p:cNvPr>
          <p:cNvSpPr txBox="1">
            <a:spLocks/>
          </p:cNvSpPr>
          <p:nvPr/>
        </p:nvSpPr>
        <p:spPr>
          <a:xfrm>
            <a:off x="23354419" y="15365716"/>
            <a:ext cx="2439514" cy="1231726"/>
          </a:xfrm>
          <a:prstGeom prst="rect">
            <a:avLst/>
          </a:prstGeom>
          <a:noFill/>
        </p:spPr>
        <p:txBody>
          <a:bodyPr anchor="ctr"/>
          <a:lstStyle>
            <a:lvl1pPr marL="685800" indent="-685800" algn="l" defTabSz="2743200" rtl="0" eaLnBrk="1" latinLnBrk="0" hangingPunct="1">
              <a:lnSpc>
                <a:spcPct val="90000"/>
              </a:lnSpc>
              <a:spcBef>
                <a:spcPts val="3000"/>
              </a:spcBef>
              <a:buFont typeface="NVIDIA Sans" panose="020B0503020203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NVIDIA Sans" panose="020B0503020203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NVIDIA Sans" panose="020B0503020203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a:lstStyle>
          <a:p>
            <a:pPr marL="0" indent="0" algn="ctr">
              <a:buNone/>
            </a:pPr>
            <a:r>
              <a:rPr lang="en-US" sz="3200" dirty="0">
                <a:latin typeface="+mj-lt"/>
              </a:rPr>
              <a:t>0 hours per model</a:t>
            </a:r>
          </a:p>
        </p:txBody>
      </p:sp>
      <p:sp>
        <p:nvSpPr>
          <p:cNvPr id="111" name="Rectangle 110">
            <a:extLst>
              <a:ext uri="{FF2B5EF4-FFF2-40B4-BE49-F238E27FC236}">
                <a16:creationId xmlns:a16="http://schemas.microsoft.com/office/drawing/2014/main" id="{AC7A16E1-F92F-F0F0-0480-179A9BF26DBD}"/>
              </a:ext>
            </a:extLst>
          </p:cNvPr>
          <p:cNvSpPr/>
          <p:nvPr/>
        </p:nvSpPr>
        <p:spPr>
          <a:xfrm>
            <a:off x="10842375" y="14791290"/>
            <a:ext cx="1100103" cy="11371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Trebuchet MS" panose="020B0603020202020204" pitchFamily="34" charset="0"/>
            </a:endParaRPr>
          </a:p>
        </p:txBody>
      </p:sp>
      <p:pic>
        <p:nvPicPr>
          <p:cNvPr id="112" name="Picture Placeholder 13" descr="A green line drawing of a computer screen with a graph going up&#10;&#10;AI-generated content may be incorrect.">
            <a:extLst>
              <a:ext uri="{FF2B5EF4-FFF2-40B4-BE49-F238E27FC236}">
                <a16:creationId xmlns:a16="http://schemas.microsoft.com/office/drawing/2014/main" id="{05347734-C951-337E-F317-3DC796760CB1}"/>
              </a:ext>
            </a:extLst>
          </p:cNvPr>
          <p:cNvPicPr>
            <a:picLocks noChangeAspect="1"/>
          </p:cNvPicPr>
          <p:nvPr/>
        </p:nvPicPr>
        <p:blipFill>
          <a:blip r:embed="rId4">
            <a:biLevel thresh="75000"/>
            <a:extLst>
              <a:ext uri="{28A0092B-C50C-407E-A947-70E740481C1C}">
                <a14:useLocalDpi xmlns:a14="http://schemas.microsoft.com/office/drawing/2010/main" val="0"/>
              </a:ext>
            </a:extLst>
          </a:blip>
          <a:srcRect t="18968" b="18968"/>
          <a:stretch>
            <a:fillRect/>
          </a:stretch>
        </p:blipFill>
        <p:spPr>
          <a:xfrm>
            <a:off x="10747782" y="14959760"/>
            <a:ext cx="1289288" cy="800247"/>
          </a:xfrm>
          <a:prstGeom prst="rect">
            <a:avLst/>
          </a:prstGeom>
          <a:noFill/>
          <a:ln w="9525">
            <a:noFill/>
          </a:ln>
        </p:spPr>
      </p:pic>
      <p:grpSp>
        <p:nvGrpSpPr>
          <p:cNvPr id="3" name="Group 2">
            <a:extLst>
              <a:ext uri="{FF2B5EF4-FFF2-40B4-BE49-F238E27FC236}">
                <a16:creationId xmlns:a16="http://schemas.microsoft.com/office/drawing/2014/main" id="{C242049D-AD30-7B77-281E-16EE302D129B}"/>
              </a:ext>
            </a:extLst>
          </p:cNvPr>
          <p:cNvGrpSpPr/>
          <p:nvPr/>
        </p:nvGrpSpPr>
        <p:grpSpPr>
          <a:xfrm>
            <a:off x="12534778" y="12485087"/>
            <a:ext cx="1194125" cy="1179108"/>
            <a:chOff x="15009073" y="12407989"/>
            <a:chExt cx="1194125" cy="1179108"/>
          </a:xfrm>
        </p:grpSpPr>
        <p:sp>
          <p:nvSpPr>
            <p:cNvPr id="113" name="Rectangle 112">
              <a:extLst>
                <a:ext uri="{FF2B5EF4-FFF2-40B4-BE49-F238E27FC236}">
                  <a16:creationId xmlns:a16="http://schemas.microsoft.com/office/drawing/2014/main" id="{9BB8AB2D-846E-BBB4-62D2-C2952D38307B}"/>
                </a:ext>
              </a:extLst>
            </p:cNvPr>
            <p:cNvSpPr/>
            <p:nvPr/>
          </p:nvSpPr>
          <p:spPr>
            <a:xfrm>
              <a:off x="15009073" y="12449909"/>
              <a:ext cx="1179108" cy="11371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Trebuchet MS" panose="020B0603020202020204" pitchFamily="34" charset="0"/>
              </a:endParaRPr>
            </a:p>
          </p:txBody>
        </p:sp>
        <p:pic>
          <p:nvPicPr>
            <p:cNvPr id="114" name="Picture 113" descr="A green outline of a lock in a hexagon shape&#10;&#10;AI-generated content may be incorrect.">
              <a:extLst>
                <a:ext uri="{FF2B5EF4-FFF2-40B4-BE49-F238E27FC236}">
                  <a16:creationId xmlns:a16="http://schemas.microsoft.com/office/drawing/2014/main" id="{11B88CA9-8BE3-B5F6-5A0A-75B09EDEEF1C}"/>
                </a:ext>
              </a:extLst>
            </p:cNvPr>
            <p:cNvPicPr>
              <a:picLocks noChangeAspect="1"/>
            </p:cNvPicPr>
            <p:nvPr/>
          </p:nvPicPr>
          <p:blipFill>
            <a:blip r:embed="rId5">
              <a:biLevel thresh="75000"/>
              <a:extLst>
                <a:ext uri="{28A0092B-C50C-407E-A947-70E740481C1C}">
                  <a14:useLocalDpi xmlns:a14="http://schemas.microsoft.com/office/drawing/2010/main" val="0"/>
                </a:ext>
              </a:extLst>
            </a:blip>
            <a:stretch>
              <a:fillRect/>
            </a:stretch>
          </p:blipFill>
          <p:spPr>
            <a:xfrm>
              <a:off x="15024090" y="12407989"/>
              <a:ext cx="1179108" cy="1179108"/>
            </a:xfrm>
            <a:prstGeom prst="rect">
              <a:avLst/>
            </a:prstGeom>
            <a:ln>
              <a:noFill/>
            </a:ln>
          </p:spPr>
        </p:pic>
      </p:grpSp>
      <p:grpSp>
        <p:nvGrpSpPr>
          <p:cNvPr id="5" name="Group 4">
            <a:extLst>
              <a:ext uri="{FF2B5EF4-FFF2-40B4-BE49-F238E27FC236}">
                <a16:creationId xmlns:a16="http://schemas.microsoft.com/office/drawing/2014/main" id="{E8AF8DB4-E3AB-0A94-096C-6866820F0627}"/>
              </a:ext>
            </a:extLst>
          </p:cNvPr>
          <p:cNvGrpSpPr/>
          <p:nvPr/>
        </p:nvGrpSpPr>
        <p:grpSpPr>
          <a:xfrm>
            <a:off x="15920624" y="12447544"/>
            <a:ext cx="1271341" cy="1271341"/>
            <a:chOff x="18394919" y="12370446"/>
            <a:chExt cx="1271341" cy="1271341"/>
          </a:xfrm>
        </p:grpSpPr>
        <p:sp>
          <p:nvSpPr>
            <p:cNvPr id="115" name="Rectangle 114">
              <a:extLst>
                <a:ext uri="{FF2B5EF4-FFF2-40B4-BE49-F238E27FC236}">
                  <a16:creationId xmlns:a16="http://schemas.microsoft.com/office/drawing/2014/main" id="{8A74C879-3BAE-696D-0813-5A0565125CF6}"/>
                </a:ext>
              </a:extLst>
            </p:cNvPr>
            <p:cNvSpPr/>
            <p:nvPr/>
          </p:nvSpPr>
          <p:spPr>
            <a:xfrm>
              <a:off x="18394919" y="12437523"/>
              <a:ext cx="1179108" cy="11371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Trebuchet MS" panose="020B0603020202020204" pitchFamily="34" charset="0"/>
              </a:endParaRPr>
            </a:p>
          </p:txBody>
        </p:sp>
        <p:pic>
          <p:nvPicPr>
            <p:cNvPr id="117" name="Picture 116" descr="A green and black logo&#10;&#10;AI-generated content may be incorrect.">
              <a:extLst>
                <a:ext uri="{FF2B5EF4-FFF2-40B4-BE49-F238E27FC236}">
                  <a16:creationId xmlns:a16="http://schemas.microsoft.com/office/drawing/2014/main" id="{C10339C2-CF54-302C-7E2D-A55747195231}"/>
                </a:ext>
              </a:extLst>
            </p:cNvPr>
            <p:cNvPicPr>
              <a:picLocks noChangeAspect="1"/>
            </p:cNvPicPr>
            <p:nvPr/>
          </p:nvPicPr>
          <p:blipFill>
            <a:blip r:embed="rId6">
              <a:biLevel thresh="75000"/>
              <a:extLst>
                <a:ext uri="{28A0092B-C50C-407E-A947-70E740481C1C}">
                  <a14:useLocalDpi xmlns:a14="http://schemas.microsoft.com/office/drawing/2010/main" val="0"/>
                </a:ext>
              </a:extLst>
            </a:blip>
            <a:stretch>
              <a:fillRect/>
            </a:stretch>
          </p:blipFill>
          <p:spPr>
            <a:xfrm>
              <a:off x="18394919" y="12370446"/>
              <a:ext cx="1271341" cy="1271341"/>
            </a:xfrm>
            <a:prstGeom prst="rect">
              <a:avLst/>
            </a:prstGeom>
            <a:ln>
              <a:noFill/>
            </a:ln>
          </p:spPr>
        </p:pic>
      </p:grpSp>
      <p:grpSp>
        <p:nvGrpSpPr>
          <p:cNvPr id="7" name="Group 6">
            <a:extLst>
              <a:ext uri="{FF2B5EF4-FFF2-40B4-BE49-F238E27FC236}">
                <a16:creationId xmlns:a16="http://schemas.microsoft.com/office/drawing/2014/main" id="{7D2AD41C-FDAB-B8FE-F7D2-7F38D2C47248}"/>
              </a:ext>
            </a:extLst>
          </p:cNvPr>
          <p:cNvGrpSpPr/>
          <p:nvPr/>
        </p:nvGrpSpPr>
        <p:grpSpPr>
          <a:xfrm>
            <a:off x="17576670" y="14621055"/>
            <a:ext cx="1307423" cy="1307423"/>
            <a:chOff x="20050965" y="14543957"/>
            <a:chExt cx="1307423" cy="1307423"/>
          </a:xfrm>
        </p:grpSpPr>
        <p:sp>
          <p:nvSpPr>
            <p:cNvPr id="120" name="Rectangle 119">
              <a:extLst>
                <a:ext uri="{FF2B5EF4-FFF2-40B4-BE49-F238E27FC236}">
                  <a16:creationId xmlns:a16="http://schemas.microsoft.com/office/drawing/2014/main" id="{AEFDB704-9D1B-8F9D-2275-3D1C0215B91A}"/>
                </a:ext>
              </a:extLst>
            </p:cNvPr>
            <p:cNvSpPr/>
            <p:nvPr/>
          </p:nvSpPr>
          <p:spPr>
            <a:xfrm>
              <a:off x="20116726" y="14629075"/>
              <a:ext cx="1179108" cy="11371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Trebuchet MS" panose="020B0603020202020204" pitchFamily="34" charset="0"/>
              </a:endParaRPr>
            </a:p>
          </p:txBody>
        </p:sp>
        <p:pic>
          <p:nvPicPr>
            <p:cNvPr id="121" name="Picture 120" descr="A green heart with a line of pulse&#10;&#10;AI-generated content may be incorrect.">
              <a:extLst>
                <a:ext uri="{FF2B5EF4-FFF2-40B4-BE49-F238E27FC236}">
                  <a16:creationId xmlns:a16="http://schemas.microsoft.com/office/drawing/2014/main" id="{AE7E67D4-5FAF-AE56-84F8-F88696115279}"/>
                </a:ext>
              </a:extLst>
            </p:cNvPr>
            <p:cNvPicPr>
              <a:picLocks noChangeAspect="1"/>
            </p:cNvPicPr>
            <p:nvPr/>
          </p:nvPicPr>
          <p:blipFill>
            <a:blip r:embed="rId7">
              <a:biLevel thresh="75000"/>
              <a:extLst>
                <a:ext uri="{28A0092B-C50C-407E-A947-70E740481C1C}">
                  <a14:useLocalDpi xmlns:a14="http://schemas.microsoft.com/office/drawing/2010/main" val="0"/>
                </a:ext>
              </a:extLst>
            </a:blip>
            <a:stretch>
              <a:fillRect/>
            </a:stretch>
          </p:blipFill>
          <p:spPr>
            <a:xfrm>
              <a:off x="20050965" y="14543957"/>
              <a:ext cx="1307423" cy="1307423"/>
            </a:xfrm>
            <a:prstGeom prst="rect">
              <a:avLst/>
            </a:prstGeom>
            <a:ln>
              <a:noFill/>
            </a:ln>
          </p:spPr>
        </p:pic>
      </p:grpSp>
      <p:grpSp>
        <p:nvGrpSpPr>
          <p:cNvPr id="9" name="Group 8">
            <a:extLst>
              <a:ext uri="{FF2B5EF4-FFF2-40B4-BE49-F238E27FC236}">
                <a16:creationId xmlns:a16="http://schemas.microsoft.com/office/drawing/2014/main" id="{44DD1CE1-D17F-7EDE-7BD7-7EDE33877D08}"/>
              </a:ext>
            </a:extLst>
          </p:cNvPr>
          <p:cNvGrpSpPr/>
          <p:nvPr/>
        </p:nvGrpSpPr>
        <p:grpSpPr>
          <a:xfrm>
            <a:off x="15965792" y="16856395"/>
            <a:ext cx="1232112" cy="1257487"/>
            <a:chOff x="18440087" y="16779297"/>
            <a:chExt cx="1232112" cy="1257487"/>
          </a:xfrm>
        </p:grpSpPr>
        <p:sp>
          <p:nvSpPr>
            <p:cNvPr id="125" name="Rectangle 124">
              <a:extLst>
                <a:ext uri="{FF2B5EF4-FFF2-40B4-BE49-F238E27FC236}">
                  <a16:creationId xmlns:a16="http://schemas.microsoft.com/office/drawing/2014/main" id="{4B9441A8-89B4-BEFC-87CB-FCDFA007C706}"/>
                </a:ext>
              </a:extLst>
            </p:cNvPr>
            <p:cNvSpPr/>
            <p:nvPr/>
          </p:nvSpPr>
          <p:spPr>
            <a:xfrm>
              <a:off x="18493091" y="16899596"/>
              <a:ext cx="1179108" cy="11371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Trebuchet MS" panose="020B0603020202020204" pitchFamily="34" charset="0"/>
              </a:endParaRPr>
            </a:p>
          </p:txBody>
        </p:sp>
        <p:pic>
          <p:nvPicPr>
            <p:cNvPr id="127" name="Picture 126" descr="A logo with a cube and clouds&#10;&#10;AI-generated content may be incorrect.">
              <a:extLst>
                <a:ext uri="{FF2B5EF4-FFF2-40B4-BE49-F238E27FC236}">
                  <a16:creationId xmlns:a16="http://schemas.microsoft.com/office/drawing/2014/main" id="{8F626A2E-980E-EC4C-461E-80FE70FDED57}"/>
                </a:ext>
              </a:extLst>
            </p:cNvPr>
            <p:cNvPicPr>
              <a:picLocks noChangeAspect="1"/>
            </p:cNvPicPr>
            <p:nvPr/>
          </p:nvPicPr>
          <p:blipFill>
            <a:blip r:embed="rId8">
              <a:biLevel thresh="75000"/>
              <a:extLst>
                <a:ext uri="{28A0092B-C50C-407E-A947-70E740481C1C}">
                  <a14:useLocalDpi xmlns:a14="http://schemas.microsoft.com/office/drawing/2010/main" val="0"/>
                </a:ext>
              </a:extLst>
            </a:blip>
            <a:stretch>
              <a:fillRect/>
            </a:stretch>
          </p:blipFill>
          <p:spPr>
            <a:xfrm>
              <a:off x="18440087" y="16779297"/>
              <a:ext cx="1226173" cy="1226173"/>
            </a:xfrm>
            <a:prstGeom prst="rect">
              <a:avLst/>
            </a:prstGeom>
            <a:ln>
              <a:noFill/>
            </a:ln>
          </p:spPr>
        </p:pic>
      </p:grpSp>
      <p:grpSp>
        <p:nvGrpSpPr>
          <p:cNvPr id="10" name="Group 9">
            <a:extLst>
              <a:ext uri="{FF2B5EF4-FFF2-40B4-BE49-F238E27FC236}">
                <a16:creationId xmlns:a16="http://schemas.microsoft.com/office/drawing/2014/main" id="{0B64BA35-BE1E-893B-A931-2928C17F9E4A}"/>
              </a:ext>
            </a:extLst>
          </p:cNvPr>
          <p:cNvGrpSpPr/>
          <p:nvPr/>
        </p:nvGrpSpPr>
        <p:grpSpPr>
          <a:xfrm>
            <a:off x="12501993" y="16844688"/>
            <a:ext cx="1179108" cy="1137188"/>
            <a:chOff x="14976288" y="16767590"/>
            <a:chExt cx="1179108" cy="1137188"/>
          </a:xfrm>
        </p:grpSpPr>
        <p:sp>
          <p:nvSpPr>
            <p:cNvPr id="126" name="Rectangle 125">
              <a:extLst>
                <a:ext uri="{FF2B5EF4-FFF2-40B4-BE49-F238E27FC236}">
                  <a16:creationId xmlns:a16="http://schemas.microsoft.com/office/drawing/2014/main" id="{AF1EEC13-9A28-D63A-910F-D605131E2D89}"/>
                </a:ext>
              </a:extLst>
            </p:cNvPr>
            <p:cNvSpPr/>
            <p:nvPr/>
          </p:nvSpPr>
          <p:spPr>
            <a:xfrm>
              <a:off x="14976288" y="16767590"/>
              <a:ext cx="1179108" cy="11371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Trebuchet MS" panose="020B0603020202020204" pitchFamily="34" charset="0"/>
              </a:endParaRPr>
            </a:p>
          </p:txBody>
        </p:sp>
        <p:pic>
          <p:nvPicPr>
            <p:cNvPr id="128" name="Picture 127" descr="A green squares with arrows and ticks&#10;&#10;AI-generated content may be incorrect.">
              <a:extLst>
                <a:ext uri="{FF2B5EF4-FFF2-40B4-BE49-F238E27FC236}">
                  <a16:creationId xmlns:a16="http://schemas.microsoft.com/office/drawing/2014/main" id="{19C8B960-8AB5-394D-B475-6B4DA73B1837}"/>
                </a:ext>
              </a:extLst>
            </p:cNvPr>
            <p:cNvPicPr>
              <a:picLocks noChangeAspect="1"/>
            </p:cNvPicPr>
            <p:nvPr/>
          </p:nvPicPr>
          <p:blipFill>
            <a:blip r:embed="rId9">
              <a:biLevel thresh="75000"/>
              <a:extLst>
                <a:ext uri="{28A0092B-C50C-407E-A947-70E740481C1C}">
                  <a14:useLocalDpi xmlns:a14="http://schemas.microsoft.com/office/drawing/2010/main" val="0"/>
                </a:ext>
              </a:extLst>
            </a:blip>
            <a:stretch>
              <a:fillRect/>
            </a:stretch>
          </p:blipFill>
          <p:spPr>
            <a:xfrm>
              <a:off x="15009073" y="16779297"/>
              <a:ext cx="1113773" cy="1113773"/>
            </a:xfrm>
            <a:prstGeom prst="rect">
              <a:avLst/>
            </a:prstGeom>
            <a:ln>
              <a:noFill/>
            </a:ln>
          </p:spPr>
        </p:pic>
      </p:grpSp>
      <p:pic>
        <p:nvPicPr>
          <p:cNvPr id="130" name="Picture 129" descr="A green and black logo&#10;&#10;AI-generated content may be incorrect.">
            <a:extLst>
              <a:ext uri="{FF2B5EF4-FFF2-40B4-BE49-F238E27FC236}">
                <a16:creationId xmlns:a16="http://schemas.microsoft.com/office/drawing/2014/main" id="{18BD9016-DB16-E51C-B7AD-D30B7AB63A2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853323" y="13833732"/>
            <a:ext cx="1371600" cy="1371600"/>
          </a:xfrm>
          <a:prstGeom prst="rect">
            <a:avLst/>
          </a:prstGeom>
        </p:spPr>
      </p:pic>
      <p:pic>
        <p:nvPicPr>
          <p:cNvPr id="132" name="Graphic 18">
            <a:extLst>
              <a:ext uri="{FF2B5EF4-FFF2-40B4-BE49-F238E27FC236}">
                <a16:creationId xmlns:a16="http://schemas.microsoft.com/office/drawing/2014/main" id="{661C5239-700A-1808-45DD-D69D7033315D}"/>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20387063" y="13933508"/>
            <a:ext cx="924795" cy="1222898"/>
          </a:xfrm>
          <a:prstGeom prst="rect">
            <a:avLst/>
          </a:prstGeom>
        </p:spPr>
      </p:pic>
      <p:pic>
        <p:nvPicPr>
          <p:cNvPr id="133" name="Graphic 18">
            <a:extLst>
              <a:ext uri="{FF2B5EF4-FFF2-40B4-BE49-F238E27FC236}">
                <a16:creationId xmlns:a16="http://schemas.microsoft.com/office/drawing/2014/main" id="{7C195F7F-E1EA-2262-0F03-438F1F7D2CCB}"/>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20376499" y="15425719"/>
            <a:ext cx="924795" cy="1222898"/>
          </a:xfrm>
          <a:prstGeom prst="rect">
            <a:avLst/>
          </a:prstGeom>
        </p:spPr>
      </p:pic>
      <p:pic>
        <p:nvPicPr>
          <p:cNvPr id="134" name="Graphic 18">
            <a:extLst>
              <a:ext uri="{FF2B5EF4-FFF2-40B4-BE49-F238E27FC236}">
                <a16:creationId xmlns:a16="http://schemas.microsoft.com/office/drawing/2014/main" id="{3C25903F-8A7B-2047-E606-D659CB3E796B}"/>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20400221" y="16903371"/>
            <a:ext cx="924795" cy="1222898"/>
          </a:xfrm>
          <a:prstGeom prst="rect">
            <a:avLst/>
          </a:prstGeom>
        </p:spPr>
      </p:pic>
      <p:pic>
        <p:nvPicPr>
          <p:cNvPr id="29" name="Picture 28" descr="A green rectangles with white text&#10;&#10;AI-generated content may be incorrect.">
            <a:extLst>
              <a:ext uri="{FF2B5EF4-FFF2-40B4-BE49-F238E27FC236}">
                <a16:creationId xmlns:a16="http://schemas.microsoft.com/office/drawing/2014/main" id="{5AF3D2DE-13AC-B268-4F33-47BE60653DA1}"/>
              </a:ext>
            </a:extLst>
          </p:cNvPr>
          <p:cNvPicPr>
            <a:picLocks noChangeAspect="1"/>
          </p:cNvPicPr>
          <p:nvPr/>
        </p:nvPicPr>
        <p:blipFill>
          <a:blip r:embed="rId14">
            <a:biLevel thresh="75000"/>
            <a:extLst>
              <a:ext uri="{28A0092B-C50C-407E-A947-70E740481C1C}">
                <a14:useLocalDpi xmlns:a14="http://schemas.microsoft.com/office/drawing/2010/main" val="0"/>
              </a:ext>
            </a:extLst>
          </a:blip>
          <a:stretch>
            <a:fillRect/>
          </a:stretch>
        </p:blipFill>
        <p:spPr>
          <a:xfrm>
            <a:off x="27576653" y="14087639"/>
            <a:ext cx="2212848" cy="2212848"/>
          </a:xfrm>
          <a:prstGeom prst="rect">
            <a:avLst/>
          </a:prstGeom>
        </p:spPr>
      </p:pic>
      <p:pic>
        <p:nvPicPr>
          <p:cNvPr id="30" name="Picture 29" descr="A computer and monitor with green outline&#10;&#10;AI-generated content may be incorrect.">
            <a:extLst>
              <a:ext uri="{FF2B5EF4-FFF2-40B4-BE49-F238E27FC236}">
                <a16:creationId xmlns:a16="http://schemas.microsoft.com/office/drawing/2014/main" id="{16E4FCEA-19D4-8DFD-DCE8-FFFE7C745544}"/>
              </a:ext>
            </a:extLst>
          </p:cNvPr>
          <p:cNvPicPr>
            <a:picLocks noChangeAspect="1"/>
          </p:cNvPicPr>
          <p:nvPr/>
        </p:nvPicPr>
        <p:blipFill>
          <a:blip r:embed="rId15">
            <a:biLevel thresh="75000"/>
            <a:extLst>
              <a:ext uri="{28A0092B-C50C-407E-A947-70E740481C1C}">
                <a14:useLocalDpi xmlns:a14="http://schemas.microsoft.com/office/drawing/2010/main" val="0"/>
              </a:ext>
            </a:extLst>
          </a:blip>
          <a:stretch>
            <a:fillRect/>
          </a:stretch>
        </p:blipFill>
        <p:spPr>
          <a:xfrm>
            <a:off x="27722957" y="15928478"/>
            <a:ext cx="1920240" cy="1920240"/>
          </a:xfrm>
          <a:prstGeom prst="rect">
            <a:avLst/>
          </a:prstGeom>
        </p:spPr>
      </p:pic>
      <p:pic>
        <p:nvPicPr>
          <p:cNvPr id="12" name="Picture 11" descr="A black background with a black square&#10;&#10;AI-generated content may be incorrect.">
            <a:extLst>
              <a:ext uri="{FF2B5EF4-FFF2-40B4-BE49-F238E27FC236}">
                <a16:creationId xmlns:a16="http://schemas.microsoft.com/office/drawing/2014/main" id="{91F0C71D-6087-7C07-F5D0-B2895D0BFA1B}"/>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27576653" y="12306218"/>
            <a:ext cx="2212848" cy="2212848"/>
          </a:xfrm>
          <a:prstGeom prst="rect">
            <a:avLst/>
          </a:prstGeom>
        </p:spPr>
      </p:pic>
      <p:cxnSp>
        <p:nvCxnSpPr>
          <p:cNvPr id="27" name="Elbow Connector 26">
            <a:extLst>
              <a:ext uri="{FF2B5EF4-FFF2-40B4-BE49-F238E27FC236}">
                <a16:creationId xmlns:a16="http://schemas.microsoft.com/office/drawing/2014/main" id="{AF8DAA53-3371-2CF3-CE8F-8FE5BACEE13D}"/>
              </a:ext>
            </a:extLst>
          </p:cNvPr>
          <p:cNvCxnSpPr>
            <a:cxnSpLocks/>
            <a:stCxn id="69" idx="3"/>
          </p:cNvCxnSpPr>
          <p:nvPr/>
        </p:nvCxnSpPr>
        <p:spPr>
          <a:xfrm flipH="1">
            <a:off x="7013002" y="6466908"/>
            <a:ext cx="26011444" cy="4343248"/>
          </a:xfrm>
          <a:prstGeom prst="bentConnector3">
            <a:avLst>
              <a:gd name="adj1" fmla="val -879"/>
            </a:avLst>
          </a:prstGeom>
          <a:ln w="38100">
            <a:solidFill>
              <a:schemeClr val="bg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Elbow Connector 32">
            <a:extLst>
              <a:ext uri="{FF2B5EF4-FFF2-40B4-BE49-F238E27FC236}">
                <a16:creationId xmlns:a16="http://schemas.microsoft.com/office/drawing/2014/main" id="{B3EF48BD-B7C6-CE1E-2562-5FC66C807A6E}"/>
              </a:ext>
            </a:extLst>
          </p:cNvPr>
          <p:cNvCxnSpPr>
            <a:cxnSpLocks/>
            <a:stCxn id="2" idx="1"/>
          </p:cNvCxnSpPr>
          <p:nvPr/>
        </p:nvCxnSpPr>
        <p:spPr>
          <a:xfrm rot="10800000" flipV="1">
            <a:off x="7027973" y="6419124"/>
            <a:ext cx="3022878" cy="4414245"/>
          </a:xfrm>
          <a:prstGeom prst="bentConnector2">
            <a:avLst/>
          </a:prstGeom>
          <a:ln w="38100">
            <a:solidFill>
              <a:schemeClr val="bg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00" name="Rounded Rectangle 99">
            <a:extLst>
              <a:ext uri="{FF2B5EF4-FFF2-40B4-BE49-F238E27FC236}">
                <a16:creationId xmlns:a16="http://schemas.microsoft.com/office/drawing/2014/main" id="{EF822F27-4546-2901-24A8-415FE9C3C521}"/>
              </a:ext>
            </a:extLst>
          </p:cNvPr>
          <p:cNvSpPr/>
          <p:nvPr/>
        </p:nvSpPr>
        <p:spPr>
          <a:xfrm>
            <a:off x="5600480" y="7188846"/>
            <a:ext cx="2909255" cy="2865478"/>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Trebuchet MS" panose="020B0603020202020204" pitchFamily="34" charset="0"/>
            </a:endParaRPr>
          </a:p>
        </p:txBody>
      </p:sp>
      <p:pic>
        <p:nvPicPr>
          <p:cNvPr id="102" name="Picture 101" descr="A group of people with black background&#10;&#10;AI-generated content may be incorrect.">
            <a:extLst>
              <a:ext uri="{FF2B5EF4-FFF2-40B4-BE49-F238E27FC236}">
                <a16:creationId xmlns:a16="http://schemas.microsoft.com/office/drawing/2014/main" id="{63FA99AF-2657-87E8-D403-7499E95F852E}"/>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027903" y="7161447"/>
            <a:ext cx="1970199" cy="1970199"/>
          </a:xfrm>
          <a:prstGeom prst="rect">
            <a:avLst/>
          </a:prstGeom>
        </p:spPr>
      </p:pic>
      <p:sp>
        <p:nvSpPr>
          <p:cNvPr id="104" name="Text Placeholder 8">
            <a:extLst>
              <a:ext uri="{FF2B5EF4-FFF2-40B4-BE49-F238E27FC236}">
                <a16:creationId xmlns:a16="http://schemas.microsoft.com/office/drawing/2014/main" id="{DDD553AE-D8F5-578A-5453-7CCACDE337B2}"/>
              </a:ext>
            </a:extLst>
          </p:cNvPr>
          <p:cNvSpPr txBox="1">
            <a:spLocks/>
          </p:cNvSpPr>
          <p:nvPr/>
        </p:nvSpPr>
        <p:spPr>
          <a:xfrm>
            <a:off x="5794957" y="8720830"/>
            <a:ext cx="2439514" cy="1231726"/>
          </a:xfrm>
          <a:prstGeom prst="rect">
            <a:avLst/>
          </a:prstGeom>
          <a:noFill/>
        </p:spPr>
        <p:txBody>
          <a:bodyPr anchor="ctr"/>
          <a:lstStyle>
            <a:lvl1pPr marL="685800" indent="-685800" algn="l" defTabSz="2743200" rtl="0" eaLnBrk="1" latinLnBrk="0" hangingPunct="1">
              <a:lnSpc>
                <a:spcPct val="90000"/>
              </a:lnSpc>
              <a:spcBef>
                <a:spcPts val="3000"/>
              </a:spcBef>
              <a:buFont typeface="NVIDIA Sans" panose="020B0503020203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NVIDIA Sans" panose="020B0503020203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NVIDIA Sans" panose="020B0503020203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a:lstStyle>
          <a:p>
            <a:pPr marL="0" indent="0" algn="ctr">
              <a:buNone/>
            </a:pPr>
            <a:r>
              <a:rPr lang="en-US" sz="3200">
                <a:latin typeface="+mj-lt"/>
              </a:rPr>
              <a:t>3-6 weeks per model</a:t>
            </a:r>
          </a:p>
        </p:txBody>
      </p:sp>
      <p:sp>
        <p:nvSpPr>
          <p:cNvPr id="23" name="Text Placeholder 8">
            <a:extLst>
              <a:ext uri="{FF2B5EF4-FFF2-40B4-BE49-F238E27FC236}">
                <a16:creationId xmlns:a16="http://schemas.microsoft.com/office/drawing/2014/main" id="{BD2046AA-0EA5-2DFA-E2AE-6790A0C6E2DE}"/>
              </a:ext>
            </a:extLst>
          </p:cNvPr>
          <p:cNvSpPr txBox="1">
            <a:spLocks/>
          </p:cNvSpPr>
          <p:nvPr/>
        </p:nvSpPr>
        <p:spPr>
          <a:xfrm>
            <a:off x="29961442" y="8946767"/>
            <a:ext cx="3825112" cy="750359"/>
          </a:xfrm>
          <a:prstGeom prst="rect">
            <a:avLst/>
          </a:prstGeom>
          <a:solidFill>
            <a:schemeClr val="tx1"/>
          </a:solidFill>
        </p:spPr>
        <p:txBody>
          <a:bodyPr anchor="ctr"/>
          <a:lstStyle>
            <a:lvl1pPr marL="685800" indent="-685800" algn="l" defTabSz="2743200" rtl="0" eaLnBrk="1" latinLnBrk="0" hangingPunct="1">
              <a:lnSpc>
                <a:spcPct val="90000"/>
              </a:lnSpc>
              <a:spcBef>
                <a:spcPts val="3000"/>
              </a:spcBef>
              <a:buFont typeface="NVIDIA Sans" panose="020B0503020203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NVIDIA Sans" panose="020B0503020203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NVIDIA Sans" panose="020B0503020203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a:lstStyle>
          <a:p>
            <a:pPr marL="0" indent="0" algn="ctr">
              <a:buNone/>
            </a:pPr>
            <a:r>
              <a:rPr lang="en-US" sz="3200" dirty="0">
                <a:solidFill>
                  <a:schemeClr val="accent3"/>
                </a:solidFill>
              </a:rPr>
              <a:t>2-5 hours/month</a:t>
            </a:r>
          </a:p>
        </p:txBody>
      </p:sp>
      <p:cxnSp>
        <p:nvCxnSpPr>
          <p:cNvPr id="40" name="Straight Arrow Connector 39">
            <a:extLst>
              <a:ext uri="{FF2B5EF4-FFF2-40B4-BE49-F238E27FC236}">
                <a16:creationId xmlns:a16="http://schemas.microsoft.com/office/drawing/2014/main" id="{11ADABD8-CD08-4F0E-29E3-F819E73F8074}"/>
              </a:ext>
            </a:extLst>
          </p:cNvPr>
          <p:cNvCxnSpPr>
            <a:cxnSpLocks/>
            <a:stCxn id="93" idx="3"/>
            <a:endCxn id="100" idx="1"/>
          </p:cNvCxnSpPr>
          <p:nvPr/>
        </p:nvCxnSpPr>
        <p:spPr>
          <a:xfrm>
            <a:off x="3759529" y="8621585"/>
            <a:ext cx="1840951" cy="0"/>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A4826104-65AC-CDA0-A920-1B321915ACF9}"/>
              </a:ext>
            </a:extLst>
          </p:cNvPr>
          <p:cNvCxnSpPr>
            <a:cxnSpLocks/>
          </p:cNvCxnSpPr>
          <p:nvPr/>
        </p:nvCxnSpPr>
        <p:spPr>
          <a:xfrm>
            <a:off x="8382837" y="15329374"/>
            <a:ext cx="2364945" cy="0"/>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20DC1831-38F0-583F-A3A2-72A1C3A47298}"/>
              </a:ext>
            </a:extLst>
          </p:cNvPr>
          <p:cNvCxnSpPr>
            <a:cxnSpLocks/>
          </p:cNvCxnSpPr>
          <p:nvPr/>
        </p:nvCxnSpPr>
        <p:spPr>
          <a:xfrm>
            <a:off x="18835623" y="15214495"/>
            <a:ext cx="1290907" cy="0"/>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FE0ED18C-0575-3342-E249-32E1EEF050E4}"/>
              </a:ext>
            </a:extLst>
          </p:cNvPr>
          <p:cNvCxnSpPr>
            <a:cxnSpLocks/>
          </p:cNvCxnSpPr>
          <p:nvPr/>
        </p:nvCxnSpPr>
        <p:spPr>
          <a:xfrm>
            <a:off x="21652591" y="15184600"/>
            <a:ext cx="1183101" cy="0"/>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EDBA50D2-26EE-5A9A-263E-151E46AA1F74}"/>
              </a:ext>
            </a:extLst>
          </p:cNvPr>
          <p:cNvCxnSpPr>
            <a:cxnSpLocks/>
          </p:cNvCxnSpPr>
          <p:nvPr/>
        </p:nvCxnSpPr>
        <p:spPr>
          <a:xfrm>
            <a:off x="26271662" y="15214495"/>
            <a:ext cx="1451295" cy="0"/>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29266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B6217-2C88-92A0-1012-EF9ED25C16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A6681F-BB41-EC53-8EA2-CEEBED5257FC}"/>
              </a:ext>
            </a:extLst>
          </p:cNvPr>
          <p:cNvSpPr>
            <a:spLocks noGrp="1"/>
          </p:cNvSpPr>
          <p:nvPr>
            <p:ph type="title"/>
          </p:nvPr>
        </p:nvSpPr>
        <p:spPr/>
        <p:txBody>
          <a:bodyPr/>
          <a:lstStyle/>
          <a:p>
            <a:r>
              <a:rPr lang="en-US">
                <a:latin typeface="NVIDIA Sans"/>
                <a:cs typeface="NVIDIA Sans"/>
              </a:rPr>
              <a:t>NVIDIA NIM</a:t>
            </a:r>
          </a:p>
        </p:txBody>
      </p:sp>
      <p:sp>
        <p:nvSpPr>
          <p:cNvPr id="3" name="Text Placeholder 2">
            <a:extLst>
              <a:ext uri="{FF2B5EF4-FFF2-40B4-BE49-F238E27FC236}">
                <a16:creationId xmlns:a16="http://schemas.microsoft.com/office/drawing/2014/main" id="{FC1DB3F7-CB38-6ABA-5883-8414357DD3DC}"/>
              </a:ext>
            </a:extLst>
          </p:cNvPr>
          <p:cNvSpPr>
            <a:spLocks noGrp="1"/>
          </p:cNvSpPr>
          <p:nvPr>
            <p:ph type="body" sz="quarter" idx="10"/>
          </p:nvPr>
        </p:nvSpPr>
        <p:spPr/>
        <p:txBody>
          <a:bodyPr lIns="91440" tIns="45720" rIns="91440" bIns="45720" anchor="t"/>
          <a:lstStyle/>
          <a:p>
            <a:r>
              <a:rPr lang="en-US">
                <a:latin typeface="NVIDIA Sans"/>
                <a:cs typeface="NVIDIA Sans"/>
              </a:rPr>
              <a:t>Scale models, not ops</a:t>
            </a:r>
          </a:p>
        </p:txBody>
      </p:sp>
      <p:sp>
        <p:nvSpPr>
          <p:cNvPr id="8" name="Content Placeholder 7">
            <a:extLst>
              <a:ext uri="{FF2B5EF4-FFF2-40B4-BE49-F238E27FC236}">
                <a16:creationId xmlns:a16="http://schemas.microsoft.com/office/drawing/2014/main" id="{E5AA765F-84F9-999E-0E60-1092F2C20878}"/>
              </a:ext>
            </a:extLst>
          </p:cNvPr>
          <p:cNvSpPr>
            <a:spLocks noGrp="1"/>
          </p:cNvSpPr>
          <p:nvPr>
            <p:ph idx="1"/>
          </p:nvPr>
        </p:nvSpPr>
        <p:spPr>
          <a:xfrm>
            <a:off x="16945164" y="5634893"/>
            <a:ext cx="15215615" cy="9304214"/>
          </a:xfrm>
          <a:ln>
            <a:noFill/>
          </a:ln>
        </p:spPr>
        <p:txBody>
          <a:bodyPr/>
          <a:lstStyle/>
          <a:p>
            <a:pPr marL="0" indent="0">
              <a:buNone/>
            </a:pPr>
            <a:r>
              <a:rPr lang="en-US" b="1">
                <a:solidFill>
                  <a:schemeClr val="tx2"/>
                </a:solidFill>
              </a:rPr>
              <a:t>Portable </a:t>
            </a:r>
            <a:r>
              <a:rPr lang="en-US">
                <a:latin typeface="NVIDIA Sans"/>
                <a:cs typeface="NVIDIA Sans"/>
              </a:rPr>
              <a:t>Run and scale cloud-native containers anywhere, maintaining control of data and apps</a:t>
            </a:r>
          </a:p>
          <a:p>
            <a:pPr marL="0" indent="0">
              <a:buNone/>
            </a:pPr>
            <a:endParaRPr lang="en-US" b="1">
              <a:solidFill>
                <a:schemeClr val="tx2"/>
              </a:solidFill>
              <a:latin typeface="NVIDIA Sans"/>
              <a:cs typeface="NVIDIA Sans"/>
            </a:endParaRPr>
          </a:p>
          <a:p>
            <a:pPr marL="0" indent="0">
              <a:buNone/>
            </a:pPr>
            <a:r>
              <a:rPr lang="en-US" b="1">
                <a:solidFill>
                  <a:schemeClr val="tx2"/>
                </a:solidFill>
                <a:latin typeface="NVIDIA Sans"/>
                <a:cs typeface="NVIDIA Sans"/>
              </a:rPr>
              <a:t>Easy </a:t>
            </a:r>
            <a:r>
              <a:rPr lang="en-US" sz="4400">
                <a:solidFill>
                  <a:schemeClr val="bg1"/>
                </a:solidFill>
                <a:latin typeface="NVIDIA Sans"/>
                <a:cs typeface="NVIDIA Sans"/>
              </a:rPr>
              <a:t>Spin up production-ready endpoints in minutes with built-in observability, autoscaling and continuous updates</a:t>
            </a:r>
            <a:endParaRPr lang="en-US" b="1">
              <a:solidFill>
                <a:schemeClr val="tx2"/>
              </a:solidFill>
              <a:latin typeface="NVIDIA Sans"/>
              <a:cs typeface="NVIDIA Sans"/>
            </a:endParaRPr>
          </a:p>
          <a:p>
            <a:pPr marL="0" indent="0">
              <a:buNone/>
            </a:pPr>
            <a:endParaRPr lang="en-US" b="1">
              <a:solidFill>
                <a:schemeClr val="tx2"/>
              </a:solidFill>
              <a:latin typeface="NVIDIA Sans"/>
              <a:cs typeface="NVIDIA Sans"/>
            </a:endParaRPr>
          </a:p>
          <a:p>
            <a:pPr marL="0" indent="0">
              <a:buNone/>
            </a:pPr>
            <a:r>
              <a:rPr lang="en-US" b="1">
                <a:solidFill>
                  <a:schemeClr val="tx2"/>
                </a:solidFill>
                <a:latin typeface="NVIDIA Sans"/>
                <a:cs typeface="NVIDIA Sans"/>
              </a:rPr>
              <a:t>Enterprise Ready </a:t>
            </a:r>
            <a:r>
              <a:rPr kumimoji="0" lang="en-US" sz="4400" i="0" u="none" strike="noStrike" kern="1200" cap="none" spc="0" normalizeH="0" baseline="0" noProof="0">
                <a:ln>
                  <a:noFill/>
                </a:ln>
                <a:solidFill>
                  <a:schemeClr val="bg1"/>
                </a:solidFill>
                <a:effectLst/>
                <a:uLnTx/>
                <a:uFillTx/>
                <a:latin typeface="NVIDIA Sans"/>
                <a:ea typeface="+mn-ea"/>
                <a:cs typeface="NVIDIA Sans"/>
              </a:rPr>
              <a:t>Gain</a:t>
            </a:r>
            <a:r>
              <a:rPr lang="en-US" sz="4400">
                <a:solidFill>
                  <a:schemeClr val="bg1"/>
                </a:solidFill>
                <a:latin typeface="NVIDIA Sans"/>
                <a:cs typeface="NVIDIA Sans"/>
              </a:rPr>
              <a:t> confidence with NVIDIA-secured and verified software including monitoring and patching</a:t>
            </a:r>
            <a:endParaRPr lang="en-US" b="1">
              <a:solidFill>
                <a:schemeClr val="tx2"/>
              </a:solidFill>
              <a:latin typeface="NVIDIA Sans"/>
              <a:cs typeface="NVIDIA Sans"/>
            </a:endParaRPr>
          </a:p>
          <a:p>
            <a:pPr marL="0" indent="0">
              <a:buNone/>
            </a:pPr>
            <a:endParaRPr lang="en-US" b="1">
              <a:solidFill>
                <a:schemeClr val="tx2"/>
              </a:solidFill>
              <a:latin typeface="NVIDIA Sans"/>
              <a:cs typeface="NVIDIA Sans"/>
            </a:endParaRPr>
          </a:p>
          <a:p>
            <a:pPr marL="0" indent="0">
              <a:buNone/>
            </a:pPr>
            <a:r>
              <a:rPr lang="en-US" b="1">
                <a:solidFill>
                  <a:schemeClr val="tx2"/>
                </a:solidFill>
                <a:latin typeface="NVIDIA Sans"/>
                <a:cs typeface="NVIDIA Sans"/>
              </a:rPr>
              <a:t>Performant</a:t>
            </a:r>
            <a:r>
              <a:rPr lang="en-US">
                <a:latin typeface="NVIDIA Sans"/>
                <a:cs typeface="NVIDIA Sans"/>
              </a:rPr>
              <a:t> Leverage the best performing inference technology, preoptimized and continuously updated</a:t>
            </a:r>
          </a:p>
          <a:p>
            <a:pPr marL="0" indent="0">
              <a:buNone/>
            </a:pPr>
            <a:endParaRPr lang="en-US">
              <a:latin typeface="NVIDIA Sans"/>
              <a:cs typeface="NVIDIA Sans"/>
            </a:endParaRPr>
          </a:p>
          <a:p>
            <a:pPr marL="0" indent="0">
              <a:buNone/>
            </a:pPr>
            <a:endParaRPr lang="en-US"/>
          </a:p>
        </p:txBody>
      </p:sp>
      <p:pic>
        <p:nvPicPr>
          <p:cNvPr id="6" name="Picture 5">
            <a:extLst>
              <a:ext uri="{FF2B5EF4-FFF2-40B4-BE49-F238E27FC236}">
                <a16:creationId xmlns:a16="http://schemas.microsoft.com/office/drawing/2014/main" id="{06138D56-005E-88C3-5C31-CE9B537AB46D}"/>
              </a:ext>
            </a:extLst>
          </p:cNvPr>
          <p:cNvPicPr>
            <a:picLocks noChangeAspect="1"/>
          </p:cNvPicPr>
          <p:nvPr/>
        </p:nvPicPr>
        <p:blipFill>
          <a:blip r:embed="rId3"/>
          <a:srcRect/>
          <a:stretch/>
        </p:blipFill>
        <p:spPr>
          <a:xfrm>
            <a:off x="7236097" y="4688177"/>
            <a:ext cx="7356483" cy="11197646"/>
          </a:xfrm>
          <a:prstGeom prst="rect">
            <a:avLst/>
          </a:prstGeom>
        </p:spPr>
      </p:pic>
      <p:pic>
        <p:nvPicPr>
          <p:cNvPr id="18" name="Picture 17">
            <a:extLst>
              <a:ext uri="{FF2B5EF4-FFF2-40B4-BE49-F238E27FC236}">
                <a16:creationId xmlns:a16="http://schemas.microsoft.com/office/drawing/2014/main" id="{0A4C2E98-240F-C006-9508-69B5497D5DF9}"/>
              </a:ext>
            </a:extLst>
          </p:cNvPr>
          <p:cNvPicPr>
            <a:picLocks noChangeAspect="1"/>
          </p:cNvPicPr>
          <p:nvPr/>
        </p:nvPicPr>
        <p:blipFill rotWithShape="1">
          <a:blip r:embed="rId4"/>
          <a:srcRect l="62548" t="91835" r="22373" b="-3000"/>
          <a:stretch/>
        </p:blipFill>
        <p:spPr>
          <a:xfrm>
            <a:off x="11109718" y="18377859"/>
            <a:ext cx="3004836" cy="846072"/>
          </a:xfrm>
          <a:prstGeom prst="rect">
            <a:avLst/>
          </a:prstGeom>
        </p:spPr>
      </p:pic>
      <p:pic>
        <p:nvPicPr>
          <p:cNvPr id="19" name="Picture 18">
            <a:extLst>
              <a:ext uri="{FF2B5EF4-FFF2-40B4-BE49-F238E27FC236}">
                <a16:creationId xmlns:a16="http://schemas.microsoft.com/office/drawing/2014/main" id="{9796ED30-06E7-20CA-C7D6-567DCCFF0ACB}"/>
              </a:ext>
            </a:extLst>
          </p:cNvPr>
          <p:cNvPicPr>
            <a:picLocks noChangeAspect="1"/>
          </p:cNvPicPr>
          <p:nvPr/>
        </p:nvPicPr>
        <p:blipFill rotWithShape="1">
          <a:blip r:embed="rId4"/>
          <a:srcRect l="29822" t="5986" r="61440" b="72478"/>
          <a:stretch/>
        </p:blipFill>
        <p:spPr>
          <a:xfrm>
            <a:off x="3853646" y="17969990"/>
            <a:ext cx="1773117" cy="1661810"/>
          </a:xfrm>
          <a:prstGeom prst="rect">
            <a:avLst/>
          </a:prstGeom>
        </p:spPr>
      </p:pic>
      <p:pic>
        <p:nvPicPr>
          <p:cNvPr id="20" name="Picture 19">
            <a:extLst>
              <a:ext uri="{FF2B5EF4-FFF2-40B4-BE49-F238E27FC236}">
                <a16:creationId xmlns:a16="http://schemas.microsoft.com/office/drawing/2014/main" id="{BA5BAD96-2B9F-4765-DE8A-1050805434D5}"/>
              </a:ext>
            </a:extLst>
          </p:cNvPr>
          <p:cNvPicPr>
            <a:picLocks noChangeAspect="1"/>
          </p:cNvPicPr>
          <p:nvPr/>
        </p:nvPicPr>
        <p:blipFill rotWithShape="1">
          <a:blip r:embed="rId4"/>
          <a:srcRect l="35942" t="81805" r="43868" b="-2666"/>
          <a:stretch/>
        </p:blipFill>
        <p:spPr>
          <a:xfrm>
            <a:off x="577726" y="18172946"/>
            <a:ext cx="2787826" cy="1095262"/>
          </a:xfrm>
          <a:prstGeom prst="rect">
            <a:avLst/>
          </a:prstGeom>
        </p:spPr>
      </p:pic>
      <p:pic>
        <p:nvPicPr>
          <p:cNvPr id="21" name="Picture 2">
            <a:extLst>
              <a:ext uri="{FF2B5EF4-FFF2-40B4-BE49-F238E27FC236}">
                <a16:creationId xmlns:a16="http://schemas.microsoft.com/office/drawing/2014/main" id="{77142733-7A82-8BE3-2427-354576EDAC9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489268" y="18519519"/>
            <a:ext cx="3518023" cy="439753"/>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a:extLst>
              <a:ext uri="{FF2B5EF4-FFF2-40B4-BE49-F238E27FC236}">
                <a16:creationId xmlns:a16="http://schemas.microsoft.com/office/drawing/2014/main" id="{68321B2F-9F30-76F1-F082-05B42BFBACA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388576" y="18205287"/>
            <a:ext cx="2618196" cy="109637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4" descr="Lenovo Logo PNG Transparent &amp; SVG Vector - Freebie Supply">
            <a:extLst>
              <a:ext uri="{FF2B5EF4-FFF2-40B4-BE49-F238E27FC236}">
                <a16:creationId xmlns:a16="http://schemas.microsoft.com/office/drawing/2014/main" id="{EA3400C2-44FF-7E40-0DCA-1E16A00E071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388058" y="18458019"/>
            <a:ext cx="1772721" cy="590906"/>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a:extLst>
              <a:ext uri="{FF2B5EF4-FFF2-40B4-BE49-F238E27FC236}">
                <a16:creationId xmlns:a16="http://schemas.microsoft.com/office/drawing/2014/main" id="{B46E7DBF-B54A-F69D-0236-42796CD4541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371874" y="18127303"/>
            <a:ext cx="2238438" cy="1186547"/>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12">
            <a:extLst>
              <a:ext uri="{FF2B5EF4-FFF2-40B4-BE49-F238E27FC236}">
                <a16:creationId xmlns:a16="http://schemas.microsoft.com/office/drawing/2014/main" id="{0EFFC958-7CE4-6415-2287-010BC6AB53B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04625" y="18458019"/>
            <a:ext cx="3638006" cy="562754"/>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1DD4AB32-CCCF-2187-B278-02DC7818A559}"/>
              </a:ext>
            </a:extLst>
          </p:cNvPr>
          <p:cNvSpPr txBox="1"/>
          <p:nvPr/>
        </p:nvSpPr>
        <p:spPr>
          <a:xfrm>
            <a:off x="14695822" y="18192246"/>
            <a:ext cx="2813546" cy="1323439"/>
          </a:xfrm>
          <a:prstGeom prst="rect">
            <a:avLst/>
          </a:prstGeom>
          <a:noFill/>
        </p:spPr>
        <p:txBody>
          <a:bodyPr wrap="square" rtlCol="0">
            <a:spAutoFit/>
          </a:bodyPr>
          <a:lstStyle/>
          <a:p>
            <a:pPr algn="ctr"/>
            <a:r>
              <a:rPr lang="en-US" sz="4000">
                <a:solidFill>
                  <a:schemeClr val="bg1"/>
                </a:solidFill>
                <a:latin typeface="NVIDIA Sans" panose="020B0503020203020204" pitchFamily="34" charset="0"/>
                <a:cs typeface="NVIDIA Sans" panose="020B0503020203020204" pitchFamily="34" charset="0"/>
              </a:rPr>
              <a:t>DGX &amp; </a:t>
            </a:r>
          </a:p>
          <a:p>
            <a:pPr algn="ctr"/>
            <a:r>
              <a:rPr lang="en-US" sz="4000">
                <a:solidFill>
                  <a:schemeClr val="bg1"/>
                </a:solidFill>
                <a:latin typeface="NVIDIA Sans" panose="020B0503020203020204" pitchFamily="34" charset="0"/>
                <a:cs typeface="NVIDIA Sans" panose="020B0503020203020204" pitchFamily="34" charset="0"/>
              </a:rPr>
              <a:t>DGX Cloud</a:t>
            </a:r>
          </a:p>
        </p:txBody>
      </p:sp>
      <p:pic>
        <p:nvPicPr>
          <p:cNvPr id="37" name="Graphic 36">
            <a:extLst>
              <a:ext uri="{FF2B5EF4-FFF2-40B4-BE49-F238E27FC236}">
                <a16:creationId xmlns:a16="http://schemas.microsoft.com/office/drawing/2014/main" id="{88467C42-A0C4-68B9-63A8-A0A911BDD17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7774760" y="17830946"/>
            <a:ext cx="3449116" cy="1939898"/>
          </a:xfrm>
          <a:prstGeom prst="rect">
            <a:avLst/>
          </a:prstGeom>
        </p:spPr>
      </p:pic>
      <p:pic>
        <p:nvPicPr>
          <p:cNvPr id="5" name="Picture 2" descr="logo">
            <a:extLst>
              <a:ext uri="{FF2B5EF4-FFF2-40B4-BE49-F238E27FC236}">
                <a16:creationId xmlns:a16="http://schemas.microsoft.com/office/drawing/2014/main" id="{8C967754-F1D8-DECA-8B45-60BDD23498E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629385" y="15357063"/>
            <a:ext cx="1737360" cy="52876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vLLM">
            <a:extLst>
              <a:ext uri="{FF2B5EF4-FFF2-40B4-BE49-F238E27FC236}">
                <a16:creationId xmlns:a16="http://schemas.microsoft.com/office/drawing/2014/main" id="{35F4E7AE-66A5-4E40-66A6-5399E168BDE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691347" y="15357063"/>
            <a:ext cx="2194560" cy="629124"/>
          </a:xfrm>
          <a:prstGeom prst="rect">
            <a:avLst/>
          </a:prstGeom>
          <a:noFill/>
          <a:extLst>
            <a:ext uri="{909E8E84-426E-40DD-AFC4-6F175D3DCCD1}">
              <a14:hiddenFill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2DB45694-FC88-1188-44E6-D7E1183E7F2C}"/>
              </a:ext>
            </a:extLst>
          </p:cNvPr>
          <p:cNvGrpSpPr/>
          <p:nvPr/>
        </p:nvGrpSpPr>
        <p:grpSpPr>
          <a:xfrm>
            <a:off x="21837212" y="15015555"/>
            <a:ext cx="3812351" cy="1211776"/>
            <a:chOff x="21983422" y="14959453"/>
            <a:chExt cx="3812351" cy="1211776"/>
          </a:xfrm>
        </p:grpSpPr>
        <p:pic>
          <p:nvPicPr>
            <p:cNvPr id="4" name="Content Placeholder 13">
              <a:extLst>
                <a:ext uri="{FF2B5EF4-FFF2-40B4-BE49-F238E27FC236}">
                  <a16:creationId xmlns:a16="http://schemas.microsoft.com/office/drawing/2014/main" id="{6D32FCD6-4846-E88B-B56E-225E23F2B2CC}"/>
                </a:ext>
              </a:extLst>
            </p:cNvPr>
            <p:cNvPicPr>
              <a:picLocks noChangeAspect="1"/>
            </p:cNvPicPr>
            <p:nvPr/>
          </p:nvPicPr>
          <p:blipFill>
            <a:blip>
              <a:extLst>
                <a:ext uri="{96DAC541-7B7A-43D3-8B79-37D633B846F1}">
                  <asvg:svgBlip xmlns:asvg="http://schemas.microsoft.com/office/drawing/2016/SVG/main" r:embed="rId13"/>
                </a:ext>
              </a:extLst>
            </a:blip>
            <a:srcRect t="15049" b="18215"/>
            <a:stretch>
              <a:fillRect/>
            </a:stretch>
          </p:blipFill>
          <p:spPr>
            <a:xfrm>
              <a:off x="22011939" y="14959453"/>
              <a:ext cx="3566160" cy="971783"/>
            </a:xfrm>
            <a:prstGeom prst="rect">
              <a:avLst/>
            </a:prstGeom>
          </p:spPr>
        </p:pic>
        <p:sp>
          <p:nvSpPr>
            <p:cNvPr id="10" name="TextBox 9">
              <a:extLst>
                <a:ext uri="{FF2B5EF4-FFF2-40B4-BE49-F238E27FC236}">
                  <a16:creationId xmlns:a16="http://schemas.microsoft.com/office/drawing/2014/main" id="{513EB4C5-4629-1700-6E6D-FCF24C67DE9A}"/>
                </a:ext>
              </a:extLst>
            </p:cNvPr>
            <p:cNvSpPr txBox="1"/>
            <p:nvPr/>
          </p:nvSpPr>
          <p:spPr>
            <a:xfrm>
              <a:off x="21983422" y="15709564"/>
              <a:ext cx="3812351" cy="461665"/>
            </a:xfrm>
            <a:prstGeom prst="rect">
              <a:avLst/>
            </a:prstGeom>
            <a:noFill/>
          </p:spPr>
          <p:txBody>
            <a:bodyPr wrap="square" rtlCol="0">
              <a:spAutoFit/>
            </a:bodyPr>
            <a:lstStyle/>
            <a:p>
              <a:pPr algn="ctr"/>
              <a:r>
                <a:rPr lang="en-US" sz="2400">
                  <a:solidFill>
                    <a:schemeClr val="bg1"/>
                  </a:solidFill>
                  <a:latin typeface="NVIDIA Sans" panose="020B0503020203020204" pitchFamily="34" charset="0"/>
                  <a:cs typeface="NVIDIA Sans" panose="020B0503020203020204" pitchFamily="34" charset="0"/>
                </a:rPr>
                <a:t>TensorRT-LLM</a:t>
              </a:r>
            </a:p>
          </p:txBody>
        </p:sp>
      </p:grpSp>
    </p:spTree>
    <p:extLst>
      <p:ext uri="{BB962C8B-B14F-4D97-AF65-F5344CB8AC3E}">
        <p14:creationId xmlns:p14="http://schemas.microsoft.com/office/powerpoint/2010/main" val="3854953896"/>
      </p:ext>
    </p:extLst>
  </p:cSld>
  <p:clrMapOvr>
    <a:masterClrMapping/>
  </p:clrMapOvr>
  <mc:AlternateContent xmlns:mc="http://schemas.openxmlformats.org/markup-compatibility/2006" xmlns:p14="http://schemas.microsoft.com/office/powerpoint/2010/main">
    <mc:Choice Requires="p14">
      <p:transition p14:dur="0" advTm="23253"/>
    </mc:Choice>
    <mc:Fallback xmlns="">
      <p:transition advTm="23253"/>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9574" y="19633768"/>
            <a:ext cx="6503213" cy="446456"/>
          </a:xfrm>
          <a:prstGeom prst="rect">
            <a:avLst/>
          </a:prstGeom>
          <a:noFill/>
        </p:spPr>
        <p:txBody>
          <a:bodyPr wrap="none">
            <a:spAutoFit/>
          </a:bodyPr>
          <a:lstStyle/>
          <a:p>
            <a:r>
              <a:rPr sz="2300">
                <a:solidFill>
                  <a:srgbClr val="000000"/>
                </a:solidFill>
                <a:latin typeface="NVIDIA Sans Medium"/>
              </a:rPr>
              <a:t>NVIDIA CONFIDENTIAL. DO NOT DISTRIBUTE.</a:t>
            </a:r>
          </a:p>
        </p:txBody>
      </p:sp>
      <p:sp>
        <p:nvSpPr>
          <p:cNvPr id="3" name="TextBox 2"/>
          <p:cNvSpPr txBox="1"/>
          <p:nvPr/>
        </p:nvSpPr>
        <p:spPr>
          <a:xfrm>
            <a:off x="1463040" y="1097280"/>
            <a:ext cx="33649920" cy="2377440"/>
          </a:xfrm>
          <a:prstGeom prst="rect">
            <a:avLst/>
          </a:prstGeom>
          <a:noFill/>
        </p:spPr>
        <p:txBody>
          <a:bodyPr wrap="square" lIns="50000" tIns="20000" rIns="50000" bIns="20000" anchor="ctr">
            <a:spAutoFit/>
          </a:bodyPr>
          <a:lstStyle/>
          <a:p>
            <a:pPr algn="l"/>
            <a:r>
              <a:rPr sz="7200" b="1" i="0">
                <a:solidFill>
                  <a:srgbClr val="000000"/>
                </a:solidFill>
                <a:latin typeface="NVIDIA Sans Medium"/>
              </a:rPr>
              <a:t>What a NIM Is</a:t>
            </a:r>
          </a:p>
        </p:txBody>
      </p:sp>
      <p:sp>
        <p:nvSpPr>
          <p:cNvPr id="4" name="TextBox 3"/>
          <p:cNvSpPr txBox="1"/>
          <p:nvPr/>
        </p:nvSpPr>
        <p:spPr>
          <a:xfrm>
            <a:off x="1463040" y="3474720"/>
            <a:ext cx="33649920" cy="1280160"/>
          </a:xfrm>
          <a:prstGeom prst="rect">
            <a:avLst/>
          </a:prstGeom>
          <a:noFill/>
        </p:spPr>
        <p:txBody>
          <a:bodyPr wrap="square" lIns="50000" tIns="20000" rIns="50000" bIns="20000" anchor="ctr">
            <a:spAutoFit/>
          </a:bodyPr>
          <a:lstStyle/>
          <a:p>
            <a:pPr algn="l"/>
            <a:r>
              <a:rPr sz="4400" b="0" i="1">
                <a:solidFill>
                  <a:srgbClr val="5E5E5E"/>
                </a:solidFill>
                <a:latin typeface="NVIDIA Sans"/>
              </a:rPr>
              <a:t>A pre-packaged, OpenAI-compatible, GPU-accelerated microservice for one model</a:t>
            </a:r>
          </a:p>
        </p:txBody>
      </p:sp>
      <p:sp>
        <p:nvSpPr>
          <p:cNvPr id="5" name="Rectangle 4"/>
          <p:cNvSpPr/>
          <p:nvPr/>
        </p:nvSpPr>
        <p:spPr>
          <a:xfrm>
            <a:off x="1463040" y="4901184"/>
            <a:ext cx="2194560" cy="109728"/>
          </a:xfrm>
          <a:prstGeom prst="rect">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828800" y="5852160"/>
            <a:ext cx="32918400" cy="12435840"/>
          </a:xfrm>
          <a:prstGeom prst="roundRect">
            <a:avLst>
              <a:gd name="adj" fmla="val 4000"/>
            </a:avLst>
          </a:prstGeom>
          <a:solidFill>
            <a:srgbClr val="FFFFFF"/>
          </a:solidFill>
          <a:ln w="2540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828800" y="5852160"/>
            <a:ext cx="548640" cy="12435840"/>
          </a:xfrm>
          <a:prstGeom prst="rect">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108960" y="6949440"/>
            <a:ext cx="28895040" cy="2011680"/>
          </a:xfrm>
          <a:prstGeom prst="rect">
            <a:avLst/>
          </a:prstGeom>
          <a:noFill/>
        </p:spPr>
        <p:txBody>
          <a:bodyPr wrap="square" lIns="50000" tIns="20000" rIns="50000" bIns="20000" anchor="t">
            <a:spAutoFit/>
          </a:bodyPr>
          <a:lstStyle/>
          <a:p>
            <a:pPr algn="l"/>
            <a:r>
              <a:rPr sz="6400" b="1" i="0">
                <a:solidFill>
                  <a:srgbClr val="000000"/>
                </a:solidFill>
                <a:latin typeface="NVIDIA Sans Medium"/>
              </a:rPr>
              <a:t>One container · one model · one endpoint</a:t>
            </a:r>
          </a:p>
        </p:txBody>
      </p:sp>
      <p:sp>
        <p:nvSpPr>
          <p:cNvPr id="9" name="Oval 8"/>
          <p:cNvSpPr/>
          <p:nvPr/>
        </p:nvSpPr>
        <p:spPr>
          <a:xfrm>
            <a:off x="3474720" y="9875520"/>
            <a:ext cx="658368" cy="658368"/>
          </a:xfrm>
          <a:prstGeom prst="ellipse">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0" y="9509760"/>
            <a:ext cx="8778240" cy="1645920"/>
          </a:xfrm>
          <a:prstGeom prst="rect">
            <a:avLst/>
          </a:prstGeom>
          <a:noFill/>
        </p:spPr>
        <p:txBody>
          <a:bodyPr wrap="square" lIns="50000" tIns="20000" rIns="50000" bIns="20000" anchor="ctr">
            <a:spAutoFit/>
          </a:bodyPr>
          <a:lstStyle/>
          <a:p>
            <a:pPr algn="l"/>
            <a:r>
              <a:rPr sz="4400" b="1" i="0">
                <a:solidFill>
                  <a:srgbClr val="000000"/>
                </a:solidFill>
                <a:latin typeface="NVIDIA Sans Medium"/>
              </a:rPr>
              <a:t>Pre-optimised</a:t>
            </a:r>
          </a:p>
        </p:txBody>
      </p:sp>
      <p:sp>
        <p:nvSpPr>
          <p:cNvPr id="11" name="TextBox 10"/>
          <p:cNvSpPr txBox="1"/>
          <p:nvPr/>
        </p:nvSpPr>
        <p:spPr>
          <a:xfrm>
            <a:off x="13533120" y="9509760"/>
            <a:ext cx="20482560" cy="1645920"/>
          </a:xfrm>
          <a:prstGeom prst="rect">
            <a:avLst/>
          </a:prstGeom>
          <a:noFill/>
        </p:spPr>
        <p:txBody>
          <a:bodyPr wrap="square" lIns="50000" tIns="20000" rIns="50000" bIns="20000" anchor="ctr">
            <a:spAutoFit/>
          </a:bodyPr>
          <a:lstStyle/>
          <a:p>
            <a:pPr algn="l"/>
            <a:r>
              <a:rPr sz="4000" b="0" i="0">
                <a:solidFill>
                  <a:srgbClr val="5E5E5E"/>
                </a:solidFill>
                <a:latin typeface="NVIDIA Sans"/>
              </a:rPr>
              <a:t>TRT-LLM / vLLM / SGLang chosen per hardware + model automatically</a:t>
            </a:r>
          </a:p>
        </p:txBody>
      </p:sp>
      <p:sp>
        <p:nvSpPr>
          <p:cNvPr id="12" name="Oval 11"/>
          <p:cNvSpPr/>
          <p:nvPr/>
        </p:nvSpPr>
        <p:spPr>
          <a:xfrm>
            <a:off x="3474720" y="11521440"/>
            <a:ext cx="658368" cy="658368"/>
          </a:xfrm>
          <a:prstGeom prst="ellipse">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0" y="11155680"/>
            <a:ext cx="8778240" cy="1645920"/>
          </a:xfrm>
          <a:prstGeom prst="rect">
            <a:avLst/>
          </a:prstGeom>
          <a:noFill/>
        </p:spPr>
        <p:txBody>
          <a:bodyPr wrap="square" lIns="50000" tIns="20000" rIns="50000" bIns="20000" anchor="ctr">
            <a:spAutoFit/>
          </a:bodyPr>
          <a:lstStyle/>
          <a:p>
            <a:pPr algn="l"/>
            <a:r>
              <a:rPr sz="4400" b="1" i="0">
                <a:solidFill>
                  <a:srgbClr val="000000"/>
                </a:solidFill>
                <a:latin typeface="NVIDIA Sans Medium"/>
              </a:rPr>
              <a:t>OpenAI-compatible</a:t>
            </a:r>
          </a:p>
        </p:txBody>
      </p:sp>
      <p:sp>
        <p:nvSpPr>
          <p:cNvPr id="14" name="TextBox 13"/>
          <p:cNvSpPr txBox="1"/>
          <p:nvPr/>
        </p:nvSpPr>
        <p:spPr>
          <a:xfrm>
            <a:off x="13533120" y="11155680"/>
            <a:ext cx="20482560" cy="1645920"/>
          </a:xfrm>
          <a:prstGeom prst="rect">
            <a:avLst/>
          </a:prstGeom>
          <a:noFill/>
        </p:spPr>
        <p:txBody>
          <a:bodyPr wrap="square" lIns="50000" tIns="20000" rIns="50000" bIns="20000" anchor="ctr">
            <a:spAutoFit/>
          </a:bodyPr>
          <a:lstStyle/>
          <a:p>
            <a:pPr algn="l"/>
            <a:r>
              <a:rPr sz="4000" b="0" i="0">
                <a:solidFill>
                  <a:srgbClr val="5E5E5E"/>
                </a:solidFill>
                <a:latin typeface="NVIDIA Sans"/>
              </a:rPr>
              <a:t>Drop-in /v1/chat/completions, /v1/completions, /v1/embeddings, /v1/rerank</a:t>
            </a:r>
          </a:p>
        </p:txBody>
      </p:sp>
      <p:sp>
        <p:nvSpPr>
          <p:cNvPr id="15" name="Oval 14"/>
          <p:cNvSpPr/>
          <p:nvPr/>
        </p:nvSpPr>
        <p:spPr>
          <a:xfrm>
            <a:off x="3474720" y="13167360"/>
            <a:ext cx="658368" cy="658368"/>
          </a:xfrm>
          <a:prstGeom prst="ellipse">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0" y="12801600"/>
            <a:ext cx="8778240" cy="1645920"/>
          </a:xfrm>
          <a:prstGeom prst="rect">
            <a:avLst/>
          </a:prstGeom>
          <a:noFill/>
        </p:spPr>
        <p:txBody>
          <a:bodyPr wrap="square" lIns="50000" tIns="20000" rIns="50000" bIns="20000" anchor="ctr">
            <a:spAutoFit/>
          </a:bodyPr>
          <a:lstStyle/>
          <a:p>
            <a:pPr algn="l"/>
            <a:r>
              <a:rPr sz="4400" b="1" i="0">
                <a:solidFill>
                  <a:srgbClr val="000000"/>
                </a:solidFill>
                <a:latin typeface="NVIDIA Sans Medium"/>
              </a:rPr>
              <a:t>GPU-native</a:t>
            </a:r>
          </a:p>
        </p:txBody>
      </p:sp>
      <p:sp>
        <p:nvSpPr>
          <p:cNvPr id="17" name="TextBox 16"/>
          <p:cNvSpPr txBox="1"/>
          <p:nvPr/>
        </p:nvSpPr>
        <p:spPr>
          <a:xfrm>
            <a:off x="13533120" y="12801600"/>
            <a:ext cx="20482560" cy="1645920"/>
          </a:xfrm>
          <a:prstGeom prst="rect">
            <a:avLst/>
          </a:prstGeom>
          <a:noFill/>
        </p:spPr>
        <p:txBody>
          <a:bodyPr wrap="square" lIns="50000" tIns="20000" rIns="50000" bIns="20000" anchor="ctr">
            <a:spAutoFit/>
          </a:bodyPr>
          <a:lstStyle/>
          <a:p>
            <a:pPr algn="l"/>
            <a:r>
              <a:rPr sz="4000" b="0" i="0">
                <a:solidFill>
                  <a:srgbClr val="5E5E5E"/>
                </a:solidFill>
                <a:latin typeface="NVIDIA Sans"/>
              </a:rPr>
              <a:t>FP8 / FP16 / BF16, in-flight batching, paged KV-cache by default</a:t>
            </a:r>
          </a:p>
        </p:txBody>
      </p:sp>
      <p:sp>
        <p:nvSpPr>
          <p:cNvPr id="18" name="Oval 17"/>
          <p:cNvSpPr/>
          <p:nvPr/>
        </p:nvSpPr>
        <p:spPr>
          <a:xfrm>
            <a:off x="3474720" y="14813280"/>
            <a:ext cx="658368" cy="658368"/>
          </a:xfrm>
          <a:prstGeom prst="ellipse">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0" y="14447520"/>
            <a:ext cx="8778240" cy="1645920"/>
          </a:xfrm>
          <a:prstGeom prst="rect">
            <a:avLst/>
          </a:prstGeom>
          <a:noFill/>
        </p:spPr>
        <p:txBody>
          <a:bodyPr wrap="square" lIns="50000" tIns="20000" rIns="50000" bIns="20000" anchor="ctr">
            <a:spAutoFit/>
          </a:bodyPr>
          <a:lstStyle/>
          <a:p>
            <a:pPr algn="l"/>
            <a:r>
              <a:rPr sz="4400" b="1" i="0">
                <a:solidFill>
                  <a:srgbClr val="000000"/>
                </a:solidFill>
                <a:latin typeface="NVIDIA Sans Medium"/>
              </a:rPr>
              <a:t>Single command</a:t>
            </a:r>
          </a:p>
        </p:txBody>
      </p:sp>
      <p:sp>
        <p:nvSpPr>
          <p:cNvPr id="20" name="TextBox 19"/>
          <p:cNvSpPr txBox="1"/>
          <p:nvPr/>
        </p:nvSpPr>
        <p:spPr>
          <a:xfrm>
            <a:off x="13533120" y="14447520"/>
            <a:ext cx="20482560" cy="1645920"/>
          </a:xfrm>
          <a:prstGeom prst="rect">
            <a:avLst/>
          </a:prstGeom>
          <a:noFill/>
        </p:spPr>
        <p:txBody>
          <a:bodyPr wrap="square" lIns="50000" tIns="20000" rIns="50000" bIns="20000" anchor="ctr">
            <a:spAutoFit/>
          </a:bodyPr>
          <a:lstStyle/>
          <a:p>
            <a:pPr algn="l"/>
            <a:r>
              <a:rPr sz="4000" b="0" i="0">
                <a:solidFill>
                  <a:srgbClr val="5E5E5E"/>
                </a:solidFill>
                <a:latin typeface="NVIDIA Sans"/>
              </a:rPr>
              <a:t>docker run … → ready endpoint in minutes, not hours</a:t>
            </a:r>
          </a:p>
        </p:txBody>
      </p:sp>
      <p:sp>
        <p:nvSpPr>
          <p:cNvPr id="21" name="Oval 20"/>
          <p:cNvSpPr/>
          <p:nvPr/>
        </p:nvSpPr>
        <p:spPr>
          <a:xfrm>
            <a:off x="3474720" y="16459200"/>
            <a:ext cx="658368" cy="658368"/>
          </a:xfrm>
          <a:prstGeom prst="ellipse">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0" y="16093440"/>
            <a:ext cx="8778240" cy="1645920"/>
          </a:xfrm>
          <a:prstGeom prst="rect">
            <a:avLst/>
          </a:prstGeom>
          <a:noFill/>
        </p:spPr>
        <p:txBody>
          <a:bodyPr wrap="square" lIns="50000" tIns="20000" rIns="50000" bIns="20000" anchor="ctr">
            <a:spAutoFit/>
          </a:bodyPr>
          <a:lstStyle/>
          <a:p>
            <a:pPr algn="l"/>
            <a:r>
              <a:rPr sz="4400" b="1" i="0">
                <a:solidFill>
                  <a:srgbClr val="000000"/>
                </a:solidFill>
                <a:latin typeface="NVIDIA Sans Medium"/>
              </a:rPr>
              <a:t>Healthchecks built-in</a:t>
            </a:r>
          </a:p>
        </p:txBody>
      </p:sp>
      <p:sp>
        <p:nvSpPr>
          <p:cNvPr id="23" name="TextBox 22"/>
          <p:cNvSpPr txBox="1"/>
          <p:nvPr/>
        </p:nvSpPr>
        <p:spPr>
          <a:xfrm>
            <a:off x="13533120" y="16093440"/>
            <a:ext cx="20482560" cy="1645920"/>
          </a:xfrm>
          <a:prstGeom prst="rect">
            <a:avLst/>
          </a:prstGeom>
          <a:noFill/>
        </p:spPr>
        <p:txBody>
          <a:bodyPr wrap="square" lIns="50000" tIns="20000" rIns="50000" bIns="20000" anchor="ctr">
            <a:spAutoFit/>
          </a:bodyPr>
          <a:lstStyle/>
          <a:p>
            <a:pPr algn="l"/>
            <a:r>
              <a:rPr sz="4000" b="0" i="0">
                <a:solidFill>
                  <a:srgbClr val="5E5E5E"/>
                </a:solidFill>
                <a:latin typeface="NVIDIA Sans"/>
              </a:rPr>
              <a:t>/v1/health/ready, Prometheus metrics, structured logs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9574" y="19633768"/>
            <a:ext cx="6503213" cy="446456"/>
          </a:xfrm>
          <a:prstGeom prst="rect">
            <a:avLst/>
          </a:prstGeom>
          <a:noFill/>
        </p:spPr>
        <p:txBody>
          <a:bodyPr wrap="none">
            <a:spAutoFit/>
          </a:bodyPr>
          <a:lstStyle/>
          <a:p>
            <a:r>
              <a:rPr sz="2300">
                <a:solidFill>
                  <a:srgbClr val="000000"/>
                </a:solidFill>
                <a:latin typeface="NVIDIA Sans Medium"/>
              </a:rPr>
              <a:t>NVIDIA CONFIDENTIAL. DO NOT DISTRIBUTE.</a:t>
            </a:r>
          </a:p>
        </p:txBody>
      </p:sp>
      <p:sp>
        <p:nvSpPr>
          <p:cNvPr id="3" name="TextBox 2"/>
          <p:cNvSpPr txBox="1"/>
          <p:nvPr/>
        </p:nvSpPr>
        <p:spPr>
          <a:xfrm>
            <a:off x="1463040" y="1097280"/>
            <a:ext cx="33649920" cy="2377440"/>
          </a:xfrm>
          <a:prstGeom prst="rect">
            <a:avLst/>
          </a:prstGeom>
          <a:noFill/>
        </p:spPr>
        <p:txBody>
          <a:bodyPr wrap="square" lIns="50000" tIns="20000" rIns="50000" bIns="20000" anchor="ctr">
            <a:spAutoFit/>
          </a:bodyPr>
          <a:lstStyle/>
          <a:p>
            <a:pPr algn="l"/>
            <a:r>
              <a:rPr sz="7200" b="1" i="0">
                <a:solidFill>
                  <a:srgbClr val="000000"/>
                </a:solidFill>
                <a:latin typeface="NVIDIA Sans Medium"/>
              </a:rPr>
              <a:t>Under the Hood</a:t>
            </a:r>
          </a:p>
        </p:txBody>
      </p:sp>
      <p:sp>
        <p:nvSpPr>
          <p:cNvPr id="4" name="TextBox 3"/>
          <p:cNvSpPr txBox="1"/>
          <p:nvPr/>
        </p:nvSpPr>
        <p:spPr>
          <a:xfrm>
            <a:off x="1463040" y="3474720"/>
            <a:ext cx="33649920" cy="1280160"/>
          </a:xfrm>
          <a:prstGeom prst="rect">
            <a:avLst/>
          </a:prstGeom>
          <a:noFill/>
        </p:spPr>
        <p:txBody>
          <a:bodyPr wrap="square" lIns="50000" tIns="20000" rIns="50000" bIns="20000" anchor="ctr">
            <a:spAutoFit/>
          </a:bodyPr>
          <a:lstStyle/>
          <a:p>
            <a:pPr algn="l"/>
            <a:r>
              <a:rPr sz="4400" b="0" i="1">
                <a:solidFill>
                  <a:srgbClr val="5E5E5E"/>
                </a:solidFill>
                <a:latin typeface="NVIDIA Sans"/>
              </a:rPr>
              <a:t>NIM picks the right inference backend for your model + GPU automatically</a:t>
            </a:r>
          </a:p>
        </p:txBody>
      </p:sp>
      <p:sp>
        <p:nvSpPr>
          <p:cNvPr id="5" name="Rectangle 4"/>
          <p:cNvSpPr/>
          <p:nvPr/>
        </p:nvSpPr>
        <p:spPr>
          <a:xfrm>
            <a:off x="1463040" y="4901184"/>
            <a:ext cx="2194560" cy="109728"/>
          </a:xfrm>
          <a:prstGeom prst="rect">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486400" y="6217920"/>
            <a:ext cx="25603200" cy="2011680"/>
          </a:xfrm>
          <a:prstGeom prst="roundRect">
            <a:avLst>
              <a:gd name="adj" fmla="val 4000"/>
            </a:avLst>
          </a:prstGeom>
          <a:solidFill>
            <a:srgbClr val="CDCDCD"/>
          </a:solidFill>
          <a:ln>
            <a:solidFill>
              <a:srgbClr val="CDCD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0" y="6217920"/>
            <a:ext cx="25603200" cy="2011680"/>
          </a:xfrm>
          <a:prstGeom prst="rect">
            <a:avLst/>
          </a:prstGeom>
          <a:noFill/>
        </p:spPr>
        <p:txBody>
          <a:bodyPr wrap="square" lIns="50000" tIns="20000" rIns="50000" bIns="20000" anchor="ctr">
            <a:spAutoFit/>
          </a:bodyPr>
          <a:lstStyle/>
          <a:p>
            <a:pPr algn="ctr"/>
            <a:r>
              <a:rPr sz="4800" b="1" i="0">
                <a:solidFill>
                  <a:srgbClr val="000000"/>
                </a:solidFill>
                <a:latin typeface="NVIDIA Sans Medium"/>
              </a:rPr>
              <a:t>OpenAI-compatible HTTP API</a:t>
            </a:r>
          </a:p>
        </p:txBody>
      </p:sp>
      <p:sp>
        <p:nvSpPr>
          <p:cNvPr id="8" name="Rounded Rectangle 7"/>
          <p:cNvSpPr/>
          <p:nvPr/>
        </p:nvSpPr>
        <p:spPr>
          <a:xfrm>
            <a:off x="5486400" y="8522208"/>
            <a:ext cx="25603200" cy="2011680"/>
          </a:xfrm>
          <a:prstGeom prst="roundRect">
            <a:avLst>
              <a:gd name="adj" fmla="val 4000"/>
            </a:avLst>
          </a:prstGeom>
          <a:solidFill>
            <a:srgbClr val="76B900"/>
          </a:solidFill>
          <a:ln>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0" y="8522208"/>
            <a:ext cx="25603200" cy="2011680"/>
          </a:xfrm>
          <a:prstGeom prst="rect">
            <a:avLst/>
          </a:prstGeom>
          <a:noFill/>
        </p:spPr>
        <p:txBody>
          <a:bodyPr wrap="square" lIns="50000" tIns="20000" rIns="50000" bIns="20000" anchor="ctr">
            <a:spAutoFit/>
          </a:bodyPr>
          <a:lstStyle/>
          <a:p>
            <a:pPr algn="ctr"/>
            <a:r>
              <a:rPr sz="4800" b="1" i="0">
                <a:solidFill>
                  <a:srgbClr val="000000"/>
                </a:solidFill>
                <a:latin typeface="NVIDIA Sans Medium"/>
              </a:rPr>
              <a:t>NIM runtime + scheduler + KV-cache mgmt</a:t>
            </a:r>
          </a:p>
        </p:txBody>
      </p:sp>
      <p:sp>
        <p:nvSpPr>
          <p:cNvPr id="10" name="Rounded Rectangle 9"/>
          <p:cNvSpPr/>
          <p:nvPr/>
        </p:nvSpPr>
        <p:spPr>
          <a:xfrm>
            <a:off x="5486400" y="10826496"/>
            <a:ext cx="25603200" cy="2011680"/>
          </a:xfrm>
          <a:prstGeom prst="roundRect">
            <a:avLst>
              <a:gd name="adj" fmla="val 4000"/>
            </a:avLst>
          </a:prstGeom>
          <a:solidFill>
            <a:srgbClr val="008564"/>
          </a:solidFill>
          <a:ln>
            <a:solidFill>
              <a:srgbClr val="0085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0" y="10826496"/>
            <a:ext cx="25603200" cy="2011680"/>
          </a:xfrm>
          <a:prstGeom prst="rect">
            <a:avLst/>
          </a:prstGeom>
          <a:noFill/>
        </p:spPr>
        <p:txBody>
          <a:bodyPr wrap="square" lIns="50000" tIns="20000" rIns="50000" bIns="20000" anchor="ctr">
            <a:spAutoFit/>
          </a:bodyPr>
          <a:lstStyle/>
          <a:p>
            <a:pPr algn="ctr"/>
            <a:r>
              <a:rPr sz="4800" b="1" i="0">
                <a:solidFill>
                  <a:srgbClr val="FFFFFF"/>
                </a:solidFill>
                <a:latin typeface="NVIDIA Sans Medium"/>
              </a:rPr>
              <a:t>Backend: TRT-LLM · vLLM · SGLang</a:t>
            </a:r>
          </a:p>
        </p:txBody>
      </p:sp>
      <p:sp>
        <p:nvSpPr>
          <p:cNvPr id="12" name="Rounded Rectangle 11"/>
          <p:cNvSpPr/>
          <p:nvPr/>
        </p:nvSpPr>
        <p:spPr>
          <a:xfrm>
            <a:off x="5486400" y="13130784"/>
            <a:ext cx="25603200" cy="2011680"/>
          </a:xfrm>
          <a:prstGeom prst="roundRect">
            <a:avLst>
              <a:gd name="adj" fmla="val 4000"/>
            </a:avLst>
          </a:prstGeom>
          <a:solidFill>
            <a:srgbClr val="5E5E5E"/>
          </a:solidFill>
          <a:ln>
            <a:solidFill>
              <a:srgbClr val="5E5E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0" y="13130784"/>
            <a:ext cx="25603200" cy="2011680"/>
          </a:xfrm>
          <a:prstGeom prst="rect">
            <a:avLst/>
          </a:prstGeom>
          <a:noFill/>
        </p:spPr>
        <p:txBody>
          <a:bodyPr wrap="square" lIns="50000" tIns="20000" rIns="50000" bIns="20000" anchor="ctr">
            <a:spAutoFit/>
          </a:bodyPr>
          <a:lstStyle/>
          <a:p>
            <a:pPr algn="ctr"/>
            <a:r>
              <a:rPr sz="4800" b="1" i="0">
                <a:solidFill>
                  <a:srgbClr val="FFFFFF"/>
                </a:solidFill>
                <a:latin typeface="NVIDIA Sans Medium"/>
              </a:rPr>
              <a:t>CUDA kernels + Transformer Engine</a:t>
            </a:r>
          </a:p>
        </p:txBody>
      </p:sp>
      <p:sp>
        <p:nvSpPr>
          <p:cNvPr id="14" name="Rounded Rectangle 13"/>
          <p:cNvSpPr/>
          <p:nvPr/>
        </p:nvSpPr>
        <p:spPr>
          <a:xfrm>
            <a:off x="5486400" y="15435072"/>
            <a:ext cx="25603200" cy="2011680"/>
          </a:xfrm>
          <a:prstGeom prst="roundRect">
            <a:avLst>
              <a:gd name="adj" fmla="val 4000"/>
            </a:avLst>
          </a:prstGeom>
          <a:solidFill>
            <a:srgbClr val="000000"/>
          </a:solid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6400" y="15435072"/>
            <a:ext cx="25603200" cy="2011680"/>
          </a:xfrm>
          <a:prstGeom prst="rect">
            <a:avLst/>
          </a:prstGeom>
          <a:noFill/>
        </p:spPr>
        <p:txBody>
          <a:bodyPr wrap="square" lIns="50000" tIns="20000" rIns="50000" bIns="20000" anchor="ctr">
            <a:spAutoFit/>
          </a:bodyPr>
          <a:lstStyle/>
          <a:p>
            <a:pPr algn="ctr"/>
            <a:r>
              <a:rPr sz="4800" b="1" i="0">
                <a:solidFill>
                  <a:srgbClr val="FFFFFF"/>
                </a:solidFill>
                <a:latin typeface="NVIDIA Sans Medium"/>
              </a:rPr>
              <a:t>NVIDIA GPU (H100 NVL / A100 / B100 / RTX PRO)</a:t>
            </a:r>
          </a:p>
        </p:txBody>
      </p:sp>
      <p:sp>
        <p:nvSpPr>
          <p:cNvPr id="16" name="Rounded Rectangle 15"/>
          <p:cNvSpPr/>
          <p:nvPr/>
        </p:nvSpPr>
        <p:spPr>
          <a:xfrm>
            <a:off x="1828800" y="17922240"/>
            <a:ext cx="32918400" cy="1463040"/>
          </a:xfrm>
          <a:prstGeom prst="roundRect">
            <a:avLst>
              <a:gd name="adj" fmla="val 4000"/>
            </a:avLst>
          </a:prstGeom>
          <a:solidFill>
            <a:srgbClr val="E2F0D9"/>
          </a:solidFill>
          <a:ln w="635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828800" y="17922240"/>
            <a:ext cx="32918400" cy="1463040"/>
          </a:xfrm>
          <a:prstGeom prst="rect">
            <a:avLst/>
          </a:prstGeom>
          <a:noFill/>
        </p:spPr>
        <p:txBody>
          <a:bodyPr wrap="square" lIns="50000" tIns="20000" rIns="50000" bIns="20000" anchor="ctr">
            <a:spAutoFit/>
          </a:bodyPr>
          <a:lstStyle/>
          <a:p>
            <a:pPr algn="ctr"/>
            <a:r>
              <a:rPr sz="4000" b="0" i="1">
                <a:solidFill>
                  <a:srgbClr val="76B900"/>
                </a:solidFill>
                <a:latin typeface="NVIDIA Sans"/>
              </a:rPr>
              <a:t>NIM picks TRT-LLM (H100 + dense models), vLLM (variable), or SGLang (constrained-decoding) per model card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9574" y="19633768"/>
            <a:ext cx="6503213" cy="446456"/>
          </a:xfrm>
          <a:prstGeom prst="rect">
            <a:avLst/>
          </a:prstGeom>
          <a:noFill/>
        </p:spPr>
        <p:txBody>
          <a:bodyPr wrap="none">
            <a:spAutoFit/>
          </a:bodyPr>
          <a:lstStyle/>
          <a:p>
            <a:r>
              <a:rPr sz="2300">
                <a:solidFill>
                  <a:srgbClr val="000000"/>
                </a:solidFill>
                <a:latin typeface="NVIDIA Sans Medium"/>
              </a:rPr>
              <a:t>NVIDIA CONFIDENTIAL. DO NOT DISTRIBUTE.</a:t>
            </a:r>
          </a:p>
        </p:txBody>
      </p:sp>
      <p:sp>
        <p:nvSpPr>
          <p:cNvPr id="3" name="TextBox 2"/>
          <p:cNvSpPr txBox="1"/>
          <p:nvPr/>
        </p:nvSpPr>
        <p:spPr>
          <a:xfrm>
            <a:off x="1463040" y="1097280"/>
            <a:ext cx="33649920" cy="2377440"/>
          </a:xfrm>
          <a:prstGeom prst="rect">
            <a:avLst/>
          </a:prstGeom>
          <a:noFill/>
        </p:spPr>
        <p:txBody>
          <a:bodyPr wrap="square" lIns="50000" tIns="20000" rIns="50000" bIns="20000" anchor="ctr">
            <a:spAutoFit/>
          </a:bodyPr>
          <a:lstStyle/>
          <a:p>
            <a:pPr algn="l"/>
            <a:r>
              <a:rPr sz="7200" b="1" i="0">
                <a:solidFill>
                  <a:srgbClr val="000000"/>
                </a:solidFill>
                <a:latin typeface="NVIDIA Sans Medium"/>
              </a:rPr>
              <a:t>OpenAI-Compatible API</a:t>
            </a:r>
          </a:p>
        </p:txBody>
      </p:sp>
      <p:sp>
        <p:nvSpPr>
          <p:cNvPr id="4" name="TextBox 3"/>
          <p:cNvSpPr txBox="1"/>
          <p:nvPr/>
        </p:nvSpPr>
        <p:spPr>
          <a:xfrm>
            <a:off x="1463040" y="3474720"/>
            <a:ext cx="33649920" cy="1280160"/>
          </a:xfrm>
          <a:prstGeom prst="rect">
            <a:avLst/>
          </a:prstGeom>
          <a:noFill/>
        </p:spPr>
        <p:txBody>
          <a:bodyPr wrap="square" lIns="50000" tIns="20000" rIns="50000" bIns="20000" anchor="ctr">
            <a:spAutoFit/>
          </a:bodyPr>
          <a:lstStyle/>
          <a:p>
            <a:pPr algn="l"/>
            <a:r>
              <a:rPr sz="4400" b="0" i="1">
                <a:solidFill>
                  <a:srgbClr val="5E5E5E"/>
                </a:solidFill>
                <a:latin typeface="NVIDIA Sans"/>
              </a:rPr>
              <a:t>If you can call OpenAI, you can call a NIM — no client rewrite</a:t>
            </a:r>
          </a:p>
        </p:txBody>
      </p:sp>
      <p:sp>
        <p:nvSpPr>
          <p:cNvPr id="5" name="Rectangle 4"/>
          <p:cNvSpPr/>
          <p:nvPr/>
        </p:nvSpPr>
        <p:spPr>
          <a:xfrm>
            <a:off x="1463040" y="4901184"/>
            <a:ext cx="2194560" cy="109728"/>
          </a:xfrm>
          <a:prstGeom prst="rect">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828800" y="5852160"/>
            <a:ext cx="16093440" cy="12435840"/>
          </a:xfrm>
          <a:prstGeom prst="roundRect">
            <a:avLst>
              <a:gd name="adj" fmla="val 4000"/>
            </a:avLst>
          </a:prstGeom>
          <a:solidFill>
            <a:srgbClr val="222222"/>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60320" y="6510528"/>
            <a:ext cx="14630400" cy="1463040"/>
          </a:xfrm>
          <a:prstGeom prst="rect">
            <a:avLst/>
          </a:prstGeom>
          <a:noFill/>
        </p:spPr>
        <p:txBody>
          <a:bodyPr wrap="square" lIns="50000" tIns="20000" rIns="50000" bIns="20000" anchor="t">
            <a:spAutoFit/>
          </a:bodyPr>
          <a:lstStyle/>
          <a:p>
            <a:pPr algn="l"/>
            <a:r>
              <a:rPr sz="4800" b="1" i="0">
                <a:solidFill>
                  <a:srgbClr val="76B900"/>
                </a:solidFill>
                <a:latin typeface="NVIDIA Sans Medium"/>
              </a:rPr>
              <a:t>curl</a:t>
            </a:r>
          </a:p>
        </p:txBody>
      </p:sp>
      <p:sp>
        <p:nvSpPr>
          <p:cNvPr id="8" name="TextBox 7"/>
          <p:cNvSpPr txBox="1"/>
          <p:nvPr/>
        </p:nvSpPr>
        <p:spPr>
          <a:xfrm>
            <a:off x="2560320" y="8229600"/>
            <a:ext cx="14630400" cy="9509760"/>
          </a:xfrm>
          <a:prstGeom prst="rect">
            <a:avLst/>
          </a:prstGeom>
          <a:noFill/>
        </p:spPr>
        <p:txBody>
          <a:bodyPr wrap="square" lIns="50000" tIns="20000" rIns="50000" bIns="20000" anchor="t">
            <a:spAutoFit/>
          </a:bodyPr>
          <a:lstStyle/>
          <a:p>
            <a:pPr algn="l"/>
            <a:r>
              <a:rPr sz="3600" b="0" i="0">
                <a:solidFill>
                  <a:srgbClr val="C8DDB0"/>
                </a:solidFill>
                <a:latin typeface="Consolas"/>
              </a:rPr>
              <a:t>curl http://localhost:8088/v1/\</a:t>
            </a:r>
          </a:p>
          <a:p>
            <a:pPr algn="l"/>
            <a:r>
              <a:rPr sz="3600" b="0" i="0">
                <a:solidFill>
                  <a:srgbClr val="C8DDB0"/>
                </a:solidFill>
                <a:latin typeface="Consolas"/>
              </a:rPr>
              <a:t>     chat/completions \</a:t>
            </a:r>
          </a:p>
          <a:p>
            <a:pPr algn="l"/>
            <a:r>
              <a:rPr sz="3600" b="0" i="0">
                <a:solidFill>
                  <a:srgbClr val="C8DDB0"/>
                </a:solidFill>
                <a:latin typeface="Consolas"/>
              </a:rPr>
              <a:t>  -H "Content-Type: \</a:t>
            </a:r>
          </a:p>
          <a:p>
            <a:pPr algn="l"/>
            <a:r>
              <a:rPr sz="3600" b="0" i="0">
                <a:solidFill>
                  <a:srgbClr val="C8DDB0"/>
                </a:solidFill>
                <a:latin typeface="Consolas"/>
              </a:rPr>
              <a:t>       application/json" \</a:t>
            </a:r>
          </a:p>
          <a:p>
            <a:pPr algn="l"/>
            <a:r>
              <a:rPr sz="3600" b="0" i="0">
                <a:solidFill>
                  <a:srgbClr val="C8DDB0"/>
                </a:solidFill>
                <a:latin typeface="Consolas"/>
              </a:rPr>
              <a:t>  -d '{</a:t>
            </a:r>
          </a:p>
          <a:p>
            <a:pPr algn="l"/>
            <a:r>
              <a:rPr sz="3600" b="0" i="0">
                <a:solidFill>
                  <a:srgbClr val="C8DDB0"/>
                </a:solidFill>
                <a:latin typeface="Consolas"/>
              </a:rPr>
              <a:t>    "model": "aml-custom-task-nim",</a:t>
            </a:r>
          </a:p>
          <a:p>
            <a:pPr algn="l"/>
            <a:r>
              <a:rPr sz="3600" b="0" i="0">
                <a:solidFill>
                  <a:srgbClr val="C8DDB0"/>
                </a:solidFill>
                <a:latin typeface="Consolas"/>
              </a:rPr>
              <a:t>    "messages": [</a:t>
            </a:r>
          </a:p>
          <a:p>
            <a:pPr algn="l"/>
            <a:r>
              <a:rPr sz="3600" b="0" i="0">
                <a:solidFill>
                  <a:srgbClr val="C8DDB0"/>
                </a:solidFill>
                <a:latin typeface="Consolas"/>
              </a:rPr>
              <a:t>      {"role":"system",</a:t>
            </a:r>
          </a:p>
          <a:p>
            <a:pPr algn="l"/>
            <a:r>
              <a:rPr sz="3600" b="0" i="0">
                <a:solidFill>
                  <a:srgbClr val="C8DDB0"/>
                </a:solidFill>
                <a:latin typeface="Consolas"/>
              </a:rPr>
              <a:t>       "content":"You are..."},</a:t>
            </a:r>
          </a:p>
          <a:p>
            <a:pPr algn="l"/>
            <a:r>
              <a:rPr sz="3600" b="0" i="0">
                <a:solidFill>
                  <a:srgbClr val="C8DDB0"/>
                </a:solidFill>
                <a:latin typeface="Consolas"/>
              </a:rPr>
              <a:t>      {"role":"user",</a:t>
            </a:r>
          </a:p>
          <a:p>
            <a:pPr algn="l"/>
            <a:r>
              <a:rPr sz="3600" b="0" i="0">
                <a:solidFill>
                  <a:srgbClr val="C8DDB0"/>
                </a:solidFill>
                <a:latin typeface="Consolas"/>
              </a:rPr>
              <a:t>       "content":"investigate..."}</a:t>
            </a:r>
          </a:p>
          <a:p>
            <a:pPr algn="l"/>
            <a:r>
              <a:rPr sz="3600" b="0" i="0">
                <a:solidFill>
                  <a:srgbClr val="C8DDB0"/>
                </a:solidFill>
                <a:latin typeface="Consolas"/>
              </a:rPr>
              <a:t>    ],</a:t>
            </a:r>
          </a:p>
          <a:p>
            <a:pPr algn="l"/>
            <a:r>
              <a:rPr sz="3600" b="0" i="0">
                <a:solidFill>
                  <a:srgbClr val="C8DDB0"/>
                </a:solidFill>
                <a:latin typeface="Consolas"/>
              </a:rPr>
              <a:t>    "temperature": 0</a:t>
            </a:r>
          </a:p>
          <a:p>
            <a:pPr algn="l"/>
            <a:r>
              <a:rPr sz="3600" b="0" i="0">
                <a:solidFill>
                  <a:srgbClr val="C8DDB0"/>
                </a:solidFill>
                <a:latin typeface="Consolas"/>
              </a:rPr>
              <a:t>  }'</a:t>
            </a:r>
          </a:p>
        </p:txBody>
      </p:sp>
      <p:sp>
        <p:nvSpPr>
          <p:cNvPr id="9" name="Rounded Rectangle 8"/>
          <p:cNvSpPr/>
          <p:nvPr/>
        </p:nvSpPr>
        <p:spPr>
          <a:xfrm>
            <a:off x="18653760" y="5852160"/>
            <a:ext cx="16093440" cy="12435840"/>
          </a:xfrm>
          <a:prstGeom prst="roundRect">
            <a:avLst>
              <a:gd name="adj" fmla="val 4000"/>
            </a:avLst>
          </a:prstGeom>
          <a:solidFill>
            <a:srgbClr val="222222"/>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9385280" y="6510528"/>
            <a:ext cx="14630400" cy="1463040"/>
          </a:xfrm>
          <a:prstGeom prst="rect">
            <a:avLst/>
          </a:prstGeom>
          <a:noFill/>
        </p:spPr>
        <p:txBody>
          <a:bodyPr wrap="square" lIns="50000" tIns="20000" rIns="50000" bIns="20000" anchor="t">
            <a:spAutoFit/>
          </a:bodyPr>
          <a:lstStyle/>
          <a:p>
            <a:pPr algn="l"/>
            <a:r>
              <a:rPr sz="4800" b="1" i="0">
                <a:solidFill>
                  <a:srgbClr val="76B900"/>
                </a:solidFill>
                <a:latin typeface="NVIDIA Sans Medium"/>
              </a:rPr>
              <a:t>Python (openai client)</a:t>
            </a:r>
          </a:p>
        </p:txBody>
      </p:sp>
      <p:sp>
        <p:nvSpPr>
          <p:cNvPr id="11" name="TextBox 10"/>
          <p:cNvSpPr txBox="1"/>
          <p:nvPr/>
        </p:nvSpPr>
        <p:spPr>
          <a:xfrm>
            <a:off x="19385280" y="8229600"/>
            <a:ext cx="14630400" cy="9509760"/>
          </a:xfrm>
          <a:prstGeom prst="rect">
            <a:avLst/>
          </a:prstGeom>
          <a:noFill/>
        </p:spPr>
        <p:txBody>
          <a:bodyPr wrap="square" lIns="50000" tIns="20000" rIns="50000" bIns="20000" anchor="t">
            <a:spAutoFit/>
          </a:bodyPr>
          <a:lstStyle/>
          <a:p>
            <a:pPr algn="l"/>
            <a:r>
              <a:rPr sz="3600" b="0" i="0">
                <a:solidFill>
                  <a:srgbClr val="C8DDB0"/>
                </a:solidFill>
                <a:latin typeface="Consolas"/>
              </a:rPr>
              <a:t>from openai import OpenAI</a:t>
            </a:r>
          </a:p>
          <a:p>
            <a:pPr algn="l"/>
            <a:endParaRPr sz="3600" b="0" i="0">
              <a:solidFill>
                <a:srgbClr val="C8DDB0"/>
              </a:solidFill>
              <a:latin typeface="Consolas"/>
            </a:endParaRPr>
          </a:p>
          <a:p>
            <a:pPr algn="l"/>
            <a:r>
              <a:rPr sz="3600" b="0" i="0">
                <a:solidFill>
                  <a:srgbClr val="C8DDB0"/>
                </a:solidFill>
                <a:latin typeface="Consolas"/>
              </a:rPr>
              <a:t>client = OpenAI(</a:t>
            </a:r>
          </a:p>
          <a:p>
            <a:pPr algn="l"/>
            <a:r>
              <a:rPr sz="3600" b="0" i="0">
                <a:solidFill>
                  <a:srgbClr val="C8DDB0"/>
                </a:solidFill>
                <a:latin typeface="Consolas"/>
              </a:rPr>
              <a:t>    base_url="http://localhost:8088/v1",</a:t>
            </a:r>
          </a:p>
          <a:p>
            <a:pPr algn="l"/>
            <a:r>
              <a:rPr sz="3600" b="0" i="0">
                <a:solidFill>
                  <a:srgbClr val="C8DDB0"/>
                </a:solidFill>
                <a:latin typeface="Consolas"/>
              </a:rPr>
              <a:t>    api_key="not-needed",</a:t>
            </a:r>
          </a:p>
          <a:p>
            <a:pPr algn="l"/>
            <a:r>
              <a:rPr sz="3600" b="0" i="0">
                <a:solidFill>
                  <a:srgbClr val="C8DDB0"/>
                </a:solidFill>
                <a:latin typeface="Consolas"/>
              </a:rPr>
              <a:t>)</a:t>
            </a:r>
          </a:p>
          <a:p>
            <a:pPr algn="l"/>
            <a:endParaRPr sz="3600" b="0" i="0">
              <a:solidFill>
                <a:srgbClr val="C8DDB0"/>
              </a:solidFill>
              <a:latin typeface="Consolas"/>
            </a:endParaRPr>
          </a:p>
          <a:p>
            <a:pPr algn="l"/>
            <a:r>
              <a:rPr sz="3600" b="0" i="0">
                <a:solidFill>
                  <a:srgbClr val="C8DDB0"/>
                </a:solidFill>
                <a:latin typeface="Consolas"/>
              </a:rPr>
              <a:t>resp = client.chat.completions.create(</a:t>
            </a:r>
          </a:p>
          <a:p>
            <a:pPr algn="l"/>
            <a:r>
              <a:rPr sz="3600" b="0" i="0">
                <a:solidFill>
                  <a:srgbClr val="C8DDB0"/>
                </a:solidFill>
                <a:latin typeface="Consolas"/>
              </a:rPr>
              <a:t>    model="aml-custom-task-nim",</a:t>
            </a:r>
          </a:p>
          <a:p>
            <a:pPr algn="l"/>
            <a:r>
              <a:rPr sz="3600" b="0" i="0">
                <a:solidFill>
                  <a:srgbClr val="C8DDB0"/>
                </a:solidFill>
                <a:latin typeface="Consolas"/>
              </a:rPr>
              <a:t>    messages=[...],</a:t>
            </a:r>
          </a:p>
          <a:p>
            <a:pPr algn="l"/>
            <a:r>
              <a:rPr sz="3600" b="0" i="0">
                <a:solidFill>
                  <a:srgbClr val="C8DDB0"/>
                </a:solidFill>
                <a:latin typeface="Consolas"/>
              </a:rPr>
              <a:t>    temperature=0,</a:t>
            </a:r>
          </a:p>
          <a:p>
            <a:pPr algn="l"/>
            <a:r>
              <a:rPr sz="3600" b="0" i="0">
                <a:solidFill>
                  <a:srgbClr val="C8DDB0"/>
                </a:solidFill>
                <a:latin typeface="Consolas"/>
              </a:rPr>
              <a:t>)</a:t>
            </a:r>
          </a:p>
          <a:p>
            <a:pPr algn="l"/>
            <a:r>
              <a:rPr sz="3600" b="0" i="0">
                <a:solidFill>
                  <a:srgbClr val="C8DDB0"/>
                </a:solidFill>
                <a:latin typeface="Consolas"/>
              </a:rPr>
              <a:t>print(resp.choices[0].message.content)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31C4FEA-C1D1-F718-566F-604E994652FB}"/>
              </a:ext>
            </a:extLst>
          </p:cNvPr>
          <p:cNvGrpSpPr/>
          <p:nvPr/>
        </p:nvGrpSpPr>
        <p:grpSpPr>
          <a:xfrm>
            <a:off x="878958" y="5120892"/>
            <a:ext cx="34861320" cy="12716837"/>
            <a:chOff x="373211" y="4553724"/>
            <a:chExt cx="36416127" cy="13284005"/>
          </a:xfrm>
        </p:grpSpPr>
        <p:sp>
          <p:nvSpPr>
            <p:cNvPr id="15" name="Rectangle: Rounded Corners 14">
              <a:extLst>
                <a:ext uri="{FF2B5EF4-FFF2-40B4-BE49-F238E27FC236}">
                  <a16:creationId xmlns:a16="http://schemas.microsoft.com/office/drawing/2014/main" id="{15B53A66-FC8E-209C-1F87-948EE4BCD4EF}"/>
                </a:ext>
              </a:extLst>
            </p:cNvPr>
            <p:cNvSpPr/>
            <p:nvPr/>
          </p:nvSpPr>
          <p:spPr>
            <a:xfrm>
              <a:off x="18609644" y="11503864"/>
              <a:ext cx="11011186" cy="6333865"/>
            </a:xfrm>
            <a:prstGeom prst="roundRect">
              <a:avLst>
                <a:gd name="adj" fmla="val 4908"/>
              </a:avLst>
            </a:prstGeom>
            <a:noFill/>
            <a:ln w="12700">
              <a:solidFill>
                <a:schemeClr val="tx2"/>
              </a:solidFill>
            </a:ln>
            <a:scene3d>
              <a:camera prst="orthographicFront"/>
              <a:lightRig rig="soft" dir="t">
                <a:rot lat="0" lon="0" rev="20400000"/>
              </a:lightRig>
            </a:scene3d>
            <a:sp3d prstMaterial="plastic"/>
          </p:spPr>
          <p:style>
            <a:lnRef idx="2">
              <a:schemeClr val="accent1">
                <a:shade val="50000"/>
              </a:schemeClr>
            </a:lnRef>
            <a:fillRef idx="1">
              <a:schemeClr val="accent1"/>
            </a:fillRef>
            <a:effectRef idx="0">
              <a:schemeClr val="accent1"/>
            </a:effectRef>
            <a:fontRef idx="minor">
              <a:schemeClr val="lt1"/>
            </a:fontRef>
          </p:style>
          <p:txBody>
            <a:bodyPr tIns="731520" bIns="45720" rtlCol="0" anchor="ctr"/>
            <a:lstStyle/>
            <a:p>
              <a:pPr algn="ctr"/>
              <a:endParaRPr lang="en-US" sz="3600">
                <a:solidFill>
                  <a:schemeClr val="bg1">
                    <a:lumMod val="85000"/>
                    <a:lumOff val="15000"/>
                  </a:schemeClr>
                </a:solidFill>
              </a:endParaRPr>
            </a:p>
          </p:txBody>
        </p:sp>
        <p:sp>
          <p:nvSpPr>
            <p:cNvPr id="29" name="Rectangle: Rounded Corners 28">
              <a:extLst>
                <a:ext uri="{FF2B5EF4-FFF2-40B4-BE49-F238E27FC236}">
                  <a16:creationId xmlns:a16="http://schemas.microsoft.com/office/drawing/2014/main" id="{DCCE48DF-5475-0721-673F-4DE2F98D8750}"/>
                </a:ext>
              </a:extLst>
            </p:cNvPr>
            <p:cNvSpPr/>
            <p:nvPr/>
          </p:nvSpPr>
          <p:spPr>
            <a:xfrm>
              <a:off x="373211" y="4553724"/>
              <a:ext cx="8531969" cy="13254232"/>
            </a:xfrm>
            <a:prstGeom prst="roundRect">
              <a:avLst>
                <a:gd name="adj" fmla="val 4298"/>
              </a:avLst>
            </a:prstGeom>
            <a:noFill/>
            <a:ln w="12700">
              <a:solidFill>
                <a:schemeClr val="tx2"/>
              </a:solidFill>
            </a:ln>
            <a:scene3d>
              <a:camera prst="orthographicFront"/>
              <a:lightRig rig="soft" dir="t">
                <a:rot lat="0" lon="0" rev="20400000"/>
              </a:lightRig>
            </a:scene3d>
            <a:sp3d prstMaterial="plastic"/>
          </p:spPr>
          <p:style>
            <a:lnRef idx="2">
              <a:schemeClr val="accent1">
                <a:shade val="50000"/>
              </a:schemeClr>
            </a:lnRef>
            <a:fillRef idx="1">
              <a:schemeClr val="accent1"/>
            </a:fillRef>
            <a:effectRef idx="0">
              <a:schemeClr val="accent1"/>
            </a:effectRef>
            <a:fontRef idx="minor">
              <a:schemeClr val="lt1"/>
            </a:fontRef>
          </p:style>
          <p:txBody>
            <a:bodyPr tIns="731520" bIns="45720" rtlCol="0" anchor="ctr"/>
            <a:lstStyle/>
            <a:p>
              <a:pPr algn="ctr"/>
              <a:endParaRPr lang="en-US" sz="3600">
                <a:solidFill>
                  <a:schemeClr val="bg1">
                    <a:lumMod val="85000"/>
                    <a:lumOff val="15000"/>
                  </a:schemeClr>
                </a:solidFill>
              </a:endParaRPr>
            </a:p>
          </p:txBody>
        </p:sp>
        <p:sp>
          <p:nvSpPr>
            <p:cNvPr id="34" name="TextBox 33">
              <a:extLst>
                <a:ext uri="{FF2B5EF4-FFF2-40B4-BE49-F238E27FC236}">
                  <a16:creationId xmlns:a16="http://schemas.microsoft.com/office/drawing/2014/main" id="{DA9EDB39-7634-2FDD-A356-8713534622AA}"/>
                </a:ext>
              </a:extLst>
            </p:cNvPr>
            <p:cNvSpPr txBox="1"/>
            <p:nvPr/>
          </p:nvSpPr>
          <p:spPr>
            <a:xfrm>
              <a:off x="1404487" y="5000460"/>
              <a:ext cx="6469416" cy="1323439"/>
            </a:xfrm>
            <a:prstGeom prst="rect">
              <a:avLst/>
            </a:prstGeom>
            <a:noFill/>
          </p:spPr>
          <p:txBody>
            <a:bodyPr wrap="square" lIns="91440" tIns="45720" rIns="91440" bIns="45720" rtlCol="0" anchor="t">
              <a:spAutoFit/>
            </a:bodyPr>
            <a:lstStyle/>
            <a:p>
              <a:pPr algn="ctr"/>
              <a:r>
                <a:rPr lang="en-US" sz="4000">
                  <a:solidFill>
                    <a:schemeClr val="bg1">
                      <a:lumMod val="85000"/>
                      <a:lumOff val="15000"/>
                    </a:schemeClr>
                  </a:solidFill>
                </a:rPr>
                <a:t>LANGUAGE </a:t>
              </a:r>
              <a:br>
                <a:rPr lang="en-US" sz="4000"/>
              </a:br>
              <a:r>
                <a:rPr lang="en-US" sz="4000">
                  <a:solidFill>
                    <a:schemeClr val="bg1">
                      <a:lumMod val="85000"/>
                      <a:lumOff val="15000"/>
                    </a:schemeClr>
                  </a:solidFill>
                </a:rPr>
                <a:t>NIMs</a:t>
              </a:r>
              <a:endParaRPr lang="en-US" sz="4000">
                <a:solidFill>
                  <a:schemeClr val="bg1">
                    <a:lumMod val="85000"/>
                    <a:lumOff val="15000"/>
                  </a:schemeClr>
                </a:solidFill>
                <a:cs typeface="NVIDIA Sans"/>
              </a:endParaRPr>
            </a:p>
          </p:txBody>
        </p:sp>
        <p:sp>
          <p:nvSpPr>
            <p:cNvPr id="35" name="TextBox 34">
              <a:extLst>
                <a:ext uri="{FF2B5EF4-FFF2-40B4-BE49-F238E27FC236}">
                  <a16:creationId xmlns:a16="http://schemas.microsoft.com/office/drawing/2014/main" id="{761EBE21-F2AD-C6DE-DB12-368A99A5E137}"/>
                </a:ext>
              </a:extLst>
            </p:cNvPr>
            <p:cNvSpPr txBox="1"/>
            <p:nvPr/>
          </p:nvSpPr>
          <p:spPr>
            <a:xfrm>
              <a:off x="2739489" y="12566726"/>
              <a:ext cx="3705744" cy="1077218"/>
            </a:xfrm>
            <a:prstGeom prst="rect">
              <a:avLst/>
            </a:prstGeom>
            <a:noFill/>
          </p:spPr>
          <p:txBody>
            <a:bodyPr wrap="square" rtlCol="0">
              <a:spAutoFit/>
            </a:bodyPr>
            <a:lstStyle/>
            <a:p>
              <a:pPr algn="ctr"/>
              <a:r>
                <a:rPr lang="en-US" sz="3200">
                  <a:solidFill>
                    <a:schemeClr val="bg1">
                      <a:lumMod val="85000"/>
                      <a:lumOff val="15000"/>
                    </a:schemeClr>
                  </a:solidFill>
                </a:rPr>
                <a:t>Code Llama</a:t>
              </a:r>
              <a:br>
                <a:rPr lang="en-US" sz="3200">
                  <a:solidFill>
                    <a:schemeClr val="bg1">
                      <a:lumMod val="85000"/>
                      <a:lumOff val="15000"/>
                    </a:schemeClr>
                  </a:solidFill>
                </a:rPr>
              </a:br>
              <a:r>
                <a:rPr lang="en-US" sz="3200">
                  <a:solidFill>
                    <a:schemeClr val="bg1">
                      <a:lumMod val="85000"/>
                      <a:lumOff val="15000"/>
                    </a:schemeClr>
                  </a:solidFill>
                </a:rPr>
                <a:t>70B</a:t>
              </a:r>
            </a:p>
          </p:txBody>
        </p:sp>
        <p:sp>
          <p:nvSpPr>
            <p:cNvPr id="36" name="TextBox 35">
              <a:extLst>
                <a:ext uri="{FF2B5EF4-FFF2-40B4-BE49-F238E27FC236}">
                  <a16:creationId xmlns:a16="http://schemas.microsoft.com/office/drawing/2014/main" id="{2E406355-AF23-6A05-D6D2-5D999C4D97AE}"/>
                </a:ext>
              </a:extLst>
            </p:cNvPr>
            <p:cNvSpPr txBox="1"/>
            <p:nvPr/>
          </p:nvSpPr>
          <p:spPr>
            <a:xfrm>
              <a:off x="2791048" y="16366510"/>
              <a:ext cx="3705744" cy="1077218"/>
            </a:xfrm>
            <a:prstGeom prst="rect">
              <a:avLst/>
            </a:prstGeom>
            <a:noFill/>
          </p:spPr>
          <p:txBody>
            <a:bodyPr wrap="square" rtlCol="0">
              <a:spAutoFit/>
            </a:bodyPr>
            <a:lstStyle/>
            <a:p>
              <a:pPr algn="ctr"/>
              <a:r>
                <a:rPr lang="en-US" sz="3200">
                  <a:solidFill>
                    <a:schemeClr val="bg1">
                      <a:lumMod val="85000"/>
                      <a:lumOff val="15000"/>
                    </a:schemeClr>
                  </a:solidFill>
                </a:rPr>
                <a:t>Nemotron-3</a:t>
              </a:r>
            </a:p>
            <a:p>
              <a:pPr algn="ctr"/>
              <a:r>
                <a:rPr lang="en-US" sz="3200">
                  <a:solidFill>
                    <a:schemeClr val="bg1">
                      <a:lumMod val="85000"/>
                      <a:lumOff val="15000"/>
                    </a:schemeClr>
                  </a:solidFill>
                </a:rPr>
                <a:t>22B Persona</a:t>
              </a:r>
            </a:p>
          </p:txBody>
        </p:sp>
        <p:sp>
          <p:nvSpPr>
            <p:cNvPr id="39" name="TextBox 38">
              <a:extLst>
                <a:ext uri="{FF2B5EF4-FFF2-40B4-BE49-F238E27FC236}">
                  <a16:creationId xmlns:a16="http://schemas.microsoft.com/office/drawing/2014/main" id="{A1F648C7-13F1-9174-907C-64FE76DF5A6E}"/>
                </a:ext>
              </a:extLst>
            </p:cNvPr>
            <p:cNvSpPr txBox="1"/>
            <p:nvPr/>
          </p:nvSpPr>
          <p:spPr>
            <a:xfrm>
              <a:off x="5716073" y="8732624"/>
              <a:ext cx="2750918" cy="1077218"/>
            </a:xfrm>
            <a:prstGeom prst="rect">
              <a:avLst/>
            </a:prstGeom>
            <a:noFill/>
          </p:spPr>
          <p:txBody>
            <a:bodyPr wrap="square" rtlCol="0">
              <a:spAutoFit/>
            </a:bodyPr>
            <a:lstStyle/>
            <a:p>
              <a:pPr algn="ctr"/>
              <a:r>
                <a:rPr lang="en-US" sz="3200">
                  <a:solidFill>
                    <a:schemeClr val="bg1">
                      <a:lumMod val="85000"/>
                      <a:lumOff val="15000"/>
                    </a:schemeClr>
                  </a:solidFill>
                </a:rPr>
                <a:t>Gemma </a:t>
              </a:r>
              <a:br>
                <a:rPr lang="en-US" sz="3200">
                  <a:solidFill>
                    <a:schemeClr val="bg1">
                      <a:lumMod val="85000"/>
                      <a:lumOff val="15000"/>
                    </a:schemeClr>
                  </a:solidFill>
                </a:rPr>
              </a:br>
              <a:r>
                <a:rPr lang="en-US" sz="3200">
                  <a:solidFill>
                    <a:schemeClr val="bg1">
                      <a:lumMod val="85000"/>
                      <a:lumOff val="15000"/>
                    </a:schemeClr>
                  </a:solidFill>
                </a:rPr>
                <a:t>7B</a:t>
              </a:r>
            </a:p>
          </p:txBody>
        </p:sp>
        <p:sp>
          <p:nvSpPr>
            <p:cNvPr id="40" name="TextBox 39">
              <a:extLst>
                <a:ext uri="{FF2B5EF4-FFF2-40B4-BE49-F238E27FC236}">
                  <a16:creationId xmlns:a16="http://schemas.microsoft.com/office/drawing/2014/main" id="{A56A26C7-7FD7-C124-0ADD-EC3E9AD8BAF3}"/>
                </a:ext>
              </a:extLst>
            </p:cNvPr>
            <p:cNvSpPr txBox="1"/>
            <p:nvPr/>
          </p:nvSpPr>
          <p:spPr>
            <a:xfrm>
              <a:off x="482875" y="8686861"/>
              <a:ext cx="3064596" cy="1125262"/>
            </a:xfrm>
            <a:prstGeom prst="rect">
              <a:avLst/>
            </a:prstGeom>
            <a:noFill/>
          </p:spPr>
          <p:txBody>
            <a:bodyPr wrap="square" lIns="91440" tIns="45720" rIns="91440" bIns="45720" rtlCol="0" anchor="t">
              <a:spAutoFit/>
            </a:bodyPr>
            <a:lstStyle/>
            <a:p>
              <a:pPr algn="ctr"/>
              <a:r>
                <a:rPr lang="en-US" sz="3200">
                  <a:solidFill>
                    <a:schemeClr val="bg1">
                      <a:lumMod val="85000"/>
                      <a:lumOff val="15000"/>
                    </a:schemeClr>
                  </a:solidFill>
                </a:rPr>
                <a:t>Llama 3.1 family </a:t>
              </a:r>
            </a:p>
          </p:txBody>
        </p:sp>
        <p:sp>
          <p:nvSpPr>
            <p:cNvPr id="43" name="TextBox 42">
              <a:extLst>
                <a:ext uri="{FF2B5EF4-FFF2-40B4-BE49-F238E27FC236}">
                  <a16:creationId xmlns:a16="http://schemas.microsoft.com/office/drawing/2014/main" id="{4825543E-BB1E-7B24-B459-E1F885D374D9}"/>
                </a:ext>
              </a:extLst>
            </p:cNvPr>
            <p:cNvSpPr txBox="1"/>
            <p:nvPr/>
          </p:nvSpPr>
          <p:spPr>
            <a:xfrm>
              <a:off x="6175345" y="12557840"/>
              <a:ext cx="1885024" cy="1077218"/>
            </a:xfrm>
            <a:prstGeom prst="rect">
              <a:avLst/>
            </a:prstGeom>
            <a:noFill/>
          </p:spPr>
          <p:txBody>
            <a:bodyPr wrap="square" rtlCol="0">
              <a:spAutoFit/>
            </a:bodyPr>
            <a:lstStyle/>
            <a:p>
              <a:pPr algn="ctr"/>
              <a:r>
                <a:rPr lang="en-US" sz="3200">
                  <a:solidFill>
                    <a:schemeClr val="bg1">
                      <a:lumMod val="85000"/>
                      <a:lumOff val="15000"/>
                    </a:schemeClr>
                  </a:solidFill>
                </a:rPr>
                <a:t>Mistral </a:t>
              </a:r>
              <a:br>
                <a:rPr lang="en-US" sz="3200">
                  <a:solidFill>
                    <a:schemeClr val="bg1">
                      <a:lumMod val="85000"/>
                      <a:lumOff val="15000"/>
                    </a:schemeClr>
                  </a:solidFill>
                </a:rPr>
              </a:br>
              <a:r>
                <a:rPr lang="en-US" sz="3200">
                  <a:solidFill>
                    <a:schemeClr val="bg1">
                      <a:lumMod val="85000"/>
                      <a:lumOff val="15000"/>
                    </a:schemeClr>
                  </a:solidFill>
                </a:rPr>
                <a:t>7B</a:t>
              </a:r>
            </a:p>
          </p:txBody>
        </p:sp>
        <p:sp>
          <p:nvSpPr>
            <p:cNvPr id="46" name="TextBox 45">
              <a:extLst>
                <a:ext uri="{FF2B5EF4-FFF2-40B4-BE49-F238E27FC236}">
                  <a16:creationId xmlns:a16="http://schemas.microsoft.com/office/drawing/2014/main" id="{13E6D3A8-FEE2-CC5E-8D3D-7AB31292961D}"/>
                </a:ext>
              </a:extLst>
            </p:cNvPr>
            <p:cNvSpPr txBox="1"/>
            <p:nvPr/>
          </p:nvSpPr>
          <p:spPr>
            <a:xfrm>
              <a:off x="995270" y="16435850"/>
              <a:ext cx="2198438" cy="1077218"/>
            </a:xfrm>
            <a:prstGeom prst="rect">
              <a:avLst/>
            </a:prstGeom>
            <a:noFill/>
          </p:spPr>
          <p:txBody>
            <a:bodyPr wrap="square" rtlCol="0">
              <a:spAutoFit/>
            </a:bodyPr>
            <a:lstStyle/>
            <a:p>
              <a:pPr algn="ctr"/>
              <a:r>
                <a:rPr lang="en-US" sz="3200">
                  <a:solidFill>
                    <a:schemeClr val="bg1">
                      <a:lumMod val="85000"/>
                      <a:lumOff val="15000"/>
                    </a:schemeClr>
                  </a:solidFill>
                </a:rPr>
                <a:t>Mixtral </a:t>
              </a:r>
              <a:br>
                <a:rPr lang="en-US" sz="3200">
                  <a:solidFill>
                    <a:schemeClr val="bg1">
                      <a:lumMod val="85000"/>
                      <a:lumOff val="15000"/>
                    </a:schemeClr>
                  </a:solidFill>
                </a:rPr>
              </a:br>
              <a:r>
                <a:rPr lang="en-US" sz="3200">
                  <a:solidFill>
                    <a:schemeClr val="bg1">
                      <a:lumMod val="85000"/>
                      <a:lumOff val="15000"/>
                    </a:schemeClr>
                  </a:solidFill>
                </a:rPr>
                <a:t>8x7B</a:t>
              </a:r>
            </a:p>
          </p:txBody>
        </p:sp>
        <p:sp>
          <p:nvSpPr>
            <p:cNvPr id="58" name="Rectangle: Rounded Corners 57">
              <a:extLst>
                <a:ext uri="{FF2B5EF4-FFF2-40B4-BE49-F238E27FC236}">
                  <a16:creationId xmlns:a16="http://schemas.microsoft.com/office/drawing/2014/main" id="{C6E86FC2-F61A-94DF-90DD-F425BCE7F6A1}"/>
                </a:ext>
              </a:extLst>
            </p:cNvPr>
            <p:cNvSpPr/>
            <p:nvPr/>
          </p:nvSpPr>
          <p:spPr>
            <a:xfrm>
              <a:off x="9491427" y="4553724"/>
              <a:ext cx="8531969" cy="13254232"/>
            </a:xfrm>
            <a:prstGeom prst="roundRect">
              <a:avLst>
                <a:gd name="adj" fmla="val 4618"/>
              </a:avLst>
            </a:prstGeom>
            <a:noFill/>
            <a:ln w="12700">
              <a:solidFill>
                <a:schemeClr val="tx2"/>
              </a:solidFill>
            </a:ln>
            <a:scene3d>
              <a:camera prst="orthographicFront"/>
              <a:lightRig rig="soft" dir="t">
                <a:rot lat="0" lon="0" rev="20400000"/>
              </a:lightRig>
            </a:scene3d>
            <a:sp3d prstMaterial="plastic"/>
          </p:spPr>
          <p:style>
            <a:lnRef idx="2">
              <a:schemeClr val="accent1">
                <a:shade val="50000"/>
              </a:schemeClr>
            </a:lnRef>
            <a:fillRef idx="1">
              <a:schemeClr val="accent1"/>
            </a:fillRef>
            <a:effectRef idx="0">
              <a:schemeClr val="accent1"/>
            </a:effectRef>
            <a:fontRef idx="minor">
              <a:schemeClr val="lt1"/>
            </a:fontRef>
          </p:style>
          <p:txBody>
            <a:bodyPr tIns="731520" bIns="45720" rtlCol="0" anchor="ctr"/>
            <a:lstStyle/>
            <a:p>
              <a:pPr algn="ctr"/>
              <a:endParaRPr lang="en-US" sz="3600">
                <a:solidFill>
                  <a:schemeClr val="bg1">
                    <a:lumMod val="85000"/>
                    <a:lumOff val="15000"/>
                  </a:schemeClr>
                </a:solidFill>
              </a:endParaRPr>
            </a:p>
          </p:txBody>
        </p:sp>
        <p:sp>
          <p:nvSpPr>
            <p:cNvPr id="59" name="TextBox 58">
              <a:extLst>
                <a:ext uri="{FF2B5EF4-FFF2-40B4-BE49-F238E27FC236}">
                  <a16:creationId xmlns:a16="http://schemas.microsoft.com/office/drawing/2014/main" id="{DAAF1CE2-11E6-0725-16DA-F0F09B448D6F}"/>
                </a:ext>
              </a:extLst>
            </p:cNvPr>
            <p:cNvSpPr txBox="1"/>
            <p:nvPr/>
          </p:nvSpPr>
          <p:spPr>
            <a:xfrm>
              <a:off x="9768612" y="5000460"/>
              <a:ext cx="7977599" cy="1323439"/>
            </a:xfrm>
            <a:prstGeom prst="rect">
              <a:avLst/>
            </a:prstGeom>
            <a:noFill/>
          </p:spPr>
          <p:txBody>
            <a:bodyPr wrap="square" rtlCol="0">
              <a:spAutoFit/>
            </a:bodyPr>
            <a:lstStyle/>
            <a:p>
              <a:pPr algn="ctr"/>
              <a:r>
                <a:rPr lang="en-US" sz="4000">
                  <a:solidFill>
                    <a:schemeClr val="bg1">
                      <a:lumMod val="85000"/>
                      <a:lumOff val="15000"/>
                    </a:schemeClr>
                  </a:solidFill>
                </a:rPr>
                <a:t>VISUAL / MULTIMODAL </a:t>
              </a:r>
              <a:br>
                <a:rPr lang="en-US" sz="4000">
                  <a:solidFill>
                    <a:schemeClr val="bg1">
                      <a:lumMod val="85000"/>
                      <a:lumOff val="15000"/>
                    </a:schemeClr>
                  </a:solidFill>
                </a:rPr>
              </a:br>
              <a:r>
                <a:rPr lang="en-US" sz="4000">
                  <a:solidFill>
                    <a:schemeClr val="bg1">
                      <a:lumMod val="85000"/>
                      <a:lumOff val="15000"/>
                    </a:schemeClr>
                  </a:solidFill>
                </a:rPr>
                <a:t>NIMs</a:t>
              </a:r>
            </a:p>
          </p:txBody>
        </p:sp>
        <p:sp>
          <p:nvSpPr>
            <p:cNvPr id="60" name="TextBox 59">
              <a:extLst>
                <a:ext uri="{FF2B5EF4-FFF2-40B4-BE49-F238E27FC236}">
                  <a16:creationId xmlns:a16="http://schemas.microsoft.com/office/drawing/2014/main" id="{0422812D-73CC-B910-71B5-2ED834FB1D13}"/>
                </a:ext>
              </a:extLst>
            </p:cNvPr>
            <p:cNvSpPr txBox="1"/>
            <p:nvPr/>
          </p:nvSpPr>
          <p:spPr>
            <a:xfrm>
              <a:off x="12816995" y="8720164"/>
              <a:ext cx="1938117" cy="584775"/>
            </a:xfrm>
            <a:prstGeom prst="rect">
              <a:avLst/>
            </a:prstGeom>
            <a:noFill/>
          </p:spPr>
          <p:txBody>
            <a:bodyPr wrap="square" rtlCol="0">
              <a:spAutoFit/>
            </a:bodyPr>
            <a:lstStyle/>
            <a:p>
              <a:pPr algn="ctr"/>
              <a:r>
                <a:rPr lang="en-US" sz="3200">
                  <a:solidFill>
                    <a:schemeClr val="bg1">
                      <a:lumMod val="85000"/>
                      <a:lumOff val="15000"/>
                    </a:schemeClr>
                  </a:solidFill>
                </a:rPr>
                <a:t>Deplot</a:t>
              </a:r>
            </a:p>
          </p:txBody>
        </p:sp>
        <p:sp>
          <p:nvSpPr>
            <p:cNvPr id="61" name="TextBox 60">
              <a:extLst>
                <a:ext uri="{FF2B5EF4-FFF2-40B4-BE49-F238E27FC236}">
                  <a16:creationId xmlns:a16="http://schemas.microsoft.com/office/drawing/2014/main" id="{B6113954-4955-9BBE-A893-94998D3C3ECD}"/>
                </a:ext>
              </a:extLst>
            </p:cNvPr>
            <p:cNvSpPr txBox="1"/>
            <p:nvPr/>
          </p:nvSpPr>
          <p:spPr>
            <a:xfrm>
              <a:off x="15253513" y="8720164"/>
              <a:ext cx="1938117" cy="1077218"/>
            </a:xfrm>
            <a:prstGeom prst="rect">
              <a:avLst/>
            </a:prstGeom>
            <a:noFill/>
          </p:spPr>
          <p:txBody>
            <a:bodyPr wrap="square" rtlCol="0">
              <a:spAutoFit/>
            </a:bodyPr>
            <a:lstStyle/>
            <a:p>
              <a:pPr algn="ctr"/>
              <a:r>
                <a:rPr lang="en-US" sz="3200">
                  <a:solidFill>
                    <a:schemeClr val="bg1">
                      <a:lumMod val="85000"/>
                      <a:lumOff val="15000"/>
                    </a:schemeClr>
                  </a:solidFill>
                </a:rPr>
                <a:t>Edify.</a:t>
              </a:r>
            </a:p>
            <a:p>
              <a:pPr algn="ctr"/>
              <a:r>
                <a:rPr lang="en-US" sz="3200">
                  <a:solidFill>
                    <a:schemeClr val="bg1">
                      <a:lumMod val="85000"/>
                      <a:lumOff val="15000"/>
                    </a:schemeClr>
                  </a:solidFill>
                </a:rPr>
                <a:t>Getty</a:t>
              </a:r>
            </a:p>
          </p:txBody>
        </p:sp>
        <p:sp>
          <p:nvSpPr>
            <p:cNvPr id="62" name="TextBox 61">
              <a:extLst>
                <a:ext uri="{FF2B5EF4-FFF2-40B4-BE49-F238E27FC236}">
                  <a16:creationId xmlns:a16="http://schemas.microsoft.com/office/drawing/2014/main" id="{B0BBAAC1-80D6-5809-56B9-FBFF7A9945E3}"/>
                </a:ext>
              </a:extLst>
            </p:cNvPr>
            <p:cNvSpPr txBox="1"/>
            <p:nvPr/>
          </p:nvSpPr>
          <p:spPr>
            <a:xfrm>
              <a:off x="9780777" y="12574941"/>
              <a:ext cx="3105547" cy="1077218"/>
            </a:xfrm>
            <a:prstGeom prst="rect">
              <a:avLst/>
            </a:prstGeom>
            <a:noFill/>
          </p:spPr>
          <p:txBody>
            <a:bodyPr wrap="square" rtlCol="0">
              <a:spAutoFit/>
            </a:bodyPr>
            <a:lstStyle/>
            <a:p>
              <a:pPr algn="ctr"/>
              <a:r>
                <a:rPr lang="en-US" sz="3200">
                  <a:solidFill>
                    <a:schemeClr val="bg1">
                      <a:lumMod val="85000"/>
                      <a:lumOff val="15000"/>
                    </a:schemeClr>
                  </a:solidFill>
                </a:rPr>
                <a:t>Edify.</a:t>
              </a:r>
            </a:p>
            <a:p>
              <a:pPr algn="ctr"/>
              <a:r>
                <a:rPr lang="en-US" sz="3200">
                  <a:solidFill>
                    <a:schemeClr val="bg1">
                      <a:lumMod val="85000"/>
                      <a:lumOff val="15000"/>
                    </a:schemeClr>
                  </a:solidFill>
                </a:rPr>
                <a:t>Shutterstock</a:t>
              </a:r>
            </a:p>
          </p:txBody>
        </p:sp>
        <p:sp>
          <p:nvSpPr>
            <p:cNvPr id="63" name="TextBox 62">
              <a:extLst>
                <a:ext uri="{FF2B5EF4-FFF2-40B4-BE49-F238E27FC236}">
                  <a16:creationId xmlns:a16="http://schemas.microsoft.com/office/drawing/2014/main" id="{92CD31BE-C8F2-C67E-C543-E5D775653C96}"/>
                </a:ext>
              </a:extLst>
            </p:cNvPr>
            <p:cNvSpPr txBox="1"/>
            <p:nvPr/>
          </p:nvSpPr>
          <p:spPr>
            <a:xfrm>
              <a:off x="12724129" y="12574941"/>
              <a:ext cx="2140196" cy="1077218"/>
            </a:xfrm>
            <a:prstGeom prst="rect">
              <a:avLst/>
            </a:prstGeom>
            <a:noFill/>
          </p:spPr>
          <p:txBody>
            <a:bodyPr wrap="square" rtlCol="0">
              <a:spAutoFit/>
            </a:bodyPr>
            <a:lstStyle/>
            <a:p>
              <a:pPr algn="ctr"/>
              <a:r>
                <a:rPr lang="en-US" sz="3200">
                  <a:solidFill>
                    <a:schemeClr val="bg1">
                      <a:lumMod val="85000"/>
                      <a:lumOff val="15000"/>
                    </a:schemeClr>
                  </a:solidFill>
                </a:rPr>
                <a:t>FuYu</a:t>
              </a:r>
            </a:p>
            <a:p>
              <a:pPr algn="ctr"/>
              <a:r>
                <a:rPr lang="en-US" sz="3200">
                  <a:solidFill>
                    <a:schemeClr val="bg1">
                      <a:lumMod val="85000"/>
                      <a:lumOff val="15000"/>
                    </a:schemeClr>
                  </a:solidFill>
                </a:rPr>
                <a:t>8B, 55B</a:t>
              </a:r>
            </a:p>
          </p:txBody>
        </p:sp>
        <p:sp>
          <p:nvSpPr>
            <p:cNvPr id="1344" name="TextBox 1343">
              <a:extLst>
                <a:ext uri="{FF2B5EF4-FFF2-40B4-BE49-F238E27FC236}">
                  <a16:creationId xmlns:a16="http://schemas.microsoft.com/office/drawing/2014/main" id="{60A6DC47-FD94-B99F-2BCE-9C82BC3EED1D}"/>
                </a:ext>
              </a:extLst>
            </p:cNvPr>
            <p:cNvSpPr txBox="1"/>
            <p:nvPr/>
          </p:nvSpPr>
          <p:spPr>
            <a:xfrm>
              <a:off x="15070805" y="12574941"/>
              <a:ext cx="2323871" cy="584775"/>
            </a:xfrm>
            <a:prstGeom prst="rect">
              <a:avLst/>
            </a:prstGeom>
            <a:noFill/>
          </p:spPr>
          <p:txBody>
            <a:bodyPr wrap="square" rtlCol="0">
              <a:spAutoFit/>
            </a:bodyPr>
            <a:lstStyle/>
            <a:p>
              <a:pPr algn="ctr"/>
              <a:r>
                <a:rPr lang="en-US" sz="3200">
                  <a:solidFill>
                    <a:schemeClr val="bg1">
                      <a:lumMod val="85000"/>
                      <a:lumOff val="15000"/>
                    </a:schemeClr>
                  </a:solidFill>
                </a:rPr>
                <a:t>Kosmos-2</a:t>
              </a:r>
            </a:p>
          </p:txBody>
        </p:sp>
        <p:sp>
          <p:nvSpPr>
            <p:cNvPr id="1345" name="TextBox 1344">
              <a:extLst>
                <a:ext uri="{FF2B5EF4-FFF2-40B4-BE49-F238E27FC236}">
                  <a16:creationId xmlns:a16="http://schemas.microsoft.com/office/drawing/2014/main" id="{8302E2DA-6E75-5D9D-913E-A508278B1E17}"/>
                </a:ext>
              </a:extLst>
            </p:cNvPr>
            <p:cNvSpPr txBox="1"/>
            <p:nvPr/>
          </p:nvSpPr>
          <p:spPr>
            <a:xfrm>
              <a:off x="10297067" y="16435850"/>
              <a:ext cx="1706375" cy="584775"/>
            </a:xfrm>
            <a:prstGeom prst="rect">
              <a:avLst/>
            </a:prstGeom>
            <a:noFill/>
          </p:spPr>
          <p:txBody>
            <a:bodyPr wrap="square" rtlCol="0">
              <a:spAutoFit/>
            </a:bodyPr>
            <a:lstStyle/>
            <a:p>
              <a:pPr algn="ctr"/>
              <a:r>
                <a:rPr lang="en-US" sz="3200">
                  <a:solidFill>
                    <a:schemeClr val="bg1">
                      <a:lumMod val="85000"/>
                      <a:lumOff val="15000"/>
                    </a:schemeClr>
                  </a:solidFill>
                </a:rPr>
                <a:t>NeVA</a:t>
              </a:r>
            </a:p>
          </p:txBody>
        </p:sp>
        <p:sp>
          <p:nvSpPr>
            <p:cNvPr id="1346" name="TextBox 1345">
              <a:extLst>
                <a:ext uri="{FF2B5EF4-FFF2-40B4-BE49-F238E27FC236}">
                  <a16:creationId xmlns:a16="http://schemas.microsoft.com/office/drawing/2014/main" id="{3BA73B0F-C6C2-4ABA-1150-94D79799A7D4}"/>
                </a:ext>
              </a:extLst>
            </p:cNvPr>
            <p:cNvSpPr txBox="1"/>
            <p:nvPr/>
          </p:nvSpPr>
          <p:spPr>
            <a:xfrm>
              <a:off x="12322834" y="16435850"/>
              <a:ext cx="2790789" cy="1077218"/>
            </a:xfrm>
            <a:prstGeom prst="rect">
              <a:avLst/>
            </a:prstGeom>
            <a:noFill/>
          </p:spPr>
          <p:txBody>
            <a:bodyPr wrap="square" rtlCol="0">
              <a:spAutoFit/>
            </a:bodyPr>
            <a:lstStyle/>
            <a:p>
              <a:pPr algn="ctr"/>
              <a:r>
                <a:rPr lang="en-US" sz="3200">
                  <a:solidFill>
                    <a:schemeClr val="bg1">
                      <a:lumMod val="85000"/>
                      <a:lumOff val="15000"/>
                    </a:schemeClr>
                  </a:solidFill>
                </a:rPr>
                <a:t>SDXL</a:t>
              </a:r>
            </a:p>
            <a:p>
              <a:pPr algn="ctr"/>
              <a:r>
                <a:rPr lang="en-US" sz="3200">
                  <a:solidFill>
                    <a:schemeClr val="bg1">
                      <a:lumMod val="85000"/>
                      <a:lumOff val="15000"/>
                    </a:schemeClr>
                  </a:solidFill>
                </a:rPr>
                <a:t>1.0</a:t>
              </a:r>
            </a:p>
          </p:txBody>
        </p:sp>
        <p:sp>
          <p:nvSpPr>
            <p:cNvPr id="1347" name="TextBox 1346">
              <a:extLst>
                <a:ext uri="{FF2B5EF4-FFF2-40B4-BE49-F238E27FC236}">
                  <a16:creationId xmlns:a16="http://schemas.microsoft.com/office/drawing/2014/main" id="{77F4F994-2098-9241-61DB-8C3866F23960}"/>
                </a:ext>
              </a:extLst>
            </p:cNvPr>
            <p:cNvSpPr txBox="1"/>
            <p:nvPr/>
          </p:nvSpPr>
          <p:spPr>
            <a:xfrm>
              <a:off x="15272874" y="16435850"/>
              <a:ext cx="1954108" cy="1077218"/>
            </a:xfrm>
            <a:prstGeom prst="rect">
              <a:avLst/>
            </a:prstGeom>
            <a:noFill/>
          </p:spPr>
          <p:txBody>
            <a:bodyPr wrap="square" rtlCol="0">
              <a:spAutoFit/>
            </a:bodyPr>
            <a:lstStyle/>
            <a:p>
              <a:pPr algn="ctr"/>
              <a:r>
                <a:rPr lang="en-US" sz="3200">
                  <a:solidFill>
                    <a:schemeClr val="bg1">
                      <a:lumMod val="85000"/>
                      <a:lumOff val="15000"/>
                    </a:schemeClr>
                  </a:solidFill>
                </a:rPr>
                <a:t>SDXL</a:t>
              </a:r>
            </a:p>
            <a:p>
              <a:pPr algn="ctr"/>
              <a:r>
                <a:rPr lang="en-US" sz="3200">
                  <a:solidFill>
                    <a:schemeClr val="bg1">
                      <a:lumMod val="85000"/>
                      <a:lumOff val="15000"/>
                    </a:schemeClr>
                  </a:solidFill>
                </a:rPr>
                <a:t>Turbo</a:t>
              </a:r>
            </a:p>
          </p:txBody>
        </p:sp>
        <p:sp>
          <p:nvSpPr>
            <p:cNvPr id="1364" name="Rectangle: Rounded Corners 1363">
              <a:extLst>
                <a:ext uri="{FF2B5EF4-FFF2-40B4-BE49-F238E27FC236}">
                  <a16:creationId xmlns:a16="http://schemas.microsoft.com/office/drawing/2014/main" id="{DAECF549-758A-CEB4-0C4C-E434FFB9D20C}"/>
                </a:ext>
              </a:extLst>
            </p:cNvPr>
            <p:cNvSpPr/>
            <p:nvPr/>
          </p:nvSpPr>
          <p:spPr>
            <a:xfrm>
              <a:off x="18609642" y="4557266"/>
              <a:ext cx="5203355" cy="6393098"/>
            </a:xfrm>
            <a:prstGeom prst="roundRect">
              <a:avLst>
                <a:gd name="adj" fmla="val 7498"/>
              </a:avLst>
            </a:prstGeom>
            <a:noFill/>
            <a:ln w="12700">
              <a:solidFill>
                <a:schemeClr val="tx2"/>
              </a:solidFill>
            </a:ln>
            <a:scene3d>
              <a:camera prst="orthographicFront"/>
              <a:lightRig rig="soft" dir="t">
                <a:rot lat="0" lon="0" rev="20400000"/>
              </a:lightRig>
            </a:scene3d>
            <a:sp3d prstMaterial="plastic"/>
          </p:spPr>
          <p:style>
            <a:lnRef idx="2">
              <a:schemeClr val="accent1">
                <a:shade val="50000"/>
              </a:schemeClr>
            </a:lnRef>
            <a:fillRef idx="1">
              <a:schemeClr val="accent1"/>
            </a:fillRef>
            <a:effectRef idx="0">
              <a:schemeClr val="accent1"/>
            </a:effectRef>
            <a:fontRef idx="minor">
              <a:schemeClr val="lt1"/>
            </a:fontRef>
          </p:style>
          <p:txBody>
            <a:bodyPr tIns="731520" bIns="45720" rtlCol="0" anchor="ctr"/>
            <a:lstStyle/>
            <a:p>
              <a:pPr algn="ctr"/>
              <a:endParaRPr lang="en-US" sz="3600">
                <a:solidFill>
                  <a:schemeClr val="bg1">
                    <a:lumMod val="85000"/>
                    <a:lumOff val="15000"/>
                  </a:schemeClr>
                </a:solidFill>
              </a:endParaRPr>
            </a:p>
          </p:txBody>
        </p:sp>
        <p:sp>
          <p:nvSpPr>
            <p:cNvPr id="1365" name="TextBox 1364">
              <a:extLst>
                <a:ext uri="{FF2B5EF4-FFF2-40B4-BE49-F238E27FC236}">
                  <a16:creationId xmlns:a16="http://schemas.microsoft.com/office/drawing/2014/main" id="{4E6534FD-A305-DC3E-2D95-A6F06D5F2253}"/>
                </a:ext>
              </a:extLst>
            </p:cNvPr>
            <p:cNvSpPr txBox="1"/>
            <p:nvPr/>
          </p:nvSpPr>
          <p:spPr>
            <a:xfrm>
              <a:off x="18889272" y="5000460"/>
              <a:ext cx="4715126" cy="1323439"/>
            </a:xfrm>
            <a:prstGeom prst="rect">
              <a:avLst/>
            </a:prstGeom>
            <a:noFill/>
          </p:spPr>
          <p:txBody>
            <a:bodyPr wrap="square" rtlCol="0">
              <a:spAutoFit/>
            </a:bodyPr>
            <a:lstStyle/>
            <a:p>
              <a:pPr algn="ctr"/>
              <a:r>
                <a:rPr lang="en-US" sz="4000">
                  <a:solidFill>
                    <a:schemeClr val="bg1">
                      <a:lumMod val="85000"/>
                      <a:lumOff val="15000"/>
                    </a:schemeClr>
                  </a:solidFill>
                </a:rPr>
                <a:t>DIGITAL</a:t>
              </a:r>
              <a:br>
                <a:rPr lang="en-US" sz="4000">
                  <a:solidFill>
                    <a:schemeClr val="bg1">
                      <a:lumMod val="85000"/>
                      <a:lumOff val="15000"/>
                    </a:schemeClr>
                  </a:solidFill>
                </a:rPr>
              </a:br>
              <a:r>
                <a:rPr lang="en-US" sz="4000">
                  <a:solidFill>
                    <a:schemeClr val="bg1">
                      <a:lumMod val="85000"/>
                      <a:lumOff val="15000"/>
                    </a:schemeClr>
                  </a:solidFill>
                </a:rPr>
                <a:t>HUMAN NIMs</a:t>
              </a:r>
            </a:p>
          </p:txBody>
        </p:sp>
        <p:sp>
          <p:nvSpPr>
            <p:cNvPr id="1366" name="TextBox 1365">
              <a:extLst>
                <a:ext uri="{FF2B5EF4-FFF2-40B4-BE49-F238E27FC236}">
                  <a16:creationId xmlns:a16="http://schemas.microsoft.com/office/drawing/2014/main" id="{06423479-0BA6-33DF-621C-52DFD2C77C90}"/>
                </a:ext>
              </a:extLst>
            </p:cNvPr>
            <p:cNvSpPr txBox="1"/>
            <p:nvPr/>
          </p:nvSpPr>
          <p:spPr>
            <a:xfrm>
              <a:off x="18595898" y="8891532"/>
              <a:ext cx="2888104" cy="584775"/>
            </a:xfrm>
            <a:prstGeom prst="rect">
              <a:avLst/>
            </a:prstGeom>
            <a:noFill/>
          </p:spPr>
          <p:txBody>
            <a:bodyPr wrap="square" rtlCol="0">
              <a:spAutoFit/>
            </a:bodyPr>
            <a:lstStyle/>
            <a:p>
              <a:pPr algn="ctr"/>
              <a:r>
                <a:rPr lang="en-US" sz="3200">
                  <a:solidFill>
                    <a:schemeClr val="bg1">
                      <a:lumMod val="85000"/>
                      <a:lumOff val="15000"/>
                    </a:schemeClr>
                  </a:solidFill>
                </a:rPr>
                <a:t>Audio2Face</a:t>
              </a:r>
            </a:p>
          </p:txBody>
        </p:sp>
        <p:sp>
          <p:nvSpPr>
            <p:cNvPr id="1367" name="TextBox 1366">
              <a:extLst>
                <a:ext uri="{FF2B5EF4-FFF2-40B4-BE49-F238E27FC236}">
                  <a16:creationId xmlns:a16="http://schemas.microsoft.com/office/drawing/2014/main" id="{D56353E4-5946-C9BE-F50C-7CFA65F7EE4B}"/>
                </a:ext>
              </a:extLst>
            </p:cNvPr>
            <p:cNvSpPr txBox="1"/>
            <p:nvPr/>
          </p:nvSpPr>
          <p:spPr>
            <a:xfrm>
              <a:off x="21334769" y="8933096"/>
              <a:ext cx="2381836" cy="584775"/>
            </a:xfrm>
            <a:prstGeom prst="rect">
              <a:avLst/>
            </a:prstGeom>
            <a:noFill/>
          </p:spPr>
          <p:txBody>
            <a:bodyPr wrap="square" rtlCol="0">
              <a:spAutoFit/>
            </a:bodyPr>
            <a:lstStyle/>
            <a:p>
              <a:pPr algn="ctr"/>
              <a:r>
                <a:rPr lang="en-US" sz="3200">
                  <a:solidFill>
                    <a:schemeClr val="bg1">
                      <a:lumMod val="85000"/>
                      <a:lumOff val="15000"/>
                    </a:schemeClr>
                  </a:solidFill>
                </a:rPr>
                <a:t>Riva ASR</a:t>
              </a:r>
            </a:p>
          </p:txBody>
        </p:sp>
        <p:sp>
          <p:nvSpPr>
            <p:cNvPr id="1370" name="Rectangle: Rounded Corners 1369">
              <a:extLst>
                <a:ext uri="{FF2B5EF4-FFF2-40B4-BE49-F238E27FC236}">
                  <a16:creationId xmlns:a16="http://schemas.microsoft.com/office/drawing/2014/main" id="{F4E13434-4785-0ECA-3271-65128B8C8A52}"/>
                </a:ext>
              </a:extLst>
            </p:cNvPr>
            <p:cNvSpPr/>
            <p:nvPr/>
          </p:nvSpPr>
          <p:spPr>
            <a:xfrm>
              <a:off x="24393001" y="4557266"/>
              <a:ext cx="5227829" cy="6393098"/>
            </a:xfrm>
            <a:prstGeom prst="roundRect">
              <a:avLst>
                <a:gd name="adj" fmla="val 7498"/>
              </a:avLst>
            </a:prstGeom>
            <a:noFill/>
            <a:ln w="12700">
              <a:solidFill>
                <a:schemeClr val="tx2"/>
              </a:solidFill>
            </a:ln>
            <a:scene3d>
              <a:camera prst="orthographicFront"/>
              <a:lightRig rig="soft" dir="t">
                <a:rot lat="0" lon="0" rev="20400000"/>
              </a:lightRig>
            </a:scene3d>
            <a:sp3d prstMaterial="plastic"/>
          </p:spPr>
          <p:style>
            <a:lnRef idx="2">
              <a:schemeClr val="accent1">
                <a:shade val="50000"/>
              </a:schemeClr>
            </a:lnRef>
            <a:fillRef idx="1">
              <a:schemeClr val="accent1"/>
            </a:fillRef>
            <a:effectRef idx="0">
              <a:schemeClr val="accent1"/>
            </a:effectRef>
            <a:fontRef idx="minor">
              <a:schemeClr val="lt1"/>
            </a:fontRef>
          </p:style>
          <p:txBody>
            <a:bodyPr tIns="731520" bIns="45720" rtlCol="0" anchor="ctr"/>
            <a:lstStyle/>
            <a:p>
              <a:pPr algn="ctr"/>
              <a:endParaRPr lang="en-US" sz="3600">
                <a:solidFill>
                  <a:schemeClr val="bg1">
                    <a:lumMod val="85000"/>
                    <a:lumOff val="15000"/>
                  </a:schemeClr>
                </a:solidFill>
              </a:endParaRPr>
            </a:p>
          </p:txBody>
        </p:sp>
        <p:sp>
          <p:nvSpPr>
            <p:cNvPr id="1371" name="TextBox 1370">
              <a:extLst>
                <a:ext uri="{FF2B5EF4-FFF2-40B4-BE49-F238E27FC236}">
                  <a16:creationId xmlns:a16="http://schemas.microsoft.com/office/drawing/2014/main" id="{FF6517FE-A001-31DD-0798-254BDDF33576}"/>
                </a:ext>
              </a:extLst>
            </p:cNvPr>
            <p:cNvSpPr txBox="1"/>
            <p:nvPr/>
          </p:nvSpPr>
          <p:spPr>
            <a:xfrm>
              <a:off x="24383361" y="4924367"/>
              <a:ext cx="5285109" cy="1323439"/>
            </a:xfrm>
            <a:prstGeom prst="rect">
              <a:avLst/>
            </a:prstGeom>
            <a:noFill/>
          </p:spPr>
          <p:txBody>
            <a:bodyPr wrap="square" rtlCol="0">
              <a:spAutoFit/>
            </a:bodyPr>
            <a:lstStyle/>
            <a:p>
              <a:pPr algn="ctr"/>
              <a:r>
                <a:rPr lang="en-US" sz="4000">
                  <a:solidFill>
                    <a:schemeClr val="bg1">
                      <a:lumMod val="85000"/>
                      <a:lumOff val="15000"/>
                    </a:schemeClr>
                  </a:solidFill>
                </a:rPr>
                <a:t>OPTIMIZATION / SIMULATION NIMs</a:t>
              </a:r>
            </a:p>
          </p:txBody>
        </p:sp>
        <p:sp>
          <p:nvSpPr>
            <p:cNvPr id="1372" name="TextBox 1371">
              <a:extLst>
                <a:ext uri="{FF2B5EF4-FFF2-40B4-BE49-F238E27FC236}">
                  <a16:creationId xmlns:a16="http://schemas.microsoft.com/office/drawing/2014/main" id="{59E1980C-BEC1-6C43-82B3-CD4FC3360795}"/>
                </a:ext>
              </a:extLst>
            </p:cNvPr>
            <p:cNvSpPr txBox="1"/>
            <p:nvPr/>
          </p:nvSpPr>
          <p:spPr>
            <a:xfrm>
              <a:off x="24804473" y="8818956"/>
              <a:ext cx="1970535" cy="584775"/>
            </a:xfrm>
            <a:prstGeom prst="rect">
              <a:avLst/>
            </a:prstGeom>
            <a:noFill/>
          </p:spPr>
          <p:txBody>
            <a:bodyPr wrap="square" rtlCol="0">
              <a:spAutoFit/>
            </a:bodyPr>
            <a:lstStyle/>
            <a:p>
              <a:pPr algn="ctr"/>
              <a:r>
                <a:rPr lang="en-US" sz="3200">
                  <a:solidFill>
                    <a:schemeClr val="bg1">
                      <a:lumMod val="85000"/>
                      <a:lumOff val="15000"/>
                    </a:schemeClr>
                  </a:solidFill>
                </a:rPr>
                <a:t>cuOpt</a:t>
              </a:r>
            </a:p>
          </p:txBody>
        </p:sp>
        <p:sp>
          <p:nvSpPr>
            <p:cNvPr id="1375" name="TextBox 1374">
              <a:extLst>
                <a:ext uri="{FF2B5EF4-FFF2-40B4-BE49-F238E27FC236}">
                  <a16:creationId xmlns:a16="http://schemas.microsoft.com/office/drawing/2014/main" id="{59BE5BBC-F008-C878-B519-537722DF27BD}"/>
                </a:ext>
              </a:extLst>
            </p:cNvPr>
            <p:cNvSpPr txBox="1"/>
            <p:nvPr/>
          </p:nvSpPr>
          <p:spPr>
            <a:xfrm>
              <a:off x="27201402" y="8818956"/>
              <a:ext cx="2098077" cy="584775"/>
            </a:xfrm>
            <a:prstGeom prst="rect">
              <a:avLst/>
            </a:prstGeom>
            <a:noFill/>
          </p:spPr>
          <p:txBody>
            <a:bodyPr wrap="square" rtlCol="0">
              <a:spAutoFit/>
            </a:bodyPr>
            <a:lstStyle/>
            <a:p>
              <a:pPr algn="ctr"/>
              <a:r>
                <a:rPr lang="en-US" sz="3200">
                  <a:solidFill>
                    <a:schemeClr val="bg1">
                      <a:lumMod val="85000"/>
                      <a:lumOff val="15000"/>
                    </a:schemeClr>
                  </a:solidFill>
                </a:rPr>
                <a:t>Earth-2</a:t>
              </a:r>
            </a:p>
          </p:txBody>
        </p:sp>
        <p:sp>
          <p:nvSpPr>
            <p:cNvPr id="1379" name="TextBox 1378">
              <a:extLst>
                <a:ext uri="{FF2B5EF4-FFF2-40B4-BE49-F238E27FC236}">
                  <a16:creationId xmlns:a16="http://schemas.microsoft.com/office/drawing/2014/main" id="{92907097-363C-5E33-EE79-45EC08A15797}"/>
                </a:ext>
              </a:extLst>
            </p:cNvPr>
            <p:cNvSpPr txBox="1"/>
            <p:nvPr/>
          </p:nvSpPr>
          <p:spPr>
            <a:xfrm>
              <a:off x="21208570" y="11976697"/>
              <a:ext cx="5695241" cy="646331"/>
            </a:xfrm>
            <a:prstGeom prst="rect">
              <a:avLst/>
            </a:prstGeom>
            <a:noFill/>
          </p:spPr>
          <p:txBody>
            <a:bodyPr wrap="square" rtlCol="0">
              <a:spAutoFit/>
            </a:bodyPr>
            <a:lstStyle/>
            <a:p>
              <a:pPr algn="ctr"/>
              <a:r>
                <a:rPr lang="en-US" sz="3600">
                  <a:solidFill>
                    <a:schemeClr val="bg1">
                      <a:lumMod val="85000"/>
                      <a:lumOff val="15000"/>
                    </a:schemeClr>
                  </a:solidFill>
                </a:rPr>
                <a:t>APPLICATION NIMs</a:t>
              </a:r>
            </a:p>
          </p:txBody>
        </p:sp>
        <p:sp>
          <p:nvSpPr>
            <p:cNvPr id="1380" name="TextBox 1379">
              <a:extLst>
                <a:ext uri="{FF2B5EF4-FFF2-40B4-BE49-F238E27FC236}">
                  <a16:creationId xmlns:a16="http://schemas.microsoft.com/office/drawing/2014/main" id="{32F86F20-E1D4-425A-7832-AA8AF0FE6A9A}"/>
                </a:ext>
              </a:extLst>
            </p:cNvPr>
            <p:cNvSpPr txBox="1"/>
            <p:nvPr/>
          </p:nvSpPr>
          <p:spPr>
            <a:xfrm>
              <a:off x="19739461" y="15081206"/>
              <a:ext cx="1839668" cy="1077218"/>
            </a:xfrm>
            <a:prstGeom prst="rect">
              <a:avLst/>
            </a:prstGeom>
            <a:noFill/>
          </p:spPr>
          <p:txBody>
            <a:bodyPr wrap="square" rtlCol="0">
              <a:spAutoFit/>
            </a:bodyPr>
            <a:lstStyle/>
            <a:p>
              <a:pPr algn="ctr"/>
              <a:r>
                <a:rPr lang="en-US" sz="3200">
                  <a:solidFill>
                    <a:schemeClr val="bg1">
                      <a:lumMod val="85000"/>
                      <a:lumOff val="15000"/>
                    </a:schemeClr>
                  </a:solidFill>
                </a:rPr>
                <a:t>Llama</a:t>
              </a:r>
            </a:p>
            <a:p>
              <a:pPr algn="ctr"/>
              <a:r>
                <a:rPr lang="en-US" sz="3200">
                  <a:solidFill>
                    <a:schemeClr val="bg1">
                      <a:lumMod val="85000"/>
                      <a:lumOff val="15000"/>
                    </a:schemeClr>
                  </a:solidFill>
                </a:rPr>
                <a:t>Guard</a:t>
              </a:r>
            </a:p>
          </p:txBody>
        </p:sp>
        <p:sp>
          <p:nvSpPr>
            <p:cNvPr id="1381" name="TextBox 1380">
              <a:extLst>
                <a:ext uri="{FF2B5EF4-FFF2-40B4-BE49-F238E27FC236}">
                  <a16:creationId xmlns:a16="http://schemas.microsoft.com/office/drawing/2014/main" id="{296D3A18-8C73-1036-6ED9-CD09434D3567}"/>
                </a:ext>
              </a:extLst>
            </p:cNvPr>
            <p:cNvSpPr txBox="1"/>
            <p:nvPr/>
          </p:nvSpPr>
          <p:spPr>
            <a:xfrm>
              <a:off x="22505453" y="15058918"/>
              <a:ext cx="3101474" cy="1077218"/>
            </a:xfrm>
            <a:prstGeom prst="rect">
              <a:avLst/>
            </a:prstGeom>
            <a:noFill/>
          </p:spPr>
          <p:txBody>
            <a:bodyPr wrap="square" rtlCol="0">
              <a:spAutoFit/>
            </a:bodyPr>
            <a:lstStyle/>
            <a:p>
              <a:pPr algn="ctr"/>
              <a:r>
                <a:rPr lang="en-US" sz="3200">
                  <a:solidFill>
                    <a:schemeClr val="bg1">
                      <a:lumMod val="85000"/>
                      <a:lumOff val="15000"/>
                    </a:schemeClr>
                  </a:solidFill>
                </a:rPr>
                <a:t>Retrieval Embedding</a:t>
              </a:r>
            </a:p>
          </p:txBody>
        </p:sp>
        <p:sp>
          <p:nvSpPr>
            <p:cNvPr id="1382" name="TextBox 1381">
              <a:extLst>
                <a:ext uri="{FF2B5EF4-FFF2-40B4-BE49-F238E27FC236}">
                  <a16:creationId xmlns:a16="http://schemas.microsoft.com/office/drawing/2014/main" id="{1AFE9FF1-AD73-9439-2978-0802190CE2D9}"/>
                </a:ext>
              </a:extLst>
            </p:cNvPr>
            <p:cNvSpPr txBox="1"/>
            <p:nvPr/>
          </p:nvSpPr>
          <p:spPr>
            <a:xfrm>
              <a:off x="26174579" y="15058918"/>
              <a:ext cx="2626930" cy="1077218"/>
            </a:xfrm>
            <a:prstGeom prst="rect">
              <a:avLst/>
            </a:prstGeom>
            <a:noFill/>
          </p:spPr>
          <p:txBody>
            <a:bodyPr wrap="square" rtlCol="0">
              <a:spAutoFit/>
            </a:bodyPr>
            <a:lstStyle/>
            <a:p>
              <a:pPr algn="ctr"/>
              <a:r>
                <a:rPr lang="en-US" sz="3200">
                  <a:solidFill>
                    <a:schemeClr val="bg1">
                      <a:lumMod val="85000"/>
                      <a:lumOff val="15000"/>
                    </a:schemeClr>
                  </a:solidFill>
                </a:rPr>
                <a:t>Retrieval Reranking</a:t>
              </a:r>
            </a:p>
          </p:txBody>
        </p:sp>
        <p:sp>
          <p:nvSpPr>
            <p:cNvPr id="1385" name="Rectangle: Rounded Corners 1384">
              <a:extLst>
                <a:ext uri="{FF2B5EF4-FFF2-40B4-BE49-F238E27FC236}">
                  <a16:creationId xmlns:a16="http://schemas.microsoft.com/office/drawing/2014/main" id="{2182DA90-D365-CD72-0B51-384067C83CD3}"/>
                </a:ext>
              </a:extLst>
            </p:cNvPr>
            <p:cNvSpPr/>
            <p:nvPr/>
          </p:nvSpPr>
          <p:spPr>
            <a:xfrm>
              <a:off x="30200834" y="4553724"/>
              <a:ext cx="5953959" cy="13254232"/>
            </a:xfrm>
            <a:prstGeom prst="roundRect">
              <a:avLst>
                <a:gd name="adj" fmla="val 6122"/>
              </a:avLst>
            </a:prstGeom>
            <a:noFill/>
            <a:ln w="12700">
              <a:solidFill>
                <a:schemeClr val="tx2"/>
              </a:solidFill>
            </a:ln>
            <a:scene3d>
              <a:camera prst="orthographicFront"/>
              <a:lightRig rig="soft" dir="t">
                <a:rot lat="0" lon="0" rev="20400000"/>
              </a:lightRig>
            </a:scene3d>
            <a:sp3d prstMaterial="plastic"/>
          </p:spPr>
          <p:style>
            <a:lnRef idx="2">
              <a:schemeClr val="accent1">
                <a:shade val="50000"/>
              </a:schemeClr>
            </a:lnRef>
            <a:fillRef idx="1">
              <a:schemeClr val="accent1"/>
            </a:fillRef>
            <a:effectRef idx="0">
              <a:schemeClr val="accent1"/>
            </a:effectRef>
            <a:fontRef idx="minor">
              <a:schemeClr val="lt1"/>
            </a:fontRef>
          </p:style>
          <p:txBody>
            <a:bodyPr tIns="731520" bIns="45720" rtlCol="0" anchor="ctr"/>
            <a:lstStyle/>
            <a:p>
              <a:pPr algn="ctr"/>
              <a:endParaRPr lang="en-US" sz="3600">
                <a:solidFill>
                  <a:schemeClr val="bg1">
                    <a:lumMod val="85000"/>
                    <a:lumOff val="15000"/>
                  </a:schemeClr>
                </a:solidFill>
              </a:endParaRPr>
            </a:p>
          </p:txBody>
        </p:sp>
        <p:sp>
          <p:nvSpPr>
            <p:cNvPr id="1386" name="TextBox 1385">
              <a:extLst>
                <a:ext uri="{FF2B5EF4-FFF2-40B4-BE49-F238E27FC236}">
                  <a16:creationId xmlns:a16="http://schemas.microsoft.com/office/drawing/2014/main" id="{850F94FD-42B4-1791-2CA1-FB97B058DEA4}"/>
                </a:ext>
              </a:extLst>
            </p:cNvPr>
            <p:cNvSpPr txBox="1"/>
            <p:nvPr/>
          </p:nvSpPr>
          <p:spPr>
            <a:xfrm>
              <a:off x="29756282" y="4924367"/>
              <a:ext cx="7033056" cy="1323439"/>
            </a:xfrm>
            <a:prstGeom prst="rect">
              <a:avLst/>
            </a:prstGeom>
            <a:noFill/>
          </p:spPr>
          <p:txBody>
            <a:bodyPr wrap="square" rtlCol="0">
              <a:spAutoFit/>
            </a:bodyPr>
            <a:lstStyle/>
            <a:p>
              <a:pPr algn="ctr"/>
              <a:r>
                <a:rPr lang="en-US" sz="4000">
                  <a:solidFill>
                    <a:schemeClr val="bg1">
                      <a:lumMod val="85000"/>
                      <a:lumOff val="15000"/>
                    </a:schemeClr>
                  </a:solidFill>
                </a:rPr>
                <a:t>DIGITAL BIOLOGY</a:t>
              </a:r>
              <a:br>
                <a:rPr lang="en-US" sz="4000">
                  <a:solidFill>
                    <a:schemeClr val="bg1">
                      <a:lumMod val="85000"/>
                      <a:lumOff val="15000"/>
                    </a:schemeClr>
                  </a:solidFill>
                </a:rPr>
              </a:br>
              <a:r>
                <a:rPr lang="en-US" sz="4000">
                  <a:solidFill>
                    <a:schemeClr val="bg1">
                      <a:lumMod val="85000"/>
                      <a:lumOff val="15000"/>
                    </a:schemeClr>
                  </a:solidFill>
                </a:rPr>
                <a:t>NIMs</a:t>
              </a:r>
            </a:p>
          </p:txBody>
        </p:sp>
        <p:sp>
          <p:nvSpPr>
            <p:cNvPr id="1387" name="TextBox 1386">
              <a:extLst>
                <a:ext uri="{FF2B5EF4-FFF2-40B4-BE49-F238E27FC236}">
                  <a16:creationId xmlns:a16="http://schemas.microsoft.com/office/drawing/2014/main" id="{9B911BBD-AFD5-DA5C-9A80-372D4600461D}"/>
                </a:ext>
              </a:extLst>
            </p:cNvPr>
            <p:cNvSpPr txBox="1"/>
            <p:nvPr/>
          </p:nvSpPr>
          <p:spPr>
            <a:xfrm>
              <a:off x="31101729" y="8720164"/>
              <a:ext cx="4160229" cy="584775"/>
            </a:xfrm>
            <a:prstGeom prst="rect">
              <a:avLst/>
            </a:prstGeom>
            <a:noFill/>
          </p:spPr>
          <p:txBody>
            <a:bodyPr wrap="square" rtlCol="0">
              <a:spAutoFit/>
            </a:bodyPr>
            <a:lstStyle/>
            <a:p>
              <a:pPr algn="ctr"/>
              <a:r>
                <a:rPr lang="en-US" sz="3200">
                  <a:solidFill>
                    <a:schemeClr val="bg1">
                      <a:lumMod val="85000"/>
                      <a:lumOff val="15000"/>
                    </a:schemeClr>
                  </a:solidFill>
                </a:rPr>
                <a:t>DeepVariant</a:t>
              </a:r>
            </a:p>
          </p:txBody>
        </p:sp>
        <p:sp>
          <p:nvSpPr>
            <p:cNvPr id="1388" name="TextBox 1387">
              <a:extLst>
                <a:ext uri="{FF2B5EF4-FFF2-40B4-BE49-F238E27FC236}">
                  <a16:creationId xmlns:a16="http://schemas.microsoft.com/office/drawing/2014/main" id="{1E512467-A780-CBDA-C449-B6B5198E6252}"/>
                </a:ext>
              </a:extLst>
            </p:cNvPr>
            <p:cNvSpPr txBox="1"/>
            <p:nvPr/>
          </p:nvSpPr>
          <p:spPr>
            <a:xfrm>
              <a:off x="30580506" y="12574941"/>
              <a:ext cx="2458841" cy="584775"/>
            </a:xfrm>
            <a:prstGeom prst="rect">
              <a:avLst/>
            </a:prstGeom>
            <a:noFill/>
          </p:spPr>
          <p:txBody>
            <a:bodyPr wrap="square" rtlCol="0">
              <a:spAutoFit/>
            </a:bodyPr>
            <a:lstStyle/>
            <a:p>
              <a:pPr algn="ctr"/>
              <a:r>
                <a:rPr lang="en-US" sz="3200">
                  <a:solidFill>
                    <a:schemeClr val="bg1">
                      <a:lumMod val="85000"/>
                      <a:lumOff val="15000"/>
                    </a:schemeClr>
                  </a:solidFill>
                </a:rPr>
                <a:t>DiffDock</a:t>
              </a:r>
            </a:p>
          </p:txBody>
        </p:sp>
        <p:sp>
          <p:nvSpPr>
            <p:cNvPr id="1389" name="TextBox 1388">
              <a:extLst>
                <a:ext uri="{FF2B5EF4-FFF2-40B4-BE49-F238E27FC236}">
                  <a16:creationId xmlns:a16="http://schemas.microsoft.com/office/drawing/2014/main" id="{9ACA8019-8287-02CE-35E0-C8ACF3A2CDA3}"/>
                </a:ext>
              </a:extLst>
            </p:cNvPr>
            <p:cNvSpPr txBox="1"/>
            <p:nvPr/>
          </p:nvSpPr>
          <p:spPr>
            <a:xfrm>
              <a:off x="33277530" y="12574941"/>
              <a:ext cx="2356667" cy="584775"/>
            </a:xfrm>
            <a:prstGeom prst="rect">
              <a:avLst/>
            </a:prstGeom>
            <a:noFill/>
          </p:spPr>
          <p:txBody>
            <a:bodyPr wrap="square" rtlCol="0">
              <a:spAutoFit/>
            </a:bodyPr>
            <a:lstStyle/>
            <a:p>
              <a:pPr algn="ctr"/>
              <a:r>
                <a:rPr lang="en-US" sz="3200">
                  <a:solidFill>
                    <a:schemeClr val="bg1">
                      <a:lumMod val="85000"/>
                      <a:lumOff val="15000"/>
                    </a:schemeClr>
                  </a:solidFill>
                </a:rPr>
                <a:t>ESMFold</a:t>
              </a:r>
            </a:p>
          </p:txBody>
        </p:sp>
        <p:sp>
          <p:nvSpPr>
            <p:cNvPr id="1390" name="TextBox 1389">
              <a:extLst>
                <a:ext uri="{FF2B5EF4-FFF2-40B4-BE49-F238E27FC236}">
                  <a16:creationId xmlns:a16="http://schemas.microsoft.com/office/drawing/2014/main" id="{41C5E48D-BCD6-86AE-51CD-F4B4A243E10F}"/>
                </a:ext>
              </a:extLst>
            </p:cNvPr>
            <p:cNvSpPr txBox="1"/>
            <p:nvPr/>
          </p:nvSpPr>
          <p:spPr>
            <a:xfrm>
              <a:off x="30869005" y="16435850"/>
              <a:ext cx="2198702" cy="584775"/>
            </a:xfrm>
            <a:prstGeom prst="rect">
              <a:avLst/>
            </a:prstGeom>
            <a:noFill/>
          </p:spPr>
          <p:txBody>
            <a:bodyPr wrap="square" rtlCol="0">
              <a:spAutoFit/>
            </a:bodyPr>
            <a:lstStyle/>
            <a:p>
              <a:pPr algn="ctr"/>
              <a:r>
                <a:rPr lang="en-US" sz="3200">
                  <a:solidFill>
                    <a:schemeClr val="bg1">
                      <a:lumMod val="85000"/>
                      <a:lumOff val="15000"/>
                    </a:schemeClr>
                  </a:solidFill>
                </a:rPr>
                <a:t>MolMIM</a:t>
              </a:r>
            </a:p>
          </p:txBody>
        </p:sp>
        <p:sp>
          <p:nvSpPr>
            <p:cNvPr id="1391" name="TextBox 1390">
              <a:extLst>
                <a:ext uri="{FF2B5EF4-FFF2-40B4-BE49-F238E27FC236}">
                  <a16:creationId xmlns:a16="http://schemas.microsoft.com/office/drawing/2014/main" id="{5969636D-0450-C017-81F3-18DD66275273}"/>
                </a:ext>
              </a:extLst>
            </p:cNvPr>
            <p:cNvSpPr txBox="1"/>
            <p:nvPr/>
          </p:nvSpPr>
          <p:spPr>
            <a:xfrm>
              <a:off x="33431699" y="16435850"/>
              <a:ext cx="2076968" cy="584775"/>
            </a:xfrm>
            <a:prstGeom prst="rect">
              <a:avLst/>
            </a:prstGeom>
            <a:noFill/>
          </p:spPr>
          <p:txBody>
            <a:bodyPr wrap="square" rtlCol="0">
              <a:spAutoFit/>
            </a:bodyPr>
            <a:lstStyle/>
            <a:p>
              <a:pPr algn="ctr"/>
              <a:r>
                <a:rPr lang="en-US" sz="3200">
                  <a:solidFill>
                    <a:schemeClr val="bg1">
                      <a:lumMod val="85000"/>
                      <a:lumOff val="15000"/>
                    </a:schemeClr>
                  </a:solidFill>
                </a:rPr>
                <a:t>Vista 3D</a:t>
              </a:r>
            </a:p>
          </p:txBody>
        </p:sp>
        <p:pic>
          <p:nvPicPr>
            <p:cNvPr id="51" name="Picture 50" descr="A black hexagon with green balls&#10;&#10;Description automatically generated">
              <a:extLst>
                <a:ext uri="{FF2B5EF4-FFF2-40B4-BE49-F238E27FC236}">
                  <a16:creationId xmlns:a16="http://schemas.microsoft.com/office/drawing/2014/main" id="{72AF729E-E248-9D98-B4A0-7109D36CB536}"/>
                </a:ext>
              </a:extLst>
            </p:cNvPr>
            <p:cNvPicPr>
              <a:picLocks noChangeAspect="1"/>
            </p:cNvPicPr>
            <p:nvPr/>
          </p:nvPicPr>
          <p:blipFill>
            <a:blip r:embed="rId3"/>
            <a:stretch>
              <a:fillRect/>
            </a:stretch>
          </p:blipFill>
          <p:spPr>
            <a:xfrm>
              <a:off x="3961824" y="10539969"/>
              <a:ext cx="1292314" cy="1711035"/>
            </a:xfrm>
            <a:prstGeom prst="rect">
              <a:avLst/>
            </a:prstGeom>
          </p:spPr>
        </p:pic>
        <p:pic>
          <p:nvPicPr>
            <p:cNvPr id="52" name="Picture 51" descr="A black hexagon with green balls&#10;&#10;Description automatically generated">
              <a:extLst>
                <a:ext uri="{FF2B5EF4-FFF2-40B4-BE49-F238E27FC236}">
                  <a16:creationId xmlns:a16="http://schemas.microsoft.com/office/drawing/2014/main" id="{E7CA57E4-DB51-804E-A1D7-2AB2123583E2}"/>
                </a:ext>
              </a:extLst>
            </p:cNvPr>
            <p:cNvPicPr>
              <a:picLocks noChangeAspect="1"/>
            </p:cNvPicPr>
            <p:nvPr/>
          </p:nvPicPr>
          <p:blipFill>
            <a:blip r:embed="rId3"/>
            <a:stretch>
              <a:fillRect/>
            </a:stretch>
          </p:blipFill>
          <p:spPr>
            <a:xfrm>
              <a:off x="3991736" y="14470358"/>
              <a:ext cx="1292314" cy="1711035"/>
            </a:xfrm>
            <a:prstGeom prst="rect">
              <a:avLst/>
            </a:prstGeom>
          </p:spPr>
        </p:pic>
        <p:pic>
          <p:nvPicPr>
            <p:cNvPr id="53" name="Picture 52" descr="A black hexagon with green balls&#10;&#10;Description automatically generated">
              <a:extLst>
                <a:ext uri="{FF2B5EF4-FFF2-40B4-BE49-F238E27FC236}">
                  <a16:creationId xmlns:a16="http://schemas.microsoft.com/office/drawing/2014/main" id="{8AA019DD-0F46-1F43-5549-D352B8392850}"/>
                </a:ext>
              </a:extLst>
            </p:cNvPr>
            <p:cNvPicPr>
              <a:picLocks noChangeAspect="1"/>
            </p:cNvPicPr>
            <p:nvPr/>
          </p:nvPicPr>
          <p:blipFill>
            <a:blip r:embed="rId3"/>
            <a:stretch>
              <a:fillRect/>
            </a:stretch>
          </p:blipFill>
          <p:spPr>
            <a:xfrm>
              <a:off x="13140652" y="6747518"/>
              <a:ext cx="1292314" cy="1711035"/>
            </a:xfrm>
            <a:prstGeom prst="rect">
              <a:avLst/>
            </a:prstGeom>
          </p:spPr>
        </p:pic>
        <p:pic>
          <p:nvPicPr>
            <p:cNvPr id="1354" name="Picture 1353" descr="A black hexagon with green balls&#10;&#10;Description automatically generated">
              <a:extLst>
                <a:ext uri="{FF2B5EF4-FFF2-40B4-BE49-F238E27FC236}">
                  <a16:creationId xmlns:a16="http://schemas.microsoft.com/office/drawing/2014/main" id="{2333E7A1-D8F2-A00D-DD23-32DAF05233B2}"/>
                </a:ext>
              </a:extLst>
            </p:cNvPr>
            <p:cNvPicPr>
              <a:picLocks noChangeAspect="1"/>
            </p:cNvPicPr>
            <p:nvPr/>
          </p:nvPicPr>
          <p:blipFill>
            <a:blip r:embed="rId3"/>
            <a:stretch>
              <a:fillRect/>
            </a:stretch>
          </p:blipFill>
          <p:spPr>
            <a:xfrm>
              <a:off x="15595525" y="6729758"/>
              <a:ext cx="1292314" cy="1711035"/>
            </a:xfrm>
            <a:prstGeom prst="rect">
              <a:avLst/>
            </a:prstGeom>
          </p:spPr>
        </p:pic>
        <p:pic>
          <p:nvPicPr>
            <p:cNvPr id="1355" name="Picture 1354" descr="A black hexagon with green balls&#10;&#10;Description automatically generated">
              <a:extLst>
                <a:ext uri="{FF2B5EF4-FFF2-40B4-BE49-F238E27FC236}">
                  <a16:creationId xmlns:a16="http://schemas.microsoft.com/office/drawing/2014/main" id="{A52B33DF-088E-E2D3-392A-ADB0F95D2569}"/>
                </a:ext>
              </a:extLst>
            </p:cNvPr>
            <p:cNvPicPr>
              <a:picLocks noChangeAspect="1"/>
            </p:cNvPicPr>
            <p:nvPr/>
          </p:nvPicPr>
          <p:blipFill>
            <a:blip r:embed="rId3"/>
            <a:stretch>
              <a:fillRect/>
            </a:stretch>
          </p:blipFill>
          <p:spPr>
            <a:xfrm>
              <a:off x="19391512" y="6950415"/>
              <a:ext cx="1292314" cy="1711035"/>
            </a:xfrm>
            <a:prstGeom prst="rect">
              <a:avLst/>
            </a:prstGeom>
          </p:spPr>
        </p:pic>
        <p:pic>
          <p:nvPicPr>
            <p:cNvPr id="1356" name="Picture 1355" descr="A black hexagon with green balls&#10;&#10;Description automatically generated">
              <a:extLst>
                <a:ext uri="{FF2B5EF4-FFF2-40B4-BE49-F238E27FC236}">
                  <a16:creationId xmlns:a16="http://schemas.microsoft.com/office/drawing/2014/main" id="{679F5A3E-AB38-E9F3-A237-174AE71595CD}"/>
                </a:ext>
              </a:extLst>
            </p:cNvPr>
            <p:cNvPicPr>
              <a:picLocks noChangeAspect="1"/>
            </p:cNvPicPr>
            <p:nvPr/>
          </p:nvPicPr>
          <p:blipFill>
            <a:blip r:embed="rId3"/>
            <a:stretch>
              <a:fillRect/>
            </a:stretch>
          </p:blipFill>
          <p:spPr>
            <a:xfrm>
              <a:off x="21890313" y="6998807"/>
              <a:ext cx="1292314" cy="1711035"/>
            </a:xfrm>
            <a:prstGeom prst="rect">
              <a:avLst/>
            </a:prstGeom>
          </p:spPr>
        </p:pic>
        <p:pic>
          <p:nvPicPr>
            <p:cNvPr id="1357" name="Picture 1356" descr="A black hexagon with green balls&#10;&#10;Description automatically generated">
              <a:extLst>
                <a:ext uri="{FF2B5EF4-FFF2-40B4-BE49-F238E27FC236}">
                  <a16:creationId xmlns:a16="http://schemas.microsoft.com/office/drawing/2014/main" id="{8DDAA479-76EB-C9BE-FEF7-43854303233C}"/>
                </a:ext>
              </a:extLst>
            </p:cNvPr>
            <p:cNvPicPr>
              <a:picLocks noChangeAspect="1"/>
            </p:cNvPicPr>
            <p:nvPr/>
          </p:nvPicPr>
          <p:blipFill>
            <a:blip r:embed="rId3"/>
            <a:stretch>
              <a:fillRect/>
            </a:stretch>
          </p:blipFill>
          <p:spPr>
            <a:xfrm>
              <a:off x="25100993" y="6846309"/>
              <a:ext cx="1292314" cy="1711035"/>
            </a:xfrm>
            <a:prstGeom prst="rect">
              <a:avLst/>
            </a:prstGeom>
          </p:spPr>
        </p:pic>
        <p:pic>
          <p:nvPicPr>
            <p:cNvPr id="1358" name="Picture 1357" descr="A black hexagon with green balls&#10;&#10;Description automatically generated">
              <a:extLst>
                <a:ext uri="{FF2B5EF4-FFF2-40B4-BE49-F238E27FC236}">
                  <a16:creationId xmlns:a16="http://schemas.microsoft.com/office/drawing/2014/main" id="{7C0FBD4C-954B-E2D6-8C61-2930495F0C2D}"/>
                </a:ext>
              </a:extLst>
            </p:cNvPr>
            <p:cNvPicPr>
              <a:picLocks noChangeAspect="1"/>
            </p:cNvPicPr>
            <p:nvPr/>
          </p:nvPicPr>
          <p:blipFill>
            <a:blip r:embed="rId3"/>
            <a:stretch>
              <a:fillRect/>
            </a:stretch>
          </p:blipFill>
          <p:spPr>
            <a:xfrm>
              <a:off x="27610032" y="6856654"/>
              <a:ext cx="1292314" cy="1711035"/>
            </a:xfrm>
            <a:prstGeom prst="rect">
              <a:avLst/>
            </a:prstGeom>
          </p:spPr>
        </p:pic>
        <p:pic>
          <p:nvPicPr>
            <p:cNvPr id="1359" name="Picture 1358" descr="A black hexagon with green balls&#10;&#10;Description automatically generated">
              <a:extLst>
                <a:ext uri="{FF2B5EF4-FFF2-40B4-BE49-F238E27FC236}">
                  <a16:creationId xmlns:a16="http://schemas.microsoft.com/office/drawing/2014/main" id="{DBB1A2D7-062D-2F68-6E75-DD0E72D225B3}"/>
                </a:ext>
              </a:extLst>
            </p:cNvPr>
            <p:cNvPicPr>
              <a:picLocks noChangeAspect="1"/>
            </p:cNvPicPr>
            <p:nvPr/>
          </p:nvPicPr>
          <p:blipFill>
            <a:blip r:embed="rId3"/>
            <a:stretch>
              <a:fillRect/>
            </a:stretch>
          </p:blipFill>
          <p:spPr>
            <a:xfrm>
              <a:off x="6446558" y="10554301"/>
              <a:ext cx="1292314" cy="1711035"/>
            </a:xfrm>
            <a:prstGeom prst="rect">
              <a:avLst/>
            </a:prstGeom>
          </p:spPr>
        </p:pic>
        <p:pic>
          <p:nvPicPr>
            <p:cNvPr id="1360" name="Picture 1359" descr="A black hexagon with green balls&#10;&#10;Description automatically generated">
              <a:extLst>
                <a:ext uri="{FF2B5EF4-FFF2-40B4-BE49-F238E27FC236}">
                  <a16:creationId xmlns:a16="http://schemas.microsoft.com/office/drawing/2014/main" id="{E2C712A4-87AE-CBC8-8044-F4E3CCC5E6FE}"/>
                </a:ext>
              </a:extLst>
            </p:cNvPr>
            <p:cNvPicPr>
              <a:picLocks noChangeAspect="1"/>
            </p:cNvPicPr>
            <p:nvPr/>
          </p:nvPicPr>
          <p:blipFill>
            <a:blip r:embed="rId3"/>
            <a:stretch>
              <a:fillRect/>
            </a:stretch>
          </p:blipFill>
          <p:spPr>
            <a:xfrm>
              <a:off x="1553538" y="14470358"/>
              <a:ext cx="1292314" cy="1711035"/>
            </a:xfrm>
            <a:prstGeom prst="rect">
              <a:avLst/>
            </a:prstGeom>
          </p:spPr>
        </p:pic>
        <p:pic>
          <p:nvPicPr>
            <p:cNvPr id="1361" name="Picture 1360" descr="A black hexagon with green balls&#10;&#10;Description automatically generated">
              <a:extLst>
                <a:ext uri="{FF2B5EF4-FFF2-40B4-BE49-F238E27FC236}">
                  <a16:creationId xmlns:a16="http://schemas.microsoft.com/office/drawing/2014/main" id="{1188A63C-2AEE-CB20-3A5C-08AD35D5A7C5}"/>
                </a:ext>
              </a:extLst>
            </p:cNvPr>
            <p:cNvPicPr>
              <a:picLocks noChangeAspect="1"/>
            </p:cNvPicPr>
            <p:nvPr/>
          </p:nvPicPr>
          <p:blipFill>
            <a:blip r:embed="rId3"/>
            <a:stretch>
              <a:fillRect/>
            </a:stretch>
          </p:blipFill>
          <p:spPr>
            <a:xfrm>
              <a:off x="20030024" y="13088704"/>
              <a:ext cx="1292314" cy="1711035"/>
            </a:xfrm>
            <a:prstGeom prst="rect">
              <a:avLst/>
            </a:prstGeom>
          </p:spPr>
        </p:pic>
        <p:pic>
          <p:nvPicPr>
            <p:cNvPr id="1373" name="Picture 1372" descr="A black hexagon with green balls&#10;&#10;Description automatically generated">
              <a:extLst>
                <a:ext uri="{FF2B5EF4-FFF2-40B4-BE49-F238E27FC236}">
                  <a16:creationId xmlns:a16="http://schemas.microsoft.com/office/drawing/2014/main" id="{F0604761-104F-5092-E909-A8AC311C4DFA}"/>
                </a:ext>
              </a:extLst>
            </p:cNvPr>
            <p:cNvPicPr>
              <a:picLocks noChangeAspect="1"/>
            </p:cNvPicPr>
            <p:nvPr/>
          </p:nvPicPr>
          <p:blipFill>
            <a:blip r:embed="rId3"/>
            <a:stretch>
              <a:fillRect/>
            </a:stretch>
          </p:blipFill>
          <p:spPr>
            <a:xfrm>
              <a:off x="23419841" y="13099049"/>
              <a:ext cx="1292314" cy="1711035"/>
            </a:xfrm>
            <a:prstGeom prst="rect">
              <a:avLst/>
            </a:prstGeom>
          </p:spPr>
        </p:pic>
        <p:pic>
          <p:nvPicPr>
            <p:cNvPr id="1374" name="Picture 1373" descr="A black hexagon with green balls&#10;&#10;Description automatically generated">
              <a:extLst>
                <a:ext uri="{FF2B5EF4-FFF2-40B4-BE49-F238E27FC236}">
                  <a16:creationId xmlns:a16="http://schemas.microsoft.com/office/drawing/2014/main" id="{5EF6AFCF-4E80-6EEC-8EFD-838091A138B5}"/>
                </a:ext>
              </a:extLst>
            </p:cNvPr>
            <p:cNvPicPr>
              <a:picLocks noChangeAspect="1"/>
            </p:cNvPicPr>
            <p:nvPr/>
          </p:nvPicPr>
          <p:blipFill>
            <a:blip r:embed="rId3"/>
            <a:stretch>
              <a:fillRect/>
            </a:stretch>
          </p:blipFill>
          <p:spPr>
            <a:xfrm>
              <a:off x="26818888" y="13078430"/>
              <a:ext cx="1292314" cy="1711035"/>
            </a:xfrm>
            <a:prstGeom prst="rect">
              <a:avLst/>
            </a:prstGeom>
          </p:spPr>
        </p:pic>
        <p:pic>
          <p:nvPicPr>
            <p:cNvPr id="1393" name="Picture 1392" descr="A black hexagon with green balls&#10;&#10;Description automatically generated">
              <a:extLst>
                <a:ext uri="{FF2B5EF4-FFF2-40B4-BE49-F238E27FC236}">
                  <a16:creationId xmlns:a16="http://schemas.microsoft.com/office/drawing/2014/main" id="{84D2ED17-F5B1-FB06-6BB6-553C448D5CEF}"/>
                </a:ext>
              </a:extLst>
            </p:cNvPr>
            <p:cNvPicPr>
              <a:picLocks noChangeAspect="1"/>
            </p:cNvPicPr>
            <p:nvPr/>
          </p:nvPicPr>
          <p:blipFill>
            <a:blip r:embed="rId3"/>
            <a:stretch>
              <a:fillRect/>
            </a:stretch>
          </p:blipFill>
          <p:spPr>
            <a:xfrm>
              <a:off x="6458835" y="6727199"/>
              <a:ext cx="1292314" cy="1711035"/>
            </a:xfrm>
            <a:prstGeom prst="rect">
              <a:avLst/>
            </a:prstGeom>
          </p:spPr>
        </p:pic>
        <p:pic>
          <p:nvPicPr>
            <p:cNvPr id="1394" name="Picture 1393" descr="A black hexagon with green balls&#10;&#10;Description automatically generated">
              <a:extLst>
                <a:ext uri="{FF2B5EF4-FFF2-40B4-BE49-F238E27FC236}">
                  <a16:creationId xmlns:a16="http://schemas.microsoft.com/office/drawing/2014/main" id="{E10FC8E5-3D18-B7AD-8605-C50BA240E1F9}"/>
                </a:ext>
              </a:extLst>
            </p:cNvPr>
            <p:cNvPicPr>
              <a:picLocks noChangeAspect="1"/>
            </p:cNvPicPr>
            <p:nvPr/>
          </p:nvPicPr>
          <p:blipFill>
            <a:blip r:embed="rId3"/>
            <a:stretch>
              <a:fillRect/>
            </a:stretch>
          </p:blipFill>
          <p:spPr>
            <a:xfrm>
              <a:off x="1387715" y="6719482"/>
              <a:ext cx="1292314" cy="1711035"/>
            </a:xfrm>
            <a:prstGeom prst="rect">
              <a:avLst/>
            </a:prstGeom>
          </p:spPr>
        </p:pic>
        <p:pic>
          <p:nvPicPr>
            <p:cNvPr id="1395" name="Picture 1394" descr="A black hexagon with green balls&#10;&#10;Description automatically generated">
              <a:extLst>
                <a:ext uri="{FF2B5EF4-FFF2-40B4-BE49-F238E27FC236}">
                  <a16:creationId xmlns:a16="http://schemas.microsoft.com/office/drawing/2014/main" id="{B0EC690C-775D-C972-B644-97E7BE054154}"/>
                </a:ext>
              </a:extLst>
            </p:cNvPr>
            <p:cNvPicPr>
              <a:picLocks noChangeAspect="1"/>
            </p:cNvPicPr>
            <p:nvPr/>
          </p:nvPicPr>
          <p:blipFill>
            <a:blip r:embed="rId3"/>
            <a:stretch>
              <a:fillRect/>
            </a:stretch>
          </p:blipFill>
          <p:spPr>
            <a:xfrm>
              <a:off x="10670614" y="10607563"/>
              <a:ext cx="1292314" cy="1711035"/>
            </a:xfrm>
            <a:prstGeom prst="rect">
              <a:avLst/>
            </a:prstGeom>
          </p:spPr>
        </p:pic>
        <p:pic>
          <p:nvPicPr>
            <p:cNvPr id="1408" name="Picture 1407" descr="A black hexagon with green balls&#10;&#10;Description automatically generated">
              <a:extLst>
                <a:ext uri="{FF2B5EF4-FFF2-40B4-BE49-F238E27FC236}">
                  <a16:creationId xmlns:a16="http://schemas.microsoft.com/office/drawing/2014/main" id="{007A2111-E045-3833-0045-5E2D90F2559C}"/>
                </a:ext>
              </a:extLst>
            </p:cNvPr>
            <p:cNvPicPr>
              <a:picLocks noChangeAspect="1"/>
            </p:cNvPicPr>
            <p:nvPr/>
          </p:nvPicPr>
          <p:blipFill>
            <a:blip r:embed="rId3"/>
            <a:stretch>
              <a:fillRect/>
            </a:stretch>
          </p:blipFill>
          <p:spPr>
            <a:xfrm>
              <a:off x="13148938" y="10607563"/>
              <a:ext cx="1292314" cy="1711035"/>
            </a:xfrm>
            <a:prstGeom prst="rect">
              <a:avLst/>
            </a:prstGeom>
          </p:spPr>
        </p:pic>
        <p:pic>
          <p:nvPicPr>
            <p:cNvPr id="1409" name="Picture 1408" descr="A black hexagon with green balls&#10;&#10;Description automatically generated">
              <a:extLst>
                <a:ext uri="{FF2B5EF4-FFF2-40B4-BE49-F238E27FC236}">
                  <a16:creationId xmlns:a16="http://schemas.microsoft.com/office/drawing/2014/main" id="{F9B78CBB-0218-7DDB-DEB9-582B0932B479}"/>
                </a:ext>
              </a:extLst>
            </p:cNvPr>
            <p:cNvPicPr>
              <a:picLocks noChangeAspect="1"/>
            </p:cNvPicPr>
            <p:nvPr/>
          </p:nvPicPr>
          <p:blipFill>
            <a:blip r:embed="rId3"/>
            <a:stretch>
              <a:fillRect/>
            </a:stretch>
          </p:blipFill>
          <p:spPr>
            <a:xfrm>
              <a:off x="15595525" y="10607563"/>
              <a:ext cx="1292314" cy="1711035"/>
            </a:xfrm>
            <a:prstGeom prst="rect">
              <a:avLst/>
            </a:prstGeom>
          </p:spPr>
        </p:pic>
        <p:pic>
          <p:nvPicPr>
            <p:cNvPr id="1410" name="Picture 1409" descr="A black hexagon with green balls&#10;&#10;Description automatically generated">
              <a:extLst>
                <a:ext uri="{FF2B5EF4-FFF2-40B4-BE49-F238E27FC236}">
                  <a16:creationId xmlns:a16="http://schemas.microsoft.com/office/drawing/2014/main" id="{97BCEAF6-F20B-9EF5-D810-6B8383A65404}"/>
                </a:ext>
              </a:extLst>
            </p:cNvPr>
            <p:cNvPicPr>
              <a:picLocks noChangeAspect="1"/>
            </p:cNvPicPr>
            <p:nvPr/>
          </p:nvPicPr>
          <p:blipFill>
            <a:blip r:embed="rId3"/>
            <a:stretch>
              <a:fillRect/>
            </a:stretch>
          </p:blipFill>
          <p:spPr>
            <a:xfrm>
              <a:off x="10689905" y="14470358"/>
              <a:ext cx="1292314" cy="1711035"/>
            </a:xfrm>
            <a:prstGeom prst="rect">
              <a:avLst/>
            </a:prstGeom>
          </p:spPr>
        </p:pic>
        <p:pic>
          <p:nvPicPr>
            <p:cNvPr id="1411" name="Picture 1410" descr="A black hexagon with green balls&#10;&#10;Description automatically generated">
              <a:extLst>
                <a:ext uri="{FF2B5EF4-FFF2-40B4-BE49-F238E27FC236}">
                  <a16:creationId xmlns:a16="http://schemas.microsoft.com/office/drawing/2014/main" id="{0C64CCA2-C660-3757-00C0-739E7FAE4284}"/>
                </a:ext>
              </a:extLst>
            </p:cNvPr>
            <p:cNvPicPr>
              <a:picLocks noChangeAspect="1"/>
            </p:cNvPicPr>
            <p:nvPr/>
          </p:nvPicPr>
          <p:blipFill>
            <a:blip r:embed="rId3"/>
            <a:stretch>
              <a:fillRect/>
            </a:stretch>
          </p:blipFill>
          <p:spPr>
            <a:xfrm>
              <a:off x="13168228" y="14470358"/>
              <a:ext cx="1292314" cy="1711035"/>
            </a:xfrm>
            <a:prstGeom prst="rect">
              <a:avLst/>
            </a:prstGeom>
          </p:spPr>
        </p:pic>
        <p:pic>
          <p:nvPicPr>
            <p:cNvPr id="1412" name="Picture 1411" descr="A black hexagon with green balls&#10;&#10;Description automatically generated">
              <a:extLst>
                <a:ext uri="{FF2B5EF4-FFF2-40B4-BE49-F238E27FC236}">
                  <a16:creationId xmlns:a16="http://schemas.microsoft.com/office/drawing/2014/main" id="{DDE0CF75-3AA1-C262-AD83-600BFD9F83A5}"/>
                </a:ext>
              </a:extLst>
            </p:cNvPr>
            <p:cNvPicPr>
              <a:picLocks noChangeAspect="1"/>
            </p:cNvPicPr>
            <p:nvPr/>
          </p:nvPicPr>
          <p:blipFill>
            <a:blip r:embed="rId3"/>
            <a:stretch>
              <a:fillRect/>
            </a:stretch>
          </p:blipFill>
          <p:spPr>
            <a:xfrm>
              <a:off x="15614816" y="14470358"/>
              <a:ext cx="1292314" cy="1711035"/>
            </a:xfrm>
            <a:prstGeom prst="rect">
              <a:avLst/>
            </a:prstGeom>
          </p:spPr>
        </p:pic>
        <p:pic>
          <p:nvPicPr>
            <p:cNvPr id="1413" name="Picture 1412" descr="A black hexagon with green balls&#10;&#10;Description automatically generated">
              <a:extLst>
                <a:ext uri="{FF2B5EF4-FFF2-40B4-BE49-F238E27FC236}">
                  <a16:creationId xmlns:a16="http://schemas.microsoft.com/office/drawing/2014/main" id="{7D239BEE-D6CC-EA24-46C1-ED501B21002A}"/>
                </a:ext>
              </a:extLst>
            </p:cNvPr>
            <p:cNvPicPr>
              <a:picLocks noChangeAspect="1"/>
            </p:cNvPicPr>
            <p:nvPr/>
          </p:nvPicPr>
          <p:blipFill>
            <a:blip r:embed="rId3"/>
            <a:stretch>
              <a:fillRect/>
            </a:stretch>
          </p:blipFill>
          <p:spPr>
            <a:xfrm>
              <a:off x="31319854" y="10618501"/>
              <a:ext cx="1292314" cy="1711035"/>
            </a:xfrm>
            <a:prstGeom prst="rect">
              <a:avLst/>
            </a:prstGeom>
          </p:spPr>
        </p:pic>
        <p:pic>
          <p:nvPicPr>
            <p:cNvPr id="1414" name="Picture 1413" descr="A black hexagon with green balls&#10;&#10;Description automatically generated">
              <a:extLst>
                <a:ext uri="{FF2B5EF4-FFF2-40B4-BE49-F238E27FC236}">
                  <a16:creationId xmlns:a16="http://schemas.microsoft.com/office/drawing/2014/main" id="{E735FD0A-5B10-F7DB-251A-F962CE53B7A8}"/>
                </a:ext>
              </a:extLst>
            </p:cNvPr>
            <p:cNvPicPr>
              <a:picLocks noChangeAspect="1"/>
            </p:cNvPicPr>
            <p:nvPr/>
          </p:nvPicPr>
          <p:blipFill>
            <a:blip r:embed="rId3"/>
            <a:stretch>
              <a:fillRect/>
            </a:stretch>
          </p:blipFill>
          <p:spPr>
            <a:xfrm>
              <a:off x="33828893" y="10628846"/>
              <a:ext cx="1292314" cy="1711035"/>
            </a:xfrm>
            <a:prstGeom prst="rect">
              <a:avLst/>
            </a:prstGeom>
          </p:spPr>
        </p:pic>
        <p:pic>
          <p:nvPicPr>
            <p:cNvPr id="1440" name="Picture 1439" descr="A black hexagon with green balls&#10;&#10;Description automatically generated">
              <a:extLst>
                <a:ext uri="{FF2B5EF4-FFF2-40B4-BE49-F238E27FC236}">
                  <a16:creationId xmlns:a16="http://schemas.microsoft.com/office/drawing/2014/main" id="{5F5EA732-966A-8CC5-581D-2DE8980DDB47}"/>
                </a:ext>
              </a:extLst>
            </p:cNvPr>
            <p:cNvPicPr>
              <a:picLocks noChangeAspect="1"/>
            </p:cNvPicPr>
            <p:nvPr/>
          </p:nvPicPr>
          <p:blipFill>
            <a:blip r:embed="rId3"/>
            <a:stretch>
              <a:fillRect/>
            </a:stretch>
          </p:blipFill>
          <p:spPr>
            <a:xfrm>
              <a:off x="31323280" y="14470358"/>
              <a:ext cx="1292314" cy="1711035"/>
            </a:xfrm>
            <a:prstGeom prst="rect">
              <a:avLst/>
            </a:prstGeom>
          </p:spPr>
        </p:pic>
        <p:pic>
          <p:nvPicPr>
            <p:cNvPr id="1441" name="Picture 1440" descr="A black hexagon with green balls&#10;&#10;Description automatically generated">
              <a:extLst>
                <a:ext uri="{FF2B5EF4-FFF2-40B4-BE49-F238E27FC236}">
                  <a16:creationId xmlns:a16="http://schemas.microsoft.com/office/drawing/2014/main" id="{CE48DB40-BE49-70D7-299E-230E05F366A9}"/>
                </a:ext>
              </a:extLst>
            </p:cNvPr>
            <p:cNvPicPr>
              <a:picLocks noChangeAspect="1"/>
            </p:cNvPicPr>
            <p:nvPr/>
          </p:nvPicPr>
          <p:blipFill>
            <a:blip r:embed="rId3"/>
            <a:stretch>
              <a:fillRect/>
            </a:stretch>
          </p:blipFill>
          <p:spPr>
            <a:xfrm>
              <a:off x="33832320" y="14470358"/>
              <a:ext cx="1292314" cy="1711035"/>
            </a:xfrm>
            <a:prstGeom prst="rect">
              <a:avLst/>
            </a:prstGeom>
          </p:spPr>
        </p:pic>
        <p:pic>
          <p:nvPicPr>
            <p:cNvPr id="1442" name="Picture 1441" descr="A black hexagon with green balls&#10;&#10;Description automatically generated">
              <a:extLst>
                <a:ext uri="{FF2B5EF4-FFF2-40B4-BE49-F238E27FC236}">
                  <a16:creationId xmlns:a16="http://schemas.microsoft.com/office/drawing/2014/main" id="{5FC41F59-29AA-9FE1-C7B2-0FFFB9907830}"/>
                </a:ext>
              </a:extLst>
            </p:cNvPr>
            <p:cNvPicPr>
              <a:picLocks noChangeAspect="1"/>
            </p:cNvPicPr>
            <p:nvPr/>
          </p:nvPicPr>
          <p:blipFill>
            <a:blip r:embed="rId3"/>
            <a:stretch>
              <a:fillRect/>
            </a:stretch>
          </p:blipFill>
          <p:spPr>
            <a:xfrm>
              <a:off x="32535233" y="6729758"/>
              <a:ext cx="1292314" cy="1711035"/>
            </a:xfrm>
            <a:prstGeom prst="rect">
              <a:avLst/>
            </a:prstGeom>
          </p:spPr>
        </p:pic>
        <p:pic>
          <p:nvPicPr>
            <p:cNvPr id="3" name="Picture 2" descr="A black hexagon with green balls&#10;&#10;Description automatically generated">
              <a:extLst>
                <a:ext uri="{FF2B5EF4-FFF2-40B4-BE49-F238E27FC236}">
                  <a16:creationId xmlns:a16="http://schemas.microsoft.com/office/drawing/2014/main" id="{3EDF3C03-6EDA-85FB-ED74-868B03961ED6}"/>
                </a:ext>
              </a:extLst>
            </p:cNvPr>
            <p:cNvPicPr>
              <a:picLocks noChangeAspect="1"/>
            </p:cNvPicPr>
            <p:nvPr/>
          </p:nvPicPr>
          <p:blipFill>
            <a:blip r:embed="rId3"/>
            <a:stretch>
              <a:fillRect/>
            </a:stretch>
          </p:blipFill>
          <p:spPr>
            <a:xfrm>
              <a:off x="10662009" y="6729758"/>
              <a:ext cx="1292314" cy="1711035"/>
            </a:xfrm>
            <a:prstGeom prst="rect">
              <a:avLst/>
            </a:prstGeom>
          </p:spPr>
        </p:pic>
        <p:sp>
          <p:nvSpPr>
            <p:cNvPr id="4" name="TextBox 3">
              <a:extLst>
                <a:ext uri="{FF2B5EF4-FFF2-40B4-BE49-F238E27FC236}">
                  <a16:creationId xmlns:a16="http://schemas.microsoft.com/office/drawing/2014/main" id="{C3709728-45EC-8BFB-C4BD-7EF9E59660FB}"/>
                </a:ext>
              </a:extLst>
            </p:cNvPr>
            <p:cNvSpPr txBox="1"/>
            <p:nvPr/>
          </p:nvSpPr>
          <p:spPr>
            <a:xfrm>
              <a:off x="10330592" y="8720164"/>
              <a:ext cx="1938117" cy="1077218"/>
            </a:xfrm>
            <a:prstGeom prst="rect">
              <a:avLst/>
            </a:prstGeom>
            <a:noFill/>
          </p:spPr>
          <p:txBody>
            <a:bodyPr wrap="square" rtlCol="0">
              <a:spAutoFit/>
            </a:bodyPr>
            <a:lstStyle/>
            <a:p>
              <a:pPr algn="ctr"/>
              <a:r>
                <a:rPr lang="en-US" sz="3200">
                  <a:solidFill>
                    <a:schemeClr val="bg1">
                      <a:lumMod val="85000"/>
                      <a:lumOff val="15000"/>
                    </a:schemeClr>
                  </a:solidFill>
                </a:rPr>
                <a:t>Adept 110B</a:t>
              </a:r>
            </a:p>
          </p:txBody>
        </p:sp>
        <p:sp>
          <p:nvSpPr>
            <p:cNvPr id="5" name="TextBox 4">
              <a:extLst>
                <a:ext uri="{FF2B5EF4-FFF2-40B4-BE49-F238E27FC236}">
                  <a16:creationId xmlns:a16="http://schemas.microsoft.com/office/drawing/2014/main" id="{CA07E8D4-8866-D6E6-E3C1-11D065BFA6C3}"/>
                </a:ext>
              </a:extLst>
            </p:cNvPr>
            <p:cNvSpPr txBox="1"/>
            <p:nvPr/>
          </p:nvSpPr>
          <p:spPr>
            <a:xfrm>
              <a:off x="1151959" y="12574941"/>
              <a:ext cx="2030956" cy="584775"/>
            </a:xfrm>
            <a:prstGeom prst="rect">
              <a:avLst/>
            </a:prstGeom>
            <a:noFill/>
          </p:spPr>
          <p:txBody>
            <a:bodyPr wrap="square" rtlCol="0">
              <a:spAutoFit/>
            </a:bodyPr>
            <a:lstStyle/>
            <a:p>
              <a:pPr algn="ctr"/>
              <a:r>
                <a:rPr lang="en-US" sz="3200">
                  <a:solidFill>
                    <a:schemeClr val="bg1">
                      <a:lumMod val="85000"/>
                      <a:lumOff val="15000"/>
                    </a:schemeClr>
                  </a:solidFill>
                </a:rPr>
                <a:t>Jamba</a:t>
              </a:r>
            </a:p>
          </p:txBody>
        </p:sp>
        <p:pic>
          <p:nvPicPr>
            <p:cNvPr id="6" name="Picture 5" descr="A black hexagon with green balls&#10;&#10;Description automatically generated">
              <a:extLst>
                <a:ext uri="{FF2B5EF4-FFF2-40B4-BE49-F238E27FC236}">
                  <a16:creationId xmlns:a16="http://schemas.microsoft.com/office/drawing/2014/main" id="{7E2461C0-0D69-DF22-8BCA-A1FAAE9CA658}"/>
                </a:ext>
              </a:extLst>
            </p:cNvPr>
            <p:cNvPicPr>
              <a:picLocks noChangeAspect="1"/>
            </p:cNvPicPr>
            <p:nvPr/>
          </p:nvPicPr>
          <p:blipFill>
            <a:blip r:embed="rId3"/>
            <a:stretch>
              <a:fillRect/>
            </a:stretch>
          </p:blipFill>
          <p:spPr>
            <a:xfrm>
              <a:off x="1539590" y="10618501"/>
              <a:ext cx="1292314" cy="1711035"/>
            </a:xfrm>
            <a:prstGeom prst="rect">
              <a:avLst/>
            </a:prstGeom>
          </p:spPr>
        </p:pic>
        <p:sp>
          <p:nvSpPr>
            <p:cNvPr id="7" name="TextBox 6">
              <a:extLst>
                <a:ext uri="{FF2B5EF4-FFF2-40B4-BE49-F238E27FC236}">
                  <a16:creationId xmlns:a16="http://schemas.microsoft.com/office/drawing/2014/main" id="{B56FD4BC-BDD7-2713-7B91-EF7EF3ED88D1}"/>
                </a:ext>
              </a:extLst>
            </p:cNvPr>
            <p:cNvSpPr txBox="1"/>
            <p:nvPr/>
          </p:nvSpPr>
          <p:spPr>
            <a:xfrm>
              <a:off x="3416626" y="8720164"/>
              <a:ext cx="2400465" cy="584775"/>
            </a:xfrm>
            <a:prstGeom prst="rect">
              <a:avLst/>
            </a:prstGeom>
            <a:noFill/>
          </p:spPr>
          <p:txBody>
            <a:bodyPr wrap="square" rtlCol="0">
              <a:spAutoFit/>
            </a:bodyPr>
            <a:lstStyle/>
            <a:p>
              <a:pPr algn="ctr"/>
              <a:r>
                <a:rPr lang="en-US" sz="3200">
                  <a:solidFill>
                    <a:schemeClr val="bg1">
                      <a:lumMod val="85000"/>
                      <a:lumOff val="15000"/>
                    </a:schemeClr>
                  </a:solidFill>
                </a:rPr>
                <a:t>Cohere 35B</a:t>
              </a:r>
            </a:p>
          </p:txBody>
        </p:sp>
        <p:pic>
          <p:nvPicPr>
            <p:cNvPr id="8" name="Picture 7" descr="A black hexagon with green balls&#10;&#10;Description automatically generated">
              <a:extLst>
                <a:ext uri="{FF2B5EF4-FFF2-40B4-BE49-F238E27FC236}">
                  <a16:creationId xmlns:a16="http://schemas.microsoft.com/office/drawing/2014/main" id="{379A2D5E-1CCD-82EF-9E10-5CE3304BEDC5}"/>
                </a:ext>
              </a:extLst>
            </p:cNvPr>
            <p:cNvPicPr>
              <a:picLocks noChangeAspect="1"/>
            </p:cNvPicPr>
            <p:nvPr/>
          </p:nvPicPr>
          <p:blipFill>
            <a:blip r:embed="rId3"/>
            <a:stretch>
              <a:fillRect/>
            </a:stretch>
          </p:blipFill>
          <p:spPr>
            <a:xfrm>
              <a:off x="3995379" y="6729758"/>
              <a:ext cx="1292314" cy="1711035"/>
            </a:xfrm>
            <a:prstGeom prst="rect">
              <a:avLst/>
            </a:prstGeom>
          </p:spPr>
        </p:pic>
        <p:sp>
          <p:nvSpPr>
            <p:cNvPr id="9" name="TextBox 8">
              <a:extLst>
                <a:ext uri="{FF2B5EF4-FFF2-40B4-BE49-F238E27FC236}">
                  <a16:creationId xmlns:a16="http://schemas.microsoft.com/office/drawing/2014/main" id="{B4EAE97C-D203-69EA-0190-D98B791198EB}"/>
                </a:ext>
              </a:extLst>
            </p:cNvPr>
            <p:cNvSpPr txBox="1"/>
            <p:nvPr/>
          </p:nvSpPr>
          <p:spPr>
            <a:xfrm>
              <a:off x="5901932" y="16435850"/>
              <a:ext cx="2381565" cy="584775"/>
            </a:xfrm>
            <a:prstGeom prst="rect">
              <a:avLst/>
            </a:prstGeom>
            <a:noFill/>
          </p:spPr>
          <p:txBody>
            <a:bodyPr wrap="square" rtlCol="0">
              <a:spAutoFit/>
            </a:bodyPr>
            <a:lstStyle/>
            <a:p>
              <a:pPr algn="ctr"/>
              <a:r>
                <a:rPr lang="en-US" sz="3200">
                  <a:solidFill>
                    <a:schemeClr val="bg1">
                      <a:lumMod val="85000"/>
                      <a:lumOff val="15000"/>
                    </a:schemeClr>
                  </a:solidFill>
                </a:rPr>
                <a:t>Phi-2</a:t>
              </a:r>
            </a:p>
          </p:txBody>
        </p:sp>
        <p:pic>
          <p:nvPicPr>
            <p:cNvPr id="10" name="Picture 9" descr="A black hexagon with green balls&#10;&#10;Description automatically generated">
              <a:extLst>
                <a:ext uri="{FF2B5EF4-FFF2-40B4-BE49-F238E27FC236}">
                  <a16:creationId xmlns:a16="http://schemas.microsoft.com/office/drawing/2014/main" id="{F1BF66AD-AE89-CCF5-737D-266390BC23A4}"/>
                </a:ext>
              </a:extLst>
            </p:cNvPr>
            <p:cNvPicPr>
              <a:picLocks noChangeAspect="1"/>
            </p:cNvPicPr>
            <p:nvPr/>
          </p:nvPicPr>
          <p:blipFill>
            <a:blip r:embed="rId3"/>
            <a:stretch>
              <a:fillRect/>
            </a:stretch>
          </p:blipFill>
          <p:spPr>
            <a:xfrm>
              <a:off x="6446558" y="14453256"/>
              <a:ext cx="1292314" cy="1711035"/>
            </a:xfrm>
            <a:prstGeom prst="rect">
              <a:avLst/>
            </a:prstGeom>
          </p:spPr>
        </p:pic>
      </p:grpSp>
      <p:sp>
        <p:nvSpPr>
          <p:cNvPr id="19" name="Title 18">
            <a:extLst>
              <a:ext uri="{FF2B5EF4-FFF2-40B4-BE49-F238E27FC236}">
                <a16:creationId xmlns:a16="http://schemas.microsoft.com/office/drawing/2014/main" id="{03220BED-23D3-9AD6-CC3E-DA0BDAECA3E6}"/>
              </a:ext>
            </a:extLst>
          </p:cNvPr>
          <p:cNvSpPr>
            <a:spLocks noGrp="1"/>
          </p:cNvSpPr>
          <p:nvPr>
            <p:ph type="title"/>
          </p:nvPr>
        </p:nvSpPr>
        <p:spPr>
          <a:xfrm>
            <a:off x="4174299" y="0"/>
            <a:ext cx="31546800" cy="2514601"/>
          </a:xfrm>
        </p:spPr>
        <p:txBody>
          <a:bodyPr/>
          <a:lstStyle/>
          <a:p>
            <a:r>
              <a:rPr lang="en-US">
                <a:latin typeface="NVIDIA Sans"/>
                <a:cs typeface="NVIDIA Sans"/>
              </a:rPr>
              <a:t>NVIDIA NIM for Every Domain</a:t>
            </a:r>
            <a:endParaRPr lang="en-US"/>
          </a:p>
        </p:txBody>
      </p:sp>
    </p:spTree>
    <p:extLst>
      <p:ext uri="{BB962C8B-B14F-4D97-AF65-F5344CB8AC3E}">
        <p14:creationId xmlns:p14="http://schemas.microsoft.com/office/powerpoint/2010/main" val="9209470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9574" y="19633768"/>
            <a:ext cx="6503213" cy="446456"/>
          </a:xfrm>
          <a:prstGeom prst="rect">
            <a:avLst/>
          </a:prstGeom>
          <a:noFill/>
        </p:spPr>
        <p:txBody>
          <a:bodyPr wrap="none">
            <a:spAutoFit/>
          </a:bodyPr>
          <a:lstStyle/>
          <a:p>
            <a:r>
              <a:rPr sz="2300">
                <a:solidFill>
                  <a:srgbClr val="000000"/>
                </a:solidFill>
                <a:latin typeface="NVIDIA Sans Medium"/>
              </a:rPr>
              <a:t>NVIDIA CONFIDENTIAL. DO NOT DISTRIBUTE.</a:t>
            </a:r>
          </a:p>
        </p:txBody>
      </p:sp>
      <p:sp>
        <p:nvSpPr>
          <p:cNvPr id="3" name="TextBox 2"/>
          <p:cNvSpPr txBox="1"/>
          <p:nvPr/>
        </p:nvSpPr>
        <p:spPr>
          <a:xfrm>
            <a:off x="1463040" y="1097280"/>
            <a:ext cx="33649920" cy="2377440"/>
          </a:xfrm>
          <a:prstGeom prst="rect">
            <a:avLst/>
          </a:prstGeom>
          <a:noFill/>
        </p:spPr>
        <p:txBody>
          <a:bodyPr wrap="square" lIns="50000" tIns="20000" rIns="50000" bIns="20000" anchor="ctr">
            <a:spAutoFit/>
          </a:bodyPr>
          <a:lstStyle/>
          <a:p>
            <a:pPr algn="l"/>
            <a:r>
              <a:rPr sz="7200" b="1" i="0">
                <a:solidFill>
                  <a:srgbClr val="000000"/>
                </a:solidFill>
                <a:latin typeface="NVIDIA Sans Medium"/>
              </a:rPr>
              <a:t>Browse + Pull from build.nvidia.com</a:t>
            </a:r>
          </a:p>
        </p:txBody>
      </p:sp>
      <p:sp>
        <p:nvSpPr>
          <p:cNvPr id="4" name="TextBox 3"/>
          <p:cNvSpPr txBox="1"/>
          <p:nvPr/>
        </p:nvSpPr>
        <p:spPr>
          <a:xfrm>
            <a:off x="1463040" y="3474720"/>
            <a:ext cx="33649920" cy="1280160"/>
          </a:xfrm>
          <a:prstGeom prst="rect">
            <a:avLst/>
          </a:prstGeom>
          <a:noFill/>
        </p:spPr>
        <p:txBody>
          <a:bodyPr wrap="square" lIns="50000" tIns="20000" rIns="50000" bIns="20000" anchor="ctr">
            <a:spAutoFit/>
          </a:bodyPr>
          <a:lstStyle/>
          <a:p>
            <a:pPr algn="l"/>
            <a:r>
              <a:rPr sz="4400" b="0" i="1">
                <a:solidFill>
                  <a:srgbClr val="5E5E5E"/>
                </a:solidFill>
                <a:latin typeface="NVIDIA Sans"/>
              </a:rPr>
              <a:t>The model catalog + a playground + the docker pull command</a:t>
            </a:r>
          </a:p>
        </p:txBody>
      </p:sp>
      <p:sp>
        <p:nvSpPr>
          <p:cNvPr id="5" name="Rectangle 4"/>
          <p:cNvSpPr/>
          <p:nvPr/>
        </p:nvSpPr>
        <p:spPr>
          <a:xfrm>
            <a:off x="1463040" y="4901184"/>
            <a:ext cx="2194560" cy="109728"/>
          </a:xfrm>
          <a:prstGeom prst="rect">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828800" y="5852160"/>
            <a:ext cx="16459200" cy="12435840"/>
          </a:xfrm>
          <a:prstGeom prst="roundRect">
            <a:avLst>
              <a:gd name="adj" fmla="val 4000"/>
            </a:avLst>
          </a:prstGeom>
          <a:solidFill>
            <a:srgbClr val="F7F7F7"/>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60320" y="6510528"/>
            <a:ext cx="15361920" cy="1463040"/>
          </a:xfrm>
          <a:prstGeom prst="rect">
            <a:avLst/>
          </a:prstGeom>
          <a:noFill/>
        </p:spPr>
        <p:txBody>
          <a:bodyPr wrap="square" lIns="50000" tIns="20000" rIns="50000" bIns="20000" anchor="t">
            <a:spAutoFit/>
          </a:bodyPr>
          <a:lstStyle/>
          <a:p>
            <a:pPr algn="l"/>
            <a:r>
              <a:rPr sz="5200" b="1" i="0">
                <a:solidFill>
                  <a:srgbClr val="76B900"/>
                </a:solidFill>
                <a:latin typeface="NVIDIA Sans Medium"/>
              </a:rPr>
              <a:t>Catalog: build.nvidia.com</a:t>
            </a:r>
          </a:p>
        </p:txBody>
      </p:sp>
      <p:sp>
        <p:nvSpPr>
          <p:cNvPr id="8" name="Rounded Rectangle 7"/>
          <p:cNvSpPr/>
          <p:nvPr/>
        </p:nvSpPr>
        <p:spPr>
          <a:xfrm>
            <a:off x="2560320" y="8412480"/>
            <a:ext cx="15361920" cy="1536192"/>
          </a:xfrm>
          <a:prstGeom prst="roundRect">
            <a:avLst>
              <a:gd name="adj" fmla="val 4000"/>
            </a:avLst>
          </a:prstGeom>
          <a:solidFill>
            <a:srgbClr val="FFFFFF"/>
          </a:solidFill>
          <a:ln w="6350">
            <a:solidFill>
              <a:srgbClr val="CDCD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108960" y="8412480"/>
            <a:ext cx="7315200" cy="1536192"/>
          </a:xfrm>
          <a:prstGeom prst="rect">
            <a:avLst/>
          </a:prstGeom>
          <a:noFill/>
        </p:spPr>
        <p:txBody>
          <a:bodyPr wrap="square" lIns="50000" tIns="20000" rIns="50000" bIns="20000" anchor="ctr">
            <a:spAutoFit/>
          </a:bodyPr>
          <a:lstStyle/>
          <a:p>
            <a:pPr algn="l"/>
            <a:r>
              <a:rPr sz="4000" b="0" i="0">
                <a:solidFill>
                  <a:srgbClr val="76B900"/>
                </a:solidFill>
                <a:latin typeface="Consolas"/>
              </a:rPr>
              <a:t>nemotron-3-nano-30b-a3b</a:t>
            </a:r>
          </a:p>
        </p:txBody>
      </p:sp>
      <p:sp>
        <p:nvSpPr>
          <p:cNvPr id="10" name="TextBox 9"/>
          <p:cNvSpPr txBox="1"/>
          <p:nvPr/>
        </p:nvSpPr>
        <p:spPr>
          <a:xfrm>
            <a:off x="10424160" y="8412480"/>
            <a:ext cx="7315200" cy="1536192"/>
          </a:xfrm>
          <a:prstGeom prst="rect">
            <a:avLst/>
          </a:prstGeom>
          <a:noFill/>
        </p:spPr>
        <p:txBody>
          <a:bodyPr wrap="square" lIns="50000" tIns="20000" rIns="50000" bIns="20000" anchor="ctr">
            <a:spAutoFit/>
          </a:bodyPr>
          <a:lstStyle/>
          <a:p>
            <a:pPr algn="l"/>
            <a:r>
              <a:rPr sz="3600" b="0" i="0">
                <a:solidFill>
                  <a:srgbClr val="5E5E5E"/>
                </a:solidFill>
                <a:latin typeface="NVIDIA Sans"/>
              </a:rPr>
              <a:t>Nemotron-3 Nano · 30B MoE · FP8</a:t>
            </a:r>
          </a:p>
        </p:txBody>
      </p:sp>
      <p:sp>
        <p:nvSpPr>
          <p:cNvPr id="11" name="Rounded Rectangle 10"/>
          <p:cNvSpPr/>
          <p:nvPr/>
        </p:nvSpPr>
        <p:spPr>
          <a:xfrm>
            <a:off x="2560320" y="10241280"/>
            <a:ext cx="15361920" cy="1536192"/>
          </a:xfrm>
          <a:prstGeom prst="roundRect">
            <a:avLst>
              <a:gd name="adj" fmla="val 4000"/>
            </a:avLst>
          </a:prstGeom>
          <a:solidFill>
            <a:srgbClr val="FFFFFF"/>
          </a:solidFill>
          <a:ln w="6350">
            <a:solidFill>
              <a:srgbClr val="CDCD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108960" y="10241280"/>
            <a:ext cx="7315200" cy="1536192"/>
          </a:xfrm>
          <a:prstGeom prst="rect">
            <a:avLst/>
          </a:prstGeom>
          <a:noFill/>
        </p:spPr>
        <p:txBody>
          <a:bodyPr wrap="square" lIns="50000" tIns="20000" rIns="50000" bIns="20000" anchor="ctr">
            <a:spAutoFit/>
          </a:bodyPr>
          <a:lstStyle/>
          <a:p>
            <a:pPr algn="l"/>
            <a:r>
              <a:rPr sz="4000" b="0" i="0">
                <a:solidFill>
                  <a:srgbClr val="76B900"/>
                </a:solidFill>
                <a:latin typeface="Consolas"/>
              </a:rPr>
              <a:t>llama-3.3-70b-instruct</a:t>
            </a:r>
          </a:p>
        </p:txBody>
      </p:sp>
      <p:sp>
        <p:nvSpPr>
          <p:cNvPr id="13" name="TextBox 12"/>
          <p:cNvSpPr txBox="1"/>
          <p:nvPr/>
        </p:nvSpPr>
        <p:spPr>
          <a:xfrm>
            <a:off x="10424160" y="10241280"/>
            <a:ext cx="7315200" cy="1536192"/>
          </a:xfrm>
          <a:prstGeom prst="rect">
            <a:avLst/>
          </a:prstGeom>
          <a:noFill/>
        </p:spPr>
        <p:txBody>
          <a:bodyPr wrap="square" lIns="50000" tIns="20000" rIns="50000" bIns="20000" anchor="ctr">
            <a:spAutoFit/>
          </a:bodyPr>
          <a:lstStyle/>
          <a:p>
            <a:pPr algn="l"/>
            <a:r>
              <a:rPr sz="3600" b="0" i="0">
                <a:solidFill>
                  <a:srgbClr val="5E5E5E"/>
                </a:solidFill>
                <a:latin typeface="NVIDIA Sans"/>
              </a:rPr>
              <a:t>Llama 3.3 · 70B · Instruct</a:t>
            </a:r>
          </a:p>
        </p:txBody>
      </p:sp>
      <p:sp>
        <p:nvSpPr>
          <p:cNvPr id="14" name="Rounded Rectangle 13"/>
          <p:cNvSpPr/>
          <p:nvPr/>
        </p:nvSpPr>
        <p:spPr>
          <a:xfrm>
            <a:off x="2560320" y="12070080"/>
            <a:ext cx="15361920" cy="1536192"/>
          </a:xfrm>
          <a:prstGeom prst="roundRect">
            <a:avLst>
              <a:gd name="adj" fmla="val 4000"/>
            </a:avLst>
          </a:prstGeom>
          <a:solidFill>
            <a:srgbClr val="FFFFFF"/>
          </a:solidFill>
          <a:ln w="6350">
            <a:solidFill>
              <a:srgbClr val="CDCD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108960" y="12070080"/>
            <a:ext cx="7315200" cy="1536192"/>
          </a:xfrm>
          <a:prstGeom prst="rect">
            <a:avLst/>
          </a:prstGeom>
          <a:noFill/>
        </p:spPr>
        <p:txBody>
          <a:bodyPr wrap="square" lIns="50000" tIns="20000" rIns="50000" bIns="20000" anchor="ctr">
            <a:spAutoFit/>
          </a:bodyPr>
          <a:lstStyle/>
          <a:p>
            <a:pPr algn="l"/>
            <a:r>
              <a:rPr sz="4000" b="0" i="0">
                <a:solidFill>
                  <a:srgbClr val="76B900"/>
                </a:solidFill>
                <a:latin typeface="Consolas"/>
              </a:rPr>
              <a:t>nv-embed-v2</a:t>
            </a:r>
          </a:p>
        </p:txBody>
      </p:sp>
      <p:sp>
        <p:nvSpPr>
          <p:cNvPr id="16" name="TextBox 15"/>
          <p:cNvSpPr txBox="1"/>
          <p:nvPr/>
        </p:nvSpPr>
        <p:spPr>
          <a:xfrm>
            <a:off x="10424160" y="12070080"/>
            <a:ext cx="7315200" cy="1536192"/>
          </a:xfrm>
          <a:prstGeom prst="rect">
            <a:avLst/>
          </a:prstGeom>
          <a:noFill/>
        </p:spPr>
        <p:txBody>
          <a:bodyPr wrap="square" lIns="50000" tIns="20000" rIns="50000" bIns="20000" anchor="ctr">
            <a:spAutoFit/>
          </a:bodyPr>
          <a:lstStyle/>
          <a:p>
            <a:pPr algn="l"/>
            <a:r>
              <a:rPr sz="3600" b="0" i="0">
                <a:solidFill>
                  <a:srgbClr val="5E5E5E"/>
                </a:solidFill>
                <a:latin typeface="NVIDIA Sans"/>
              </a:rPr>
              <a:t>Embedding · 1024-d · 4096-ctx</a:t>
            </a:r>
          </a:p>
        </p:txBody>
      </p:sp>
      <p:sp>
        <p:nvSpPr>
          <p:cNvPr id="17" name="Rounded Rectangle 16"/>
          <p:cNvSpPr/>
          <p:nvPr/>
        </p:nvSpPr>
        <p:spPr>
          <a:xfrm>
            <a:off x="2560320" y="13898880"/>
            <a:ext cx="15361920" cy="1536192"/>
          </a:xfrm>
          <a:prstGeom prst="roundRect">
            <a:avLst>
              <a:gd name="adj" fmla="val 4000"/>
            </a:avLst>
          </a:prstGeom>
          <a:solidFill>
            <a:srgbClr val="FFFFFF"/>
          </a:solidFill>
          <a:ln w="6350">
            <a:solidFill>
              <a:srgbClr val="CDCD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108960" y="13898880"/>
            <a:ext cx="7315200" cy="1536192"/>
          </a:xfrm>
          <a:prstGeom prst="rect">
            <a:avLst/>
          </a:prstGeom>
          <a:noFill/>
        </p:spPr>
        <p:txBody>
          <a:bodyPr wrap="square" lIns="50000" tIns="20000" rIns="50000" bIns="20000" anchor="ctr">
            <a:spAutoFit/>
          </a:bodyPr>
          <a:lstStyle/>
          <a:p>
            <a:pPr algn="l"/>
            <a:r>
              <a:rPr sz="4000" b="0" i="0">
                <a:solidFill>
                  <a:srgbClr val="76B900"/>
                </a:solidFill>
                <a:latin typeface="Consolas"/>
              </a:rPr>
              <a:t>llama-3.2-90b-vision</a:t>
            </a:r>
          </a:p>
        </p:txBody>
      </p:sp>
      <p:sp>
        <p:nvSpPr>
          <p:cNvPr id="19" name="TextBox 18"/>
          <p:cNvSpPr txBox="1"/>
          <p:nvPr/>
        </p:nvSpPr>
        <p:spPr>
          <a:xfrm>
            <a:off x="10424160" y="13898880"/>
            <a:ext cx="7315200" cy="1536192"/>
          </a:xfrm>
          <a:prstGeom prst="rect">
            <a:avLst/>
          </a:prstGeom>
          <a:noFill/>
        </p:spPr>
        <p:txBody>
          <a:bodyPr wrap="square" lIns="50000" tIns="20000" rIns="50000" bIns="20000" anchor="ctr">
            <a:spAutoFit/>
          </a:bodyPr>
          <a:lstStyle/>
          <a:p>
            <a:pPr algn="l"/>
            <a:r>
              <a:rPr sz="3600" b="0" i="0">
                <a:solidFill>
                  <a:srgbClr val="5E5E5E"/>
                </a:solidFill>
                <a:latin typeface="NVIDIA Sans"/>
              </a:rPr>
              <a:t>Vision · 90B · multimodal</a:t>
            </a:r>
          </a:p>
        </p:txBody>
      </p:sp>
      <p:sp>
        <p:nvSpPr>
          <p:cNvPr id="20" name="Rounded Rectangle 19"/>
          <p:cNvSpPr/>
          <p:nvPr/>
        </p:nvSpPr>
        <p:spPr>
          <a:xfrm>
            <a:off x="2560320" y="15727680"/>
            <a:ext cx="15361920" cy="1536192"/>
          </a:xfrm>
          <a:prstGeom prst="roundRect">
            <a:avLst>
              <a:gd name="adj" fmla="val 4000"/>
            </a:avLst>
          </a:prstGeom>
          <a:solidFill>
            <a:srgbClr val="FFFFFF"/>
          </a:solidFill>
          <a:ln w="6350">
            <a:solidFill>
              <a:srgbClr val="CDCDC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108960" y="15727680"/>
            <a:ext cx="7315200" cy="1536192"/>
          </a:xfrm>
          <a:prstGeom prst="rect">
            <a:avLst/>
          </a:prstGeom>
          <a:noFill/>
        </p:spPr>
        <p:txBody>
          <a:bodyPr wrap="square" lIns="50000" tIns="20000" rIns="50000" bIns="20000" anchor="ctr">
            <a:spAutoFit/>
          </a:bodyPr>
          <a:lstStyle/>
          <a:p>
            <a:pPr algn="l"/>
            <a:r>
              <a:rPr sz="4000" b="0" i="0">
                <a:solidFill>
                  <a:srgbClr val="76B900"/>
                </a:solidFill>
                <a:latin typeface="Consolas"/>
              </a:rPr>
              <a:t>parakeet-ctc-1.1b</a:t>
            </a:r>
          </a:p>
        </p:txBody>
      </p:sp>
      <p:sp>
        <p:nvSpPr>
          <p:cNvPr id="22" name="TextBox 21"/>
          <p:cNvSpPr txBox="1"/>
          <p:nvPr/>
        </p:nvSpPr>
        <p:spPr>
          <a:xfrm>
            <a:off x="10424160" y="15727680"/>
            <a:ext cx="7315200" cy="1536192"/>
          </a:xfrm>
          <a:prstGeom prst="rect">
            <a:avLst/>
          </a:prstGeom>
          <a:noFill/>
        </p:spPr>
        <p:txBody>
          <a:bodyPr wrap="square" lIns="50000" tIns="20000" rIns="50000" bIns="20000" anchor="ctr">
            <a:spAutoFit/>
          </a:bodyPr>
          <a:lstStyle/>
          <a:p>
            <a:pPr algn="l"/>
            <a:r>
              <a:rPr sz="3600" b="0" i="0">
                <a:solidFill>
                  <a:srgbClr val="5E5E5E"/>
                </a:solidFill>
                <a:latin typeface="NVIDIA Sans"/>
              </a:rPr>
              <a:t>ASR · CTC · multilingual</a:t>
            </a:r>
          </a:p>
        </p:txBody>
      </p:sp>
      <p:sp>
        <p:nvSpPr>
          <p:cNvPr id="23" name="Rounded Rectangle 22"/>
          <p:cNvSpPr/>
          <p:nvPr/>
        </p:nvSpPr>
        <p:spPr>
          <a:xfrm>
            <a:off x="19019520" y="5852160"/>
            <a:ext cx="15727680" cy="12435840"/>
          </a:xfrm>
          <a:prstGeom prst="roundRect">
            <a:avLst>
              <a:gd name="adj" fmla="val 4000"/>
            </a:avLst>
          </a:prstGeom>
          <a:solidFill>
            <a:srgbClr val="222222"/>
          </a:solidFill>
          <a:ln w="6350">
            <a:solidFill>
              <a:srgbClr val="2222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9751040" y="6510528"/>
            <a:ext cx="14630400" cy="1463040"/>
          </a:xfrm>
          <a:prstGeom prst="rect">
            <a:avLst/>
          </a:prstGeom>
          <a:noFill/>
        </p:spPr>
        <p:txBody>
          <a:bodyPr wrap="square" lIns="50000" tIns="20000" rIns="50000" bIns="20000" anchor="t">
            <a:spAutoFit/>
          </a:bodyPr>
          <a:lstStyle/>
          <a:p>
            <a:pPr algn="l"/>
            <a:r>
              <a:rPr sz="5200" b="1" i="0">
                <a:solidFill>
                  <a:srgbClr val="76B900"/>
                </a:solidFill>
                <a:latin typeface="NVIDIA Sans Medium"/>
              </a:rPr>
              <a:t>From catalog to running NIM</a:t>
            </a:r>
          </a:p>
        </p:txBody>
      </p:sp>
      <p:sp>
        <p:nvSpPr>
          <p:cNvPr id="25" name="TextBox 24"/>
          <p:cNvSpPr txBox="1"/>
          <p:nvPr/>
        </p:nvSpPr>
        <p:spPr>
          <a:xfrm>
            <a:off x="19751040" y="8229600"/>
            <a:ext cx="14630400" cy="9875520"/>
          </a:xfrm>
          <a:prstGeom prst="rect">
            <a:avLst/>
          </a:prstGeom>
          <a:noFill/>
        </p:spPr>
        <p:txBody>
          <a:bodyPr wrap="square" lIns="50000" tIns="20000" rIns="50000" bIns="20000" anchor="t">
            <a:spAutoFit/>
          </a:bodyPr>
          <a:lstStyle/>
          <a:p>
            <a:pPr algn="l"/>
            <a:r>
              <a:rPr sz="3600" b="0" i="0">
                <a:solidFill>
                  <a:srgbClr val="C8DDB0"/>
                </a:solidFill>
                <a:latin typeface="Consolas"/>
              </a:rPr>
              <a:t># 1. Auth to NGC once</a:t>
            </a:r>
          </a:p>
          <a:p>
            <a:pPr algn="l"/>
            <a:r>
              <a:rPr sz="3600" b="0" i="0">
                <a:solidFill>
                  <a:srgbClr val="C8DDB0"/>
                </a:solidFill>
                <a:latin typeface="Consolas"/>
              </a:rPr>
              <a:t>echo "$NGC_API_KEY" | \</a:t>
            </a:r>
          </a:p>
          <a:p>
            <a:pPr algn="l"/>
            <a:r>
              <a:rPr sz="3600" b="0" i="0">
                <a:solidFill>
                  <a:srgbClr val="C8DDB0"/>
                </a:solidFill>
                <a:latin typeface="Consolas"/>
              </a:rPr>
              <a:t>  docker login nvcr.io \</a:t>
            </a:r>
          </a:p>
          <a:p>
            <a:pPr algn="l"/>
            <a:r>
              <a:rPr sz="3600" b="0" i="0">
                <a:solidFill>
                  <a:srgbClr val="C8DDB0"/>
                </a:solidFill>
                <a:latin typeface="Consolas"/>
              </a:rPr>
              <a:t>  -u '$oauthtoken' --password-stdin</a:t>
            </a:r>
          </a:p>
          <a:p>
            <a:pPr algn="l"/>
            <a:endParaRPr sz="3600" b="0" i="0">
              <a:solidFill>
                <a:srgbClr val="C8DDB0"/>
              </a:solidFill>
              <a:latin typeface="Consolas"/>
            </a:endParaRPr>
          </a:p>
          <a:p>
            <a:pPr algn="l"/>
            <a:r>
              <a:rPr sz="3600" b="0" i="0">
                <a:solidFill>
                  <a:srgbClr val="C8DDB0"/>
                </a:solidFill>
                <a:latin typeface="Consolas"/>
              </a:rPr>
              <a:t># 2. Pull</a:t>
            </a:r>
          </a:p>
          <a:p>
            <a:pPr algn="l"/>
            <a:r>
              <a:rPr sz="3600" b="0" i="0">
                <a:solidFill>
                  <a:srgbClr val="C8DDB0"/>
                </a:solidFill>
                <a:latin typeface="Consolas"/>
              </a:rPr>
              <a:t>docker pull nvcr.io/nim/nvidia/\</a:t>
            </a:r>
          </a:p>
          <a:p>
            <a:pPr algn="l"/>
            <a:r>
              <a:rPr sz="3600" b="0" i="0">
                <a:solidFill>
                  <a:srgbClr val="C8DDB0"/>
                </a:solidFill>
                <a:latin typeface="Consolas"/>
              </a:rPr>
              <a:t>  nemotron-3-nano:latest</a:t>
            </a:r>
          </a:p>
          <a:p>
            <a:pPr algn="l"/>
            <a:endParaRPr sz="3600" b="0" i="0">
              <a:solidFill>
                <a:srgbClr val="C8DDB0"/>
              </a:solidFill>
              <a:latin typeface="Consolas"/>
            </a:endParaRPr>
          </a:p>
          <a:p>
            <a:pPr algn="l"/>
            <a:r>
              <a:rPr sz="3600" b="0" i="0">
                <a:solidFill>
                  <a:srgbClr val="C8DDB0"/>
                </a:solidFill>
                <a:latin typeface="Consolas"/>
              </a:rPr>
              <a:t># 3. Run</a:t>
            </a:r>
          </a:p>
          <a:p>
            <a:pPr algn="l"/>
            <a:r>
              <a:rPr sz="3600" b="0" i="0">
                <a:solidFill>
                  <a:srgbClr val="C8DDB0"/>
                </a:solidFill>
                <a:latin typeface="Consolas"/>
              </a:rPr>
              <a:t>docker run --gpus all \</a:t>
            </a:r>
          </a:p>
          <a:p>
            <a:pPr algn="l"/>
            <a:r>
              <a:rPr sz="3600" b="0" i="0">
                <a:solidFill>
                  <a:srgbClr val="C8DDB0"/>
                </a:solidFill>
                <a:latin typeface="Consolas"/>
              </a:rPr>
              <a:t>  -p 8089:8000 \</a:t>
            </a:r>
          </a:p>
          <a:p>
            <a:pPr algn="l"/>
            <a:r>
              <a:rPr sz="3600" b="0" i="0">
                <a:solidFill>
                  <a:srgbClr val="C8DDB0"/>
                </a:solidFill>
                <a:latin typeface="Consolas"/>
              </a:rPr>
              <a:t>  nvcr.io/nim/nvidia/\</a:t>
            </a:r>
          </a:p>
          <a:p>
            <a:pPr algn="l"/>
            <a:r>
              <a:rPr sz="3600" b="0" i="0">
                <a:solidFill>
                  <a:srgbClr val="C8DDB0"/>
                </a:solidFill>
                <a:latin typeface="Consolas"/>
              </a:rPr>
              <a:t>  nemotron-3-nano:latest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9574" y="19633768"/>
            <a:ext cx="6503213" cy="446456"/>
          </a:xfrm>
          <a:prstGeom prst="rect">
            <a:avLst/>
          </a:prstGeom>
          <a:noFill/>
        </p:spPr>
        <p:txBody>
          <a:bodyPr wrap="none">
            <a:spAutoFit/>
          </a:bodyPr>
          <a:lstStyle/>
          <a:p>
            <a:r>
              <a:rPr sz="2300">
                <a:solidFill>
                  <a:srgbClr val="000000"/>
                </a:solidFill>
                <a:latin typeface="NVIDIA Sans Medium"/>
              </a:rPr>
              <a:t>NVIDIA CONFIDENTIAL. DO NOT DISTRIBUTE.</a:t>
            </a:r>
          </a:p>
        </p:txBody>
      </p:sp>
      <p:sp>
        <p:nvSpPr>
          <p:cNvPr id="3" name="TextBox 2"/>
          <p:cNvSpPr txBox="1"/>
          <p:nvPr/>
        </p:nvSpPr>
        <p:spPr>
          <a:xfrm>
            <a:off x="1463040" y="1097280"/>
            <a:ext cx="33649920" cy="2377440"/>
          </a:xfrm>
          <a:prstGeom prst="rect">
            <a:avLst/>
          </a:prstGeom>
          <a:noFill/>
        </p:spPr>
        <p:txBody>
          <a:bodyPr wrap="square" lIns="50000" tIns="20000" rIns="50000" bIns="20000" anchor="ctr">
            <a:spAutoFit/>
          </a:bodyPr>
          <a:lstStyle/>
          <a:p>
            <a:pPr algn="l"/>
            <a:r>
              <a:rPr sz="7200" b="1" i="0">
                <a:solidFill>
                  <a:srgbClr val="000000"/>
                </a:solidFill>
                <a:latin typeface="NVIDIA Sans Medium"/>
              </a:rPr>
              <a:t>Performance Knobs</a:t>
            </a:r>
          </a:p>
        </p:txBody>
      </p:sp>
      <p:sp>
        <p:nvSpPr>
          <p:cNvPr id="4" name="TextBox 3"/>
          <p:cNvSpPr txBox="1"/>
          <p:nvPr/>
        </p:nvSpPr>
        <p:spPr>
          <a:xfrm>
            <a:off x="1463040" y="3474720"/>
            <a:ext cx="33649920" cy="1280160"/>
          </a:xfrm>
          <a:prstGeom prst="rect">
            <a:avLst/>
          </a:prstGeom>
          <a:noFill/>
        </p:spPr>
        <p:txBody>
          <a:bodyPr wrap="square" lIns="50000" tIns="20000" rIns="50000" bIns="20000" anchor="ctr">
            <a:spAutoFit/>
          </a:bodyPr>
          <a:lstStyle/>
          <a:p>
            <a:pPr algn="l"/>
            <a:r>
              <a:rPr sz="4400" b="0" i="1">
                <a:solidFill>
                  <a:srgbClr val="5E5E5E"/>
                </a:solidFill>
                <a:latin typeface="NVIDIA Sans"/>
              </a:rPr>
              <a:t>What makes a NIM faster than naive inference</a:t>
            </a:r>
          </a:p>
        </p:txBody>
      </p:sp>
      <p:sp>
        <p:nvSpPr>
          <p:cNvPr id="5" name="Rectangle 4"/>
          <p:cNvSpPr/>
          <p:nvPr/>
        </p:nvSpPr>
        <p:spPr>
          <a:xfrm>
            <a:off x="1463040" y="4901184"/>
            <a:ext cx="2194560" cy="109728"/>
          </a:xfrm>
          <a:prstGeom prst="rect">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463040" y="5852160"/>
            <a:ext cx="10789920" cy="5486400"/>
          </a:xfrm>
          <a:prstGeom prst="roundRect">
            <a:avLst>
              <a:gd name="adj" fmla="val 4000"/>
            </a:avLst>
          </a:prstGeom>
          <a:solidFill>
            <a:srgbClr val="F7F7F7"/>
          </a:solidFill>
          <a:ln w="1270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peed.png"/>
          <p:cNvPicPr>
            <a:picLocks noChangeAspect="1"/>
          </p:cNvPicPr>
          <p:nvPr/>
        </p:nvPicPr>
        <p:blipFill>
          <a:blip r:embed="rId3"/>
          <a:stretch>
            <a:fillRect/>
          </a:stretch>
        </p:blipFill>
        <p:spPr>
          <a:xfrm>
            <a:off x="2011680" y="6400800"/>
            <a:ext cx="1645920" cy="1645920"/>
          </a:xfrm>
          <a:prstGeom prst="rect">
            <a:avLst/>
          </a:prstGeom>
        </p:spPr>
      </p:pic>
      <p:sp>
        <p:nvSpPr>
          <p:cNvPr id="8" name="TextBox 7"/>
          <p:cNvSpPr txBox="1"/>
          <p:nvPr/>
        </p:nvSpPr>
        <p:spPr>
          <a:xfrm>
            <a:off x="4023360" y="6400800"/>
            <a:ext cx="7680960" cy="1463040"/>
          </a:xfrm>
          <a:prstGeom prst="rect">
            <a:avLst/>
          </a:prstGeom>
          <a:noFill/>
        </p:spPr>
        <p:txBody>
          <a:bodyPr wrap="square" lIns="50000" tIns="20000" rIns="50000" bIns="20000" anchor="t">
            <a:spAutoFit/>
          </a:bodyPr>
          <a:lstStyle/>
          <a:p>
            <a:pPr algn="l"/>
            <a:r>
              <a:rPr sz="4800" b="1" i="0">
                <a:solidFill>
                  <a:srgbClr val="76B900"/>
                </a:solidFill>
                <a:latin typeface="NVIDIA Sans Medium"/>
              </a:rPr>
              <a:t>TRT-LLM kernels</a:t>
            </a:r>
          </a:p>
        </p:txBody>
      </p:sp>
      <p:sp>
        <p:nvSpPr>
          <p:cNvPr id="9" name="TextBox 8"/>
          <p:cNvSpPr txBox="1"/>
          <p:nvPr/>
        </p:nvSpPr>
        <p:spPr>
          <a:xfrm>
            <a:off x="2194560" y="8229600"/>
            <a:ext cx="9326880" cy="2743200"/>
          </a:xfrm>
          <a:prstGeom prst="rect">
            <a:avLst/>
          </a:prstGeom>
          <a:noFill/>
        </p:spPr>
        <p:txBody>
          <a:bodyPr wrap="square" lIns="50000" tIns="20000" rIns="50000" bIns="20000" anchor="t">
            <a:spAutoFit/>
          </a:bodyPr>
          <a:lstStyle/>
          <a:p>
            <a:pPr algn="l"/>
            <a:r>
              <a:rPr sz="4000" b="0" i="0">
                <a:solidFill>
                  <a:srgbClr val="000000"/>
                </a:solidFill>
                <a:latin typeface="NVIDIA Sans"/>
              </a:rPr>
              <a:t>Fused GEMM, paged attention, GQA-aware</a:t>
            </a:r>
          </a:p>
        </p:txBody>
      </p:sp>
      <p:sp>
        <p:nvSpPr>
          <p:cNvPr id="10" name="Rounded Rectangle 9"/>
          <p:cNvSpPr/>
          <p:nvPr/>
        </p:nvSpPr>
        <p:spPr>
          <a:xfrm>
            <a:off x="12801600" y="5852160"/>
            <a:ext cx="10789920" cy="5486400"/>
          </a:xfrm>
          <a:prstGeom prst="roundRect">
            <a:avLst>
              <a:gd name="adj" fmla="val 4000"/>
            </a:avLst>
          </a:prstGeom>
          <a:solidFill>
            <a:srgbClr val="F7F7F7"/>
          </a:solidFill>
          <a:ln w="1270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workflow.png"/>
          <p:cNvPicPr>
            <a:picLocks noChangeAspect="1"/>
          </p:cNvPicPr>
          <p:nvPr/>
        </p:nvPicPr>
        <p:blipFill>
          <a:blip r:embed="rId4"/>
          <a:stretch>
            <a:fillRect/>
          </a:stretch>
        </p:blipFill>
        <p:spPr>
          <a:xfrm>
            <a:off x="13350240" y="6400800"/>
            <a:ext cx="1645920" cy="1645920"/>
          </a:xfrm>
          <a:prstGeom prst="rect">
            <a:avLst/>
          </a:prstGeom>
        </p:spPr>
      </p:pic>
      <p:sp>
        <p:nvSpPr>
          <p:cNvPr id="12" name="TextBox 11"/>
          <p:cNvSpPr txBox="1"/>
          <p:nvPr/>
        </p:nvSpPr>
        <p:spPr>
          <a:xfrm>
            <a:off x="15361920" y="6400800"/>
            <a:ext cx="7680960" cy="1463040"/>
          </a:xfrm>
          <a:prstGeom prst="rect">
            <a:avLst/>
          </a:prstGeom>
          <a:noFill/>
        </p:spPr>
        <p:txBody>
          <a:bodyPr wrap="square" lIns="50000" tIns="20000" rIns="50000" bIns="20000" anchor="t">
            <a:spAutoFit/>
          </a:bodyPr>
          <a:lstStyle/>
          <a:p>
            <a:pPr algn="l"/>
            <a:r>
              <a:rPr sz="4800" b="1" i="0">
                <a:solidFill>
                  <a:srgbClr val="76B900"/>
                </a:solidFill>
                <a:latin typeface="NVIDIA Sans Medium"/>
              </a:rPr>
              <a:t>In-flight batching</a:t>
            </a:r>
          </a:p>
        </p:txBody>
      </p:sp>
      <p:sp>
        <p:nvSpPr>
          <p:cNvPr id="13" name="TextBox 12"/>
          <p:cNvSpPr txBox="1"/>
          <p:nvPr/>
        </p:nvSpPr>
        <p:spPr>
          <a:xfrm>
            <a:off x="13533120" y="8229600"/>
            <a:ext cx="9326880" cy="2743200"/>
          </a:xfrm>
          <a:prstGeom prst="rect">
            <a:avLst/>
          </a:prstGeom>
          <a:noFill/>
        </p:spPr>
        <p:txBody>
          <a:bodyPr wrap="square" lIns="50000" tIns="20000" rIns="50000" bIns="20000" anchor="t">
            <a:spAutoFit/>
          </a:bodyPr>
          <a:lstStyle/>
          <a:p>
            <a:pPr algn="l"/>
            <a:r>
              <a:rPr sz="4000" b="0" i="0">
                <a:solidFill>
                  <a:srgbClr val="000000"/>
                </a:solidFill>
                <a:latin typeface="NVIDIA Sans"/>
              </a:rPr>
              <a:t>Multiple requests share one forward pass</a:t>
            </a:r>
          </a:p>
        </p:txBody>
      </p:sp>
      <p:sp>
        <p:nvSpPr>
          <p:cNvPr id="14" name="Rounded Rectangle 13"/>
          <p:cNvSpPr/>
          <p:nvPr/>
        </p:nvSpPr>
        <p:spPr>
          <a:xfrm>
            <a:off x="24140160" y="5852160"/>
            <a:ext cx="10789920" cy="5486400"/>
          </a:xfrm>
          <a:prstGeom prst="roundRect">
            <a:avLst>
              <a:gd name="adj" fmla="val 4000"/>
            </a:avLst>
          </a:prstGeom>
          <a:solidFill>
            <a:srgbClr val="F7F7F7"/>
          </a:solidFill>
          <a:ln w="1270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scalability-up.png"/>
          <p:cNvPicPr>
            <a:picLocks noChangeAspect="1"/>
          </p:cNvPicPr>
          <p:nvPr/>
        </p:nvPicPr>
        <p:blipFill>
          <a:blip r:embed="rId5"/>
          <a:stretch>
            <a:fillRect/>
          </a:stretch>
        </p:blipFill>
        <p:spPr>
          <a:xfrm>
            <a:off x="24688800" y="6400800"/>
            <a:ext cx="1645920" cy="1645920"/>
          </a:xfrm>
          <a:prstGeom prst="rect">
            <a:avLst/>
          </a:prstGeom>
        </p:spPr>
      </p:pic>
      <p:sp>
        <p:nvSpPr>
          <p:cNvPr id="16" name="TextBox 15"/>
          <p:cNvSpPr txBox="1"/>
          <p:nvPr/>
        </p:nvSpPr>
        <p:spPr>
          <a:xfrm>
            <a:off x="26700480" y="6400800"/>
            <a:ext cx="7680960" cy="1463040"/>
          </a:xfrm>
          <a:prstGeom prst="rect">
            <a:avLst/>
          </a:prstGeom>
          <a:noFill/>
        </p:spPr>
        <p:txBody>
          <a:bodyPr wrap="square" lIns="50000" tIns="20000" rIns="50000" bIns="20000" anchor="t">
            <a:spAutoFit/>
          </a:bodyPr>
          <a:lstStyle/>
          <a:p>
            <a:pPr algn="l"/>
            <a:r>
              <a:rPr sz="4800" b="1" i="0">
                <a:solidFill>
                  <a:srgbClr val="76B900"/>
                </a:solidFill>
                <a:latin typeface="NVIDIA Sans Medium"/>
              </a:rPr>
              <a:t>Paged KV-cache</a:t>
            </a:r>
          </a:p>
        </p:txBody>
      </p:sp>
      <p:sp>
        <p:nvSpPr>
          <p:cNvPr id="17" name="TextBox 16"/>
          <p:cNvSpPr txBox="1"/>
          <p:nvPr/>
        </p:nvSpPr>
        <p:spPr>
          <a:xfrm>
            <a:off x="24871680" y="8229600"/>
            <a:ext cx="9326880" cy="2743200"/>
          </a:xfrm>
          <a:prstGeom prst="rect">
            <a:avLst/>
          </a:prstGeom>
          <a:noFill/>
        </p:spPr>
        <p:txBody>
          <a:bodyPr wrap="square" lIns="50000" tIns="20000" rIns="50000" bIns="20000" anchor="t">
            <a:spAutoFit/>
          </a:bodyPr>
          <a:lstStyle/>
          <a:p>
            <a:pPr algn="l"/>
            <a:r>
              <a:rPr sz="4000" b="0" i="0">
                <a:solidFill>
                  <a:srgbClr val="000000"/>
                </a:solidFill>
                <a:latin typeface="NVIDIA Sans"/>
              </a:rPr>
              <a:t>Pages allocated on-demand; ~2× context for free</a:t>
            </a:r>
          </a:p>
        </p:txBody>
      </p:sp>
      <p:sp>
        <p:nvSpPr>
          <p:cNvPr id="18" name="Rounded Rectangle 17"/>
          <p:cNvSpPr/>
          <p:nvPr/>
        </p:nvSpPr>
        <p:spPr>
          <a:xfrm>
            <a:off x="1463040" y="12070080"/>
            <a:ext cx="10789920" cy="5486400"/>
          </a:xfrm>
          <a:prstGeom prst="roundRect">
            <a:avLst>
              <a:gd name="adj" fmla="val 4000"/>
            </a:avLst>
          </a:prstGeom>
          <a:solidFill>
            <a:srgbClr val="F7F7F7"/>
          </a:solidFill>
          <a:ln w="1270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gpu.png"/>
          <p:cNvPicPr>
            <a:picLocks noChangeAspect="1"/>
          </p:cNvPicPr>
          <p:nvPr/>
        </p:nvPicPr>
        <p:blipFill>
          <a:blip r:embed="rId6"/>
          <a:stretch>
            <a:fillRect/>
          </a:stretch>
        </p:blipFill>
        <p:spPr>
          <a:xfrm>
            <a:off x="2011680" y="12618720"/>
            <a:ext cx="1645920" cy="1645920"/>
          </a:xfrm>
          <a:prstGeom prst="rect">
            <a:avLst/>
          </a:prstGeom>
        </p:spPr>
      </p:pic>
      <p:sp>
        <p:nvSpPr>
          <p:cNvPr id="20" name="TextBox 19"/>
          <p:cNvSpPr txBox="1"/>
          <p:nvPr/>
        </p:nvSpPr>
        <p:spPr>
          <a:xfrm>
            <a:off x="4023360" y="12618720"/>
            <a:ext cx="7680960" cy="1463040"/>
          </a:xfrm>
          <a:prstGeom prst="rect">
            <a:avLst/>
          </a:prstGeom>
          <a:noFill/>
        </p:spPr>
        <p:txBody>
          <a:bodyPr wrap="square" lIns="50000" tIns="20000" rIns="50000" bIns="20000" anchor="t">
            <a:spAutoFit/>
          </a:bodyPr>
          <a:lstStyle/>
          <a:p>
            <a:pPr algn="l"/>
            <a:r>
              <a:rPr sz="4800" b="1" i="0">
                <a:solidFill>
                  <a:srgbClr val="76B900"/>
                </a:solidFill>
                <a:latin typeface="NVIDIA Sans Medium"/>
              </a:rPr>
              <a:t>FP8 / FP16 / BF16</a:t>
            </a:r>
          </a:p>
        </p:txBody>
      </p:sp>
      <p:sp>
        <p:nvSpPr>
          <p:cNvPr id="21" name="TextBox 20"/>
          <p:cNvSpPr txBox="1"/>
          <p:nvPr/>
        </p:nvSpPr>
        <p:spPr>
          <a:xfrm>
            <a:off x="2194560" y="14447520"/>
            <a:ext cx="9326880" cy="2743200"/>
          </a:xfrm>
          <a:prstGeom prst="rect">
            <a:avLst/>
          </a:prstGeom>
          <a:noFill/>
        </p:spPr>
        <p:txBody>
          <a:bodyPr wrap="square" lIns="50000" tIns="20000" rIns="50000" bIns="20000" anchor="t">
            <a:spAutoFit/>
          </a:bodyPr>
          <a:lstStyle/>
          <a:p>
            <a:pPr algn="l"/>
            <a:r>
              <a:rPr sz="4000" b="0" i="0">
                <a:solidFill>
                  <a:srgbClr val="000000"/>
                </a:solidFill>
                <a:latin typeface="NVIDIA Sans"/>
              </a:rPr>
              <a:t>Backend picks based on model + hardware</a:t>
            </a:r>
          </a:p>
        </p:txBody>
      </p:sp>
      <p:sp>
        <p:nvSpPr>
          <p:cNvPr id="22" name="Rounded Rectangle 21"/>
          <p:cNvSpPr/>
          <p:nvPr/>
        </p:nvSpPr>
        <p:spPr>
          <a:xfrm>
            <a:off x="12801600" y="12070080"/>
            <a:ext cx="10789920" cy="5486400"/>
          </a:xfrm>
          <a:prstGeom prst="roundRect">
            <a:avLst>
              <a:gd name="adj" fmla="val 4000"/>
            </a:avLst>
          </a:prstGeom>
          <a:solidFill>
            <a:srgbClr val="F7F7F7"/>
          </a:solidFill>
          <a:ln w="1270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lower-cost.png"/>
          <p:cNvPicPr>
            <a:picLocks noChangeAspect="1"/>
          </p:cNvPicPr>
          <p:nvPr/>
        </p:nvPicPr>
        <p:blipFill>
          <a:blip r:embed="rId7"/>
          <a:stretch>
            <a:fillRect/>
          </a:stretch>
        </p:blipFill>
        <p:spPr>
          <a:xfrm>
            <a:off x="13350240" y="12618720"/>
            <a:ext cx="1645920" cy="1645920"/>
          </a:xfrm>
          <a:prstGeom prst="rect">
            <a:avLst/>
          </a:prstGeom>
        </p:spPr>
      </p:pic>
      <p:sp>
        <p:nvSpPr>
          <p:cNvPr id="24" name="TextBox 23"/>
          <p:cNvSpPr txBox="1"/>
          <p:nvPr/>
        </p:nvSpPr>
        <p:spPr>
          <a:xfrm>
            <a:off x="15361920" y="12618720"/>
            <a:ext cx="7680960" cy="1463040"/>
          </a:xfrm>
          <a:prstGeom prst="rect">
            <a:avLst/>
          </a:prstGeom>
          <a:noFill/>
        </p:spPr>
        <p:txBody>
          <a:bodyPr wrap="square" lIns="50000" tIns="20000" rIns="50000" bIns="20000" anchor="t">
            <a:spAutoFit/>
          </a:bodyPr>
          <a:lstStyle/>
          <a:p>
            <a:pPr algn="l"/>
            <a:r>
              <a:rPr sz="4800" b="1" i="0">
                <a:solidFill>
                  <a:srgbClr val="76B900"/>
                </a:solidFill>
                <a:latin typeface="NVIDIA Sans Medium"/>
              </a:rPr>
              <a:t>Quantisation-aware</a:t>
            </a:r>
          </a:p>
        </p:txBody>
      </p:sp>
      <p:sp>
        <p:nvSpPr>
          <p:cNvPr id="25" name="TextBox 24"/>
          <p:cNvSpPr txBox="1"/>
          <p:nvPr/>
        </p:nvSpPr>
        <p:spPr>
          <a:xfrm>
            <a:off x="13533120" y="14447520"/>
            <a:ext cx="9326880" cy="2743200"/>
          </a:xfrm>
          <a:prstGeom prst="rect">
            <a:avLst/>
          </a:prstGeom>
          <a:noFill/>
        </p:spPr>
        <p:txBody>
          <a:bodyPr wrap="square" lIns="50000" tIns="20000" rIns="50000" bIns="20000" anchor="t">
            <a:spAutoFit/>
          </a:bodyPr>
          <a:lstStyle/>
          <a:p>
            <a:pPr algn="l"/>
            <a:r>
              <a:rPr sz="4000" b="0" i="0">
                <a:solidFill>
                  <a:srgbClr val="000000"/>
                </a:solidFill>
                <a:latin typeface="NVIDIA Sans"/>
              </a:rPr>
              <a:t>INT8 / FP8 weights where accuracy permits</a:t>
            </a:r>
          </a:p>
        </p:txBody>
      </p:sp>
      <p:sp>
        <p:nvSpPr>
          <p:cNvPr id="26" name="Rounded Rectangle 25"/>
          <p:cNvSpPr/>
          <p:nvPr/>
        </p:nvSpPr>
        <p:spPr>
          <a:xfrm>
            <a:off x="24140160" y="12070080"/>
            <a:ext cx="10789920" cy="5486400"/>
          </a:xfrm>
          <a:prstGeom prst="roundRect">
            <a:avLst>
              <a:gd name="adj" fmla="val 4000"/>
            </a:avLst>
          </a:prstGeom>
          <a:solidFill>
            <a:srgbClr val="F7F7F7"/>
          </a:solidFill>
          <a:ln w="1270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cloud-perf.png"/>
          <p:cNvPicPr>
            <a:picLocks noChangeAspect="1"/>
          </p:cNvPicPr>
          <p:nvPr/>
        </p:nvPicPr>
        <p:blipFill>
          <a:blip r:embed="rId8"/>
          <a:stretch>
            <a:fillRect/>
          </a:stretch>
        </p:blipFill>
        <p:spPr>
          <a:xfrm>
            <a:off x="24688800" y="12618720"/>
            <a:ext cx="1645920" cy="1645920"/>
          </a:xfrm>
          <a:prstGeom prst="rect">
            <a:avLst/>
          </a:prstGeom>
        </p:spPr>
      </p:pic>
      <p:sp>
        <p:nvSpPr>
          <p:cNvPr id="28" name="TextBox 27"/>
          <p:cNvSpPr txBox="1"/>
          <p:nvPr/>
        </p:nvSpPr>
        <p:spPr>
          <a:xfrm>
            <a:off x="26700480" y="12618720"/>
            <a:ext cx="7680960" cy="1463040"/>
          </a:xfrm>
          <a:prstGeom prst="rect">
            <a:avLst/>
          </a:prstGeom>
          <a:noFill/>
        </p:spPr>
        <p:txBody>
          <a:bodyPr wrap="square" lIns="50000" tIns="20000" rIns="50000" bIns="20000" anchor="t">
            <a:spAutoFit/>
          </a:bodyPr>
          <a:lstStyle/>
          <a:p>
            <a:pPr algn="l"/>
            <a:r>
              <a:rPr sz="4800" b="1" i="0">
                <a:solidFill>
                  <a:srgbClr val="76B900"/>
                </a:solidFill>
                <a:latin typeface="NVIDIA Sans Medium"/>
              </a:rPr>
              <a:t>Streaming + chunking</a:t>
            </a:r>
          </a:p>
        </p:txBody>
      </p:sp>
      <p:sp>
        <p:nvSpPr>
          <p:cNvPr id="29" name="TextBox 28"/>
          <p:cNvSpPr txBox="1"/>
          <p:nvPr/>
        </p:nvSpPr>
        <p:spPr>
          <a:xfrm>
            <a:off x="24871680" y="14447520"/>
            <a:ext cx="9326880" cy="2743200"/>
          </a:xfrm>
          <a:prstGeom prst="rect">
            <a:avLst/>
          </a:prstGeom>
          <a:noFill/>
        </p:spPr>
        <p:txBody>
          <a:bodyPr wrap="square" lIns="50000" tIns="20000" rIns="50000" bIns="20000" anchor="t">
            <a:spAutoFit/>
          </a:bodyPr>
          <a:lstStyle/>
          <a:p>
            <a:pPr algn="l"/>
            <a:r>
              <a:rPr sz="4000" b="0" i="0">
                <a:solidFill>
                  <a:srgbClr val="000000"/>
                </a:solidFill>
                <a:latin typeface="NVIDIA Sans"/>
              </a:rPr>
              <a:t>First-token latency tightly bounded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9574" y="19633768"/>
            <a:ext cx="6503213" cy="446456"/>
          </a:xfrm>
          <a:prstGeom prst="rect">
            <a:avLst/>
          </a:prstGeom>
          <a:noFill/>
        </p:spPr>
        <p:txBody>
          <a:bodyPr wrap="none">
            <a:spAutoFit/>
          </a:bodyPr>
          <a:lstStyle/>
          <a:p>
            <a:r>
              <a:rPr sz="2300">
                <a:solidFill>
                  <a:srgbClr val="000000"/>
                </a:solidFill>
                <a:latin typeface="NVIDIA Sans Medium"/>
              </a:rPr>
              <a:t>NVIDIA CONFIDENTIAL. DO NOT DISTRIBUTE.</a:t>
            </a:r>
          </a:p>
        </p:txBody>
      </p:sp>
      <p:sp>
        <p:nvSpPr>
          <p:cNvPr id="3" name="TextBox 2"/>
          <p:cNvSpPr txBox="1"/>
          <p:nvPr/>
        </p:nvSpPr>
        <p:spPr>
          <a:xfrm>
            <a:off x="1463040" y="1097280"/>
            <a:ext cx="33649920" cy="2377440"/>
          </a:xfrm>
          <a:prstGeom prst="rect">
            <a:avLst/>
          </a:prstGeom>
          <a:noFill/>
        </p:spPr>
        <p:txBody>
          <a:bodyPr wrap="square" lIns="50000" tIns="20000" rIns="50000" bIns="20000" anchor="ctr">
            <a:spAutoFit/>
          </a:bodyPr>
          <a:lstStyle/>
          <a:p>
            <a:pPr algn="l"/>
            <a:r>
              <a:rPr sz="7200" b="1" i="0">
                <a:solidFill>
                  <a:srgbClr val="000000"/>
                </a:solidFill>
                <a:latin typeface="NVIDIA Sans Medium"/>
              </a:rPr>
              <a:t>Custom NIM with `model-free-nim`</a:t>
            </a:r>
          </a:p>
        </p:txBody>
      </p:sp>
      <p:sp>
        <p:nvSpPr>
          <p:cNvPr id="4" name="TextBox 3"/>
          <p:cNvSpPr txBox="1"/>
          <p:nvPr/>
        </p:nvSpPr>
        <p:spPr>
          <a:xfrm>
            <a:off x="1463040" y="3474720"/>
            <a:ext cx="33649920" cy="1280160"/>
          </a:xfrm>
          <a:prstGeom prst="rect">
            <a:avLst/>
          </a:prstGeom>
          <a:noFill/>
        </p:spPr>
        <p:txBody>
          <a:bodyPr wrap="square" lIns="50000" tIns="20000" rIns="50000" bIns="20000" anchor="ctr">
            <a:spAutoFit/>
          </a:bodyPr>
          <a:lstStyle/>
          <a:p>
            <a:pPr algn="l"/>
            <a:r>
              <a:rPr sz="4400" b="0" i="1">
                <a:solidFill>
                  <a:srgbClr val="5E5E5E"/>
                </a:solidFill>
                <a:latin typeface="NVIDIA Sans"/>
              </a:rPr>
              <a:t>Bring any checkpoint; NIM wraps it as a serving container</a:t>
            </a:r>
          </a:p>
        </p:txBody>
      </p:sp>
      <p:sp>
        <p:nvSpPr>
          <p:cNvPr id="5" name="Rectangle 4"/>
          <p:cNvSpPr/>
          <p:nvPr/>
        </p:nvSpPr>
        <p:spPr>
          <a:xfrm>
            <a:off x="1463040" y="4901184"/>
            <a:ext cx="2194560" cy="109728"/>
          </a:xfrm>
          <a:prstGeom prst="rect">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828800" y="7315200"/>
            <a:ext cx="9509760" cy="5120640"/>
          </a:xfrm>
          <a:prstGeom prst="roundRect">
            <a:avLst>
              <a:gd name="adj" fmla="val 4000"/>
            </a:avLst>
          </a:prstGeom>
          <a:solidFill>
            <a:srgbClr val="FFFFFF"/>
          </a:solidFill>
          <a:ln w="6350">
            <a:solidFill>
              <a:srgbClr val="5E5E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828800" y="7315200"/>
            <a:ext cx="9509760" cy="1645920"/>
          </a:xfrm>
          <a:prstGeom prst="rect">
            <a:avLst/>
          </a:prstGeom>
          <a:noFill/>
        </p:spPr>
        <p:txBody>
          <a:bodyPr wrap="square" lIns="50000" tIns="20000" rIns="50000" bIns="20000" anchor="ctr">
            <a:spAutoFit/>
          </a:bodyPr>
          <a:lstStyle/>
          <a:p>
            <a:pPr algn="ctr"/>
            <a:r>
              <a:rPr sz="5200" b="1" i="0">
                <a:solidFill>
                  <a:srgbClr val="000000"/>
                </a:solidFill>
                <a:latin typeface="NVIDIA Sans Medium"/>
              </a:rPr>
              <a:t>Your checkpoint</a:t>
            </a:r>
          </a:p>
        </p:txBody>
      </p:sp>
      <p:sp>
        <p:nvSpPr>
          <p:cNvPr id="8" name="TextBox 7"/>
          <p:cNvSpPr txBox="1"/>
          <p:nvPr/>
        </p:nvSpPr>
        <p:spPr>
          <a:xfrm>
            <a:off x="1828800" y="9144000"/>
            <a:ext cx="9509760" cy="3291840"/>
          </a:xfrm>
          <a:prstGeom prst="rect">
            <a:avLst/>
          </a:prstGeom>
          <a:noFill/>
        </p:spPr>
        <p:txBody>
          <a:bodyPr wrap="square" lIns="50000" tIns="20000" rIns="50000" bIns="20000" anchor="t">
            <a:spAutoFit/>
          </a:bodyPr>
          <a:lstStyle/>
          <a:p>
            <a:pPr algn="ctr"/>
            <a:r>
              <a:rPr sz="4000" b="0" i="0">
                <a:solidFill>
                  <a:srgbClr val="000000"/>
                </a:solidFill>
                <a:latin typeface="NVIDIA Sans"/>
              </a:rPr>
              <a:t>HuggingFace format</a:t>
            </a:r>
          </a:p>
          <a:p>
            <a:pPr algn="ctr"/>
            <a:r>
              <a:rPr sz="4000" b="0" i="0">
                <a:solidFill>
                  <a:srgbClr val="000000"/>
                </a:solidFill>
                <a:latin typeface="NVIDIA Sans"/>
              </a:rPr>
              <a:t>or consolidated NeMo</a:t>
            </a:r>
          </a:p>
          <a:p>
            <a:pPr algn="ctr"/>
            <a:r>
              <a:rPr sz="4000" b="0" i="0">
                <a:solidFill>
                  <a:srgbClr val="000000"/>
                </a:solidFill>
                <a:latin typeface="NVIDIA Sans"/>
              </a:rPr>
              <a:t>+ tokenizer config</a:t>
            </a:r>
          </a:p>
        </p:txBody>
      </p:sp>
      <p:sp>
        <p:nvSpPr>
          <p:cNvPr id="9" name="Right Arrow 8"/>
          <p:cNvSpPr/>
          <p:nvPr/>
        </p:nvSpPr>
        <p:spPr>
          <a:xfrm>
            <a:off x="11704320" y="9326880"/>
            <a:ext cx="2194560" cy="1097280"/>
          </a:xfrm>
          <a:prstGeom prst="rightArrow">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4264640" y="7315200"/>
            <a:ext cx="9509760" cy="5120640"/>
          </a:xfrm>
          <a:prstGeom prst="roundRect">
            <a:avLst>
              <a:gd name="adj" fmla="val 4000"/>
            </a:avLst>
          </a:prstGeom>
          <a:solidFill>
            <a:srgbClr val="FFFFFF"/>
          </a:solidFill>
          <a:ln w="2540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4264640" y="7315200"/>
            <a:ext cx="9509760" cy="1645920"/>
          </a:xfrm>
          <a:prstGeom prst="rect">
            <a:avLst/>
          </a:prstGeom>
          <a:noFill/>
        </p:spPr>
        <p:txBody>
          <a:bodyPr wrap="square" lIns="50000" tIns="20000" rIns="50000" bIns="20000" anchor="ctr">
            <a:spAutoFit/>
          </a:bodyPr>
          <a:lstStyle/>
          <a:p>
            <a:pPr algn="ctr"/>
            <a:r>
              <a:rPr sz="5200" b="1" i="0">
                <a:solidFill>
                  <a:srgbClr val="76B900"/>
                </a:solidFill>
                <a:latin typeface="NVIDIA Sans Medium"/>
              </a:rPr>
              <a:t>model-free-nim</a:t>
            </a:r>
          </a:p>
        </p:txBody>
      </p:sp>
      <p:sp>
        <p:nvSpPr>
          <p:cNvPr id="12" name="TextBox 11"/>
          <p:cNvSpPr txBox="1"/>
          <p:nvPr/>
        </p:nvSpPr>
        <p:spPr>
          <a:xfrm>
            <a:off x="14264640" y="9144000"/>
            <a:ext cx="9509760" cy="3291840"/>
          </a:xfrm>
          <a:prstGeom prst="rect">
            <a:avLst/>
          </a:prstGeom>
          <a:noFill/>
        </p:spPr>
        <p:txBody>
          <a:bodyPr wrap="square" lIns="50000" tIns="20000" rIns="50000" bIns="20000" anchor="t">
            <a:spAutoFit/>
          </a:bodyPr>
          <a:lstStyle/>
          <a:p>
            <a:pPr algn="ctr"/>
            <a:r>
              <a:rPr sz="3600" b="0" i="0">
                <a:solidFill>
                  <a:srgbClr val="000000"/>
                </a:solidFill>
                <a:latin typeface="Consolas"/>
              </a:rPr>
              <a:t>nvcr.io/nim/nvidia/</a:t>
            </a:r>
          </a:p>
          <a:p>
            <a:pPr algn="ctr"/>
            <a:r>
              <a:rPr sz="3600" b="0" i="0">
                <a:solidFill>
                  <a:srgbClr val="000000"/>
                </a:solidFill>
                <a:latin typeface="Consolas"/>
              </a:rPr>
              <a:t>model-free-nim:2.0.5</a:t>
            </a:r>
          </a:p>
          <a:p>
            <a:pPr algn="ctr"/>
            <a:r>
              <a:rPr sz="3600" b="0" i="0">
                <a:solidFill>
                  <a:srgbClr val="000000"/>
                </a:solidFill>
                <a:latin typeface="Consolas"/>
              </a:rPr>
              <a:t>+ NIM_MODEL_PATH env</a:t>
            </a:r>
          </a:p>
        </p:txBody>
      </p:sp>
      <p:sp>
        <p:nvSpPr>
          <p:cNvPr id="13" name="Right Arrow 12"/>
          <p:cNvSpPr/>
          <p:nvPr/>
        </p:nvSpPr>
        <p:spPr>
          <a:xfrm>
            <a:off x="24140160" y="9326880"/>
            <a:ext cx="2194560" cy="1097280"/>
          </a:xfrm>
          <a:prstGeom prst="rightArrow">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26700480" y="7315200"/>
            <a:ext cx="9509760" cy="5120640"/>
          </a:xfrm>
          <a:prstGeom prst="roundRect">
            <a:avLst>
              <a:gd name="adj" fmla="val 4000"/>
            </a:avLst>
          </a:prstGeom>
          <a:solidFill>
            <a:srgbClr val="FFFFFF"/>
          </a:solidFill>
          <a:ln w="25400">
            <a:solidFill>
              <a:srgbClr val="0085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6700480" y="7315200"/>
            <a:ext cx="9509760" cy="1645920"/>
          </a:xfrm>
          <a:prstGeom prst="rect">
            <a:avLst/>
          </a:prstGeom>
          <a:noFill/>
        </p:spPr>
        <p:txBody>
          <a:bodyPr wrap="square" lIns="50000" tIns="20000" rIns="50000" bIns="20000" anchor="ctr">
            <a:spAutoFit/>
          </a:bodyPr>
          <a:lstStyle/>
          <a:p>
            <a:pPr algn="ctr"/>
            <a:r>
              <a:rPr sz="5200" b="1" i="0">
                <a:solidFill>
                  <a:srgbClr val="008564"/>
                </a:solidFill>
                <a:latin typeface="NVIDIA Sans Medium"/>
              </a:rPr>
              <a:t>OpenAI endpoint</a:t>
            </a:r>
          </a:p>
        </p:txBody>
      </p:sp>
      <p:sp>
        <p:nvSpPr>
          <p:cNvPr id="16" name="TextBox 15"/>
          <p:cNvSpPr txBox="1"/>
          <p:nvPr/>
        </p:nvSpPr>
        <p:spPr>
          <a:xfrm>
            <a:off x="26700480" y="9144000"/>
            <a:ext cx="9509760" cy="3291840"/>
          </a:xfrm>
          <a:prstGeom prst="rect">
            <a:avLst/>
          </a:prstGeom>
          <a:noFill/>
        </p:spPr>
        <p:txBody>
          <a:bodyPr wrap="square" lIns="50000" tIns="20000" rIns="50000" bIns="20000" anchor="t">
            <a:spAutoFit/>
          </a:bodyPr>
          <a:lstStyle/>
          <a:p>
            <a:pPr algn="ctr"/>
            <a:r>
              <a:rPr sz="4000" b="0" i="0">
                <a:solidFill>
                  <a:srgbClr val="000000"/>
                </a:solidFill>
                <a:latin typeface="NVIDIA Sans"/>
              </a:rPr>
              <a:t>/v1/chat/completions</a:t>
            </a:r>
          </a:p>
          <a:p>
            <a:pPr algn="ctr"/>
            <a:r>
              <a:rPr sz="4000" b="0" i="0">
                <a:solidFill>
                  <a:srgbClr val="000000"/>
                </a:solidFill>
                <a:latin typeface="NVIDIA Sans"/>
              </a:rPr>
              <a:t>production-ready</a:t>
            </a:r>
          </a:p>
          <a:p>
            <a:pPr algn="ctr"/>
            <a:r>
              <a:rPr sz="4000" b="0" i="0">
                <a:solidFill>
                  <a:srgbClr val="000000"/>
                </a:solidFill>
                <a:latin typeface="NVIDIA Sans"/>
              </a:rPr>
              <a:t>TP, KV-cache, metrics</a:t>
            </a:r>
          </a:p>
        </p:txBody>
      </p:sp>
      <p:sp>
        <p:nvSpPr>
          <p:cNvPr id="17" name="Rounded Rectangle 16"/>
          <p:cNvSpPr/>
          <p:nvPr/>
        </p:nvSpPr>
        <p:spPr>
          <a:xfrm>
            <a:off x="1828800" y="14996159"/>
            <a:ext cx="32918400" cy="3291840"/>
          </a:xfrm>
          <a:prstGeom prst="roundRect">
            <a:avLst>
              <a:gd name="adj" fmla="val 4000"/>
            </a:avLst>
          </a:prstGeom>
          <a:solidFill>
            <a:srgbClr val="E2F0D9"/>
          </a:solidFill>
          <a:ln w="635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560320" y="15361920"/>
            <a:ext cx="31821119" cy="1463040"/>
          </a:xfrm>
          <a:prstGeom prst="rect">
            <a:avLst/>
          </a:prstGeom>
          <a:noFill/>
        </p:spPr>
        <p:txBody>
          <a:bodyPr wrap="square" lIns="50000" tIns="20000" rIns="50000" bIns="20000" anchor="t">
            <a:spAutoFit/>
          </a:bodyPr>
          <a:lstStyle/>
          <a:p>
            <a:pPr algn="l"/>
            <a:r>
              <a:rPr sz="4800" b="1" i="0">
                <a:solidFill>
                  <a:srgbClr val="76B900"/>
                </a:solidFill>
                <a:latin typeface="NVIDIA Sans Medium"/>
              </a:rPr>
              <a:t>Our AML custom NIM</a:t>
            </a:r>
          </a:p>
        </p:txBody>
      </p:sp>
      <p:sp>
        <p:nvSpPr>
          <p:cNvPr id="19" name="TextBox 18"/>
          <p:cNvSpPr txBox="1"/>
          <p:nvPr/>
        </p:nvSpPr>
        <p:spPr>
          <a:xfrm>
            <a:off x="2560320" y="16824960"/>
            <a:ext cx="31821119" cy="1463040"/>
          </a:xfrm>
          <a:prstGeom prst="rect">
            <a:avLst/>
          </a:prstGeom>
          <a:noFill/>
        </p:spPr>
        <p:txBody>
          <a:bodyPr wrap="square" lIns="50000" tIns="20000" rIns="50000" bIns="20000" anchor="t">
            <a:spAutoFit/>
          </a:bodyPr>
          <a:lstStyle/>
          <a:p>
            <a:pPr algn="l"/>
            <a:r>
              <a:rPr sz="4000" b="0" i="0">
                <a:solidFill>
                  <a:srgbClr val="000000"/>
                </a:solidFill>
                <a:latin typeface="NVIDIA Sans"/>
              </a:rPr>
              <a:t>Phase 5 produced `sft-final/`; Phase 6 wrapped it with model-free-nim → port 8088</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9574" y="19633768"/>
            <a:ext cx="6503213" cy="446456"/>
          </a:xfrm>
          <a:prstGeom prst="rect">
            <a:avLst/>
          </a:prstGeom>
          <a:noFill/>
        </p:spPr>
        <p:txBody>
          <a:bodyPr wrap="none">
            <a:spAutoFit/>
          </a:bodyPr>
          <a:lstStyle/>
          <a:p>
            <a:r>
              <a:rPr sz="2300">
                <a:solidFill>
                  <a:srgbClr val="000000"/>
                </a:solidFill>
                <a:latin typeface="NVIDIA Sans Medium"/>
              </a:rPr>
              <a:t>NVIDIA CONFIDENTIAL. DO NOT DISTRIBUTE.</a:t>
            </a:r>
          </a:p>
        </p:txBody>
      </p:sp>
      <p:sp>
        <p:nvSpPr>
          <p:cNvPr id="3" name="TextBox 2"/>
          <p:cNvSpPr txBox="1"/>
          <p:nvPr/>
        </p:nvSpPr>
        <p:spPr>
          <a:xfrm>
            <a:off x="1463040" y="1097280"/>
            <a:ext cx="33649920" cy="2377440"/>
          </a:xfrm>
          <a:prstGeom prst="rect">
            <a:avLst/>
          </a:prstGeom>
          <a:noFill/>
        </p:spPr>
        <p:txBody>
          <a:bodyPr wrap="square" lIns="50000" tIns="20000" rIns="50000" bIns="20000" anchor="ctr">
            <a:spAutoFit/>
          </a:bodyPr>
          <a:lstStyle/>
          <a:p>
            <a:pPr algn="l"/>
            <a:r>
              <a:rPr sz="7200" b="1" i="0">
                <a:solidFill>
                  <a:srgbClr val="000000"/>
                </a:solidFill>
                <a:latin typeface="NVIDIA Sans Medium"/>
              </a:rPr>
              <a:t>Health, Metrics, Observability</a:t>
            </a:r>
          </a:p>
        </p:txBody>
      </p:sp>
      <p:sp>
        <p:nvSpPr>
          <p:cNvPr id="4" name="TextBox 3"/>
          <p:cNvSpPr txBox="1"/>
          <p:nvPr/>
        </p:nvSpPr>
        <p:spPr>
          <a:xfrm>
            <a:off x="1463040" y="3474720"/>
            <a:ext cx="33649920" cy="1280160"/>
          </a:xfrm>
          <a:prstGeom prst="rect">
            <a:avLst/>
          </a:prstGeom>
          <a:noFill/>
        </p:spPr>
        <p:txBody>
          <a:bodyPr wrap="square" lIns="50000" tIns="20000" rIns="50000" bIns="20000" anchor="ctr">
            <a:spAutoFit/>
          </a:bodyPr>
          <a:lstStyle/>
          <a:p>
            <a:pPr algn="l"/>
            <a:r>
              <a:rPr sz="4400" b="0" i="1">
                <a:solidFill>
                  <a:srgbClr val="5E5E5E"/>
                </a:solidFill>
                <a:latin typeface="NVIDIA Sans"/>
              </a:rPr>
              <a:t>NIMs ship with production-grade observability built in</a:t>
            </a:r>
          </a:p>
        </p:txBody>
      </p:sp>
      <p:sp>
        <p:nvSpPr>
          <p:cNvPr id="5" name="Rectangle 4"/>
          <p:cNvSpPr/>
          <p:nvPr/>
        </p:nvSpPr>
        <p:spPr>
          <a:xfrm>
            <a:off x="1463040" y="4901184"/>
            <a:ext cx="2194560" cy="109728"/>
          </a:xfrm>
          <a:prstGeom prst="rect">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463040" y="5852160"/>
            <a:ext cx="10789920" cy="12070080"/>
          </a:xfrm>
          <a:prstGeom prst="roundRect">
            <a:avLst>
              <a:gd name="adj" fmla="val 4000"/>
            </a:avLst>
          </a:prstGeom>
          <a:solidFill>
            <a:srgbClr val="FFFFFF"/>
          </a:solidFill>
          <a:ln w="1905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accuracy.png"/>
          <p:cNvPicPr>
            <a:picLocks noChangeAspect="1"/>
          </p:cNvPicPr>
          <p:nvPr/>
        </p:nvPicPr>
        <p:blipFill>
          <a:blip r:embed="rId3"/>
          <a:stretch>
            <a:fillRect/>
          </a:stretch>
        </p:blipFill>
        <p:spPr>
          <a:xfrm>
            <a:off x="5029200" y="6766560"/>
            <a:ext cx="3657600" cy="3657600"/>
          </a:xfrm>
          <a:prstGeom prst="rect">
            <a:avLst/>
          </a:prstGeom>
        </p:spPr>
      </p:pic>
      <p:sp>
        <p:nvSpPr>
          <p:cNvPr id="8" name="TextBox 7"/>
          <p:cNvSpPr txBox="1"/>
          <p:nvPr/>
        </p:nvSpPr>
        <p:spPr>
          <a:xfrm>
            <a:off x="2194560" y="10972800"/>
            <a:ext cx="9326880" cy="1463040"/>
          </a:xfrm>
          <a:prstGeom prst="rect">
            <a:avLst/>
          </a:prstGeom>
          <a:noFill/>
        </p:spPr>
        <p:txBody>
          <a:bodyPr wrap="square" lIns="50000" tIns="20000" rIns="50000" bIns="20000" anchor="ctr">
            <a:spAutoFit/>
          </a:bodyPr>
          <a:lstStyle/>
          <a:p>
            <a:pPr algn="ctr"/>
            <a:r>
              <a:rPr sz="5200" b="1" i="0">
                <a:solidFill>
                  <a:srgbClr val="76B900"/>
                </a:solidFill>
                <a:latin typeface="NVIDIA Sans Medium"/>
              </a:rPr>
              <a:t>Health probes</a:t>
            </a:r>
          </a:p>
        </p:txBody>
      </p:sp>
      <p:sp>
        <p:nvSpPr>
          <p:cNvPr id="9" name="TextBox 8"/>
          <p:cNvSpPr txBox="1"/>
          <p:nvPr/>
        </p:nvSpPr>
        <p:spPr>
          <a:xfrm>
            <a:off x="2377440" y="12801600"/>
            <a:ext cx="8961120" cy="4754880"/>
          </a:xfrm>
          <a:prstGeom prst="rect">
            <a:avLst/>
          </a:prstGeom>
          <a:noFill/>
        </p:spPr>
        <p:txBody>
          <a:bodyPr wrap="square" lIns="50000" tIns="20000" rIns="50000" bIns="20000" anchor="t">
            <a:spAutoFit/>
          </a:bodyPr>
          <a:lstStyle/>
          <a:p>
            <a:pPr algn="ctr"/>
            <a:r>
              <a:rPr sz="4000" b="0" i="0">
                <a:solidFill>
                  <a:srgbClr val="000000"/>
                </a:solidFill>
                <a:latin typeface="Consolas"/>
              </a:rPr>
              <a:t>/v1/health/ready</a:t>
            </a:r>
          </a:p>
          <a:p>
            <a:pPr algn="ctr"/>
            <a:r>
              <a:rPr sz="4000" b="0" i="0">
                <a:solidFill>
                  <a:srgbClr val="000000"/>
                </a:solidFill>
                <a:latin typeface="Consolas"/>
              </a:rPr>
              <a:t>/v1/health/live</a:t>
            </a:r>
          </a:p>
          <a:p>
            <a:pPr algn="ctr"/>
            <a:r>
              <a:rPr sz="4000" b="0" i="0">
                <a:solidFill>
                  <a:srgbClr val="000000"/>
                </a:solidFill>
                <a:latin typeface="Consolas"/>
              </a:rPr>
              <a:t>→ Kubernetes-native</a:t>
            </a:r>
          </a:p>
        </p:txBody>
      </p:sp>
      <p:sp>
        <p:nvSpPr>
          <p:cNvPr id="10" name="Rounded Rectangle 9"/>
          <p:cNvSpPr/>
          <p:nvPr/>
        </p:nvSpPr>
        <p:spPr>
          <a:xfrm>
            <a:off x="12801600" y="5852160"/>
            <a:ext cx="10789920" cy="12070080"/>
          </a:xfrm>
          <a:prstGeom prst="roundRect">
            <a:avLst>
              <a:gd name="adj" fmla="val 4000"/>
            </a:avLst>
          </a:prstGeom>
          <a:solidFill>
            <a:srgbClr val="FFFFFF"/>
          </a:solidFill>
          <a:ln w="1905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research.png"/>
          <p:cNvPicPr>
            <a:picLocks noChangeAspect="1"/>
          </p:cNvPicPr>
          <p:nvPr/>
        </p:nvPicPr>
        <p:blipFill>
          <a:blip r:embed="rId4"/>
          <a:stretch>
            <a:fillRect/>
          </a:stretch>
        </p:blipFill>
        <p:spPr>
          <a:xfrm>
            <a:off x="16367760" y="6766560"/>
            <a:ext cx="3657600" cy="3657600"/>
          </a:xfrm>
          <a:prstGeom prst="rect">
            <a:avLst/>
          </a:prstGeom>
        </p:spPr>
      </p:pic>
      <p:sp>
        <p:nvSpPr>
          <p:cNvPr id="12" name="TextBox 11"/>
          <p:cNvSpPr txBox="1"/>
          <p:nvPr/>
        </p:nvSpPr>
        <p:spPr>
          <a:xfrm>
            <a:off x="13533120" y="10972800"/>
            <a:ext cx="9326880" cy="1463040"/>
          </a:xfrm>
          <a:prstGeom prst="rect">
            <a:avLst/>
          </a:prstGeom>
          <a:noFill/>
        </p:spPr>
        <p:txBody>
          <a:bodyPr wrap="square" lIns="50000" tIns="20000" rIns="50000" bIns="20000" anchor="ctr">
            <a:spAutoFit/>
          </a:bodyPr>
          <a:lstStyle/>
          <a:p>
            <a:pPr algn="ctr"/>
            <a:r>
              <a:rPr sz="5200" b="1" i="0">
                <a:solidFill>
                  <a:srgbClr val="76B900"/>
                </a:solidFill>
                <a:latin typeface="NVIDIA Sans Medium"/>
              </a:rPr>
              <a:t>Prometheus metrics</a:t>
            </a:r>
          </a:p>
        </p:txBody>
      </p:sp>
      <p:sp>
        <p:nvSpPr>
          <p:cNvPr id="13" name="TextBox 12"/>
          <p:cNvSpPr txBox="1"/>
          <p:nvPr/>
        </p:nvSpPr>
        <p:spPr>
          <a:xfrm>
            <a:off x="13716000" y="12801600"/>
            <a:ext cx="8961120" cy="4754880"/>
          </a:xfrm>
          <a:prstGeom prst="rect">
            <a:avLst/>
          </a:prstGeom>
          <a:noFill/>
        </p:spPr>
        <p:txBody>
          <a:bodyPr wrap="square" lIns="50000" tIns="20000" rIns="50000" bIns="20000" anchor="t">
            <a:spAutoFit/>
          </a:bodyPr>
          <a:lstStyle/>
          <a:p>
            <a:pPr algn="ctr"/>
            <a:r>
              <a:rPr sz="4000" b="0" i="0">
                <a:solidFill>
                  <a:srgbClr val="000000"/>
                </a:solidFill>
                <a:latin typeface="Consolas"/>
              </a:rPr>
              <a:t>/v1/metrics</a:t>
            </a:r>
          </a:p>
          <a:p>
            <a:pPr algn="ctr"/>
            <a:r>
              <a:rPr sz="4000" b="0" i="0">
                <a:solidFill>
                  <a:srgbClr val="000000"/>
                </a:solidFill>
                <a:latin typeface="Consolas"/>
              </a:rPr>
              <a:t>request latency, token throughput,</a:t>
            </a:r>
          </a:p>
          <a:p>
            <a:pPr algn="ctr"/>
            <a:r>
              <a:rPr sz="4000" b="0" i="0">
                <a:solidFill>
                  <a:srgbClr val="000000"/>
                </a:solidFill>
                <a:latin typeface="Consolas"/>
              </a:rPr>
              <a:t>KV-cache util, queue depth</a:t>
            </a:r>
          </a:p>
        </p:txBody>
      </p:sp>
      <p:sp>
        <p:nvSpPr>
          <p:cNvPr id="14" name="Rounded Rectangle 13"/>
          <p:cNvSpPr/>
          <p:nvPr/>
        </p:nvSpPr>
        <p:spPr>
          <a:xfrm>
            <a:off x="24140160" y="5852160"/>
            <a:ext cx="10789920" cy="12070080"/>
          </a:xfrm>
          <a:prstGeom prst="roundRect">
            <a:avLst>
              <a:gd name="adj" fmla="val 4000"/>
            </a:avLst>
          </a:prstGeom>
          <a:solidFill>
            <a:srgbClr val="FFFFFF"/>
          </a:solidFill>
          <a:ln w="1905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workflow.png"/>
          <p:cNvPicPr>
            <a:picLocks noChangeAspect="1"/>
          </p:cNvPicPr>
          <p:nvPr/>
        </p:nvPicPr>
        <p:blipFill>
          <a:blip r:embed="rId5"/>
          <a:stretch>
            <a:fillRect/>
          </a:stretch>
        </p:blipFill>
        <p:spPr>
          <a:xfrm>
            <a:off x="27706320" y="6766560"/>
            <a:ext cx="3657600" cy="3657600"/>
          </a:xfrm>
          <a:prstGeom prst="rect">
            <a:avLst/>
          </a:prstGeom>
        </p:spPr>
      </p:pic>
      <p:sp>
        <p:nvSpPr>
          <p:cNvPr id="16" name="TextBox 15"/>
          <p:cNvSpPr txBox="1"/>
          <p:nvPr/>
        </p:nvSpPr>
        <p:spPr>
          <a:xfrm>
            <a:off x="24871680" y="10972800"/>
            <a:ext cx="9326880" cy="1463040"/>
          </a:xfrm>
          <a:prstGeom prst="rect">
            <a:avLst/>
          </a:prstGeom>
          <a:noFill/>
        </p:spPr>
        <p:txBody>
          <a:bodyPr wrap="square" lIns="50000" tIns="20000" rIns="50000" bIns="20000" anchor="ctr">
            <a:spAutoFit/>
          </a:bodyPr>
          <a:lstStyle/>
          <a:p>
            <a:pPr algn="ctr"/>
            <a:r>
              <a:rPr sz="5200" b="1" i="0">
                <a:solidFill>
                  <a:srgbClr val="76B900"/>
                </a:solidFill>
                <a:latin typeface="NVIDIA Sans Medium"/>
              </a:rPr>
              <a:t>OpenTelemetry</a:t>
            </a:r>
          </a:p>
        </p:txBody>
      </p:sp>
      <p:sp>
        <p:nvSpPr>
          <p:cNvPr id="17" name="TextBox 16"/>
          <p:cNvSpPr txBox="1"/>
          <p:nvPr/>
        </p:nvSpPr>
        <p:spPr>
          <a:xfrm>
            <a:off x="25054560" y="12801600"/>
            <a:ext cx="8961120" cy="4754880"/>
          </a:xfrm>
          <a:prstGeom prst="rect">
            <a:avLst/>
          </a:prstGeom>
          <a:noFill/>
        </p:spPr>
        <p:txBody>
          <a:bodyPr wrap="square" lIns="50000" tIns="20000" rIns="50000" bIns="20000" anchor="t">
            <a:spAutoFit/>
          </a:bodyPr>
          <a:lstStyle/>
          <a:p>
            <a:pPr algn="ctr"/>
            <a:r>
              <a:rPr sz="4000" b="0" i="0">
                <a:solidFill>
                  <a:srgbClr val="000000"/>
                </a:solidFill>
                <a:latin typeface="Consolas"/>
              </a:rPr>
              <a:t>Auto-export traces</a:t>
            </a:r>
          </a:p>
          <a:p>
            <a:pPr algn="ctr"/>
            <a:r>
              <a:rPr sz="4000" b="0" i="0">
                <a:solidFill>
                  <a:srgbClr val="000000"/>
                </a:solidFill>
                <a:latin typeface="Consolas"/>
              </a:rPr>
              <a:t>for every request →</a:t>
            </a:r>
          </a:p>
          <a:p>
            <a:pPr algn="ctr"/>
            <a:r>
              <a:rPr sz="4000" b="0" i="0">
                <a:solidFill>
                  <a:srgbClr val="000000"/>
                </a:solidFill>
                <a:latin typeface="Consolas"/>
              </a:rPr>
              <a:t>Jaeger, Phoenix, Tempo</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EC967-C2A4-6B5F-992D-5534CE190515}"/>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92773A34-5C96-DB7C-8E0D-292A5EF4F34F}"/>
              </a:ext>
            </a:extLst>
          </p:cNvPr>
          <p:cNvSpPr>
            <a:spLocks noGrp="1"/>
          </p:cNvSpPr>
          <p:nvPr>
            <p:ph type="title"/>
          </p:nvPr>
        </p:nvSpPr>
        <p:spPr/>
        <p:txBody>
          <a:bodyPr/>
          <a:lstStyle/>
          <a:p>
            <a:r>
              <a:rPr lang="en-US" dirty="0"/>
              <a:t>Ongoing Performance Improvements</a:t>
            </a:r>
          </a:p>
        </p:txBody>
      </p:sp>
      <p:sp>
        <p:nvSpPr>
          <p:cNvPr id="16" name="Text Placeholder 15">
            <a:extLst>
              <a:ext uri="{FF2B5EF4-FFF2-40B4-BE49-F238E27FC236}">
                <a16:creationId xmlns:a16="http://schemas.microsoft.com/office/drawing/2014/main" id="{ADA5D09C-7BB7-A7E1-D41A-B89E94F8FABB}"/>
              </a:ext>
            </a:extLst>
          </p:cNvPr>
          <p:cNvSpPr>
            <a:spLocks noGrp="1"/>
          </p:cNvSpPr>
          <p:nvPr>
            <p:ph type="body" sz="quarter" idx="10"/>
          </p:nvPr>
        </p:nvSpPr>
        <p:spPr/>
        <p:txBody>
          <a:bodyPr/>
          <a:lstStyle/>
          <a:p>
            <a:r>
              <a:rPr lang="en-US" dirty="0"/>
              <a:t>NIM standardizes on the best performing option, continuously updated</a:t>
            </a:r>
          </a:p>
        </p:txBody>
      </p:sp>
      <p:sp>
        <p:nvSpPr>
          <p:cNvPr id="12" name="TextBox 11">
            <a:extLst>
              <a:ext uri="{FF2B5EF4-FFF2-40B4-BE49-F238E27FC236}">
                <a16:creationId xmlns:a16="http://schemas.microsoft.com/office/drawing/2014/main" id="{9384B016-7020-0BCE-999A-7B6E689F1517}"/>
              </a:ext>
            </a:extLst>
          </p:cNvPr>
          <p:cNvSpPr txBox="1"/>
          <p:nvPr/>
        </p:nvSpPr>
        <p:spPr>
          <a:xfrm>
            <a:off x="9926287" y="18568092"/>
            <a:ext cx="16723424" cy="523220"/>
          </a:xfrm>
          <a:prstGeom prst="rect">
            <a:avLst/>
          </a:prstGeom>
          <a:noFill/>
        </p:spPr>
        <p:txBody>
          <a:bodyPr wrap="none" rtlCol="0">
            <a:spAutoFit/>
          </a:bodyPr>
          <a:lstStyle/>
          <a:p>
            <a:pPr algn="ctr"/>
            <a:r>
              <a:rPr lang="en-US" sz="2800" dirty="0">
                <a:solidFill>
                  <a:schemeClr val="bg1"/>
                </a:solidFill>
                <a:latin typeface="NVIDIA Sans" panose="020B0503020203020204" pitchFamily="34" charset="0"/>
                <a:cs typeface="NVIDIA Sans" panose="020B0503020203020204" pitchFamily="34" charset="0"/>
              </a:rPr>
              <a:t>Find LLM NIM Latency-Throughput Benchmark Data at </a:t>
            </a:r>
            <a:r>
              <a:rPr lang="en-US" sz="2800" dirty="0">
                <a:solidFill>
                  <a:schemeClr val="bg1"/>
                </a:solidFill>
                <a:latin typeface="NVIDIA Sans" panose="020B0503020203020204" pitchFamily="34" charset="0"/>
                <a:cs typeface="NVIDIA Sans" panose="020B0503020203020204" pitchFamily="34" charset="0"/>
                <a:hlinkClick r:id="rId4"/>
              </a:rPr>
              <a:t>aibenchmarking.ngc.nvidia.com/benchmark</a:t>
            </a:r>
            <a:endParaRPr lang="en-US" sz="2800" dirty="0">
              <a:solidFill>
                <a:schemeClr val="bg1"/>
              </a:solidFill>
              <a:latin typeface="NVIDIA Sans" panose="020B0503020203020204" pitchFamily="34" charset="0"/>
              <a:cs typeface="NVIDIA Sans" panose="020B0503020203020204" pitchFamily="34" charset="0"/>
            </a:endParaRPr>
          </a:p>
        </p:txBody>
      </p:sp>
      <p:sp>
        <p:nvSpPr>
          <p:cNvPr id="2" name="TextBox 1">
            <a:extLst>
              <a:ext uri="{FF2B5EF4-FFF2-40B4-BE49-F238E27FC236}">
                <a16:creationId xmlns:a16="http://schemas.microsoft.com/office/drawing/2014/main" id="{8422F16E-3668-2D66-F728-D149EB82D11D}"/>
              </a:ext>
            </a:extLst>
          </p:cNvPr>
          <p:cNvSpPr txBox="1"/>
          <p:nvPr/>
        </p:nvSpPr>
        <p:spPr>
          <a:xfrm>
            <a:off x="13161314" y="18167982"/>
            <a:ext cx="9318577" cy="400110"/>
          </a:xfrm>
          <a:prstGeom prst="rect">
            <a:avLst/>
          </a:prstGeom>
          <a:noFill/>
        </p:spPr>
        <p:txBody>
          <a:bodyPr wrap="none" rtlCol="0">
            <a:spAutoFit/>
          </a:bodyPr>
          <a:lstStyle/>
          <a:p>
            <a:pPr algn="ctr"/>
            <a:r>
              <a:rPr lang="en-US" sz="2000" dirty="0">
                <a:solidFill>
                  <a:schemeClr val="accent4"/>
                </a:solidFill>
                <a:latin typeface="NVIDIA Sans" panose="020B0503020203020204" pitchFamily="34" charset="0"/>
                <a:cs typeface="NVIDIA Sans" panose="020B0503020203020204" pitchFamily="34" charset="0"/>
              </a:rPr>
              <a:t>Llama 3.1 70B FP8, 4x H100 SXM, ISL/OSL = 1000/1000, concurrency = 100 </a:t>
            </a:r>
          </a:p>
        </p:txBody>
      </p:sp>
      <p:graphicFrame>
        <p:nvGraphicFramePr>
          <p:cNvPr id="5" name="Chart 4">
            <a:extLst>
              <a:ext uri="{FF2B5EF4-FFF2-40B4-BE49-F238E27FC236}">
                <a16:creationId xmlns:a16="http://schemas.microsoft.com/office/drawing/2014/main" id="{2DAEE398-0909-841D-C1ED-99EA3CFC0C88}"/>
              </a:ext>
            </a:extLst>
          </p:cNvPr>
          <p:cNvGraphicFramePr>
            <a:graphicFrameLocks/>
          </p:cNvGraphicFramePr>
          <p:nvPr/>
        </p:nvGraphicFramePr>
        <p:xfrm>
          <a:off x="3009900" y="3892376"/>
          <a:ext cx="27578957" cy="13752386"/>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6931707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C39D2-30AF-8661-BBF9-FBE281DCEBC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570F2A6-050F-37CD-7E5F-F5593C5D2DCA}"/>
              </a:ext>
            </a:extLst>
          </p:cNvPr>
          <p:cNvSpPr>
            <a:spLocks noGrp="1"/>
          </p:cNvSpPr>
          <p:nvPr>
            <p:ph type="title"/>
          </p:nvPr>
        </p:nvSpPr>
        <p:spPr/>
        <p:txBody>
          <a:bodyPr/>
          <a:lstStyle/>
          <a:p>
            <a:r>
              <a:rPr lang="en-US"/>
              <a:t>Rapid Integration Requires Rapid Endpoint Deployment</a:t>
            </a:r>
          </a:p>
        </p:txBody>
      </p:sp>
      <p:sp>
        <p:nvSpPr>
          <p:cNvPr id="56" name="Text Placeholder 55">
            <a:extLst>
              <a:ext uri="{FF2B5EF4-FFF2-40B4-BE49-F238E27FC236}">
                <a16:creationId xmlns:a16="http://schemas.microsoft.com/office/drawing/2014/main" id="{3D16C4F9-F9CC-94B1-6DE2-8B1800419145}"/>
              </a:ext>
            </a:extLst>
          </p:cNvPr>
          <p:cNvSpPr>
            <a:spLocks noGrp="1"/>
          </p:cNvSpPr>
          <p:nvPr>
            <p:ph type="body" sz="quarter" idx="10"/>
          </p:nvPr>
        </p:nvSpPr>
        <p:spPr/>
        <p:txBody>
          <a:bodyPr/>
          <a:lstStyle/>
          <a:p>
            <a:r>
              <a:rPr lang="en-US" dirty="0"/>
              <a:t>NIM handles the heavy lifting</a:t>
            </a:r>
          </a:p>
        </p:txBody>
      </p:sp>
      <p:sp>
        <p:nvSpPr>
          <p:cNvPr id="24" name="TextBox 23">
            <a:extLst>
              <a:ext uri="{FF2B5EF4-FFF2-40B4-BE49-F238E27FC236}">
                <a16:creationId xmlns:a16="http://schemas.microsoft.com/office/drawing/2014/main" id="{67C464C3-8F75-C2EF-CD1D-89E483807385}"/>
              </a:ext>
            </a:extLst>
          </p:cNvPr>
          <p:cNvSpPr txBox="1"/>
          <p:nvPr/>
        </p:nvSpPr>
        <p:spPr>
          <a:xfrm>
            <a:off x="1596225" y="4071973"/>
            <a:ext cx="6714980" cy="769441"/>
          </a:xfrm>
          <a:prstGeom prst="rect">
            <a:avLst/>
          </a:prstGeom>
          <a:noFill/>
        </p:spPr>
        <p:txBody>
          <a:bodyPr wrap="none" rtlCol="0">
            <a:spAutoFit/>
          </a:bodyPr>
          <a:lstStyle/>
          <a:p>
            <a:pPr algn="ctr"/>
            <a:r>
              <a:rPr lang="en-US" sz="4400" dirty="0">
                <a:solidFill>
                  <a:schemeClr val="bg1"/>
                </a:solidFill>
                <a:latin typeface="+mj-lt"/>
                <a:cs typeface="NVIDIA Sans" panose="020B0503020203020204" pitchFamily="34" charset="0"/>
              </a:rPr>
              <a:t>SELF-HOST DIY: 5+ Days</a:t>
            </a:r>
          </a:p>
        </p:txBody>
      </p:sp>
      <p:sp>
        <p:nvSpPr>
          <p:cNvPr id="40" name="Rectangle 39">
            <a:extLst>
              <a:ext uri="{FF2B5EF4-FFF2-40B4-BE49-F238E27FC236}">
                <a16:creationId xmlns:a16="http://schemas.microsoft.com/office/drawing/2014/main" id="{5F41697C-4B12-95D1-4B93-9CCB3325AE12}"/>
              </a:ext>
            </a:extLst>
          </p:cNvPr>
          <p:cNvSpPr/>
          <p:nvPr/>
        </p:nvSpPr>
        <p:spPr>
          <a:xfrm>
            <a:off x="1689169" y="5470169"/>
            <a:ext cx="522514" cy="376408"/>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i="1">
              <a:solidFill>
                <a:schemeClr val="tx1"/>
              </a:solidFill>
              <a:latin typeface="Trebuchet MS" panose="020B0603020202020204" pitchFamily="34" charset="0"/>
            </a:endParaRPr>
          </a:p>
        </p:txBody>
      </p:sp>
      <p:cxnSp>
        <p:nvCxnSpPr>
          <p:cNvPr id="42" name="Straight Arrow Connector 41">
            <a:extLst>
              <a:ext uri="{FF2B5EF4-FFF2-40B4-BE49-F238E27FC236}">
                <a16:creationId xmlns:a16="http://schemas.microsoft.com/office/drawing/2014/main" id="{424F32C9-46B9-D9C8-762D-06609B51DEAF}"/>
              </a:ext>
            </a:extLst>
          </p:cNvPr>
          <p:cNvCxnSpPr>
            <a:cxnSpLocks/>
            <a:stCxn id="40" idx="3"/>
          </p:cNvCxnSpPr>
          <p:nvPr/>
        </p:nvCxnSpPr>
        <p:spPr>
          <a:xfrm>
            <a:off x="2211683" y="5658373"/>
            <a:ext cx="3640477"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44" name="Rectangle 43">
            <a:extLst>
              <a:ext uri="{FF2B5EF4-FFF2-40B4-BE49-F238E27FC236}">
                <a16:creationId xmlns:a16="http://schemas.microsoft.com/office/drawing/2014/main" id="{3AB24ABB-35F8-BCFF-27A5-5A95F25C664B}"/>
              </a:ext>
            </a:extLst>
          </p:cNvPr>
          <p:cNvSpPr/>
          <p:nvPr/>
        </p:nvSpPr>
        <p:spPr>
          <a:xfrm>
            <a:off x="15255390" y="7794158"/>
            <a:ext cx="522514" cy="376408"/>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i="1">
              <a:solidFill>
                <a:schemeClr val="tx1"/>
              </a:solidFill>
              <a:latin typeface="Trebuchet MS" panose="020B0603020202020204" pitchFamily="34" charset="0"/>
            </a:endParaRPr>
          </a:p>
        </p:txBody>
      </p:sp>
      <p:sp>
        <p:nvSpPr>
          <p:cNvPr id="45" name="Rectangle 44">
            <a:extLst>
              <a:ext uri="{FF2B5EF4-FFF2-40B4-BE49-F238E27FC236}">
                <a16:creationId xmlns:a16="http://schemas.microsoft.com/office/drawing/2014/main" id="{531B854D-BE8F-F9F8-3A93-73377AF337A8}"/>
              </a:ext>
            </a:extLst>
          </p:cNvPr>
          <p:cNvSpPr/>
          <p:nvPr/>
        </p:nvSpPr>
        <p:spPr>
          <a:xfrm>
            <a:off x="5551211" y="6690112"/>
            <a:ext cx="522514" cy="376408"/>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i="1">
              <a:solidFill>
                <a:schemeClr val="tx1"/>
              </a:solidFill>
              <a:latin typeface="Trebuchet MS" panose="020B0603020202020204" pitchFamily="34" charset="0"/>
            </a:endParaRPr>
          </a:p>
        </p:txBody>
      </p:sp>
      <p:sp>
        <p:nvSpPr>
          <p:cNvPr id="46" name="Rectangle 45">
            <a:extLst>
              <a:ext uri="{FF2B5EF4-FFF2-40B4-BE49-F238E27FC236}">
                <a16:creationId xmlns:a16="http://schemas.microsoft.com/office/drawing/2014/main" id="{BB427B16-E429-1813-62BA-98D08AE03659}"/>
              </a:ext>
            </a:extLst>
          </p:cNvPr>
          <p:cNvSpPr/>
          <p:nvPr/>
        </p:nvSpPr>
        <p:spPr>
          <a:xfrm>
            <a:off x="22865030" y="8754734"/>
            <a:ext cx="522514" cy="376408"/>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i="1">
              <a:solidFill>
                <a:schemeClr val="tx1"/>
              </a:solidFill>
              <a:latin typeface="Trebuchet MS" panose="020B0603020202020204" pitchFamily="34" charset="0"/>
            </a:endParaRPr>
          </a:p>
        </p:txBody>
      </p:sp>
      <p:sp>
        <p:nvSpPr>
          <p:cNvPr id="47" name="TextBox 46">
            <a:extLst>
              <a:ext uri="{FF2B5EF4-FFF2-40B4-BE49-F238E27FC236}">
                <a16:creationId xmlns:a16="http://schemas.microsoft.com/office/drawing/2014/main" id="{658CA734-D376-E539-2745-81040B045374}"/>
              </a:ext>
            </a:extLst>
          </p:cNvPr>
          <p:cNvSpPr txBox="1"/>
          <p:nvPr/>
        </p:nvSpPr>
        <p:spPr>
          <a:xfrm>
            <a:off x="5551211" y="7431295"/>
            <a:ext cx="10145486" cy="1323439"/>
          </a:xfrm>
          <a:prstGeom prst="rect">
            <a:avLst/>
          </a:prstGeom>
          <a:noFill/>
        </p:spPr>
        <p:txBody>
          <a:bodyPr wrap="square" rtlCol="0">
            <a:spAutoFit/>
          </a:bodyPr>
          <a:lstStyle/>
          <a:p>
            <a:r>
              <a:rPr lang="en-US" sz="4000" dirty="0">
                <a:solidFill>
                  <a:schemeClr val="accent2"/>
                </a:solidFill>
                <a:latin typeface="+mj-lt"/>
                <a:cs typeface="NVIDIA Sans" panose="020B0503020203020204" pitchFamily="34" charset="0"/>
              </a:rPr>
              <a:t>Build optimized engines for all accelerated systems</a:t>
            </a:r>
          </a:p>
        </p:txBody>
      </p:sp>
      <p:sp>
        <p:nvSpPr>
          <p:cNvPr id="48" name="TextBox 47">
            <a:extLst>
              <a:ext uri="{FF2B5EF4-FFF2-40B4-BE49-F238E27FC236}">
                <a16:creationId xmlns:a16="http://schemas.microsoft.com/office/drawing/2014/main" id="{4EC9A793-D238-3C38-0361-BCD7BFC38479}"/>
              </a:ext>
            </a:extLst>
          </p:cNvPr>
          <p:cNvSpPr txBox="1"/>
          <p:nvPr/>
        </p:nvSpPr>
        <p:spPr>
          <a:xfrm>
            <a:off x="1596225" y="6214326"/>
            <a:ext cx="4417191" cy="707886"/>
          </a:xfrm>
          <a:prstGeom prst="rect">
            <a:avLst/>
          </a:prstGeom>
          <a:noFill/>
        </p:spPr>
        <p:txBody>
          <a:bodyPr wrap="square" rtlCol="0">
            <a:spAutoFit/>
          </a:bodyPr>
          <a:lstStyle/>
          <a:p>
            <a:r>
              <a:rPr lang="en-US" sz="4000">
                <a:solidFill>
                  <a:schemeClr val="accent2"/>
                </a:solidFill>
                <a:latin typeface="+mj-lt"/>
                <a:cs typeface="NVIDIA Sans" panose="020B0503020203020204" pitchFamily="34" charset="0"/>
              </a:rPr>
              <a:t>Implement API</a:t>
            </a:r>
          </a:p>
        </p:txBody>
      </p:sp>
      <p:sp>
        <p:nvSpPr>
          <p:cNvPr id="49" name="TextBox 48">
            <a:extLst>
              <a:ext uri="{FF2B5EF4-FFF2-40B4-BE49-F238E27FC236}">
                <a16:creationId xmlns:a16="http://schemas.microsoft.com/office/drawing/2014/main" id="{7064DE81-F4E2-DC01-1748-D9CA38BC3EDB}"/>
              </a:ext>
            </a:extLst>
          </p:cNvPr>
          <p:cNvSpPr txBox="1"/>
          <p:nvPr/>
        </p:nvSpPr>
        <p:spPr>
          <a:xfrm>
            <a:off x="15297191" y="8519060"/>
            <a:ext cx="7829096" cy="1938992"/>
          </a:xfrm>
          <a:prstGeom prst="rect">
            <a:avLst/>
          </a:prstGeom>
          <a:noFill/>
        </p:spPr>
        <p:txBody>
          <a:bodyPr wrap="square" rtlCol="0">
            <a:spAutoFit/>
          </a:bodyPr>
          <a:lstStyle/>
          <a:p>
            <a:r>
              <a:rPr lang="en-US" sz="4000" dirty="0">
                <a:solidFill>
                  <a:schemeClr val="accent2"/>
                </a:solidFill>
                <a:latin typeface="+mj-lt"/>
                <a:cs typeface="NVIDIA Sans" panose="020B0503020203020204" pitchFamily="34" charset="0"/>
              </a:rPr>
              <a:t>Implement pre &amp; post processing logic and observability</a:t>
            </a:r>
          </a:p>
        </p:txBody>
      </p:sp>
      <p:sp>
        <p:nvSpPr>
          <p:cNvPr id="50" name="TextBox 49">
            <a:extLst>
              <a:ext uri="{FF2B5EF4-FFF2-40B4-BE49-F238E27FC236}">
                <a16:creationId xmlns:a16="http://schemas.microsoft.com/office/drawing/2014/main" id="{5B9D69C8-842A-1645-C954-D3E0B0AEEF2A}"/>
              </a:ext>
            </a:extLst>
          </p:cNvPr>
          <p:cNvSpPr txBox="1"/>
          <p:nvPr/>
        </p:nvSpPr>
        <p:spPr>
          <a:xfrm>
            <a:off x="22865030" y="9458873"/>
            <a:ext cx="5762989" cy="1323439"/>
          </a:xfrm>
          <a:prstGeom prst="rect">
            <a:avLst/>
          </a:prstGeom>
          <a:noFill/>
        </p:spPr>
        <p:txBody>
          <a:bodyPr wrap="square" rtlCol="0">
            <a:spAutoFit/>
          </a:bodyPr>
          <a:lstStyle/>
          <a:p>
            <a:r>
              <a:rPr lang="en-US" sz="4000" dirty="0">
                <a:solidFill>
                  <a:schemeClr val="accent2"/>
                </a:solidFill>
                <a:latin typeface="+mj-lt"/>
                <a:cs typeface="NVIDIA Sans" panose="020B0503020203020204" pitchFamily="34" charset="0"/>
              </a:rPr>
              <a:t>QA, security &amp; performance testing</a:t>
            </a:r>
          </a:p>
        </p:txBody>
      </p:sp>
      <p:cxnSp>
        <p:nvCxnSpPr>
          <p:cNvPr id="52" name="Straight Arrow Connector 51">
            <a:extLst>
              <a:ext uri="{FF2B5EF4-FFF2-40B4-BE49-F238E27FC236}">
                <a16:creationId xmlns:a16="http://schemas.microsoft.com/office/drawing/2014/main" id="{17B121DA-767D-3A34-B5A6-9E07AD890D76}"/>
              </a:ext>
            </a:extLst>
          </p:cNvPr>
          <p:cNvCxnSpPr>
            <a:cxnSpLocks/>
          </p:cNvCxnSpPr>
          <p:nvPr/>
        </p:nvCxnSpPr>
        <p:spPr>
          <a:xfrm>
            <a:off x="6084085" y="6878316"/>
            <a:ext cx="9612612"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54" name="Straight Arrow Connector 53">
            <a:extLst>
              <a:ext uri="{FF2B5EF4-FFF2-40B4-BE49-F238E27FC236}">
                <a16:creationId xmlns:a16="http://schemas.microsoft.com/office/drawing/2014/main" id="{41F9BF0A-21BD-C5CB-7ABD-159DEA93E047}"/>
              </a:ext>
            </a:extLst>
          </p:cNvPr>
          <p:cNvCxnSpPr>
            <a:cxnSpLocks/>
          </p:cNvCxnSpPr>
          <p:nvPr/>
        </p:nvCxnSpPr>
        <p:spPr>
          <a:xfrm>
            <a:off x="15744861" y="7937552"/>
            <a:ext cx="7381426"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57" name="Straight Arrow Connector 56">
            <a:extLst>
              <a:ext uri="{FF2B5EF4-FFF2-40B4-BE49-F238E27FC236}">
                <a16:creationId xmlns:a16="http://schemas.microsoft.com/office/drawing/2014/main" id="{8A38F08E-C548-A51D-8D1F-6DFDE948E0A8}"/>
              </a:ext>
            </a:extLst>
          </p:cNvPr>
          <p:cNvCxnSpPr>
            <a:cxnSpLocks/>
          </p:cNvCxnSpPr>
          <p:nvPr/>
        </p:nvCxnSpPr>
        <p:spPr>
          <a:xfrm>
            <a:off x="23126287" y="8928906"/>
            <a:ext cx="635000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4" name="Rectangle 3">
            <a:extLst>
              <a:ext uri="{FF2B5EF4-FFF2-40B4-BE49-F238E27FC236}">
                <a16:creationId xmlns:a16="http://schemas.microsoft.com/office/drawing/2014/main" id="{162E3193-7264-90F2-D4B7-EA8FDBF3B83A}"/>
              </a:ext>
            </a:extLst>
          </p:cNvPr>
          <p:cNvSpPr/>
          <p:nvPr/>
        </p:nvSpPr>
        <p:spPr>
          <a:xfrm>
            <a:off x="28979569" y="9864573"/>
            <a:ext cx="522514" cy="376408"/>
          </a:xfrm>
          <a:prstGeom prst="rect">
            <a:avLst/>
          </a:prstGeom>
          <a:solidFill>
            <a:schemeClr val="accent3"/>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i="1">
              <a:solidFill>
                <a:schemeClr val="tx1"/>
              </a:solidFill>
              <a:latin typeface="Trebuchet MS" panose="020B0603020202020204" pitchFamily="34" charset="0"/>
            </a:endParaRPr>
          </a:p>
        </p:txBody>
      </p:sp>
      <p:cxnSp>
        <p:nvCxnSpPr>
          <p:cNvPr id="6" name="Straight Arrow Connector 5">
            <a:extLst>
              <a:ext uri="{FF2B5EF4-FFF2-40B4-BE49-F238E27FC236}">
                <a16:creationId xmlns:a16="http://schemas.microsoft.com/office/drawing/2014/main" id="{D18F7EC1-8290-4461-4886-35F9FC3E2144}"/>
              </a:ext>
            </a:extLst>
          </p:cNvPr>
          <p:cNvCxnSpPr>
            <a:cxnSpLocks/>
          </p:cNvCxnSpPr>
          <p:nvPr/>
        </p:nvCxnSpPr>
        <p:spPr>
          <a:xfrm>
            <a:off x="29240826" y="10038745"/>
            <a:ext cx="6350000" cy="0"/>
          </a:xfrm>
          <a:prstGeom prst="straightConnector1">
            <a:avLst/>
          </a:prstGeom>
          <a:ln>
            <a:solidFill>
              <a:schemeClr val="accent3"/>
            </a:solidFill>
            <a:tailEnd type="triangle"/>
          </a:ln>
        </p:spPr>
        <p:style>
          <a:lnRef idx="3">
            <a:schemeClr val="accent2"/>
          </a:lnRef>
          <a:fillRef idx="0">
            <a:schemeClr val="accent2"/>
          </a:fillRef>
          <a:effectRef idx="2">
            <a:schemeClr val="accent2"/>
          </a:effectRef>
          <a:fontRef idx="minor">
            <a:schemeClr val="tx1"/>
          </a:fontRef>
        </p:style>
      </p:cxnSp>
      <p:sp>
        <p:nvSpPr>
          <p:cNvPr id="7" name="TextBox 6">
            <a:extLst>
              <a:ext uri="{FF2B5EF4-FFF2-40B4-BE49-F238E27FC236}">
                <a16:creationId xmlns:a16="http://schemas.microsoft.com/office/drawing/2014/main" id="{732550D0-1E06-F629-2527-6A7D30B8115F}"/>
              </a:ext>
            </a:extLst>
          </p:cNvPr>
          <p:cNvSpPr txBox="1"/>
          <p:nvPr/>
        </p:nvSpPr>
        <p:spPr>
          <a:xfrm>
            <a:off x="28979569" y="10568712"/>
            <a:ext cx="5762989" cy="707886"/>
          </a:xfrm>
          <a:prstGeom prst="rect">
            <a:avLst/>
          </a:prstGeom>
          <a:noFill/>
        </p:spPr>
        <p:txBody>
          <a:bodyPr wrap="square" rtlCol="0">
            <a:spAutoFit/>
          </a:bodyPr>
          <a:lstStyle/>
          <a:p>
            <a:r>
              <a:rPr lang="en-US" sz="4000">
                <a:solidFill>
                  <a:schemeClr val="accent3"/>
                </a:solidFill>
                <a:latin typeface="+mj-lt"/>
                <a:cs typeface="NVIDIA Sans" panose="020B0503020203020204" pitchFamily="34" charset="0"/>
              </a:rPr>
              <a:t>Maintenance…</a:t>
            </a:r>
          </a:p>
        </p:txBody>
      </p:sp>
      <p:sp>
        <p:nvSpPr>
          <p:cNvPr id="2" name="TextBox 1">
            <a:extLst>
              <a:ext uri="{FF2B5EF4-FFF2-40B4-BE49-F238E27FC236}">
                <a16:creationId xmlns:a16="http://schemas.microsoft.com/office/drawing/2014/main" id="{7697DE62-F1FF-9573-D4DB-4AD8C1C36C40}"/>
              </a:ext>
            </a:extLst>
          </p:cNvPr>
          <p:cNvSpPr txBox="1"/>
          <p:nvPr/>
        </p:nvSpPr>
        <p:spPr>
          <a:xfrm>
            <a:off x="1500526" y="12052828"/>
            <a:ext cx="5462649" cy="769441"/>
          </a:xfrm>
          <a:prstGeom prst="rect">
            <a:avLst/>
          </a:prstGeom>
          <a:noFill/>
        </p:spPr>
        <p:txBody>
          <a:bodyPr wrap="none" rtlCol="0">
            <a:spAutoFit/>
          </a:bodyPr>
          <a:lstStyle/>
          <a:p>
            <a:pPr algn="ctr"/>
            <a:r>
              <a:rPr lang="en-US" sz="4400">
                <a:solidFill>
                  <a:schemeClr val="tx2"/>
                </a:solidFill>
                <a:latin typeface="+mj-lt"/>
                <a:cs typeface="NVIDIA Sans" panose="020B0503020203020204" pitchFamily="34" charset="0"/>
              </a:rPr>
              <a:t>5 MINUTES TO NIM</a:t>
            </a:r>
          </a:p>
        </p:txBody>
      </p:sp>
      <p:sp>
        <p:nvSpPr>
          <p:cNvPr id="3" name="Rounded Rectangle 2">
            <a:extLst>
              <a:ext uri="{FF2B5EF4-FFF2-40B4-BE49-F238E27FC236}">
                <a16:creationId xmlns:a16="http://schemas.microsoft.com/office/drawing/2014/main" id="{A100E75D-F1A3-87D9-1CB3-C6354B742FB4}"/>
              </a:ext>
            </a:extLst>
          </p:cNvPr>
          <p:cNvSpPr/>
          <p:nvPr/>
        </p:nvSpPr>
        <p:spPr>
          <a:xfrm>
            <a:off x="13944600" y="13964667"/>
            <a:ext cx="8686800" cy="4659265"/>
          </a:xfrm>
          <a:prstGeom prst="roundRect">
            <a:avLst/>
          </a:prstGeom>
          <a:ln/>
        </p:spPr>
        <p:style>
          <a:lnRef idx="2">
            <a:schemeClr val="dk1"/>
          </a:lnRef>
          <a:fillRef idx="1">
            <a:schemeClr val="lt1"/>
          </a:fillRef>
          <a:effectRef idx="0">
            <a:schemeClr val="dk1"/>
          </a:effectRef>
          <a:fontRef idx="minor">
            <a:schemeClr val="dk1"/>
          </a:fontRef>
        </p:style>
        <p:txBody>
          <a:bodyPr rtlCol="0" anchor="t"/>
          <a:lstStyle/>
          <a:p>
            <a:pPr>
              <a:lnSpc>
                <a:spcPct val="90000"/>
              </a:lnSpc>
            </a:pPr>
            <a:endParaRPr lang="en-US" sz="3600">
              <a:solidFill>
                <a:schemeClr val="tx1"/>
              </a:solidFill>
              <a:latin typeface="Trebuchet MS" panose="020B0603020202020204" pitchFamily="34" charset="0"/>
            </a:endParaRPr>
          </a:p>
          <a:p>
            <a:pPr>
              <a:lnSpc>
                <a:spcPct val="90000"/>
              </a:lnSpc>
            </a:pPr>
            <a:r>
              <a:rPr lang="en-US" sz="3600">
                <a:solidFill>
                  <a:schemeClr val="tx1"/>
                </a:solidFill>
                <a:latin typeface="Consolas" panose="020B0609020204030204" pitchFamily="49" charset="0"/>
                <a:cs typeface="Consolas" panose="020B0609020204030204" pitchFamily="49" charset="0"/>
              </a:rPr>
              <a:t>curl –X ‘POST’ \ ‘</a:t>
            </a:r>
            <a:r>
              <a:rPr lang="en-US" sz="3600" err="1">
                <a:solidFill>
                  <a:schemeClr val="tx1"/>
                </a:solidFill>
                <a:latin typeface="Consolas" panose="020B0609020204030204" pitchFamily="49" charset="0"/>
                <a:cs typeface="Consolas" panose="020B0609020204030204" pitchFamily="49" charset="0"/>
              </a:rPr>
              <a:t>local_host</a:t>
            </a:r>
            <a:r>
              <a:rPr lang="en-US" sz="3600">
                <a:solidFill>
                  <a:schemeClr val="tx1"/>
                </a:solidFill>
                <a:latin typeface="Consolas" panose="020B0609020204030204" pitchFamily="49" charset="0"/>
                <a:cs typeface="Consolas" panose="020B0609020204030204" pitchFamily="49" charset="0"/>
              </a:rPr>
              <a:t>/v1/completions \ </a:t>
            </a:r>
          </a:p>
          <a:p>
            <a:pPr>
              <a:lnSpc>
                <a:spcPct val="90000"/>
              </a:lnSpc>
            </a:pPr>
            <a:endParaRPr lang="en-US" sz="3600">
              <a:solidFill>
                <a:schemeClr val="tx1"/>
              </a:solidFill>
              <a:latin typeface="Consolas" panose="020B0609020204030204" pitchFamily="49" charset="0"/>
              <a:cs typeface="Consolas" panose="020B0609020204030204" pitchFamily="49" charset="0"/>
            </a:endParaRPr>
          </a:p>
          <a:p>
            <a:pPr>
              <a:lnSpc>
                <a:spcPct val="90000"/>
              </a:lnSpc>
            </a:pPr>
            <a:r>
              <a:rPr lang="en-US" sz="3600">
                <a:solidFill>
                  <a:schemeClr val="tx1"/>
                </a:solidFill>
                <a:latin typeface="Consolas" panose="020B0609020204030204" pitchFamily="49" charset="0"/>
                <a:cs typeface="Consolas" panose="020B0609020204030204" pitchFamily="49" charset="0"/>
              </a:rPr>
              <a:t>‘{</a:t>
            </a:r>
          </a:p>
          <a:p>
            <a:pPr>
              <a:lnSpc>
                <a:spcPct val="90000"/>
              </a:lnSpc>
            </a:pPr>
            <a:endParaRPr lang="en-US" sz="3600">
              <a:solidFill>
                <a:schemeClr val="tx1"/>
              </a:solidFill>
              <a:latin typeface="Consolas" panose="020B0609020204030204" pitchFamily="49" charset="0"/>
              <a:cs typeface="Consolas" panose="020B0609020204030204" pitchFamily="49" charset="0"/>
            </a:endParaRPr>
          </a:p>
          <a:p>
            <a:pPr>
              <a:lnSpc>
                <a:spcPct val="90000"/>
              </a:lnSpc>
            </a:pPr>
            <a:r>
              <a:rPr lang="en-US" sz="3600">
                <a:solidFill>
                  <a:schemeClr val="tx1"/>
                </a:solidFill>
                <a:latin typeface="Consolas" panose="020B0609020204030204" pitchFamily="49" charset="0"/>
                <a:cs typeface="Consolas" panose="020B0609020204030204" pitchFamily="49" charset="0"/>
              </a:rPr>
              <a:t>		</a:t>
            </a:r>
            <a:r>
              <a:rPr lang="en-US" sz="3600">
                <a:solidFill>
                  <a:schemeClr val="tx1"/>
                </a:solidFill>
                <a:highlight>
                  <a:srgbClr val="76B900"/>
                </a:highlight>
                <a:latin typeface="Consolas" panose="020B0609020204030204" pitchFamily="49" charset="0"/>
                <a:cs typeface="Consolas" panose="020B0609020204030204" pitchFamily="49" charset="0"/>
              </a:rPr>
              <a:t>model = “new-model-name”</a:t>
            </a:r>
          </a:p>
          <a:p>
            <a:pPr>
              <a:lnSpc>
                <a:spcPct val="90000"/>
              </a:lnSpc>
            </a:pPr>
            <a:r>
              <a:rPr lang="en-US" sz="3600">
                <a:solidFill>
                  <a:schemeClr val="tx1"/>
                </a:solidFill>
                <a:latin typeface="Consolas" panose="020B0609020204030204" pitchFamily="49" charset="0"/>
                <a:cs typeface="Consolas" panose="020B0609020204030204" pitchFamily="49" charset="0"/>
              </a:rPr>
              <a:t>}’</a:t>
            </a:r>
          </a:p>
          <a:p>
            <a:pPr>
              <a:lnSpc>
                <a:spcPct val="90000"/>
              </a:lnSpc>
            </a:pPr>
            <a:r>
              <a:rPr lang="en-US" sz="3600">
                <a:solidFill>
                  <a:schemeClr val="tx1"/>
                </a:solidFill>
                <a:latin typeface="Consolas" panose="020B0609020204030204" pitchFamily="49" charset="0"/>
                <a:cs typeface="Consolas" panose="020B0609020204030204" pitchFamily="49" charset="0"/>
              </a:rPr>
              <a:t>	</a:t>
            </a:r>
          </a:p>
          <a:p>
            <a:pPr>
              <a:lnSpc>
                <a:spcPct val="90000"/>
              </a:lnSpc>
            </a:pPr>
            <a:r>
              <a:rPr lang="en-US" sz="3600">
                <a:solidFill>
                  <a:schemeClr val="tx1"/>
                </a:solidFill>
                <a:latin typeface="Consolas" panose="020B0609020204030204" pitchFamily="49" charset="0"/>
                <a:cs typeface="Consolas" panose="020B0609020204030204" pitchFamily="49" charset="0"/>
              </a:rPr>
              <a:t>		)</a:t>
            </a:r>
          </a:p>
          <a:p>
            <a:pPr>
              <a:lnSpc>
                <a:spcPct val="90000"/>
              </a:lnSpc>
            </a:pPr>
            <a:endParaRPr lang="en-US" sz="3600">
              <a:solidFill>
                <a:schemeClr val="tx1"/>
              </a:solidFill>
              <a:latin typeface="Consolas" panose="020B0609020204030204" pitchFamily="49" charset="0"/>
              <a:cs typeface="Consolas" panose="020B0609020204030204" pitchFamily="49" charset="0"/>
            </a:endParaRPr>
          </a:p>
          <a:p>
            <a:pPr>
              <a:lnSpc>
                <a:spcPct val="90000"/>
              </a:lnSpc>
            </a:pPr>
            <a:endParaRPr lang="en-US" sz="3600">
              <a:solidFill>
                <a:schemeClr val="tx1"/>
              </a:solidFill>
              <a:latin typeface="Trebuchet MS" panose="020B0603020202020204" pitchFamily="34" charset="0"/>
            </a:endParaRPr>
          </a:p>
        </p:txBody>
      </p:sp>
      <p:sp>
        <p:nvSpPr>
          <p:cNvPr id="8" name="TextBox 7">
            <a:extLst>
              <a:ext uri="{FF2B5EF4-FFF2-40B4-BE49-F238E27FC236}">
                <a16:creationId xmlns:a16="http://schemas.microsoft.com/office/drawing/2014/main" id="{BC03D704-843C-6387-DA21-D08EA3BE509E}"/>
              </a:ext>
            </a:extLst>
          </p:cNvPr>
          <p:cNvSpPr txBox="1"/>
          <p:nvPr/>
        </p:nvSpPr>
        <p:spPr>
          <a:xfrm>
            <a:off x="17612174" y="13106025"/>
            <a:ext cx="1351653" cy="769441"/>
          </a:xfrm>
          <a:prstGeom prst="rect">
            <a:avLst/>
          </a:prstGeom>
          <a:noFill/>
        </p:spPr>
        <p:txBody>
          <a:bodyPr wrap="none" rtlCol="0">
            <a:spAutoFit/>
          </a:bodyPr>
          <a:lstStyle/>
          <a:p>
            <a:pPr algn="ctr"/>
            <a:r>
              <a:rPr lang="en-US" sz="4400">
                <a:solidFill>
                  <a:schemeClr val="tx2"/>
                </a:solidFill>
                <a:latin typeface="NVIDIA Sans" panose="020B0503020203020204" pitchFamily="34" charset="0"/>
                <a:cs typeface="NVIDIA Sans" panose="020B0503020203020204" pitchFamily="34" charset="0"/>
              </a:rPr>
              <a:t>RUN</a:t>
            </a:r>
          </a:p>
        </p:txBody>
      </p:sp>
      <p:sp>
        <p:nvSpPr>
          <p:cNvPr id="9" name="Rounded Rectangle 8">
            <a:extLst>
              <a:ext uri="{FF2B5EF4-FFF2-40B4-BE49-F238E27FC236}">
                <a16:creationId xmlns:a16="http://schemas.microsoft.com/office/drawing/2014/main" id="{9B81F14A-A4EF-5404-9A7C-17C188FCDBA3}"/>
              </a:ext>
            </a:extLst>
          </p:cNvPr>
          <p:cNvSpPr/>
          <p:nvPr/>
        </p:nvSpPr>
        <p:spPr>
          <a:xfrm>
            <a:off x="24852086" y="13964667"/>
            <a:ext cx="8686800" cy="4659265"/>
          </a:xfrm>
          <a:prstGeom prst="roundRect">
            <a:avLst/>
          </a:prstGeom>
          <a:ln/>
        </p:spPr>
        <p:style>
          <a:lnRef idx="2">
            <a:schemeClr val="dk1"/>
          </a:lnRef>
          <a:fillRef idx="1">
            <a:schemeClr val="lt1"/>
          </a:fillRef>
          <a:effectRef idx="0">
            <a:schemeClr val="dk1"/>
          </a:effectRef>
          <a:fontRef idx="minor">
            <a:schemeClr val="dk1"/>
          </a:fontRef>
        </p:style>
        <p:txBody>
          <a:bodyPr rtlCol="0" anchor="t"/>
          <a:lstStyle/>
          <a:p>
            <a:pPr>
              <a:lnSpc>
                <a:spcPct val="90000"/>
              </a:lnSpc>
            </a:pPr>
            <a:endParaRPr lang="en-US" sz="3600">
              <a:solidFill>
                <a:schemeClr val="tx1"/>
              </a:solidFill>
              <a:latin typeface="Trebuchet MS" panose="020B0603020202020204" pitchFamily="34" charset="0"/>
            </a:endParaRPr>
          </a:p>
          <a:p>
            <a:pPr>
              <a:lnSpc>
                <a:spcPct val="90000"/>
              </a:lnSpc>
            </a:pPr>
            <a:r>
              <a:rPr lang="en-US" sz="3600">
                <a:solidFill>
                  <a:schemeClr val="tx1"/>
                </a:solidFill>
                <a:latin typeface="Consolas" panose="020B0609020204030204" pitchFamily="49" charset="0"/>
                <a:cs typeface="Consolas" panose="020B0609020204030204" pitchFamily="49" charset="0"/>
              </a:rPr>
              <a:t>completion = client.chat.completions.create (</a:t>
            </a:r>
          </a:p>
          <a:p>
            <a:pPr>
              <a:lnSpc>
                <a:spcPct val="90000"/>
              </a:lnSpc>
            </a:pPr>
            <a:endParaRPr lang="en-US" sz="3600">
              <a:solidFill>
                <a:schemeClr val="tx1"/>
              </a:solidFill>
              <a:latin typeface="Consolas" panose="020B0609020204030204" pitchFamily="49" charset="0"/>
              <a:cs typeface="Consolas" panose="020B0609020204030204" pitchFamily="49" charset="0"/>
            </a:endParaRPr>
          </a:p>
          <a:p>
            <a:pPr>
              <a:lnSpc>
                <a:spcPct val="90000"/>
              </a:lnSpc>
            </a:pPr>
            <a:r>
              <a:rPr lang="en-US" sz="3600">
                <a:solidFill>
                  <a:schemeClr val="tx1"/>
                </a:solidFill>
                <a:latin typeface="Consolas" panose="020B0609020204030204" pitchFamily="49" charset="0"/>
                <a:cs typeface="Consolas" panose="020B0609020204030204" pitchFamily="49" charset="0"/>
              </a:rPr>
              <a:t>		</a:t>
            </a:r>
            <a:r>
              <a:rPr lang="en-US" sz="3600">
                <a:solidFill>
                  <a:schemeClr val="tx1"/>
                </a:solidFill>
                <a:highlight>
                  <a:srgbClr val="76B900"/>
                </a:highlight>
                <a:latin typeface="Consolas" panose="020B0609020204030204" pitchFamily="49" charset="0"/>
                <a:cs typeface="Consolas" panose="020B0609020204030204" pitchFamily="49" charset="0"/>
              </a:rPr>
              <a:t>model = “new-model-name”</a:t>
            </a:r>
          </a:p>
          <a:p>
            <a:pPr>
              <a:lnSpc>
                <a:spcPct val="90000"/>
              </a:lnSpc>
            </a:pPr>
            <a:r>
              <a:rPr lang="en-US" sz="3600">
                <a:solidFill>
                  <a:schemeClr val="tx1"/>
                </a:solidFill>
                <a:latin typeface="Consolas" panose="020B0609020204030204" pitchFamily="49" charset="0"/>
                <a:cs typeface="Consolas" panose="020B0609020204030204" pitchFamily="49" charset="0"/>
              </a:rPr>
              <a:t>	</a:t>
            </a:r>
          </a:p>
          <a:p>
            <a:pPr>
              <a:lnSpc>
                <a:spcPct val="90000"/>
              </a:lnSpc>
            </a:pPr>
            <a:r>
              <a:rPr lang="en-US" sz="3600">
                <a:solidFill>
                  <a:schemeClr val="tx1"/>
                </a:solidFill>
                <a:latin typeface="Consolas" panose="020B0609020204030204" pitchFamily="49" charset="0"/>
                <a:cs typeface="Consolas" panose="020B0609020204030204" pitchFamily="49" charset="0"/>
              </a:rPr>
              <a:t>		)</a:t>
            </a:r>
          </a:p>
          <a:p>
            <a:pPr>
              <a:lnSpc>
                <a:spcPct val="90000"/>
              </a:lnSpc>
            </a:pPr>
            <a:endParaRPr lang="en-US" sz="3600">
              <a:solidFill>
                <a:schemeClr val="tx1"/>
              </a:solidFill>
              <a:latin typeface="Consolas" panose="020B0609020204030204" pitchFamily="49" charset="0"/>
              <a:cs typeface="Consolas" panose="020B0609020204030204" pitchFamily="49" charset="0"/>
            </a:endParaRPr>
          </a:p>
          <a:p>
            <a:pPr>
              <a:lnSpc>
                <a:spcPct val="90000"/>
              </a:lnSpc>
            </a:pPr>
            <a:endParaRPr lang="en-US" sz="3600">
              <a:solidFill>
                <a:schemeClr val="tx1"/>
              </a:solidFill>
              <a:latin typeface="Trebuchet MS" panose="020B0603020202020204" pitchFamily="34" charset="0"/>
            </a:endParaRPr>
          </a:p>
        </p:txBody>
      </p:sp>
      <p:sp>
        <p:nvSpPr>
          <p:cNvPr id="10" name="TextBox 9">
            <a:extLst>
              <a:ext uri="{FF2B5EF4-FFF2-40B4-BE49-F238E27FC236}">
                <a16:creationId xmlns:a16="http://schemas.microsoft.com/office/drawing/2014/main" id="{787AAC14-5BC4-51C3-D36C-32E60E9B91D0}"/>
              </a:ext>
            </a:extLst>
          </p:cNvPr>
          <p:cNvSpPr txBox="1"/>
          <p:nvPr/>
        </p:nvSpPr>
        <p:spPr>
          <a:xfrm>
            <a:off x="28282416" y="13106025"/>
            <a:ext cx="1826141" cy="769441"/>
          </a:xfrm>
          <a:prstGeom prst="rect">
            <a:avLst/>
          </a:prstGeom>
          <a:noFill/>
        </p:spPr>
        <p:txBody>
          <a:bodyPr wrap="none" rtlCol="0">
            <a:spAutoFit/>
          </a:bodyPr>
          <a:lstStyle/>
          <a:p>
            <a:pPr algn="ctr"/>
            <a:r>
              <a:rPr lang="en-US" sz="4400">
                <a:solidFill>
                  <a:schemeClr val="tx2"/>
                </a:solidFill>
                <a:latin typeface="NVIDIA Sans" panose="020B0503020203020204" pitchFamily="34" charset="0"/>
                <a:cs typeface="NVIDIA Sans" panose="020B0503020203020204" pitchFamily="34" charset="0"/>
              </a:rPr>
              <a:t>BUILD</a:t>
            </a:r>
          </a:p>
        </p:txBody>
      </p:sp>
      <p:sp>
        <p:nvSpPr>
          <p:cNvPr id="11" name="Rounded Rectangle 10">
            <a:extLst>
              <a:ext uri="{FF2B5EF4-FFF2-40B4-BE49-F238E27FC236}">
                <a16:creationId xmlns:a16="http://schemas.microsoft.com/office/drawing/2014/main" id="{EA4E6588-0632-A23F-9ECC-02C692EDC341}"/>
              </a:ext>
            </a:extLst>
          </p:cNvPr>
          <p:cNvSpPr/>
          <p:nvPr/>
        </p:nvSpPr>
        <p:spPr>
          <a:xfrm>
            <a:off x="3037114" y="13964667"/>
            <a:ext cx="8686800" cy="4659265"/>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nSpc>
                <a:spcPct val="90000"/>
              </a:lnSpc>
            </a:pPr>
            <a:endParaRPr lang="en-US" sz="3600">
              <a:solidFill>
                <a:schemeClr val="tx1"/>
              </a:solidFill>
              <a:latin typeface="Trebuchet MS" panose="020B0603020202020204" pitchFamily="34" charset="0"/>
            </a:endParaRPr>
          </a:p>
          <a:p>
            <a:pPr>
              <a:lnSpc>
                <a:spcPct val="90000"/>
              </a:lnSpc>
            </a:pPr>
            <a:r>
              <a:rPr lang="en-US" sz="3600">
                <a:solidFill>
                  <a:schemeClr val="tx1"/>
                </a:solidFill>
                <a:latin typeface="Consolas" panose="020B0609020204030204" pitchFamily="49" charset="0"/>
                <a:cs typeface="Consolas" panose="020B0609020204030204" pitchFamily="49" charset="0"/>
              </a:rPr>
              <a:t>docker run /path/</a:t>
            </a:r>
            <a:r>
              <a:rPr lang="en-US" sz="3600">
                <a:solidFill>
                  <a:schemeClr val="tx1"/>
                </a:solidFill>
                <a:highlight>
                  <a:srgbClr val="76B900"/>
                </a:highlight>
                <a:latin typeface="Consolas" panose="020B0609020204030204" pitchFamily="49" charset="0"/>
                <a:cs typeface="Consolas" panose="020B0609020204030204" pitchFamily="49" charset="0"/>
              </a:rPr>
              <a:t>new-model-name</a:t>
            </a:r>
            <a:r>
              <a:rPr lang="en-US" sz="3600">
                <a:solidFill>
                  <a:schemeClr val="tx1"/>
                </a:solidFill>
                <a:latin typeface="Consolas" panose="020B0609020204030204" pitchFamily="49" charset="0"/>
                <a:cs typeface="Consolas" panose="020B0609020204030204" pitchFamily="49" charset="0"/>
              </a:rPr>
              <a:t> </a:t>
            </a:r>
          </a:p>
          <a:p>
            <a:pPr>
              <a:lnSpc>
                <a:spcPct val="90000"/>
              </a:lnSpc>
            </a:pPr>
            <a:endParaRPr lang="en-US" sz="3600">
              <a:solidFill>
                <a:schemeClr val="tx1"/>
              </a:solidFill>
              <a:latin typeface="Trebuchet MS" panose="020B0603020202020204" pitchFamily="34" charset="0"/>
            </a:endParaRPr>
          </a:p>
        </p:txBody>
      </p:sp>
      <p:sp>
        <p:nvSpPr>
          <p:cNvPr id="12" name="TextBox 11">
            <a:extLst>
              <a:ext uri="{FF2B5EF4-FFF2-40B4-BE49-F238E27FC236}">
                <a16:creationId xmlns:a16="http://schemas.microsoft.com/office/drawing/2014/main" id="{1BF80C2E-3564-D208-8E4E-76D7003BDD18}"/>
              </a:ext>
            </a:extLst>
          </p:cNvPr>
          <p:cNvSpPr txBox="1"/>
          <p:nvPr/>
        </p:nvSpPr>
        <p:spPr>
          <a:xfrm>
            <a:off x="6210675" y="13106025"/>
            <a:ext cx="2339679" cy="769441"/>
          </a:xfrm>
          <a:prstGeom prst="rect">
            <a:avLst/>
          </a:prstGeom>
          <a:noFill/>
        </p:spPr>
        <p:txBody>
          <a:bodyPr wrap="none" rtlCol="0">
            <a:spAutoFit/>
          </a:bodyPr>
          <a:lstStyle/>
          <a:p>
            <a:pPr algn="ctr"/>
            <a:r>
              <a:rPr lang="en-US" sz="4400">
                <a:solidFill>
                  <a:schemeClr val="tx2"/>
                </a:solidFill>
                <a:latin typeface="NVIDIA Sans" panose="020B0503020203020204" pitchFamily="34" charset="0"/>
                <a:cs typeface="NVIDIA Sans" panose="020B0503020203020204" pitchFamily="34" charset="0"/>
              </a:rPr>
              <a:t>DEPLOY</a:t>
            </a:r>
          </a:p>
        </p:txBody>
      </p:sp>
    </p:spTree>
    <p:extLst>
      <p:ext uri="{BB962C8B-B14F-4D97-AF65-F5344CB8AC3E}">
        <p14:creationId xmlns:p14="http://schemas.microsoft.com/office/powerpoint/2010/main" val="9799652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405">
          <a:extLst>
            <a:ext uri="{FF2B5EF4-FFF2-40B4-BE49-F238E27FC236}">
              <a16:creationId xmlns:a16="http://schemas.microsoft.com/office/drawing/2014/main" id="{0077B70B-BE75-5E76-FEDE-9D9B5DCE51DA}"/>
            </a:ext>
          </a:extLst>
        </p:cNvPr>
        <p:cNvGrpSpPr/>
        <p:nvPr/>
      </p:nvGrpSpPr>
      <p:grpSpPr>
        <a:xfrm>
          <a:off x="0" y="0"/>
          <a:ext cx="0" cy="0"/>
          <a:chOff x="0" y="0"/>
          <a:chExt cx="0" cy="0"/>
        </a:xfrm>
      </p:grpSpPr>
      <p:sp>
        <p:nvSpPr>
          <p:cNvPr id="5406" name="Google Shape;5406;p14">
            <a:extLst>
              <a:ext uri="{FF2B5EF4-FFF2-40B4-BE49-F238E27FC236}">
                <a16:creationId xmlns:a16="http://schemas.microsoft.com/office/drawing/2014/main" id="{52848EF3-DD64-FC1F-056F-01D1A219F320}"/>
              </a:ext>
            </a:extLst>
          </p:cNvPr>
          <p:cNvSpPr txBox="1">
            <a:spLocks noGrp="1"/>
          </p:cNvSpPr>
          <p:nvPr>
            <p:ph type="title"/>
          </p:nvPr>
        </p:nvSpPr>
        <p:spPr>
          <a:xfrm>
            <a:off x="2514600" y="0"/>
            <a:ext cx="31546800" cy="2514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lt1"/>
              </a:buClr>
              <a:buSzPts val="7200"/>
              <a:buFont typeface="NVIDIA Sans"/>
              <a:buNone/>
            </a:pPr>
            <a:r>
              <a:rPr lang="en-US"/>
              <a:t>For Enterprises that Run their Business on AI</a:t>
            </a:r>
          </a:p>
        </p:txBody>
      </p:sp>
      <p:sp>
        <p:nvSpPr>
          <p:cNvPr id="5407" name="Google Shape;5407;p14">
            <a:extLst>
              <a:ext uri="{FF2B5EF4-FFF2-40B4-BE49-F238E27FC236}">
                <a16:creationId xmlns:a16="http://schemas.microsoft.com/office/drawing/2014/main" id="{DE6FF5CE-74CF-093C-7545-04E4A8637449}"/>
              </a:ext>
            </a:extLst>
          </p:cNvPr>
          <p:cNvSpPr txBox="1">
            <a:spLocks noGrp="1"/>
          </p:cNvSpPr>
          <p:nvPr>
            <p:ph type="body" idx="1"/>
          </p:nvPr>
        </p:nvSpPr>
        <p:spPr>
          <a:xfrm>
            <a:off x="2514600" y="2487168"/>
            <a:ext cx="31546800" cy="1408176"/>
          </a:xfrm>
          <a:prstGeom prst="rect">
            <a:avLst/>
          </a:prstGeom>
          <a:noFill/>
          <a:ln>
            <a:noFill/>
          </a:ln>
        </p:spPr>
        <p:txBody>
          <a:bodyPr spcFirstLastPara="1" wrap="square" lIns="91425" tIns="45700" rIns="91425" bIns="45700" anchor="t" anchorCtr="0">
            <a:noAutofit/>
          </a:bodyPr>
          <a:lstStyle/>
          <a:p>
            <a:r>
              <a:rPr lang="en-US"/>
              <a:t>NVIDIA managed secure, stable AI stack with expert support</a:t>
            </a:r>
          </a:p>
        </p:txBody>
      </p:sp>
      <p:grpSp>
        <p:nvGrpSpPr>
          <p:cNvPr id="5410" name="Google Shape;5410;p14">
            <a:extLst>
              <a:ext uri="{FF2B5EF4-FFF2-40B4-BE49-F238E27FC236}">
                <a16:creationId xmlns:a16="http://schemas.microsoft.com/office/drawing/2014/main" id="{8E86B92A-C616-1A5D-FBB3-200969B5B639}"/>
              </a:ext>
            </a:extLst>
          </p:cNvPr>
          <p:cNvGrpSpPr/>
          <p:nvPr/>
        </p:nvGrpSpPr>
        <p:grpSpPr>
          <a:xfrm>
            <a:off x="3416902" y="17242244"/>
            <a:ext cx="13119918" cy="997423"/>
            <a:chOff x="1849648" y="17259066"/>
            <a:chExt cx="13119918" cy="997423"/>
          </a:xfrm>
        </p:grpSpPr>
        <p:sp>
          <p:nvSpPr>
            <p:cNvPr id="5411" name="Google Shape;5411;p14">
              <a:extLst>
                <a:ext uri="{FF2B5EF4-FFF2-40B4-BE49-F238E27FC236}">
                  <a16:creationId xmlns:a16="http://schemas.microsoft.com/office/drawing/2014/main" id="{B2F5CDB0-0BFC-B842-12DA-9B3AD4679E5A}"/>
                </a:ext>
              </a:extLst>
            </p:cNvPr>
            <p:cNvSpPr/>
            <p:nvPr/>
          </p:nvSpPr>
          <p:spPr>
            <a:xfrm>
              <a:off x="7278737" y="17456834"/>
              <a:ext cx="246904" cy="275951"/>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4000"/>
                <a:buFont typeface="NVIDIA Sans"/>
                <a:buNone/>
              </a:pPr>
              <a:endParaRPr sz="4000" b="0" i="0" u="none" strike="noStrike" cap="none">
                <a:solidFill>
                  <a:srgbClr val="FFFFFF"/>
                </a:solidFill>
                <a:latin typeface="Trebuchet MS"/>
                <a:ea typeface="Trebuchet MS"/>
                <a:cs typeface="Trebuchet MS"/>
                <a:sym typeface="Trebuchet MS"/>
              </a:endParaRPr>
            </a:p>
          </p:txBody>
        </p:sp>
        <p:sp>
          <p:nvSpPr>
            <p:cNvPr id="5412" name="Google Shape;5412;p14">
              <a:extLst>
                <a:ext uri="{FF2B5EF4-FFF2-40B4-BE49-F238E27FC236}">
                  <a16:creationId xmlns:a16="http://schemas.microsoft.com/office/drawing/2014/main" id="{1971E82F-EA02-D6C1-ECFD-BAEC2334C0D2}"/>
                </a:ext>
              </a:extLst>
            </p:cNvPr>
            <p:cNvSpPr txBox="1"/>
            <p:nvPr/>
          </p:nvSpPr>
          <p:spPr>
            <a:xfrm>
              <a:off x="7599699" y="17302422"/>
              <a:ext cx="4447200"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3200"/>
                <a:buFont typeface="NVIDIA Sans"/>
                <a:buNone/>
              </a:pPr>
              <a:r>
                <a:rPr lang="en-US" sz="3200" b="1">
                  <a:solidFill>
                    <a:schemeClr val="lt1"/>
                  </a:solidFill>
                  <a:latin typeface="NVIDIA Sans"/>
                  <a:ea typeface="NVIDIA Sans"/>
                  <a:cs typeface="NVIDIA Sans"/>
                  <a:sym typeface="NVIDIA Sans"/>
                </a:rPr>
                <a:t>29 </a:t>
              </a:r>
              <a:r>
                <a:rPr lang="en-US" sz="2400" b="0" i="0" u="none" strike="noStrike" cap="none">
                  <a:solidFill>
                    <a:schemeClr val="lt1"/>
                  </a:solidFill>
                  <a:latin typeface="NVIDIA Sans"/>
                  <a:ea typeface="NVIDIA Sans"/>
                  <a:cs typeface="NVIDIA Sans"/>
                  <a:sym typeface="NVIDIA Sans"/>
                </a:rPr>
                <a:t>NVIDIA software </a:t>
              </a:r>
              <a:r>
                <a:rPr lang="en-US" sz="2400" b="0" i="0" u="none" strike="noStrike" cap="none">
                  <a:solidFill>
                    <a:srgbClr val="FFFFFF"/>
                  </a:solidFill>
                  <a:latin typeface="NVIDIA Sans"/>
                  <a:ea typeface="NVIDIA Sans"/>
                  <a:cs typeface="NVIDIA Sans"/>
                  <a:sym typeface="NVIDIA Sans"/>
                </a:rPr>
                <a:t>packages  </a:t>
              </a:r>
              <a:endParaRPr sz="1400" b="0" i="0" u="none" strike="noStrike" cap="none">
                <a:solidFill>
                  <a:srgbClr val="000000"/>
                </a:solidFill>
                <a:latin typeface="Arial"/>
                <a:ea typeface="Arial"/>
                <a:cs typeface="Arial"/>
                <a:sym typeface="Arial"/>
              </a:endParaRPr>
            </a:p>
          </p:txBody>
        </p:sp>
        <p:sp>
          <p:nvSpPr>
            <p:cNvPr id="5413" name="Google Shape;5413;p14">
              <a:extLst>
                <a:ext uri="{FF2B5EF4-FFF2-40B4-BE49-F238E27FC236}">
                  <a16:creationId xmlns:a16="http://schemas.microsoft.com/office/drawing/2014/main" id="{D1CDF233-5725-82C7-945B-6CE621F90B7B}"/>
                </a:ext>
              </a:extLst>
            </p:cNvPr>
            <p:cNvSpPr txBox="1"/>
            <p:nvPr/>
          </p:nvSpPr>
          <p:spPr>
            <a:xfrm>
              <a:off x="12770966" y="17362540"/>
              <a:ext cx="2198600"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2400"/>
                <a:buFont typeface="NVIDIA Sans"/>
                <a:buNone/>
              </a:pPr>
              <a:r>
                <a:rPr lang="en-US" sz="2400" b="0" i="0" u="none" strike="noStrike" cap="none">
                  <a:solidFill>
                    <a:schemeClr val="lt1"/>
                  </a:solidFill>
                  <a:latin typeface="NVIDIA Sans"/>
                  <a:ea typeface="NVIDIA Sans"/>
                  <a:cs typeface="NVIDIA Sans"/>
                  <a:sym typeface="NVIDIA Sans"/>
                </a:rPr>
                <a:t>Dependency</a:t>
              </a:r>
              <a:endParaRPr sz="1400" b="0" i="0" u="none" strike="noStrike" cap="none">
                <a:solidFill>
                  <a:srgbClr val="000000"/>
                </a:solidFill>
                <a:latin typeface="Arial"/>
                <a:ea typeface="Arial"/>
                <a:cs typeface="Arial"/>
                <a:sym typeface="Arial"/>
              </a:endParaRPr>
            </a:p>
          </p:txBody>
        </p:sp>
        <p:sp>
          <p:nvSpPr>
            <p:cNvPr id="5414" name="Google Shape;5414;p14">
              <a:extLst>
                <a:ext uri="{FF2B5EF4-FFF2-40B4-BE49-F238E27FC236}">
                  <a16:creationId xmlns:a16="http://schemas.microsoft.com/office/drawing/2014/main" id="{8F3F28E6-BF88-946C-78F0-E99CFBEAE40F}"/>
                </a:ext>
              </a:extLst>
            </p:cNvPr>
            <p:cNvSpPr/>
            <p:nvPr/>
          </p:nvSpPr>
          <p:spPr>
            <a:xfrm>
              <a:off x="1849648" y="17406082"/>
              <a:ext cx="246904" cy="275951"/>
            </a:xfrm>
            <a:prstGeom prst="ellipse">
              <a:avLst/>
            </a:prstGeom>
            <a:solidFill>
              <a:schemeClr val="dk1"/>
            </a:solid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4000"/>
                <a:buFont typeface="NVIDIA Sans"/>
                <a:buNone/>
              </a:pPr>
              <a:endParaRPr sz="4000" b="0" i="0" u="none" strike="noStrike" cap="none">
                <a:solidFill>
                  <a:srgbClr val="FFFFFF"/>
                </a:solidFill>
                <a:latin typeface="Trebuchet MS"/>
                <a:ea typeface="Trebuchet MS"/>
                <a:cs typeface="Trebuchet MS"/>
                <a:sym typeface="Trebuchet MS"/>
              </a:endParaRPr>
            </a:p>
          </p:txBody>
        </p:sp>
        <p:sp>
          <p:nvSpPr>
            <p:cNvPr id="5415" name="Google Shape;5415;p14">
              <a:extLst>
                <a:ext uri="{FF2B5EF4-FFF2-40B4-BE49-F238E27FC236}">
                  <a16:creationId xmlns:a16="http://schemas.microsoft.com/office/drawing/2014/main" id="{E945C17F-51AE-536C-C853-6205FC44B4F6}"/>
                </a:ext>
              </a:extLst>
            </p:cNvPr>
            <p:cNvSpPr txBox="1"/>
            <p:nvPr/>
          </p:nvSpPr>
          <p:spPr>
            <a:xfrm>
              <a:off x="2209847" y="17259066"/>
              <a:ext cx="6121480"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3200"/>
                <a:buFont typeface="NVIDIA Sans"/>
                <a:buNone/>
              </a:pPr>
              <a:r>
                <a:rPr lang="en-US" sz="3200" b="1" i="0" u="none" strike="noStrike" cap="none">
                  <a:solidFill>
                    <a:schemeClr val="lt1"/>
                  </a:solidFill>
                  <a:latin typeface="NVIDIA Sans"/>
                  <a:ea typeface="NVIDIA Sans"/>
                  <a:cs typeface="NVIDIA Sans"/>
                  <a:sym typeface="NVIDIA Sans"/>
                </a:rPr>
                <a:t>436</a:t>
              </a:r>
              <a:r>
                <a:rPr lang="en-US" sz="2400" b="0" i="0" u="none" strike="noStrike" cap="none">
                  <a:solidFill>
                    <a:schemeClr val="lt1"/>
                  </a:solidFill>
                  <a:latin typeface="NVIDIA Sans"/>
                  <a:ea typeface="NVIDIA Sans"/>
                  <a:cs typeface="NVIDIA Sans"/>
                  <a:sym typeface="NVIDIA Sans"/>
                </a:rPr>
                <a:t> 3rd party and OS software</a:t>
              </a:r>
              <a:endParaRPr sz="1400" b="0" i="0" u="none" strike="noStrike" cap="none">
                <a:solidFill>
                  <a:srgbClr val="000000"/>
                </a:solidFill>
                <a:latin typeface="Arial"/>
                <a:ea typeface="Arial"/>
                <a:cs typeface="Arial"/>
                <a:sym typeface="Arial"/>
              </a:endParaRPr>
            </a:p>
          </p:txBody>
        </p:sp>
        <p:cxnSp>
          <p:nvCxnSpPr>
            <p:cNvPr id="5416" name="Google Shape;5416;p14">
              <a:extLst>
                <a:ext uri="{FF2B5EF4-FFF2-40B4-BE49-F238E27FC236}">
                  <a16:creationId xmlns:a16="http://schemas.microsoft.com/office/drawing/2014/main" id="{D4AC5F00-A939-2429-70A8-0DA71C49AE50}"/>
                </a:ext>
              </a:extLst>
            </p:cNvPr>
            <p:cNvCxnSpPr/>
            <p:nvPr/>
          </p:nvCxnSpPr>
          <p:spPr>
            <a:xfrm>
              <a:off x="12046799" y="17616009"/>
              <a:ext cx="637922" cy="0"/>
            </a:xfrm>
            <a:prstGeom prst="straightConnector1">
              <a:avLst/>
            </a:prstGeom>
            <a:noFill/>
            <a:ln w="57150" cap="flat" cmpd="sng">
              <a:solidFill>
                <a:schemeClr val="dk2"/>
              </a:solidFill>
              <a:prstDash val="solid"/>
              <a:round/>
              <a:headEnd type="none" w="sm" len="sm"/>
              <a:tailEnd type="none" w="sm" len="sm"/>
            </a:ln>
          </p:spPr>
        </p:cxnSp>
      </p:grpSp>
      <p:sp>
        <p:nvSpPr>
          <p:cNvPr id="5409" name="Google Shape;5409;p14">
            <a:extLst>
              <a:ext uri="{FF2B5EF4-FFF2-40B4-BE49-F238E27FC236}">
                <a16:creationId xmlns:a16="http://schemas.microsoft.com/office/drawing/2014/main" id="{535915C0-D249-3BDA-9B7B-FE03E6C14F99}"/>
              </a:ext>
            </a:extLst>
          </p:cNvPr>
          <p:cNvSpPr txBox="1"/>
          <p:nvPr/>
        </p:nvSpPr>
        <p:spPr>
          <a:xfrm>
            <a:off x="5214356" y="4581320"/>
            <a:ext cx="6302828"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3200"/>
              <a:buFont typeface="NVIDIA Sans"/>
              <a:buNone/>
            </a:pPr>
            <a:r>
              <a:rPr lang="en-US" sz="3200" b="0" i="0" u="none" strike="noStrike" cap="none">
                <a:solidFill>
                  <a:srgbClr val="FFFFFF"/>
                </a:solidFill>
                <a:latin typeface="NVIDIA Sans"/>
                <a:ea typeface="NVIDIA Sans"/>
                <a:cs typeface="NVIDIA Sans"/>
                <a:sym typeface="NVIDIA Sans"/>
              </a:rPr>
              <a:t>Triton Inference Server</a:t>
            </a:r>
            <a:endParaRPr sz="1400" b="0" i="0" u="none" strike="noStrike" cap="none">
              <a:solidFill>
                <a:srgbClr val="000000"/>
              </a:solidFill>
              <a:latin typeface="Arial"/>
              <a:ea typeface="Arial"/>
              <a:cs typeface="Arial"/>
              <a:sym typeface="Arial"/>
            </a:endParaRPr>
          </a:p>
        </p:txBody>
      </p:sp>
      <p:pic>
        <p:nvPicPr>
          <p:cNvPr id="2" name="Picture 1">
            <a:extLst>
              <a:ext uri="{FF2B5EF4-FFF2-40B4-BE49-F238E27FC236}">
                <a16:creationId xmlns:a16="http://schemas.microsoft.com/office/drawing/2014/main" id="{7FD99BC4-E287-A0C4-0140-9CE7EAD2473D}"/>
              </a:ext>
            </a:extLst>
          </p:cNvPr>
          <p:cNvPicPr>
            <a:picLocks noChangeAspect="1"/>
          </p:cNvPicPr>
          <p:nvPr/>
        </p:nvPicPr>
        <p:blipFill>
          <a:blip r:embed="rId3"/>
          <a:stretch>
            <a:fillRect/>
          </a:stretch>
        </p:blipFill>
        <p:spPr>
          <a:xfrm>
            <a:off x="1805811" y="5632591"/>
            <a:ext cx="15110880" cy="10228903"/>
          </a:xfrm>
          <a:prstGeom prst="rect">
            <a:avLst/>
          </a:prstGeom>
        </p:spPr>
      </p:pic>
      <p:grpSp>
        <p:nvGrpSpPr>
          <p:cNvPr id="17" name="Group 16">
            <a:extLst>
              <a:ext uri="{FF2B5EF4-FFF2-40B4-BE49-F238E27FC236}">
                <a16:creationId xmlns:a16="http://schemas.microsoft.com/office/drawing/2014/main" id="{2BC23F7A-DC8B-A928-EA89-3B86A6055B9E}"/>
              </a:ext>
            </a:extLst>
          </p:cNvPr>
          <p:cNvGrpSpPr/>
          <p:nvPr/>
        </p:nvGrpSpPr>
        <p:grpSpPr>
          <a:xfrm>
            <a:off x="18679595" y="6701017"/>
            <a:ext cx="2743200" cy="9943006"/>
            <a:chOff x="19476431" y="6838177"/>
            <a:chExt cx="2743200" cy="9943006"/>
          </a:xfrm>
        </p:grpSpPr>
        <p:pic>
          <p:nvPicPr>
            <p:cNvPr id="10" name="Picture 9" descr="A green outline of a person with a microphone&#10;&#10;Description automatically generated">
              <a:extLst>
                <a:ext uri="{FF2B5EF4-FFF2-40B4-BE49-F238E27FC236}">
                  <a16:creationId xmlns:a16="http://schemas.microsoft.com/office/drawing/2014/main" id="{7C1D2637-4A25-3D92-210C-DA5DE19229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476431" y="14037983"/>
              <a:ext cx="2743200" cy="2743200"/>
            </a:xfrm>
            <a:prstGeom prst="rect">
              <a:avLst/>
            </a:prstGeom>
          </p:spPr>
        </p:pic>
        <p:pic>
          <p:nvPicPr>
            <p:cNvPr id="13" name="Picture 12" descr="A green outline of a lock in a hexagon shape&#10;&#10;Description automatically generated">
              <a:extLst>
                <a:ext uri="{FF2B5EF4-FFF2-40B4-BE49-F238E27FC236}">
                  <a16:creationId xmlns:a16="http://schemas.microsoft.com/office/drawing/2014/main" id="{2B00334F-6CF9-6CEA-E8B5-ED0740AA722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476431" y="6838177"/>
              <a:ext cx="2743200" cy="2743200"/>
            </a:xfrm>
            <a:prstGeom prst="rect">
              <a:avLst/>
            </a:prstGeom>
          </p:spPr>
        </p:pic>
        <p:pic>
          <p:nvPicPr>
            <p:cNvPr id="14" name="Picture 13" descr="A computer screen with a gear and text&#10;&#10;Description automatically generated">
              <a:extLst>
                <a:ext uri="{FF2B5EF4-FFF2-40B4-BE49-F238E27FC236}">
                  <a16:creationId xmlns:a16="http://schemas.microsoft.com/office/drawing/2014/main" id="{2D2D0E94-158F-0609-F9DE-60A0F2DDFD6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476431" y="10438080"/>
              <a:ext cx="2743200" cy="2743200"/>
            </a:xfrm>
            <a:prstGeom prst="rect">
              <a:avLst/>
            </a:prstGeom>
          </p:spPr>
        </p:pic>
      </p:grpSp>
      <p:sp>
        <p:nvSpPr>
          <p:cNvPr id="15" name="TextBox 14">
            <a:extLst>
              <a:ext uri="{FF2B5EF4-FFF2-40B4-BE49-F238E27FC236}">
                <a16:creationId xmlns:a16="http://schemas.microsoft.com/office/drawing/2014/main" id="{A3CF1A8A-7D42-552B-828F-4657B93A7165}"/>
              </a:ext>
            </a:extLst>
          </p:cNvPr>
          <p:cNvSpPr txBox="1"/>
          <p:nvPr/>
        </p:nvSpPr>
        <p:spPr>
          <a:xfrm>
            <a:off x="21471779" y="7410897"/>
            <a:ext cx="12458991" cy="1323439"/>
          </a:xfrm>
          <a:prstGeom prst="rect">
            <a:avLst/>
          </a:prstGeom>
          <a:noFill/>
        </p:spPr>
        <p:txBody>
          <a:bodyPr wrap="square" rtlCol="0">
            <a:spAutoFit/>
          </a:bodyPr>
          <a:lstStyle/>
          <a:p>
            <a:r>
              <a:rPr lang="en-US" sz="4000">
                <a:solidFill>
                  <a:schemeClr val="bg1"/>
                </a:solidFill>
                <a:latin typeface="NVIDIA Sans" panose="020B0503020203020204" pitchFamily="34" charset="0"/>
                <a:cs typeface="NVIDIA Sans" panose="020B0503020203020204" pitchFamily="34" charset="0"/>
              </a:rPr>
              <a:t>Continuous monitoring and security patch releases for common vulnerabilities &amp; exposures (CVEs)</a:t>
            </a:r>
          </a:p>
        </p:txBody>
      </p:sp>
      <p:sp>
        <p:nvSpPr>
          <p:cNvPr id="18" name="TextBox 17">
            <a:extLst>
              <a:ext uri="{FF2B5EF4-FFF2-40B4-BE49-F238E27FC236}">
                <a16:creationId xmlns:a16="http://schemas.microsoft.com/office/drawing/2014/main" id="{BCC91C5E-64F0-DF40-8787-5E71C50F000B}"/>
              </a:ext>
            </a:extLst>
          </p:cNvPr>
          <p:cNvSpPr txBox="1"/>
          <p:nvPr/>
        </p:nvSpPr>
        <p:spPr>
          <a:xfrm>
            <a:off x="21471780" y="11010800"/>
            <a:ext cx="12458990" cy="1323439"/>
          </a:xfrm>
          <a:prstGeom prst="rect">
            <a:avLst/>
          </a:prstGeom>
          <a:noFill/>
        </p:spPr>
        <p:txBody>
          <a:bodyPr wrap="square" rtlCol="0">
            <a:spAutoFit/>
          </a:bodyPr>
          <a:lstStyle/>
          <a:p>
            <a:r>
              <a:rPr lang="en-US" sz="4000">
                <a:solidFill>
                  <a:schemeClr val="bg1"/>
                </a:solidFill>
                <a:latin typeface="NVIDIA Sans" panose="020B0503020203020204" pitchFamily="34" charset="0"/>
                <a:cs typeface="NVIDIA Sans" panose="020B0503020203020204" pitchFamily="34" charset="0"/>
              </a:rPr>
              <a:t>Stable APIs with dedicated feature, production and long-term support branch lifecycles</a:t>
            </a:r>
          </a:p>
        </p:txBody>
      </p:sp>
      <p:sp>
        <p:nvSpPr>
          <p:cNvPr id="19" name="TextBox 18">
            <a:extLst>
              <a:ext uri="{FF2B5EF4-FFF2-40B4-BE49-F238E27FC236}">
                <a16:creationId xmlns:a16="http://schemas.microsoft.com/office/drawing/2014/main" id="{2F37FEE1-CE5F-0AA3-0108-32C24868E9D1}"/>
              </a:ext>
            </a:extLst>
          </p:cNvPr>
          <p:cNvSpPr txBox="1"/>
          <p:nvPr/>
        </p:nvSpPr>
        <p:spPr>
          <a:xfrm>
            <a:off x="21471779" y="14754760"/>
            <a:ext cx="12458990" cy="1323439"/>
          </a:xfrm>
          <a:prstGeom prst="rect">
            <a:avLst/>
          </a:prstGeom>
          <a:noFill/>
        </p:spPr>
        <p:txBody>
          <a:bodyPr wrap="square" rtlCol="0">
            <a:spAutoFit/>
          </a:bodyPr>
          <a:lstStyle/>
          <a:p>
            <a:r>
              <a:rPr lang="en-US" sz="4000">
                <a:solidFill>
                  <a:schemeClr val="bg1"/>
                </a:solidFill>
                <a:latin typeface="NVIDIA Sans" panose="020B0503020203020204" pitchFamily="34" charset="0"/>
                <a:cs typeface="NVIDIA Sans" panose="020B0503020203020204" pitchFamily="34" charset="0"/>
              </a:rPr>
              <a:t>Direct access to NVIDIA AI expertise and enterprise support including defined SLAs and SLOs</a:t>
            </a:r>
          </a:p>
        </p:txBody>
      </p:sp>
    </p:spTree>
    <p:extLst>
      <p:ext uri="{BB962C8B-B14F-4D97-AF65-F5344CB8AC3E}">
        <p14:creationId xmlns:p14="http://schemas.microsoft.com/office/powerpoint/2010/main" val="42276430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63556-AFF1-F018-FB4C-903A8AEEAF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DCC634-4BC0-BA53-360B-38020949CD31}"/>
              </a:ext>
            </a:extLst>
          </p:cNvPr>
          <p:cNvSpPr>
            <a:spLocks noGrp="1"/>
          </p:cNvSpPr>
          <p:nvPr>
            <p:ph type="title"/>
          </p:nvPr>
        </p:nvSpPr>
        <p:spPr/>
        <p:txBody>
          <a:bodyPr/>
          <a:lstStyle/>
          <a:p>
            <a:r>
              <a:rPr lang="en-US" noProof="0"/>
              <a:t>NVIDIA AI Enterprise Product Lifecycle</a:t>
            </a:r>
            <a:endParaRPr lang="en-US"/>
          </a:p>
        </p:txBody>
      </p:sp>
      <p:sp>
        <p:nvSpPr>
          <p:cNvPr id="3" name="Text Placeholder 2">
            <a:extLst>
              <a:ext uri="{FF2B5EF4-FFF2-40B4-BE49-F238E27FC236}">
                <a16:creationId xmlns:a16="http://schemas.microsoft.com/office/drawing/2014/main" id="{DA0FA950-6017-655F-0FF6-21F07496B2A3}"/>
              </a:ext>
            </a:extLst>
          </p:cNvPr>
          <p:cNvSpPr>
            <a:spLocks noGrp="1"/>
          </p:cNvSpPr>
          <p:nvPr>
            <p:ph type="body" sz="quarter" idx="10"/>
          </p:nvPr>
        </p:nvSpPr>
        <p:spPr/>
        <p:txBody>
          <a:bodyPr/>
          <a:lstStyle/>
          <a:p>
            <a:r>
              <a:rPr lang="en-US" noProof="0"/>
              <a:t>Flexibility with Security for different use cases</a:t>
            </a:r>
          </a:p>
        </p:txBody>
      </p:sp>
      <p:grpSp>
        <p:nvGrpSpPr>
          <p:cNvPr id="7" name="Group 6">
            <a:extLst>
              <a:ext uri="{FF2B5EF4-FFF2-40B4-BE49-F238E27FC236}">
                <a16:creationId xmlns:a16="http://schemas.microsoft.com/office/drawing/2014/main" id="{799EABC0-02A3-5436-587E-16DDA097C49F}"/>
              </a:ext>
            </a:extLst>
          </p:cNvPr>
          <p:cNvGrpSpPr/>
          <p:nvPr/>
        </p:nvGrpSpPr>
        <p:grpSpPr>
          <a:xfrm>
            <a:off x="2514599" y="3623734"/>
            <a:ext cx="10401279" cy="10778058"/>
            <a:chOff x="2514600" y="5001774"/>
            <a:chExt cx="10058400" cy="8925221"/>
          </a:xfrm>
        </p:grpSpPr>
        <p:grpSp>
          <p:nvGrpSpPr>
            <p:cNvPr id="4" name="Group 3">
              <a:extLst>
                <a:ext uri="{FF2B5EF4-FFF2-40B4-BE49-F238E27FC236}">
                  <a16:creationId xmlns:a16="http://schemas.microsoft.com/office/drawing/2014/main" id="{604EA93E-DF46-4C6C-3F04-706233887DAC}"/>
                </a:ext>
              </a:extLst>
            </p:cNvPr>
            <p:cNvGrpSpPr/>
            <p:nvPr/>
          </p:nvGrpSpPr>
          <p:grpSpPr>
            <a:xfrm>
              <a:off x="2514600" y="5001774"/>
              <a:ext cx="10058400" cy="8925221"/>
              <a:chOff x="1045033" y="3636503"/>
              <a:chExt cx="2743200" cy="4039965"/>
            </a:xfrm>
          </p:grpSpPr>
          <p:sp>
            <p:nvSpPr>
              <p:cNvPr id="6" name="Rectangle 5">
                <a:extLst>
                  <a:ext uri="{FF2B5EF4-FFF2-40B4-BE49-F238E27FC236}">
                    <a16:creationId xmlns:a16="http://schemas.microsoft.com/office/drawing/2014/main" id="{97E89E9B-052E-CDEE-AAB3-25A7CC4B7AD0}"/>
                  </a:ext>
                </a:extLst>
              </p:cNvPr>
              <p:cNvSpPr/>
              <p:nvPr/>
            </p:nvSpPr>
            <p:spPr>
              <a:xfrm>
                <a:off x="1045033" y="3636508"/>
                <a:ext cx="2743200" cy="4039960"/>
              </a:xfrm>
              <a:prstGeom prst="rect">
                <a:avLst/>
              </a:prstGeom>
              <a:solidFill>
                <a:schemeClr val="tx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2651760" bIns="182880" rtlCol="0" anchor="b"/>
              <a:lstStyle/>
              <a:p>
                <a:pPr algn="ctr">
                  <a:spcAft>
                    <a:spcPts val="1000"/>
                  </a:spcAft>
                </a:pPr>
                <a:r>
                  <a:rPr lang="en-US" sz="4000" b="1" i="1" dirty="0">
                    <a:solidFill>
                      <a:schemeClr val="bg1">
                        <a:lumMod val="85000"/>
                        <a:lumOff val="15000"/>
                      </a:schemeClr>
                    </a:solidFill>
                    <a:latin typeface="+mj-lt"/>
                  </a:rPr>
                  <a:t>Latest top of tree features</a:t>
                </a:r>
              </a:p>
              <a:p>
                <a:pPr algn="ctr">
                  <a:spcAft>
                    <a:spcPts val="1000"/>
                  </a:spcAft>
                </a:pPr>
                <a:endParaRPr lang="en-US" sz="4000" b="1" i="1" dirty="0">
                  <a:solidFill>
                    <a:schemeClr val="bg1">
                      <a:lumMod val="85000"/>
                      <a:lumOff val="15000"/>
                    </a:schemeClr>
                  </a:solidFill>
                  <a:latin typeface="+mj-lt"/>
                </a:endParaRPr>
              </a:p>
              <a:p>
                <a:pPr algn="ctr">
                  <a:spcAft>
                    <a:spcPts val="1000"/>
                  </a:spcAft>
                </a:pPr>
                <a:endParaRPr lang="en-US" sz="4000" b="1" i="1" dirty="0">
                  <a:solidFill>
                    <a:schemeClr val="bg1">
                      <a:lumMod val="85000"/>
                      <a:lumOff val="15000"/>
                    </a:schemeClr>
                  </a:solidFill>
                  <a:latin typeface="+mj-lt"/>
                </a:endParaRPr>
              </a:p>
              <a:p>
                <a:pPr algn="ctr">
                  <a:spcAft>
                    <a:spcPts val="1000"/>
                  </a:spcAft>
                </a:pPr>
                <a:endParaRPr lang="en-US" sz="4000" b="1" i="1" dirty="0">
                  <a:solidFill>
                    <a:schemeClr val="bg1">
                      <a:lumMod val="85000"/>
                      <a:lumOff val="15000"/>
                    </a:schemeClr>
                  </a:solidFill>
                  <a:latin typeface="+mj-lt"/>
                </a:endParaRPr>
              </a:p>
              <a:p>
                <a:pPr algn="ctr">
                  <a:spcAft>
                    <a:spcPts val="1000"/>
                  </a:spcAft>
                </a:pPr>
                <a:endParaRPr lang="en-US" sz="4000" b="1" i="1" dirty="0">
                  <a:solidFill>
                    <a:schemeClr val="bg1">
                      <a:lumMod val="85000"/>
                      <a:lumOff val="15000"/>
                    </a:schemeClr>
                  </a:solidFill>
                  <a:latin typeface="+mj-lt"/>
                </a:endParaRPr>
              </a:p>
              <a:p>
                <a:pPr algn="ctr">
                  <a:spcAft>
                    <a:spcPts val="1000"/>
                  </a:spcAft>
                </a:pPr>
                <a:endParaRPr lang="en-US" sz="4000" b="1" i="1" dirty="0">
                  <a:solidFill>
                    <a:schemeClr val="bg1">
                      <a:lumMod val="85000"/>
                      <a:lumOff val="15000"/>
                    </a:schemeClr>
                  </a:solidFill>
                  <a:latin typeface="+mj-lt"/>
                </a:endParaRPr>
              </a:p>
              <a:p>
                <a:pPr algn="ctr">
                  <a:spcAft>
                    <a:spcPts val="1000"/>
                  </a:spcAft>
                </a:pPr>
                <a:endParaRPr lang="en-US" sz="4000" b="1" i="1" dirty="0">
                  <a:solidFill>
                    <a:schemeClr val="bg1">
                      <a:lumMod val="85000"/>
                      <a:lumOff val="15000"/>
                    </a:schemeClr>
                  </a:solidFill>
                  <a:latin typeface="+mj-lt"/>
                </a:endParaRPr>
              </a:p>
              <a:p>
                <a:pPr algn="ctr">
                  <a:spcAft>
                    <a:spcPts val="1000"/>
                  </a:spcAft>
                </a:pPr>
                <a:endParaRPr lang="en-US" sz="4000" b="1" i="1" dirty="0">
                  <a:solidFill>
                    <a:schemeClr val="bg1">
                      <a:lumMod val="85000"/>
                      <a:lumOff val="15000"/>
                    </a:schemeClr>
                  </a:solidFill>
                  <a:latin typeface="+mj-lt"/>
                </a:endParaRPr>
              </a:p>
              <a:p>
                <a:pPr algn="ctr">
                  <a:spcAft>
                    <a:spcPts val="1000"/>
                  </a:spcAft>
                </a:pPr>
                <a:r>
                  <a:rPr lang="en-US" sz="3600" dirty="0">
                    <a:solidFill>
                      <a:schemeClr val="bg1">
                        <a:lumMod val="85000"/>
                        <a:lumOff val="15000"/>
                      </a:schemeClr>
                    </a:solidFill>
                    <a:latin typeface="+mj-lt"/>
                  </a:rPr>
                  <a:t>Includes all supported AI software</a:t>
                </a:r>
              </a:p>
              <a:p>
                <a:pPr algn="ctr">
                  <a:spcAft>
                    <a:spcPts val="1000"/>
                  </a:spcAft>
                </a:pPr>
                <a:r>
                  <a:rPr lang="en-US" sz="3600" dirty="0">
                    <a:solidFill>
                      <a:schemeClr val="bg1">
                        <a:lumMod val="85000"/>
                        <a:lumOff val="15000"/>
                      </a:schemeClr>
                    </a:solidFill>
                    <a:latin typeface="+mj-lt"/>
                  </a:rPr>
                  <a:t>1 branch / month with 1-month lifetime</a:t>
                </a:r>
              </a:p>
              <a:p>
                <a:pPr algn="ctr">
                  <a:spcAft>
                    <a:spcPts val="1000"/>
                  </a:spcAft>
                </a:pPr>
                <a:r>
                  <a:rPr lang="en-US" sz="3600" dirty="0">
                    <a:solidFill>
                      <a:schemeClr val="bg1">
                        <a:lumMod val="85000"/>
                        <a:lumOff val="15000"/>
                      </a:schemeClr>
                    </a:solidFill>
                    <a:latin typeface="+mj-lt"/>
                  </a:rPr>
                  <a:t>CVE patches &amp; bug fixes in roll forward release</a:t>
                </a:r>
              </a:p>
              <a:p>
                <a:pPr algn="ctr">
                  <a:spcAft>
                    <a:spcPts val="1000"/>
                  </a:spcAft>
                </a:pPr>
                <a:endParaRPr lang="en-US" sz="3600" dirty="0">
                  <a:solidFill>
                    <a:schemeClr val="bg1">
                      <a:lumMod val="85000"/>
                      <a:lumOff val="15000"/>
                    </a:schemeClr>
                  </a:solidFill>
                  <a:latin typeface="+mj-lt"/>
                </a:endParaRPr>
              </a:p>
            </p:txBody>
          </p:sp>
          <p:sp>
            <p:nvSpPr>
              <p:cNvPr id="5" name="TextBox 4">
                <a:extLst>
                  <a:ext uri="{FF2B5EF4-FFF2-40B4-BE49-F238E27FC236}">
                    <a16:creationId xmlns:a16="http://schemas.microsoft.com/office/drawing/2014/main" id="{D1C8F933-A780-61EE-0C9A-DF39117736F0}"/>
                  </a:ext>
                </a:extLst>
              </p:cNvPr>
              <p:cNvSpPr txBox="1"/>
              <p:nvPr/>
            </p:nvSpPr>
            <p:spPr>
              <a:xfrm>
                <a:off x="1045033" y="3636503"/>
                <a:ext cx="2743188" cy="493188"/>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a:lnSpc>
                    <a:spcPct val="90000"/>
                  </a:lnSpc>
                </a:pPr>
                <a:r>
                  <a:rPr lang="en-US" sz="4000" b="1" dirty="0">
                    <a:solidFill>
                      <a:schemeClr val="tx1"/>
                    </a:solidFill>
                    <a:latin typeface="+mj-lt"/>
                  </a:rPr>
                  <a:t>Feature Branch</a:t>
                </a:r>
                <a:r>
                  <a:rPr lang="en-US" sz="4000" dirty="0">
                    <a:solidFill>
                      <a:schemeClr val="tx1"/>
                    </a:solidFill>
                    <a:latin typeface="+mj-lt"/>
                  </a:rPr>
                  <a:t>	</a:t>
                </a:r>
              </a:p>
            </p:txBody>
          </p:sp>
        </p:grpSp>
        <p:pic>
          <p:nvPicPr>
            <p:cNvPr id="20" name="Picture 19" descr="A black background with a black square&#10;&#10;Description automatically generated with medium confidence">
              <a:extLst>
                <a:ext uri="{FF2B5EF4-FFF2-40B4-BE49-F238E27FC236}">
                  <a16:creationId xmlns:a16="http://schemas.microsoft.com/office/drawing/2014/main" id="{9B6CA9EC-377F-6ED4-8EEB-9777436FCA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14978" y="7626193"/>
              <a:ext cx="3657600" cy="3657600"/>
            </a:xfrm>
            <a:prstGeom prst="rect">
              <a:avLst/>
            </a:prstGeom>
          </p:spPr>
        </p:pic>
      </p:grpSp>
      <p:grpSp>
        <p:nvGrpSpPr>
          <p:cNvPr id="16" name="Group 15">
            <a:extLst>
              <a:ext uri="{FF2B5EF4-FFF2-40B4-BE49-F238E27FC236}">
                <a16:creationId xmlns:a16="http://schemas.microsoft.com/office/drawing/2014/main" id="{EE9AAFC2-5825-0CB5-D79E-E6C18FA6CDA7}"/>
              </a:ext>
            </a:extLst>
          </p:cNvPr>
          <p:cNvGrpSpPr/>
          <p:nvPr/>
        </p:nvGrpSpPr>
        <p:grpSpPr>
          <a:xfrm>
            <a:off x="24338285" y="3623734"/>
            <a:ext cx="9486998" cy="15172267"/>
            <a:chOff x="1200870" y="3636503"/>
            <a:chExt cx="2587363" cy="6867665"/>
          </a:xfrm>
        </p:grpSpPr>
        <p:sp>
          <p:nvSpPr>
            <p:cNvPr id="18" name="Rectangle 17">
              <a:extLst>
                <a:ext uri="{FF2B5EF4-FFF2-40B4-BE49-F238E27FC236}">
                  <a16:creationId xmlns:a16="http://schemas.microsoft.com/office/drawing/2014/main" id="{F475D19F-45F7-99EF-8BF2-FE5077B24919}"/>
                </a:ext>
              </a:extLst>
            </p:cNvPr>
            <p:cNvSpPr/>
            <p:nvPr/>
          </p:nvSpPr>
          <p:spPr>
            <a:xfrm>
              <a:off x="1200883" y="3636508"/>
              <a:ext cx="2587350" cy="6867660"/>
            </a:xfrm>
            <a:prstGeom prst="rect">
              <a:avLst/>
            </a:prstGeom>
            <a:solidFill>
              <a:schemeClr val="tx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2286000" bIns="182880" rtlCol="0" anchor="t"/>
            <a:lstStyle/>
            <a:p>
              <a:pPr algn="ctr">
                <a:spcAft>
                  <a:spcPts val="1000"/>
                </a:spcAft>
              </a:pPr>
              <a:r>
                <a:rPr lang="en-US" sz="4000" b="1" i="1" dirty="0">
                  <a:solidFill>
                    <a:schemeClr val="bg1">
                      <a:lumMod val="85000"/>
                      <a:lumOff val="15000"/>
                    </a:schemeClr>
                  </a:solidFill>
                  <a:latin typeface="+mj-lt"/>
                </a:rPr>
                <a:t>For highly regulated industries</a:t>
              </a:r>
            </a:p>
            <a:p>
              <a:pPr algn="ctr">
                <a:spcAft>
                  <a:spcPts val="1000"/>
                </a:spcAft>
              </a:pPr>
              <a:endParaRPr lang="en-US" sz="4000" b="1" i="1" dirty="0">
                <a:solidFill>
                  <a:schemeClr val="bg1">
                    <a:lumMod val="85000"/>
                    <a:lumOff val="15000"/>
                  </a:schemeClr>
                </a:solidFill>
                <a:latin typeface="+mj-lt"/>
              </a:endParaRPr>
            </a:p>
            <a:p>
              <a:pPr algn="ctr">
                <a:spcAft>
                  <a:spcPts val="1000"/>
                </a:spcAft>
              </a:pPr>
              <a:endParaRPr lang="en-US" sz="4000" b="1" i="1" dirty="0">
                <a:solidFill>
                  <a:schemeClr val="bg1">
                    <a:lumMod val="85000"/>
                    <a:lumOff val="15000"/>
                  </a:schemeClr>
                </a:solidFill>
                <a:latin typeface="+mj-lt"/>
              </a:endParaRPr>
            </a:p>
            <a:p>
              <a:pPr algn="ctr">
                <a:spcAft>
                  <a:spcPts val="1000"/>
                </a:spcAft>
              </a:pPr>
              <a:endParaRPr lang="en-US" sz="4000" b="1" i="1" dirty="0">
                <a:solidFill>
                  <a:schemeClr val="bg1">
                    <a:lumMod val="85000"/>
                    <a:lumOff val="15000"/>
                  </a:schemeClr>
                </a:solidFill>
                <a:latin typeface="+mj-lt"/>
              </a:endParaRPr>
            </a:p>
            <a:p>
              <a:pPr algn="ctr">
                <a:spcAft>
                  <a:spcPts val="1000"/>
                </a:spcAft>
              </a:pPr>
              <a:endParaRPr lang="en-US" sz="4000" b="1" i="1" dirty="0">
                <a:solidFill>
                  <a:schemeClr val="bg1">
                    <a:lumMod val="85000"/>
                    <a:lumOff val="15000"/>
                  </a:schemeClr>
                </a:solidFill>
                <a:latin typeface="+mj-lt"/>
              </a:endParaRPr>
            </a:p>
            <a:p>
              <a:pPr algn="ctr">
                <a:spcAft>
                  <a:spcPts val="1000"/>
                </a:spcAft>
              </a:pPr>
              <a:endParaRPr lang="en-US" sz="4000" b="1" i="1" dirty="0">
                <a:solidFill>
                  <a:schemeClr val="bg1">
                    <a:lumMod val="85000"/>
                    <a:lumOff val="15000"/>
                  </a:schemeClr>
                </a:solidFill>
                <a:latin typeface="+mj-lt"/>
              </a:endParaRPr>
            </a:p>
            <a:p>
              <a:pPr algn="ctr">
                <a:spcAft>
                  <a:spcPts val="1000"/>
                </a:spcAft>
              </a:pPr>
              <a:endParaRPr lang="en-US" sz="4000" b="1" i="1" dirty="0">
                <a:solidFill>
                  <a:schemeClr val="bg1">
                    <a:lumMod val="85000"/>
                    <a:lumOff val="15000"/>
                  </a:schemeClr>
                </a:solidFill>
                <a:latin typeface="+mj-lt"/>
              </a:endParaRPr>
            </a:p>
            <a:p>
              <a:pPr algn="ctr">
                <a:spcAft>
                  <a:spcPts val="1000"/>
                </a:spcAft>
              </a:pPr>
              <a:endParaRPr lang="en-US" sz="4000" b="1" i="1" dirty="0">
                <a:solidFill>
                  <a:schemeClr val="bg1">
                    <a:lumMod val="85000"/>
                    <a:lumOff val="15000"/>
                  </a:schemeClr>
                </a:solidFill>
                <a:latin typeface="+mj-lt"/>
              </a:endParaRPr>
            </a:p>
            <a:p>
              <a:pPr lvl="2">
                <a:spcAft>
                  <a:spcPts val="1000"/>
                </a:spcAft>
              </a:pPr>
              <a:r>
                <a:rPr lang="en-US" sz="3600" dirty="0">
                  <a:solidFill>
                    <a:schemeClr val="bg1">
                      <a:lumMod val="85000"/>
                      <a:lumOff val="15000"/>
                    </a:schemeClr>
                  </a:solidFill>
                  <a:latin typeface="+mj-lt"/>
                </a:rPr>
                <a:t>Includes</a:t>
              </a:r>
            </a:p>
            <a:p>
              <a:pPr marL="1485900" lvl="2" indent="-571500">
                <a:spcAft>
                  <a:spcPts val="1000"/>
                </a:spcAft>
                <a:buFont typeface="Arial" panose="020B0604020202020204" pitchFamily="34" charset="0"/>
                <a:buChar char="•"/>
              </a:pPr>
              <a:r>
                <a:rPr lang="en-US" sz="3600" dirty="0">
                  <a:solidFill>
                    <a:schemeClr val="bg1">
                      <a:lumMod val="85000"/>
                      <a:lumOff val="15000"/>
                    </a:schemeClr>
                  </a:solidFill>
                  <a:latin typeface="+mj-lt"/>
                </a:rPr>
                <a:t>Foundational tools and frameworks</a:t>
              </a:r>
            </a:p>
            <a:p>
              <a:pPr marL="1485900" lvl="2" indent="-571500">
                <a:spcAft>
                  <a:spcPts val="1000"/>
                </a:spcAft>
                <a:buFont typeface="Arial" panose="020B0604020202020204" pitchFamily="34" charset="0"/>
                <a:buChar char="•"/>
              </a:pPr>
              <a:r>
                <a:rPr lang="en-US" sz="3600" dirty="0">
                  <a:solidFill>
                    <a:schemeClr val="bg1">
                      <a:lumMod val="85000"/>
                      <a:lumOff val="15000"/>
                    </a:schemeClr>
                  </a:solidFill>
                  <a:latin typeface="+mj-lt"/>
                </a:rPr>
                <a:t>Paired with stable version of infrastructure software</a:t>
              </a:r>
            </a:p>
            <a:p>
              <a:pPr algn="ctr">
                <a:spcAft>
                  <a:spcPts val="1000"/>
                </a:spcAft>
              </a:pPr>
              <a:endParaRPr lang="en-US" sz="3600" dirty="0">
                <a:solidFill>
                  <a:schemeClr val="bg1">
                    <a:lumMod val="85000"/>
                    <a:lumOff val="15000"/>
                  </a:schemeClr>
                </a:solidFill>
                <a:latin typeface="+mj-lt"/>
              </a:endParaRPr>
            </a:p>
            <a:p>
              <a:pPr algn="ctr">
                <a:spcAft>
                  <a:spcPts val="1000"/>
                </a:spcAft>
              </a:pPr>
              <a:r>
                <a:rPr lang="en-US" sz="3600" dirty="0">
                  <a:solidFill>
                    <a:schemeClr val="bg1">
                      <a:lumMod val="85000"/>
                      <a:lumOff val="15000"/>
                    </a:schemeClr>
                  </a:solidFill>
                  <a:latin typeface="+mj-lt"/>
                </a:rPr>
                <a:t>1 branch / 3 years with 3-year lifetime</a:t>
              </a:r>
            </a:p>
            <a:p>
              <a:pPr algn="ctr">
                <a:spcAft>
                  <a:spcPts val="1000"/>
                </a:spcAft>
              </a:pPr>
              <a:r>
                <a:rPr lang="en-US" sz="3600" dirty="0">
                  <a:solidFill>
                    <a:schemeClr val="bg1">
                      <a:lumMod val="85000"/>
                      <a:lumOff val="15000"/>
                    </a:schemeClr>
                  </a:solidFill>
                  <a:latin typeface="+mj-lt"/>
                </a:rPr>
                <a:t>6-month overlap between 2 LTSBs</a:t>
              </a:r>
            </a:p>
            <a:p>
              <a:pPr algn="ctr">
                <a:spcAft>
                  <a:spcPts val="1000"/>
                </a:spcAft>
              </a:pPr>
              <a:r>
                <a:rPr lang="en-US" sz="3600" dirty="0">
                  <a:solidFill>
                    <a:schemeClr val="bg1">
                      <a:lumMod val="85000"/>
                      <a:lumOff val="15000"/>
                    </a:schemeClr>
                  </a:solidFill>
                  <a:latin typeface="+mj-lt"/>
                </a:rPr>
                <a:t>Quarterly CVE patches &amp; bug fixes</a:t>
              </a:r>
            </a:p>
          </p:txBody>
        </p:sp>
        <p:sp>
          <p:nvSpPr>
            <p:cNvPr id="17" name="TextBox 16">
              <a:extLst>
                <a:ext uri="{FF2B5EF4-FFF2-40B4-BE49-F238E27FC236}">
                  <a16:creationId xmlns:a16="http://schemas.microsoft.com/office/drawing/2014/main" id="{9211FE90-BE25-BB63-54DE-18C7C4043D24}"/>
                </a:ext>
              </a:extLst>
            </p:cNvPr>
            <p:cNvSpPr txBox="1"/>
            <p:nvPr/>
          </p:nvSpPr>
          <p:spPr>
            <a:xfrm>
              <a:off x="1200870" y="3636503"/>
              <a:ext cx="2587351" cy="595572"/>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r>
                <a:rPr lang="en-US" sz="4000">
                  <a:solidFill>
                    <a:schemeClr val="tx1"/>
                  </a:solidFill>
                  <a:latin typeface="+mj-lt"/>
                </a:rPr>
                <a:t>Long-Term Support Branch</a:t>
              </a:r>
            </a:p>
          </p:txBody>
        </p:sp>
      </p:grpSp>
      <p:grpSp>
        <p:nvGrpSpPr>
          <p:cNvPr id="12" name="Group 11">
            <a:extLst>
              <a:ext uri="{FF2B5EF4-FFF2-40B4-BE49-F238E27FC236}">
                <a16:creationId xmlns:a16="http://schemas.microsoft.com/office/drawing/2014/main" id="{7BE7D389-DCC0-252D-E0F2-7E7BDED1CA87}"/>
              </a:ext>
            </a:extLst>
          </p:cNvPr>
          <p:cNvGrpSpPr/>
          <p:nvPr/>
        </p:nvGrpSpPr>
        <p:grpSpPr>
          <a:xfrm>
            <a:off x="24624045" y="7939177"/>
            <a:ext cx="8915433" cy="2770217"/>
            <a:chOff x="24623350" y="7190347"/>
            <a:chExt cx="8915433" cy="2770217"/>
          </a:xfrm>
        </p:grpSpPr>
        <p:pic>
          <p:nvPicPr>
            <p:cNvPr id="22" name="Picture 21" descr="A black background with a black square&#10;&#10;Description automatically generated with medium confidence">
              <a:extLst>
                <a:ext uri="{FF2B5EF4-FFF2-40B4-BE49-F238E27FC236}">
                  <a16:creationId xmlns:a16="http://schemas.microsoft.com/office/drawing/2014/main" id="{4F04CEBD-796B-4A11-8D65-3A1FA5C21F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623350" y="7190347"/>
              <a:ext cx="2743200" cy="2743200"/>
            </a:xfrm>
            <a:prstGeom prst="rect">
              <a:avLst/>
            </a:prstGeom>
          </p:spPr>
        </p:pic>
        <p:pic>
          <p:nvPicPr>
            <p:cNvPr id="24" name="Picture 23" descr="A black background with a black square&#10;&#10;Description automatically generated with medium confidence">
              <a:extLst>
                <a:ext uri="{FF2B5EF4-FFF2-40B4-BE49-F238E27FC236}">
                  <a16:creationId xmlns:a16="http://schemas.microsoft.com/office/drawing/2014/main" id="{05C86BAA-4C58-F4BA-3276-7B834587204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709467" y="7217364"/>
              <a:ext cx="2743200" cy="2743200"/>
            </a:xfrm>
            <a:prstGeom prst="rect">
              <a:avLst/>
            </a:prstGeom>
          </p:spPr>
        </p:pic>
        <p:pic>
          <p:nvPicPr>
            <p:cNvPr id="26" name="Picture 25" descr="A black background with a black square&#10;&#10;Description automatically generated with medium confidence">
              <a:extLst>
                <a:ext uri="{FF2B5EF4-FFF2-40B4-BE49-F238E27FC236}">
                  <a16:creationId xmlns:a16="http://schemas.microsoft.com/office/drawing/2014/main" id="{AD2A3C3F-BF7F-D8E1-AC1F-8B29F62DCED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795583" y="7217364"/>
              <a:ext cx="2743200" cy="2743200"/>
            </a:xfrm>
            <a:prstGeom prst="rect">
              <a:avLst/>
            </a:prstGeom>
          </p:spPr>
        </p:pic>
      </p:grpSp>
      <p:sp>
        <p:nvSpPr>
          <p:cNvPr id="37" name="Rectangle 36">
            <a:extLst>
              <a:ext uri="{FF2B5EF4-FFF2-40B4-BE49-F238E27FC236}">
                <a16:creationId xmlns:a16="http://schemas.microsoft.com/office/drawing/2014/main" id="{5AA7EB78-0638-EEA5-B641-309E3AEF5F78}"/>
              </a:ext>
            </a:extLst>
          </p:cNvPr>
          <p:cNvSpPr/>
          <p:nvPr/>
        </p:nvSpPr>
        <p:spPr>
          <a:xfrm>
            <a:off x="2514600" y="14889212"/>
            <a:ext cx="21145522" cy="3906788"/>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2651760" rIns="91440" bIns="365760" rtlCol="0" anchor="b"/>
          <a:lstStyle/>
          <a:p>
            <a:pPr algn="ctr">
              <a:spcAft>
                <a:spcPts val="1000"/>
              </a:spcAft>
            </a:pPr>
            <a:r>
              <a:rPr lang="en-US" sz="4000" b="1" i="1">
                <a:solidFill>
                  <a:schemeClr val="bg1">
                    <a:lumMod val="85000"/>
                    <a:lumOff val="15000"/>
                  </a:schemeClr>
                </a:solidFill>
                <a:latin typeface="+mj-lt"/>
              </a:rPr>
              <a:t>Drivers, Kubernetes Operators, Cluster Management</a:t>
            </a:r>
          </a:p>
          <a:p>
            <a:pPr algn="ctr">
              <a:spcAft>
                <a:spcPts val="1000"/>
              </a:spcAft>
            </a:pPr>
            <a:r>
              <a:rPr lang="en-US" sz="3600">
                <a:solidFill>
                  <a:schemeClr val="bg1">
                    <a:lumMod val="85000"/>
                    <a:lumOff val="15000"/>
                  </a:schemeClr>
                </a:solidFill>
                <a:latin typeface="+mj-lt"/>
              </a:rPr>
              <a:t>Two releases / year</a:t>
            </a:r>
            <a:endParaRPr lang="en-US" sz="3600">
              <a:solidFill>
                <a:schemeClr val="bg1">
                  <a:lumMod val="85000"/>
                  <a:lumOff val="15000"/>
                </a:schemeClr>
              </a:solidFill>
              <a:latin typeface="+mj-lt"/>
              <a:cs typeface="NVIDIA Sans Medium"/>
            </a:endParaRPr>
          </a:p>
          <a:p>
            <a:pPr algn="ctr">
              <a:spcAft>
                <a:spcPts val="1000"/>
              </a:spcAft>
            </a:pPr>
            <a:r>
              <a:rPr lang="en-US" sz="3600">
                <a:solidFill>
                  <a:schemeClr val="bg1">
                    <a:lumMod val="85000"/>
                    <a:lumOff val="15000"/>
                  </a:schemeClr>
                </a:solidFill>
                <a:latin typeface="+mj-lt"/>
              </a:rPr>
              <a:t>Quarterly updates</a:t>
            </a:r>
            <a:endParaRPr lang="en-US" sz="3600">
              <a:solidFill>
                <a:schemeClr val="bg1">
                  <a:lumMod val="85000"/>
                  <a:lumOff val="15000"/>
                </a:schemeClr>
              </a:solidFill>
              <a:latin typeface="+mj-lt"/>
              <a:cs typeface="NVIDIA Sans Medium"/>
            </a:endParaRPr>
          </a:p>
        </p:txBody>
      </p:sp>
      <p:sp>
        <p:nvSpPr>
          <p:cNvPr id="36" name="TextBox 35">
            <a:extLst>
              <a:ext uri="{FF2B5EF4-FFF2-40B4-BE49-F238E27FC236}">
                <a16:creationId xmlns:a16="http://schemas.microsoft.com/office/drawing/2014/main" id="{7FB607E4-B3DD-95AB-F57B-A84907F21AC3}"/>
              </a:ext>
            </a:extLst>
          </p:cNvPr>
          <p:cNvSpPr txBox="1"/>
          <p:nvPr/>
        </p:nvSpPr>
        <p:spPr>
          <a:xfrm>
            <a:off x="2514599" y="14889212"/>
            <a:ext cx="21145523" cy="1011902"/>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r>
              <a:rPr lang="en-US" sz="4000" dirty="0">
                <a:solidFill>
                  <a:schemeClr val="tx1"/>
                </a:solidFill>
                <a:latin typeface="+mj-lt"/>
              </a:rPr>
              <a:t>Infrastructure Software</a:t>
            </a:r>
          </a:p>
        </p:txBody>
      </p:sp>
      <p:pic>
        <p:nvPicPr>
          <p:cNvPr id="39" name="Picture 38" descr="A black background with a black square&#10;&#10;Description automatically generated with medium confidence">
            <a:extLst>
              <a:ext uri="{FF2B5EF4-FFF2-40B4-BE49-F238E27FC236}">
                <a16:creationId xmlns:a16="http://schemas.microsoft.com/office/drawing/2014/main" id="{466C934D-13FF-1DEE-42D8-9CB83AF3B48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238456" y="15996576"/>
            <a:ext cx="2743200" cy="2743200"/>
          </a:xfrm>
          <a:prstGeom prst="rect">
            <a:avLst/>
          </a:prstGeom>
        </p:spPr>
      </p:pic>
      <p:pic>
        <p:nvPicPr>
          <p:cNvPr id="41" name="Picture 40" descr="A black background with a black square&#10;&#10;Description automatically generated with medium confidence">
            <a:extLst>
              <a:ext uri="{FF2B5EF4-FFF2-40B4-BE49-F238E27FC236}">
                <a16:creationId xmlns:a16="http://schemas.microsoft.com/office/drawing/2014/main" id="{E030E2F4-4E54-B944-B0A5-72AB1A99E49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0223509" y="15996576"/>
            <a:ext cx="2743200" cy="2743200"/>
          </a:xfrm>
          <a:prstGeom prst="rect">
            <a:avLst/>
          </a:prstGeom>
        </p:spPr>
      </p:pic>
      <p:grpSp>
        <p:nvGrpSpPr>
          <p:cNvPr id="9" name="Group 8">
            <a:extLst>
              <a:ext uri="{FF2B5EF4-FFF2-40B4-BE49-F238E27FC236}">
                <a16:creationId xmlns:a16="http://schemas.microsoft.com/office/drawing/2014/main" id="{570BBB1D-8E31-411A-BD0F-3196C7E63389}"/>
              </a:ext>
            </a:extLst>
          </p:cNvPr>
          <p:cNvGrpSpPr/>
          <p:nvPr/>
        </p:nvGrpSpPr>
        <p:grpSpPr>
          <a:xfrm>
            <a:off x="13258800" y="3623734"/>
            <a:ext cx="10401278" cy="10778066"/>
            <a:chOff x="13258800" y="5001769"/>
            <a:chExt cx="10058400" cy="8925221"/>
          </a:xfrm>
        </p:grpSpPr>
        <p:grpSp>
          <p:nvGrpSpPr>
            <p:cNvPr id="13" name="Group 12">
              <a:extLst>
                <a:ext uri="{FF2B5EF4-FFF2-40B4-BE49-F238E27FC236}">
                  <a16:creationId xmlns:a16="http://schemas.microsoft.com/office/drawing/2014/main" id="{FB5FAA18-47C0-DE27-B427-C2BBB42D9404}"/>
                </a:ext>
              </a:extLst>
            </p:cNvPr>
            <p:cNvGrpSpPr/>
            <p:nvPr/>
          </p:nvGrpSpPr>
          <p:grpSpPr>
            <a:xfrm>
              <a:off x="13258800" y="5001769"/>
              <a:ext cx="10058400" cy="8925221"/>
              <a:chOff x="1045033" y="3636503"/>
              <a:chExt cx="2743200" cy="4039965"/>
            </a:xfrm>
          </p:grpSpPr>
          <p:sp>
            <p:nvSpPr>
              <p:cNvPr id="15" name="Rectangle 14">
                <a:extLst>
                  <a:ext uri="{FF2B5EF4-FFF2-40B4-BE49-F238E27FC236}">
                    <a16:creationId xmlns:a16="http://schemas.microsoft.com/office/drawing/2014/main" id="{358F6FEC-C370-D3A1-607F-658DF2D2E3FA}"/>
                  </a:ext>
                </a:extLst>
              </p:cNvPr>
              <p:cNvSpPr/>
              <p:nvPr/>
            </p:nvSpPr>
            <p:spPr>
              <a:xfrm>
                <a:off x="1045033" y="3636508"/>
                <a:ext cx="2743200" cy="4039960"/>
              </a:xfrm>
              <a:prstGeom prst="rect">
                <a:avLst/>
              </a:prstGeom>
              <a:solidFill>
                <a:schemeClr val="tx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2651760" bIns="182880" rtlCol="0" anchor="b"/>
              <a:lstStyle/>
              <a:p>
                <a:pPr algn="ctr">
                  <a:spcAft>
                    <a:spcPts val="1000"/>
                  </a:spcAft>
                </a:pPr>
                <a:r>
                  <a:rPr lang="en-US" sz="4000" b="1" i="1" dirty="0">
                    <a:solidFill>
                      <a:schemeClr val="bg1">
                        <a:lumMod val="85000"/>
                        <a:lumOff val="15000"/>
                      </a:schemeClr>
                    </a:solidFill>
                    <a:latin typeface="+mj-lt"/>
                  </a:rPr>
                  <a:t>API Stability</a:t>
                </a:r>
              </a:p>
              <a:p>
                <a:pPr algn="ctr">
                  <a:spcAft>
                    <a:spcPts val="1000"/>
                  </a:spcAft>
                </a:pPr>
                <a:endParaRPr lang="en-US" sz="4000" b="1" i="1" dirty="0">
                  <a:solidFill>
                    <a:schemeClr val="bg1">
                      <a:lumMod val="85000"/>
                      <a:lumOff val="15000"/>
                    </a:schemeClr>
                  </a:solidFill>
                  <a:latin typeface="+mj-lt"/>
                </a:endParaRPr>
              </a:p>
              <a:p>
                <a:pPr algn="ctr">
                  <a:spcAft>
                    <a:spcPts val="1000"/>
                  </a:spcAft>
                </a:pPr>
                <a:endParaRPr lang="en-US" sz="4000" b="1" i="1" dirty="0">
                  <a:solidFill>
                    <a:schemeClr val="bg1">
                      <a:lumMod val="85000"/>
                      <a:lumOff val="15000"/>
                    </a:schemeClr>
                  </a:solidFill>
                  <a:latin typeface="+mj-lt"/>
                </a:endParaRPr>
              </a:p>
              <a:p>
                <a:pPr algn="ctr">
                  <a:spcAft>
                    <a:spcPts val="1000"/>
                  </a:spcAft>
                </a:pPr>
                <a:endParaRPr lang="en-US" sz="4000" b="1" i="1" dirty="0">
                  <a:solidFill>
                    <a:schemeClr val="bg1">
                      <a:lumMod val="85000"/>
                      <a:lumOff val="15000"/>
                    </a:schemeClr>
                  </a:solidFill>
                  <a:latin typeface="+mj-lt"/>
                </a:endParaRPr>
              </a:p>
              <a:p>
                <a:pPr algn="ctr">
                  <a:spcAft>
                    <a:spcPts val="1000"/>
                  </a:spcAft>
                </a:pPr>
                <a:endParaRPr lang="en-US" sz="4000" b="1" i="1" dirty="0">
                  <a:solidFill>
                    <a:schemeClr val="bg1">
                      <a:lumMod val="85000"/>
                      <a:lumOff val="15000"/>
                    </a:schemeClr>
                  </a:solidFill>
                  <a:latin typeface="+mj-lt"/>
                </a:endParaRPr>
              </a:p>
              <a:p>
                <a:pPr algn="ctr">
                  <a:spcAft>
                    <a:spcPts val="1000"/>
                  </a:spcAft>
                </a:pPr>
                <a:endParaRPr lang="en-US" sz="4000" b="1" i="1" dirty="0">
                  <a:solidFill>
                    <a:schemeClr val="bg1">
                      <a:lumMod val="85000"/>
                      <a:lumOff val="15000"/>
                    </a:schemeClr>
                  </a:solidFill>
                  <a:latin typeface="+mj-lt"/>
                </a:endParaRPr>
              </a:p>
              <a:p>
                <a:pPr algn="ctr">
                  <a:spcAft>
                    <a:spcPts val="1000"/>
                  </a:spcAft>
                </a:pPr>
                <a:endParaRPr lang="en-US" sz="4000" b="1" i="1" dirty="0">
                  <a:solidFill>
                    <a:schemeClr val="bg1">
                      <a:lumMod val="85000"/>
                      <a:lumOff val="15000"/>
                    </a:schemeClr>
                  </a:solidFill>
                  <a:latin typeface="+mj-lt"/>
                </a:endParaRPr>
              </a:p>
              <a:p>
                <a:pPr algn="ctr">
                  <a:spcAft>
                    <a:spcPts val="1000"/>
                  </a:spcAft>
                </a:pPr>
                <a:endParaRPr lang="en-US" sz="4000" b="1" i="1" dirty="0">
                  <a:solidFill>
                    <a:schemeClr val="bg1">
                      <a:lumMod val="85000"/>
                      <a:lumOff val="15000"/>
                    </a:schemeClr>
                  </a:solidFill>
                  <a:latin typeface="+mj-lt"/>
                </a:endParaRPr>
              </a:p>
              <a:p>
                <a:pPr algn="ctr">
                  <a:spcAft>
                    <a:spcPts val="1000"/>
                  </a:spcAft>
                </a:pPr>
                <a:r>
                  <a:rPr lang="en-US" sz="3600" dirty="0">
                    <a:solidFill>
                      <a:schemeClr val="bg1">
                        <a:lumMod val="85000"/>
                        <a:lumOff val="15000"/>
                      </a:schemeClr>
                    </a:solidFill>
                    <a:latin typeface="+mj-lt"/>
                  </a:rPr>
                  <a:t>Includes foundational tools and frameworks</a:t>
                </a:r>
                <a:endParaRPr lang="en-US" sz="3600" b="1" i="1" dirty="0">
                  <a:solidFill>
                    <a:schemeClr val="bg1">
                      <a:lumMod val="85000"/>
                      <a:lumOff val="15000"/>
                    </a:schemeClr>
                  </a:solidFill>
                  <a:latin typeface="+mj-lt"/>
                </a:endParaRPr>
              </a:p>
              <a:p>
                <a:pPr algn="ctr">
                  <a:spcAft>
                    <a:spcPts val="1000"/>
                  </a:spcAft>
                </a:pPr>
                <a:r>
                  <a:rPr lang="en-US" sz="3600" dirty="0">
                    <a:solidFill>
                      <a:schemeClr val="bg1">
                        <a:lumMod val="85000"/>
                        <a:lumOff val="15000"/>
                      </a:schemeClr>
                    </a:solidFill>
                    <a:latin typeface="+mj-lt"/>
                  </a:rPr>
                  <a:t>2 branches / year with 9-month lifetime</a:t>
                </a:r>
              </a:p>
              <a:p>
                <a:pPr algn="ctr">
                  <a:spcAft>
                    <a:spcPts val="1000"/>
                  </a:spcAft>
                </a:pPr>
                <a:r>
                  <a:rPr lang="en-US" sz="3600" dirty="0">
                    <a:solidFill>
                      <a:schemeClr val="bg1">
                        <a:lumMod val="85000"/>
                        <a:lumOff val="15000"/>
                      </a:schemeClr>
                    </a:solidFill>
                    <a:latin typeface="+mj-lt"/>
                  </a:rPr>
                  <a:t>3-month overlap between 2 PBs</a:t>
                </a:r>
              </a:p>
              <a:p>
                <a:pPr algn="ctr">
                  <a:spcAft>
                    <a:spcPts val="1000"/>
                  </a:spcAft>
                </a:pPr>
                <a:r>
                  <a:rPr lang="en-US" sz="3600" dirty="0">
                    <a:solidFill>
                      <a:schemeClr val="bg1">
                        <a:lumMod val="85000"/>
                        <a:lumOff val="15000"/>
                      </a:schemeClr>
                    </a:solidFill>
                    <a:latin typeface="+mj-lt"/>
                  </a:rPr>
                  <a:t>Monthly CVE patches &amp; bug fixes</a:t>
                </a:r>
              </a:p>
            </p:txBody>
          </p:sp>
          <p:sp>
            <p:nvSpPr>
              <p:cNvPr id="14" name="TextBox 13">
                <a:extLst>
                  <a:ext uri="{FF2B5EF4-FFF2-40B4-BE49-F238E27FC236}">
                    <a16:creationId xmlns:a16="http://schemas.microsoft.com/office/drawing/2014/main" id="{C534CD0F-58BD-7451-BED1-CD87E1D42E34}"/>
                  </a:ext>
                </a:extLst>
              </p:cNvPr>
              <p:cNvSpPr txBox="1"/>
              <p:nvPr/>
            </p:nvSpPr>
            <p:spPr>
              <a:xfrm>
                <a:off x="1045033" y="3636503"/>
                <a:ext cx="2743188" cy="493188"/>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0000"/>
                  </a:lnSpc>
                </a:pPr>
                <a:r>
                  <a:rPr lang="en-US" sz="4000" dirty="0">
                    <a:solidFill>
                      <a:schemeClr val="tx1"/>
                    </a:solidFill>
                    <a:latin typeface="+mj-lt"/>
                  </a:rPr>
                  <a:t>Production Branch</a:t>
                </a:r>
              </a:p>
            </p:txBody>
          </p:sp>
        </p:grpSp>
        <p:pic>
          <p:nvPicPr>
            <p:cNvPr id="43" name="Picture 42" descr="A black background with a black square&#10;&#10;Description automatically generated with medium confidence">
              <a:extLst>
                <a:ext uri="{FF2B5EF4-FFF2-40B4-BE49-F238E27FC236}">
                  <a16:creationId xmlns:a16="http://schemas.microsoft.com/office/drawing/2014/main" id="{1298C83E-2439-4A3E-81F2-A7DC7F9F1E6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6459177" y="7635581"/>
              <a:ext cx="3657600" cy="3657600"/>
            </a:xfrm>
            <a:prstGeom prst="rect">
              <a:avLst/>
            </a:prstGeom>
          </p:spPr>
        </p:pic>
      </p:grpSp>
    </p:spTree>
    <p:extLst>
      <p:ext uri="{BB962C8B-B14F-4D97-AF65-F5344CB8AC3E}">
        <p14:creationId xmlns:p14="http://schemas.microsoft.com/office/powerpoint/2010/main" val="29554351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28800" y="8046720"/>
            <a:ext cx="32918400" cy="2926080"/>
          </a:xfrm>
          <a:prstGeom prst="rect">
            <a:avLst/>
          </a:prstGeom>
          <a:noFill/>
        </p:spPr>
        <p:txBody>
          <a:bodyPr wrap="square" lIns="50000" tIns="20000" rIns="50000" bIns="20000" anchor="t">
            <a:spAutoFit/>
          </a:bodyPr>
          <a:lstStyle/>
          <a:p>
            <a:pPr algn="ctr"/>
            <a:r>
              <a:rPr sz="8800" b="1" i="0">
                <a:solidFill>
                  <a:srgbClr val="76B900"/>
                </a:solidFill>
                <a:latin typeface="NVIDIA Sans Medium"/>
              </a:rPr>
              <a:t>From checkpoint to OpenAI-compatible endpoint</a:t>
            </a:r>
          </a:p>
        </p:txBody>
      </p:sp>
      <p:sp>
        <p:nvSpPr>
          <p:cNvPr id="3" name="TextBox 2"/>
          <p:cNvSpPr txBox="1"/>
          <p:nvPr/>
        </p:nvSpPr>
        <p:spPr>
          <a:xfrm>
            <a:off x="1828800" y="11338560"/>
            <a:ext cx="32918400" cy="2194560"/>
          </a:xfrm>
          <a:prstGeom prst="rect">
            <a:avLst/>
          </a:prstGeom>
          <a:noFill/>
        </p:spPr>
        <p:txBody>
          <a:bodyPr wrap="square" lIns="50000" tIns="20000" rIns="50000" bIns="20000" anchor="t">
            <a:spAutoFit/>
          </a:bodyPr>
          <a:lstStyle/>
          <a:p>
            <a:pPr algn="ctr"/>
            <a:r>
              <a:rPr sz="5600" b="0" i="1">
                <a:solidFill>
                  <a:srgbClr val="5E5E5E"/>
                </a:solidFill>
                <a:latin typeface="NVIDIA Sans"/>
              </a:rPr>
              <a:t>Hands-on next: curl + Python against both deployed NIMs</a:t>
            </a:r>
          </a:p>
        </p:txBody>
      </p:sp>
    </p:spTree>
  </p:cSld>
  <p:clrMapOvr>
    <a:masterClrMapping/>
  </p:clrMapOvr>
</p:sld>
</file>

<file path=ppt/theme/theme1.xml><?xml version="1.0" encoding="utf-8"?>
<a:theme xmlns:a="http://schemas.openxmlformats.org/drawingml/2006/main" name="Title Only">
  <a:themeElements>
    <a:clrScheme name="Custom 15">
      <a:dk1>
        <a:srgbClr val="FFFFFF"/>
      </a:dk1>
      <a:lt1>
        <a:srgbClr val="000000"/>
      </a:lt1>
      <a:dk2>
        <a:srgbClr val="76B900"/>
      </a:dk2>
      <a:lt2>
        <a:srgbClr val="CDCDCD"/>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NVIDIA Sans">
      <a:majorFont>
        <a:latin typeface="NVIDIA Sans Medium"/>
        <a:ea typeface=""/>
        <a:cs typeface=""/>
      </a:majorFont>
      <a:minorFont>
        <a:latin typeface="NVIDIA Sans"/>
        <a:ea typeface=""/>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lnSpc>
            <a:spcPct val="90000"/>
          </a:lnSpc>
          <a:defRPr sz="4000" dirty="0" err="1">
            <a:solidFill>
              <a:schemeClr val="tx1"/>
            </a:solidFill>
            <a:latin typeface="Trebuchet MS" panose="020B0603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5875">
          <a:solidFill>
            <a:schemeClr val="accent5"/>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ctr">
          <a:defRPr sz="4000" dirty="0" err="1" smtClean="0">
            <a:solidFill>
              <a:schemeClr val="bg1"/>
            </a:solidFill>
            <a:latin typeface="NVIDIA Sans" panose="020B0503020203020204" pitchFamily="34" charset="0"/>
            <a:cs typeface="NVIDIA Sans" panose="020B0503020203020204" pitchFamily="34" charset="0"/>
          </a:defRPr>
        </a:defPPr>
      </a:lstStyle>
    </a:txDef>
  </a:objectDefaults>
  <a:extraClrSchemeLst/>
  <a:extLst>
    <a:ext uri="{05A4C25C-085E-4340-85A3-A5531E510DB2}">
      <thm15:themeFamily xmlns:thm15="http://schemas.microsoft.com/office/thememl/2012/main" name="NVIDIA_Sans_Corp_Template_LIGHT_v2_NewKV.pptx" id="{2CB1BC51-CEBF-4125-BC6C-FB23D6874A8C}" vid="{0B679A5A-A7BB-445D-B89B-5017F750351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VIDIA Sans"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VIDIA Sans"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145EAE5F8329F47B840B6DEBAC2F43F" ma:contentTypeVersion="15" ma:contentTypeDescription="Create a new document." ma:contentTypeScope="" ma:versionID="39d09db77ad425bdbc3d080218c7c01e">
  <xsd:schema xmlns:xsd="http://www.w3.org/2001/XMLSchema" xmlns:xs="http://www.w3.org/2001/XMLSchema" xmlns:p="http://schemas.microsoft.com/office/2006/metadata/properties" xmlns:ns1="http://schemas.microsoft.com/sharepoint/v3" xmlns:ns2="2a5b1eea-32a8-4673-8d38-de3226caeee3" xmlns:ns3="f65afe6d-7162-4df4-ae98-80745cab72d4" targetNamespace="http://schemas.microsoft.com/office/2006/metadata/properties" ma:root="true" ma:fieldsID="262224961ea4106f8e7d0f360b05b90c" ns1:_="" ns2:_="" ns3:_="">
    <xsd:import namespace="http://schemas.microsoft.com/sharepoint/v3"/>
    <xsd:import namespace="2a5b1eea-32a8-4673-8d38-de3226caeee3"/>
    <xsd:import namespace="f65afe6d-7162-4df4-ae98-80745cab72d4"/>
    <xsd:element name="properties">
      <xsd:complexType>
        <xsd:sequence>
          <xsd:element name="documentManagement">
            <xsd:complexType>
              <xsd:all>
                <xsd:element ref="ns1:PublishingStartDate" minOccurs="0"/>
                <xsd:element ref="ns1:PublishingExpirationDate" minOccurs="0"/>
                <xsd:element ref="ns2:MediaServiceMetadata" minOccurs="0"/>
                <xsd:element ref="ns2:MediaServiceFastMetadata" minOccurs="0"/>
                <xsd:element ref="ns2:MediaServiceGenerationTime" minOccurs="0"/>
                <xsd:element ref="ns2:MediaServiceEventHashCode" minOccurs="0"/>
                <xsd:element ref="ns2:MediaServiceDateTaken" minOccurs="0"/>
                <xsd:element ref="ns2:MediaServiceLocation" minOccurs="0"/>
                <xsd:element ref="ns2:MediaServiceOCR" minOccurs="0"/>
                <xsd:element ref="ns2:MediaServiceAutoKeyPoints" minOccurs="0"/>
                <xsd:element ref="ns2:MediaServiceKeyPoint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hidden="true"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a5b1eea-32a8-4673-8d38-de3226caeee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804b2a00-2846-4002-b30b-85ebaf4c019a"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5afe6d-7162-4df4-ae98-80745cab72d4"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a9d4e2c1-4547-4ca0-9568-b573cd0c84c4}" ma:internalName="TaxCatchAll" ma:showField="CatchAllData" ma:web="f65afe6d-7162-4df4-ae98-80745cab72d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f65afe6d-7162-4df4-ae98-80745cab72d4" xsi:nil="true"/>
    <PublishingExpirationDate xmlns="http://schemas.microsoft.com/sharepoint/v3" xsi:nil="true"/>
    <PublishingStartDate xmlns="http://schemas.microsoft.com/sharepoint/v3" xsi:nil="true"/>
    <lcf76f155ced4ddcb4097134ff3c332f xmlns="2a5b1eea-32a8-4673-8d38-de3226caeee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65AC8C1-8675-4762-89BF-D102E51271A0}">
  <ds:schemaRefs>
    <ds:schemaRef ds:uri="http://schemas.microsoft.com/sharepoint/v3/contenttype/forms"/>
  </ds:schemaRefs>
</ds:datastoreItem>
</file>

<file path=customXml/itemProps2.xml><?xml version="1.0" encoding="utf-8"?>
<ds:datastoreItem xmlns:ds="http://schemas.openxmlformats.org/officeDocument/2006/customXml" ds:itemID="{06B8F5C1-CC17-4575-A1B9-9EB541A76E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2a5b1eea-32a8-4673-8d38-de3226caeee3"/>
    <ds:schemaRef ds:uri="f65afe6d-7162-4df4-ae98-80745cab72d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A4C7E1E-6C20-440E-941A-535F1A24C014}">
  <ds:schemaRefs>
    <ds:schemaRef ds:uri="f65afe6d-7162-4df4-ae98-80745cab72d4"/>
    <ds:schemaRef ds:uri="http://purl.org/dc/terms/"/>
    <ds:schemaRef ds:uri="http://schemas.microsoft.com/office/2006/documentManagement/types"/>
    <ds:schemaRef ds:uri="http://schemas.openxmlformats.org/package/2006/metadata/core-properties"/>
    <ds:schemaRef ds:uri="2a5b1eea-32a8-4673-8d38-de3226caeee3"/>
    <ds:schemaRef ds:uri="http://schemas.microsoft.com/sharepoint/v3"/>
    <ds:schemaRef ds:uri="http://www.w3.org/XML/1998/namespace"/>
    <ds:schemaRef ds:uri="http://schemas.microsoft.com/office/2006/metadata/properties"/>
    <ds:schemaRef ds:uri="http://schemas.microsoft.com/office/infopath/2007/PartnerControls"/>
    <ds:schemaRef ds:uri="http://purl.org/dc/dcmityp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
  <TotalTime>1890</TotalTime>
  <Words>4155</Words>
  <Application>Microsoft Macintosh PowerPoint</Application>
  <PresentationFormat>Custom</PresentationFormat>
  <Paragraphs>444</Paragraphs>
  <Slides>17</Slides>
  <Notes>17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Calibri</vt:lpstr>
      <vt:lpstr>Consolas</vt:lpstr>
      <vt:lpstr>NVIDIA Sans</vt:lpstr>
      <vt:lpstr>NVIDIA Sans Light</vt:lpstr>
      <vt:lpstr>NVIDIA Sans Medium</vt:lpstr>
      <vt:lpstr>Roboto Mono</vt:lpstr>
      <vt:lpstr>Trebuchet MS</vt:lpstr>
      <vt:lpstr>Title Only</vt:lpstr>
      <vt:lpstr>NVIDIA NIM</vt:lpstr>
      <vt:lpstr>PowerPoint Presentation</vt:lpstr>
      <vt:lpstr>Model Deployment Lifecycle</vt:lpstr>
      <vt:lpstr>NVIDIA NIM</vt:lpstr>
      <vt:lpstr>PowerPoint Presentation</vt:lpstr>
      <vt:lpstr>PowerPoint Presentation</vt:lpstr>
      <vt:lpstr>PowerPoint Presentation</vt:lpstr>
      <vt:lpstr>NVIDIA NIM for Every Domain</vt:lpstr>
      <vt:lpstr>PowerPoint Presentation</vt:lpstr>
      <vt:lpstr>PowerPoint Presentation</vt:lpstr>
      <vt:lpstr>PowerPoint Presentation</vt:lpstr>
      <vt:lpstr>PowerPoint Presentation</vt:lpstr>
      <vt:lpstr>Ongoing Performance Improvements</vt:lpstr>
      <vt:lpstr>Rapid Integration Requires Rapid Endpoint Deployment</vt:lpstr>
      <vt:lpstr>For Enterprises that Run their Business on AI</vt:lpstr>
      <vt:lpstr>NVIDIA AI Enterprise Product Lifecycle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Laura Spillman</dc:creator>
  <cp:lastModifiedBy>Swaminathan B S</cp:lastModifiedBy>
  <cp:revision>19</cp:revision>
  <dcterms:created xsi:type="dcterms:W3CDTF">2023-07-05T16:37:04Z</dcterms:created>
  <dcterms:modified xsi:type="dcterms:W3CDTF">2026-06-02T10:15:11Z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0x010100A145EAE5F8329F47B840B6DEBAC2F43F</vt:lpwstr>
  </property>
  <property fmtid="{D5CDD505-2E9C-101B-9397-08002B2CF9AE}" pid="3" name="MediaServiceImageTags">
    <vt:lpwstr/>
  </property>
</Properties>
</file>
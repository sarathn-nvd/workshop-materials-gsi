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handoutMasterIdLst>
    <p:handoutMasterId r:id="rId6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3" autoAdjust="0"/>
    <p:restoredTop sz="96391" autoAdjust="0"/>
  </p:normalViewPr>
  <p:slideViewPr>
    <p:cSldViewPr snapToGrid="0">
      <p:cViewPr varScale="1">
        <p:scale>
          <a:sx n="13" d="100"/>
          <a:sy n="13" d="100"/>
        </p:scale>
        <p:origin x="90" y="528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en Hill-Peterson" userId="d3234e37-15a6-4633-bb53-3a1db57a2b03" providerId="ADAL" clId="{B2019596-BB80-4E31-BDC5-354A8DA3B09C}"/>
    <pc:docChg chg="addSld modSld sldOrd">
      <pc:chgData name="Kristen Hill-Peterson" userId="d3234e37-15a6-4633-bb53-3a1db57a2b03" providerId="ADAL" clId="{B2019596-BB80-4E31-BDC5-354A8DA3B09C}" dt="2023-10-18T20:22:03.862" v="2"/>
      <pc:docMkLst>
        <pc:docMk/>
      </pc:docMkLst>
      <pc:sldChg chg="add ord">
        <pc:chgData name="Kristen Hill-Peterson" userId="d3234e37-15a6-4633-bb53-3a1db57a2b03" providerId="ADAL" clId="{B2019596-BB80-4E31-BDC5-354A8DA3B09C}" dt="2023-10-18T20:22:03.862" v="2"/>
        <pc:sldMkLst>
          <pc:docMk/>
          <pc:sldMk cId="2245222864" sldId="550145268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0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10/18/2023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0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45-minute module on AI Factory offerings — the workshop's closing theory module. Goal: attendees can position each flavour to a customer and do back-of-envelope sizing. The decision matrix (slide 8) and sizing example (slide 18) are the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pillars. The bottom note is the key — compute alone, or software alone, isn't an AI Factory. NVIDIA's offer is integrated compute + software + 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flavours, same software underneath. The choice is about governance, sovereignty, and capex-vs-opex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NCP is the fastest-growing flavour. New providers added monthly. The 'sovereign cloud' story matters increasingly in regulated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designs are the 'turn-key' on-prem option. Pre-validated by NVIDIA, supported by the OEM, runs the standard NVIDIA software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DGX Cloud is the NVIDIA-managed offering that sits on top of CSPs — same DGX stack, managed by NVIDIA on hyperscaler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DGX is the on-prem flagship. SuperPOD for training, BasePOD for departmental, Station/Spark for edge and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matrix. Star ratings — pick the column that best matches the customer's weighted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software stack. Today we cover the bottom half (Mission Control, BCM, Run:AI). Everything else has been covered earlier in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 to the operational side of AI Factory. Three products: BCM (provisioning), Mission Control (ops UI), Run:AI (workload scheduling). Each gets one slide of focus + a recap slide at the end. ~15 minutes for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BCM is the *lowest* layer of operations — it's what gets your cluster running before you can run anything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 Control is the UI/UX layer on top of BCM — operators live in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daily-driver features. Pre-flight checks are the most-loved — they catch problems before you burn a 24h training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Run:AI is the scheduler layer. K8s default scheduler is naive about GPU topology — Run:AI knows about NVLink, MIG,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Fractional GPU is for dev (many small jobs on one GPU). Quotas are for production teams (guaranteed shares of the cluster).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layered ownership. Each box has one owner; each layer has one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section — infra sizing. Only 3 slides but the most useful for SAs in customer-sizing conversations. The worked example (slide 18) is the photo-this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example. The Math column shows the per-input transformation. Output: 6× DGX H100 NVL covers 100K tok/s peak with headroom.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Cheat sheet. Photocopy for the next customer sizing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Workshop wrap-up. Transition to the 2-hour breakout / QA block. Hand out the cert info + further-reading map. Make sure attendees know how to access the post-workshop assessment. Encourage them to keep the Slack channel open for the next month — that's how the community gels post-workshop.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 xmlns:a14="http://schemas.microsoft.com/office/drawing/2010/main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NVIDIA AI Factory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Where the GenAI stack actually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AI Factory —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An integrated compute + software + ops environment that produces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6583680"/>
            <a:ext cx="32918400" cy="914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7132320"/>
            <a:ext cx="3145536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 Medium"/>
              </a:rPr>
              <a:t>Three things, integrated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9509760"/>
            <a:ext cx="10241280" cy="5852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9875520"/>
            <a:ext cx="102412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704320"/>
            <a:ext cx="914400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GPU + CPU + storage + network — designed for AI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50240" y="9509760"/>
            <a:ext cx="10241280" cy="5852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0" y="9875520"/>
            <a:ext cx="102412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008564"/>
                </a:solidFill>
                <a:latin typeface="NVIDIA Sans Medium"/>
              </a:rPr>
              <a:t>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0" y="11704320"/>
            <a:ext cx="914400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Stack that runs on the compute — NeMo · NIM · NAT · Mission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40160" y="9509760"/>
            <a:ext cx="10241280" cy="5852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0" y="9875520"/>
            <a:ext cx="102412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5D1682"/>
                </a:solidFill>
                <a:latin typeface="NVIDIA Sans Medium"/>
              </a:rPr>
              <a:t>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0" y="11704320"/>
            <a:ext cx="914400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How you operate it day-to-day — schedulers, monitoring,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7190720"/>
            <a:ext cx="3291840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1">
                <a:solidFill>
                  <a:srgbClr val="76B900"/>
                </a:solidFill>
                <a:latin typeface="NVIDIA Sans"/>
              </a:rPr>
              <a:t>Buy one without the others = you don't have an AI Factory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Four Flavours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Same software stack — different operating models for different buyers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80467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8046720" cy="20116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8046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NCP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412480"/>
            <a:ext cx="69494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Sovereign / regional clouds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0607040"/>
            <a:ext cx="694944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CoreWeave · Lambda · Nebius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5248" y="5852160"/>
            <a:ext cx="80467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85248" y="5852160"/>
            <a:ext cx="8046720" cy="201168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5248" y="5852160"/>
            <a:ext cx="8046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OEM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8412480"/>
            <a:ext cx="69494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Reference designs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33888" y="10607040"/>
            <a:ext cx="694944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Dell · HPE · Lenovo · Supermicro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07456" y="5852160"/>
            <a:ext cx="80467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507456" y="5852160"/>
            <a:ext cx="8046720" cy="201168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507456" y="5852160"/>
            <a:ext cx="8046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CSP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6096" y="8412480"/>
            <a:ext cx="69494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Managed cloud offerings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6096" y="10607040"/>
            <a:ext cx="694944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AWS · GCP · Azure · OCI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29664" y="5852160"/>
            <a:ext cx="80467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29664" y="5852160"/>
            <a:ext cx="8046720" cy="201168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9664" y="5852160"/>
            <a:ext cx="8046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On-Prem / DGX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78304" y="8412480"/>
            <a:ext cx="69494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Full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78304" y="10607040"/>
            <a:ext cx="694944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DGX SuperPOD · BasePOD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NCP AI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Sovereign and regional cloud partners with NVIDIA-certified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When NCP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Data must stay in-region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Regulator requires national / EU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Hyperscaler not certified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Need GPU capacity yesterday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Burst beyond on-prem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5376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Example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0" y="8412480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CoreWeave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0" y="9729216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Lambda 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0" y="11045952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Nebius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0" y="12362688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Bezant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0" y="13679424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Equinix Metal w/ NVIDIA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0" y="14996160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Tata Communications (India)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0" y="16312896"/>
            <a:ext cx="14630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G42 (UAE)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OEM AI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Pre-validated reference designs from server vendors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008564"/>
                </a:solidFill>
                <a:latin typeface="NVIDIA Sans Medium"/>
              </a:rPr>
              <a:t>When OEM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8564"/>
                </a:solidFill>
                <a:latin typeface="NVIDIA Sans Medium"/>
              </a:rPr>
              <a:t>✓  You want on-prem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8564"/>
                </a:solidFill>
                <a:latin typeface="NVIDIA Sans Medium"/>
              </a:rPr>
              <a:t>✓  Existing OEM relationship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8564"/>
                </a:solidFill>
                <a:latin typeface="NVIDIA Sans Medium"/>
              </a:rPr>
              <a:t>✓  Standard support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8564"/>
                </a:solidFill>
                <a:latin typeface="NVIDIA Sans Medium"/>
              </a:rPr>
              <a:t>✓  Pre-integrated rack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8564"/>
                </a:solidFill>
                <a:latin typeface="NVIDIA Sans Medium"/>
              </a:rPr>
              <a:t>✓  Multi-vendor procurement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5376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008564"/>
                </a:solidFill>
                <a:latin typeface="NVIDIA Sans Medium"/>
              </a:rPr>
              <a:t>Partners + reference designs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Dell — PowerEdge XE9680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HPE — Cray XD670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Lenovo — ThinkSystem SR685a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Supermicro — AS-8125GS-TNHR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Cisco — UCS C885A M8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CSP AI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Managed cloud offerings on the big hyperscalers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5D1682"/>
                </a:solidFill>
                <a:latin typeface="NVIDIA Sans Medium"/>
              </a:rPr>
              <a:t>When CSP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5D1682"/>
                </a:solidFill>
                <a:latin typeface="NVIDIA Sans Medium"/>
              </a:rPr>
              <a:t>✓  You're cloud-native already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5D1682"/>
                </a:solidFill>
                <a:latin typeface="NVIDIA Sans Medium"/>
              </a:rPr>
              <a:t>✓  Need elastic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5D1682"/>
                </a:solidFill>
                <a:latin typeface="NVIDIA Sans Medium"/>
              </a:rPr>
              <a:t>✓  Want standard cloud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5D1682"/>
                </a:solidFill>
                <a:latin typeface="NVIDIA Sans Medium"/>
              </a:rPr>
              <a:t>✓  Multi-region from day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5D1682"/>
                </a:solidFill>
                <a:latin typeface="NVIDIA Sans Medium"/>
              </a:rPr>
              <a:t>✓  Pay-as-you-go OPEX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5376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5D1682"/>
                </a:solidFill>
                <a:latin typeface="NVIDIA Sans Medium"/>
              </a:rPr>
              <a:t>Partner offerings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AWS — EC2 P5 · DGX Cloud on 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GCP — A3 Ultra · DGX Cloud on GCP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Azure — ND H100 v5 · DGX Cloud on Azure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OCI — BM.GPU.H100.8 · DGX Cloud on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Cloud Lepton (NVIDIA-managed)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On-Prem (DGX) AI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Maximum control, isolation, and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0071C5"/>
                </a:solidFill>
                <a:latin typeface="NVIDIA Sans Medium"/>
              </a:rPr>
              <a:t>When DGX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71C5"/>
                </a:solidFill>
                <a:latin typeface="NVIDIA Sans Medium"/>
              </a:rPr>
              <a:t>✓  Data cannot leave premises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71C5"/>
                </a:solidFill>
                <a:latin typeface="NVIDIA Sans Medium"/>
              </a:rPr>
              <a:t>✓  Maximum performance ceiling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71C5"/>
                </a:solidFill>
                <a:latin typeface="NVIDIA Sans Medium"/>
              </a:rPr>
              <a:t>✓  Need full network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71C5"/>
                </a:solidFill>
                <a:latin typeface="NVIDIA Sans Medium"/>
              </a:rPr>
              <a:t>✓  Have ops team to operate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71C5"/>
                </a:solidFill>
                <a:latin typeface="NVIDIA Sans Medium"/>
              </a:rPr>
              <a:t>✓  Long-term workload (3–5 yr)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5376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0071C5"/>
                </a:solidFill>
                <a:latin typeface="NVIDIA Sans Medium"/>
              </a:rPr>
              <a:t>DGX flagship offerings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0" y="841248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SuperPOD — 16 nodes (128 H100)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0" y="987552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BasePOD — 2-8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0" y="1133856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B200 — Blackwell flagship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0" y="1280160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Station — desktop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0" y="14264640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DGX Spark — edge / 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Decision Matrix — How to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Map the customer's constraints to one (or more) flavours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66928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56692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 Medium"/>
              </a:rPr>
              <a:t>NCP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0" y="56692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8564"/>
                </a:solidFill>
                <a:latin typeface="NVIDIA Sans Medium"/>
              </a:rPr>
              <a:t>OEM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0" y="56692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5D1682"/>
                </a:solidFill>
                <a:latin typeface="NVIDIA Sans Medium"/>
              </a:rPr>
              <a:t>CSP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0" y="566928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71C5"/>
                </a:solidFill>
                <a:latin typeface="NVIDIA Sans Medium"/>
              </a:rPr>
              <a:t>DGX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731520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731520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Data sovereignty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73152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0" y="73152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60" y="73152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0" y="731520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★★★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896112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896112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Time to first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896112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0" y="896112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0" y="896112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0" y="896112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1060704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1060704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Long-term TCO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1060704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0" y="1060704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40160" y="1060704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0" y="1060704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★★★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1225296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1225296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Operational simplicity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1225296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0" y="1225296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0" y="1225296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23840" y="1225296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389888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1389888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Multi-region elasticity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138988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0" y="138988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140160" y="1389888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★★★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23840" y="1389888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1554480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1554480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Maximum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155448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76B900"/>
                </a:solidFill>
                <a:latin typeface="NVIDIA Sans"/>
              </a:rPr>
              <a:t>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0" y="155448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8564"/>
                </a:solidFill>
                <a:latin typeface="NVIDIA Sans"/>
              </a:rPr>
              <a:t>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40160" y="15544800"/>
            <a:ext cx="62179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5D1682"/>
                </a:solidFill>
                <a:latin typeface="NVIDIA Sans"/>
              </a:rPr>
              <a:t>★★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723840" y="15544800"/>
            <a:ext cx="40233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0" i="0">
                <a:solidFill>
                  <a:srgbClr val="0071C5"/>
                </a:solidFill>
                <a:latin typeface="NVIDIA Sans"/>
              </a:rPr>
              <a:t>★★★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Software Stack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Every AI Factory runs a common stack — different deployment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0" y="6217920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6217920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6217920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Blueprints · GenAI / Agentic apps · 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8485632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8485632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Models +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8485632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NIM family + Dynamo · Microservices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0753344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753344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0" y="10753344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NeMo Framework · Curator · Data Designer · Evaluator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3021056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021056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Cluster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13021056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Mission Control · BCM · Run:AI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5288768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5D1682"/>
          </a:solidFill>
          <a:ln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288768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0" y="15288768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GPU Operator · Network Operator · K8s · Slurm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7556480"/>
            <a:ext cx="25603200" cy="2011680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556480"/>
            <a:ext cx="731520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0" y="17556480"/>
            <a:ext cx="171907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H100 · H200 · B100 · DGX · OEM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8288000"/>
            <a:ext cx="3291840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M11/M14/M10 cover the top half · this module covers the bottom half (Cluster Ops + Infra)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The Cluster Ops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BCM — NVIDIA Base Command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Cluster provisioning, lifecycle, and OS-level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6766560"/>
            <a:ext cx="288950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6000" b="1" i="0">
                <a:solidFill>
                  <a:srgbClr val="76B900"/>
                </a:solidFill>
                <a:latin typeface="NVIDIA Sans Medium"/>
              </a:rPr>
              <a:t>Bare-metal-to-K8s in one tool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9875520"/>
            <a:ext cx="658368" cy="6583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9509760"/>
            <a:ext cx="73152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Provisioning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0" y="9509760"/>
            <a:ext cx="219456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PXE-boot, image deployment, role-based node config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1521440"/>
            <a:ext cx="658368" cy="6583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155680"/>
            <a:ext cx="73152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11155680"/>
            <a:ext cx="219456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Add/remove nodes, rolling OS updates, firmware management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13167360"/>
            <a:ext cx="658368" cy="6583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0"/>
            <a:ext cx="73152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OS-level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12801600"/>
            <a:ext cx="219456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Driver/CUDA install, MOFED, NCCL benchmarks, health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14813280"/>
            <a:ext cx="658368" cy="6583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4447520"/>
            <a:ext cx="73152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0" y="14447520"/>
            <a:ext cx="219456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Slurm / K8s scheduling backends; user/group quotas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16459200"/>
            <a:ext cx="658368" cy="65836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6093440"/>
            <a:ext cx="73152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0" y="16093440"/>
            <a:ext cx="219456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GPU telemetry, IB fabric health, dashboard +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NVIDIA 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Cluster ops plane: workload management, observability,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5852160"/>
            <a:ext cx="548640" cy="1243584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6766560"/>
            <a:ext cx="288950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6000" b="1" i="0">
                <a:solidFill>
                  <a:srgbClr val="000000"/>
                </a:solidFill>
                <a:latin typeface="NVIDIA Sans Medium"/>
              </a:rPr>
              <a:t>Software-defined data centre for AI workloads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9875520"/>
            <a:ext cx="658368" cy="65836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9509760"/>
            <a:ext cx="80467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Workload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9509760"/>
            <a:ext cx="212140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Job submission, queue, retry, checkpointing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11521440"/>
            <a:ext cx="658368" cy="65836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1155680"/>
            <a:ext cx="80467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Capacity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0" y="11155680"/>
            <a:ext cx="212140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Real-time GPU / network / storage utilisation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0" y="13167360"/>
            <a:ext cx="658368" cy="65836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2801600"/>
            <a:ext cx="80467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Pre-flight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0" y="12801600"/>
            <a:ext cx="212140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Validate cluster state before launching big jobs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14813280"/>
            <a:ext cx="658368" cy="65836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4447520"/>
            <a:ext cx="80467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Fault localisation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14447520"/>
            <a:ext cx="212140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Identify hung GPU, bad node, network partition automatically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16459200"/>
            <a:ext cx="658368" cy="658368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6093440"/>
            <a:ext cx="80467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Intelligent 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0" y="16093440"/>
            <a:ext cx="212140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Reserve N×H100 for X hours · system finds + isolates them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Mission Control —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Six core capabilities that operators use daily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640080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64008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Cluster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2296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Real-time health · utilisation · job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0" y="58521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0" y="640080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0" y="64008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Job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0" y="82296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REST + CLI + UI · Slurm, K8s, Run:AI backends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40160" y="58521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0" y="6400800"/>
            <a:ext cx="164592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066240" y="64008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Pre-flight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0" y="82296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NCCL, IB, GPU isolation · pass/fail before launch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122529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wer-c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12801600"/>
            <a:ext cx="164592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9120" y="128016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Capacity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146304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Daily / weekly / monthly utilisation, by user/group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0" y="122529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mm-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0" y="12801600"/>
            <a:ext cx="164592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727680" y="128016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Alert /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146304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PagerDuty / Slack on threshold breach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140160" y="12252960"/>
            <a:ext cx="1078992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0" y="12801600"/>
            <a:ext cx="164592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066240" y="128016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Multi-cluster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0" y="14630400"/>
            <a:ext cx="932688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Federated view across NCP + on-prem clusters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Run:AI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GPU-aware scheduler · fractional GPU · quotas built for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5852160"/>
            <a:ext cx="548640" cy="1243584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6766560"/>
            <a:ext cx="288950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6000" b="1" i="0">
                <a:solidFill>
                  <a:srgbClr val="000000"/>
                </a:solidFill>
                <a:latin typeface="NVIDIA Sans Medium"/>
              </a:rPr>
              <a:t>K8s scheduler built for ML workloads (not generic services)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9802368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9509760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Fractional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9509760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Share 1 GPU across N small jobs without contention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11155680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0863072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GPU-aware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0" y="10863072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Schedules on memory + compute · understands NVLink topology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0" y="12508992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2216384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Fair-share quotas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0" y="12216384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Per-user, per-team guaranteed shares · cap on overshoot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13862304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3569696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Gang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13569696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All-or-nothing launch for distributed training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15215616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4923008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Workload elasticity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0" y="14923008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Auto-scale training jobs based on GPU availability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0" y="16568928"/>
            <a:ext cx="658368" cy="658368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6276320"/>
            <a:ext cx="804672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MLOps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0" y="16276320"/>
            <a:ext cx="21214080" cy="135331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MLflow · W&amp;B · Kubeflow hooks built 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Fractional GPU + Quotas — How They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Two killer features that justify Run:AI over vanilla K8s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1" i="0">
                <a:solidFill>
                  <a:srgbClr val="5D1682"/>
                </a:solidFill>
                <a:latin typeface="NVIDIA Sans Medium"/>
              </a:rPr>
              <a:t>Fractional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8412480"/>
            <a:ext cx="9509760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8412480"/>
            <a:ext cx="950976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NVIDIA Sans"/>
              </a:rPr>
              <a:t>1× H100 (80 GB)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0058400"/>
            <a:ext cx="8412480" cy="146304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0058400"/>
            <a:ext cx="84124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Dev1  ·  12 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1704320"/>
            <a:ext cx="8412480" cy="146304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1704320"/>
            <a:ext cx="84124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Dev2  ·  16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3350240"/>
            <a:ext cx="8412480" cy="1463040"/>
          </a:xfrm>
          <a:prstGeom prst="roundRect">
            <a:avLst>
              <a:gd name="adj" fmla="val 4000"/>
            </a:avLst>
          </a:prstGeom>
          <a:solidFill>
            <a:srgbClr val="0071C5"/>
          </a:solidFill>
          <a:ln w="63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3350240"/>
            <a:ext cx="84124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Dev3  ·  24 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4996160"/>
            <a:ext cx="8412480" cy="1463040"/>
          </a:xfrm>
          <a:prstGeom prst="roundRect">
            <a:avLst>
              <a:gd name="adj" fmla="val 4000"/>
            </a:avLst>
          </a:prstGeom>
          <a:solidFill>
            <a:srgbClr val="E8A317"/>
          </a:solidFill>
          <a:ln w="63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4996160"/>
            <a:ext cx="84124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NVIDIA Sans Medium"/>
              </a:rPr>
              <a:t>Dev4  ·  20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7739360"/>
            <a:ext cx="1609344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4 dev jobs share 1 GPU — no head-of-line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0" y="6510528"/>
            <a:ext cx="1609344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1" i="0">
                <a:solidFill>
                  <a:srgbClr val="5D1682"/>
                </a:solidFill>
                <a:latin typeface="NVIDIA Sans Medium"/>
              </a:rPr>
              <a:t>Fair-share quotas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0" y="9144000"/>
            <a:ext cx="7900416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0" y="9144000"/>
            <a:ext cx="7900416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17216" y="9144000"/>
            <a:ext cx="3950208" cy="18288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17216" y="9144000"/>
            <a:ext cx="3950208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967424" y="9144000"/>
            <a:ext cx="1316736" cy="1828800"/>
          </a:xfrm>
          <a:prstGeom prst="roundRect">
            <a:avLst>
              <a:gd name="adj" fmla="val 4000"/>
            </a:avLst>
          </a:prstGeom>
          <a:solidFill>
            <a:srgbClr val="0071C5"/>
          </a:solidFill>
          <a:ln w="63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67424" y="9144000"/>
            <a:ext cx="1316736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0" y="1170432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0" i="0">
                <a:solidFill>
                  <a:srgbClr val="76B900"/>
                </a:solidFill>
                <a:latin typeface="NVIDIA Sans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0" y="11704320"/>
            <a:ext cx="13533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Research team — 60% guaranteed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0" y="1316736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0" i="0">
                <a:solidFill>
                  <a:srgbClr val="008564"/>
                </a:solidFill>
                <a:latin typeface="NVIDIA Sans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20" y="13167360"/>
            <a:ext cx="13533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Production team — 30% guaranteed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0" y="1463040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0" i="0">
                <a:solidFill>
                  <a:srgbClr val="0071C5"/>
                </a:solidFill>
                <a:latin typeface="NVIDIA Sans"/>
              </a:rPr>
              <a:t>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0" y="14630400"/>
            <a:ext cx="13533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Training team — 10% guaranteed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0" y="17739360"/>
            <a:ext cx="1609344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Idle capacity can be borrowed; reclaimed on demand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Where Each Layer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BCM → Mission Control → Run:AI → NeMo / NIM / NAT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0" y="6217920"/>
            <a:ext cx="25603200" cy="23774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6217920"/>
            <a:ext cx="841248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6217920"/>
            <a:ext cx="1609344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NAT agent · NIM endpoint · Jupyter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8961120"/>
            <a:ext cx="25603200" cy="2377440"/>
          </a:xfrm>
          <a:prstGeom prst="roundRect">
            <a:avLst>
              <a:gd name="adj" fmla="val 4000"/>
            </a:avLst>
          </a:prstGeom>
          <a:solidFill>
            <a:srgbClr val="5D1682"/>
          </a:solidFill>
          <a:ln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8961120"/>
            <a:ext cx="841248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Workload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8961120"/>
            <a:ext cx="1609344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Run:AI — fractional GPU + quotas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1704320"/>
            <a:ext cx="25603200" cy="237744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704320"/>
            <a:ext cx="841248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Cluster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11704320"/>
            <a:ext cx="1609344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NVIDIA Mission Control — ops UI/UX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4447520"/>
            <a:ext cx="25603200" cy="237744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447520"/>
            <a:ext cx="841248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Cluster provisioning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0" y="14447520"/>
            <a:ext cx="1609344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BCM — bare-metal-to-K8s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7190720"/>
            <a:ext cx="25603200" cy="2377440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7190720"/>
            <a:ext cx="841248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VIDIA Sans Medium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0" y="17190720"/>
            <a:ext cx="1609344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DGX / OEM / NCP — GPU + IB + 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Infra Sizing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Sizing for Production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Inputs → calculations →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6217920"/>
            <a:ext cx="10424160" cy="1280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400800"/>
            <a:ext cx="104241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04672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Target tok/s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804672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100 K tok/s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969264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969264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30B-A3B FP8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133856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Context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133856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8 K p95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298448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Request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98448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200 req/s 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463040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p95 latency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463040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2 s end-to-end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6276320"/>
            <a:ext cx="51206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Reqs / replica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6276320"/>
            <a:ext cx="4206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~12 concurrent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960352" y="12070080"/>
            <a:ext cx="585216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618720" y="6217920"/>
            <a:ext cx="10424160" cy="1280160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0" y="6400800"/>
            <a:ext cx="104241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0" y="7863840"/>
            <a:ext cx="9326880" cy="10972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# KV-cache per replica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12 req × 8K ctx × 14 GB</a:t>
            </a:r>
          </a:p>
          <a:p>
            <a:pPr algn="l"/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# Replicas needed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replicas = 200 / 12 ≈ 17</a:t>
            </a:r>
          </a:p>
          <a:p>
            <a:pPr algn="l"/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# GPUs needed (TP=2)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gpus = 17 × 2 = 34</a:t>
            </a:r>
          </a:p>
          <a:p>
            <a:pPr algn="l"/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# Headroom (~30%)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gpus_total = 34 × 1.3 ≈ 45</a:t>
            </a:r>
          </a:p>
          <a:p>
            <a:pPr algn="l"/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# Round to topology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6× DGX H100 NVL (48 GPUs)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116032" y="12070080"/>
            <a:ext cx="585216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74400" y="6217920"/>
            <a:ext cx="10424160" cy="1280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0" y="6400800"/>
            <a:ext cx="104241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800" b="1" i="0">
                <a:solidFill>
                  <a:srgbClr val="008564"/>
                </a:solidFill>
                <a:latin typeface="NVIDIA Sans Medium"/>
              </a:rPr>
              <a:t>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3040" y="804672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Hosts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0" y="804672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6× DGX H100 NVL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0" y="969264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GPUs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0" y="969264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48 total (45 active)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3040" y="1133856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Replicas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0" y="1133856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17 NIMs, TP=2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0" y="1298448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Mem per replica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0" y="1298448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12 GB + KV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3040" y="1463040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Throughput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77920" y="1463040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104 K tok/s peak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23040" y="1627632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NVIDIA Sans Medium"/>
              </a:rPr>
              <a:t>Headroom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0" y="16276320"/>
            <a:ext cx="45720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~30% for spikes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Sizing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Quick rules of thumb for back-of-envelope estimates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85216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Model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585216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FP8 = N bytes per parameter · BF16 = 2N · FP32 = 4N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786384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786384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KV-cache (per req)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0" y="786384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ctx_len × hidden_dim × 2 (k+v) × num_layers × bytes_per_dtype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987552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987552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Reqs per replica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0" y="987552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Roughly (GPU_mem - model) / KV_per_req · usually 8-16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188720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Tok/s per replica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0" y="1188720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depends on hardware + backend: H100 dense 30B ≈ 5-8K tok/s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389888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389888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Headroom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1389888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Always 25-30% above peak for spikes + warmup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5910560"/>
            <a:ext cx="3291840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5910560"/>
            <a:ext cx="91440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TP / PP / DP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0" y="15910560"/>
            <a:ext cx="2231136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TP for low-latency single req; DP for throughput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AI Factory — same software, different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End of theory · breakouts + QA next · then workshop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4C7E1E-6C20-440E-941A-535F1A24C014}">
  <ds:schemaRefs>
    <ds:schemaRef ds:uri="f65afe6d-7162-4df4-ae98-80745cab72d4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2a5b1eea-32a8-4673-8d38-de3226caeee3"/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2226</Words>
  <Application>Microsoft Office PowerPoint</Application>
  <PresentationFormat>Custom</PresentationFormat>
  <Paragraphs>512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NVIDIA Sans</vt:lpstr>
      <vt:lpstr>NVIDIA Sans Light</vt:lpstr>
      <vt:lpstr>NVIDIA Sans Medium</vt:lpstr>
      <vt:lpstr>Roboto Mono</vt:lpstr>
      <vt:lpstr>Title Only</vt:lpstr>
      <vt:lpstr>PowerPoint Presentation</vt:lpstr>
      <vt:lpstr>Font Test</vt:lpstr>
      <vt:lpstr>How to Install NVIDIA Sans Fonts</vt:lpstr>
      <vt:lpstr>Ways to Reduce File Size</vt:lpstr>
      <vt:lpstr>Reset Slide</vt:lpstr>
      <vt:lpstr>Title of Presentation Goes Here</vt:lpstr>
      <vt:lpstr>Title of Presentation Goes Here</vt:lpstr>
      <vt:lpstr>NVIDIA Confidential Slide</vt:lpstr>
      <vt:lpstr>Titles Are “Title Case” </vt:lpstr>
      <vt:lpstr>Two Column Layout</vt:lpstr>
      <vt:lpstr>NVIDIA Confidential</vt:lpstr>
      <vt:lpstr>Coding Font</vt:lpstr>
      <vt:lpstr>NVIDIA Confidential Slide</vt:lpstr>
      <vt:lpstr>PowerPoint Presentation</vt:lpstr>
      <vt:lpstr>PowerPoint Presentation</vt:lpstr>
      <vt:lpstr>PowerPoint Presentation</vt:lpstr>
      <vt:lpstr>Color Palette</vt:lpstr>
      <vt:lpstr>Pie Chart</vt:lpstr>
      <vt:lpstr>Bar Chart</vt:lpstr>
      <vt:lpstr>Line Chart</vt:lpstr>
      <vt:lpstr>Table Sample</vt:lpstr>
      <vt:lpstr>Table Sample</vt:lpstr>
      <vt:lpstr>PowerPoint Presentation</vt:lpstr>
      <vt:lpstr>Slide Title for Single Image Layout</vt:lpstr>
      <vt:lpstr>Slide Title for Image With Text Layout</vt:lpstr>
      <vt:lpstr>Slide Title for 2 Image Layout</vt:lpstr>
      <vt:lpstr>Slide Title for 2 Image Layout With Text Layout</vt:lpstr>
      <vt:lpstr>Slide Title for 3 Image Layout</vt:lpstr>
      <vt:lpstr>Slide Title for 4 Image Layout</vt:lpstr>
      <vt:lpstr>Slide Title for 5 Image Layout</vt:lpstr>
      <vt:lpstr>Slide Title for 6 Image Layout</vt:lpstr>
      <vt:lpstr>Slide Title for 7 Image Layout</vt:lpstr>
      <vt:lpstr>Slide Title for 8 Image Layout</vt:lpstr>
      <vt:lpstr>Slide Title for 9 Image Layout</vt:lpstr>
      <vt:lpstr>Slide Title for 10 Image Layout</vt:lpstr>
      <vt:lpstr>Title Goes Here</vt:lpstr>
      <vt:lpstr>Title Goes Here</vt:lpstr>
      <vt:lpstr>Title Goes Here</vt:lpstr>
      <vt:lpstr>Title Goes Here</vt:lpstr>
      <vt:lpstr>Title Goes Here</vt:lpstr>
      <vt:lpstr>Title Only</vt:lpstr>
      <vt:lpstr>Title Goes Here</vt:lpstr>
      <vt:lpstr>Publication Links</vt:lpstr>
      <vt:lpstr>PowerPoint Presentation</vt:lpstr>
      <vt:lpstr>EMBARGO</vt:lpstr>
      <vt:lpstr>PowerPoint Presentation</vt:lpstr>
      <vt:lpstr>Logo Treatment</vt:lpstr>
      <vt:lpstr>Available Assets</vt:lpstr>
      <vt:lpstr>Arrowhead and Diagram Design Styles</vt:lpstr>
      <vt:lpstr>Stack Design Sample</vt:lpstr>
      <vt:lpstr>Stack Design Sample</vt:lpstr>
      <vt:lpstr>PowerPoint Presentation</vt:lpstr>
      <vt:lpstr>Timeline</vt:lpstr>
      <vt:lpstr>Timeline</vt:lpstr>
      <vt:lpstr>Complex Timeline</vt:lpstr>
      <vt:lpstr>PowerPoint Presentation</vt:lpstr>
      <vt:lpstr>PowerPoint Presentation</vt:lpstr>
      <vt:lpstr>World Map</vt:lpstr>
      <vt:lpstr>World Map Slide With Additional 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Kristen Hill-Peterson</cp:lastModifiedBy>
  <cp:revision>16</cp:revision>
  <dcterms:created xsi:type="dcterms:W3CDTF">2023-07-05T16:37:04Z</dcterms:created>
  <dcterms:modified xsi:type="dcterms:W3CDTF">2023-10-18T20:22:11Z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
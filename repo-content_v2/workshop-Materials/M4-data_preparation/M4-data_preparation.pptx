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D1D1"/>
    <a:srgbClr val="C0C0C0"/>
    <a:srgbClr val="B8B8B8"/>
    <a:srgbClr val="151617"/>
    <a:srgbClr val="FAC200"/>
    <a:srgbClr val="9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99" autoAdjust="0"/>
    <p:restoredTop sz="96301" autoAdjust="0"/>
  </p:normalViewPr>
  <p:slideViewPr>
    <p:cSldViewPr snapToGrid="0">
      <p:cViewPr varScale="1">
        <p:scale>
          <a:sx n="41" d="100"/>
          <a:sy n="41" d="100"/>
        </p:scale>
        <p:origin x="768" y="216"/>
      </p:cViewPr>
      <p:guideLst/>
    </p:cSldViewPr>
  </p:slideViewPr>
  <p:outlineViewPr>
    <p:cViewPr>
      <p:scale>
        <a:sx n="33" d="100"/>
        <a:sy n="33" d="100"/>
      </p:scale>
      <p:origin x="0" y="-1581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21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minathan B S" userId="a4d01bd2-1974-4657-978b-6c992b848468" providerId="ADAL" clId="{92050FF0-09CE-5B2E-AE09-3668470BBA02}"/>
    <pc:docChg chg="custSel modSld">
      <pc:chgData name="Swaminathan B S" userId="a4d01bd2-1974-4657-978b-6c992b848468" providerId="ADAL" clId="{92050FF0-09CE-5B2E-AE09-3668470BBA02}" dt="2026-06-01T07:00:17.686" v="11" actId="14100"/>
      <pc:docMkLst>
        <pc:docMk/>
      </pc:docMkLst>
      <pc:sldChg chg="delSp modSp mod">
        <pc:chgData name="Swaminathan B S" userId="a4d01bd2-1974-4657-978b-6c992b848468" providerId="ADAL" clId="{92050FF0-09CE-5B2E-AE09-3668470BBA02}" dt="2026-06-01T07:00:17.686" v="11" actId="14100"/>
        <pc:sldMkLst>
          <pc:docMk/>
          <pc:sldMk cId="0" sldId="260"/>
        </pc:sldMkLst>
        <pc:spChg chg="mod">
          <ac:chgData name="Swaminathan B S" userId="a4d01bd2-1974-4657-978b-6c992b848468" providerId="ADAL" clId="{92050FF0-09CE-5B2E-AE09-3668470BBA02}" dt="2026-06-01T06:59:46.017" v="7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7:00:17.686" v="11" actId="14100"/>
          <ac:spMkLst>
            <pc:docMk/>
            <pc:sldMk cId="0" sldId="260"/>
            <ac:spMk id="6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6:59:55.435" v="9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06:59:51.734" v="8" actId="47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7:00:13.228" v="10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7:00:13.228" v="10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7:00:13.228" v="10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7:00:13.228" v="10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7:00:13.228" v="10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7:00:13.228" v="10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7:00:13.228" v="10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7:00:13.228" v="10" actId="1076"/>
          <ac:spMkLst>
            <pc:docMk/>
            <pc:sldMk cId="0" sldId="260"/>
            <ac:spMk id="2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4FAB7-7DF1-470D-9D24-E6B58A84B8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6/1/26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3E2AA-C3B7-40F1-8870-35AD3374F0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Compressed 15-minute primer on data preparation for domain LLMs. The goal: orient attendees on data taxonomy and best practices before the NeMo Curator hands-on. Keep moving — the Curator hands-on is 75 minutes right after this. Don't spend more than 2 minutes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three-data-shapes taxonomy is the foundation for everything in the next two days. CPT and SFT are both supervised but consume completely different formats.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AML application drew from all five categories. Each comes with different licensing constraints — flag this for any customer-facing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source has a license + lineage record stored alongside. This level of provenance is what makes the model defensible in a regulatory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Decoupling raw and clean is the single most important hygiene rule. You will re-process; you will rarely re-download.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summary.json is the single source of truth for downstream training-recipe sizing. Plot p50/p95/p99 and you immediately know your packed-sequence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layout is non-negotiable. Curator's defaults assume this exact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Hand off to M5 NeMo Curator theory. Frame the pivot: 'You know what shape your data needs to be in. Now let's see the NVIDIA tool that gets it there.' No break here — M5 starts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44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537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69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2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66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736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6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82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856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011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6806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355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144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370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900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590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85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224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01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33908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66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4798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5890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406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8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4="http://schemas.microsoft.com/office/drawing/2010/main" xmlns:a16="http://schemas.microsoft.com/office/drawing/2014/main"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2" r:id="rId3"/>
    <p:sldLayoutId id="2147483718" r:id="rId4"/>
    <p:sldLayoutId id="2147483681" r:id="rId5"/>
    <p:sldLayoutId id="2147483680" r:id="rId6"/>
    <p:sldLayoutId id="2147483682" r:id="rId7"/>
    <p:sldLayoutId id="2147483683" r:id="rId8"/>
    <p:sldLayoutId id="2147483705" r:id="rId9"/>
    <p:sldLayoutId id="2147483685" r:id="rId10"/>
    <p:sldLayoutId id="2147483686" r:id="rId11"/>
    <p:sldLayoutId id="2147483687" r:id="rId12"/>
    <p:sldLayoutId id="2147483691" r:id="rId13"/>
    <p:sldLayoutId id="2147483688" r:id="rId14"/>
    <p:sldLayoutId id="2147483690" r:id="rId15"/>
    <p:sldLayoutId id="2147483689" r:id="rId16"/>
    <p:sldLayoutId id="2147483692" r:id="rId17"/>
    <p:sldLayoutId id="2147483693" r:id="rId18"/>
    <p:sldLayoutId id="2147483709" r:id="rId19"/>
    <p:sldLayoutId id="2147483723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695" r:id="rId29"/>
    <p:sldLayoutId id="2147483721" r:id="rId30"/>
    <p:sldLayoutId id="2147483694" r:id="rId31"/>
    <p:sldLayoutId id="2147483719" r:id="rId32"/>
    <p:sldLayoutId id="2147483724" r:id="rId33"/>
    <p:sldLayoutId id="2147483720" r:id="rId34"/>
    <p:sldLayoutId id="2147483672" r:id="rId35"/>
    <p:sldLayoutId id="2147483708" r:id="rId36"/>
    <p:sldLayoutId id="2147483725" r:id="rId37"/>
    <p:sldLayoutId id="2147483679" r:id="rId38"/>
    <p:sldLayoutId id="2147483676" r:id="rId39"/>
    <p:sldLayoutId id="2147483684" r:id="rId4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Preparation for Domain LLMs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15-minute primer before NeMo Curator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Three Data Shapes for Three Training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CPT, SFT, and RL each consume a different data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63040" y="566928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63040" y="5669280"/>
            <a:ext cx="10789920" cy="1645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5669280"/>
            <a:ext cx="1078992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Continued Pre-Training (CPT)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7680960"/>
            <a:ext cx="969264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Raw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9144000"/>
            <a:ext cx="9692640" cy="84124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Plain paragraphs / documents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Long, unstructured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No labels, no instructions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Goal: domain *language* fluency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Source: regulatory PDFs, EDGAR, news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0" y="566928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00" y="5669280"/>
            <a:ext cx="10789920" cy="164592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0" y="5669280"/>
            <a:ext cx="1078992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Supervised Fine-Tuning (SFT)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0" y="7680960"/>
            <a:ext cx="969264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008564"/>
                </a:solidFill>
                <a:latin typeface="NVIDIA Sans Medium"/>
              </a:rPr>
              <a:t>Instruction pairs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0" y="9144000"/>
            <a:ext cx="9692640" cy="84124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{ messages: [system, user, assistant] }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Task-specific input / output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Labeled by human or teacher LLM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Goal: *task* execution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Source: synthetic SDG, curated Q&amp;A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40160" y="566928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140160" y="5669280"/>
            <a:ext cx="10789920" cy="1645920"/>
          </a:xfrm>
          <a:prstGeom prst="rect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140160" y="5669280"/>
            <a:ext cx="1078992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Reinforcement Learning (RL)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0" y="7680960"/>
            <a:ext cx="969264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5D1682"/>
                </a:solidFill>
                <a:latin typeface="NVIDIA Sans Medium"/>
              </a:rPr>
              <a:t>Preference 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0" y="9144000"/>
            <a:ext cx="9692640" cy="84124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{ prompt, chosen, rejected }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Quality / style / format judgments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Labeled by human or reward model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Goal: *preference* alignment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Source: pairwise ranked outputs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Where Domain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Five categories — each with its own license, quality, and lineage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94560" y="5852160"/>
            <a:ext cx="3218688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ownload-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217920"/>
            <a:ext cx="146304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0" y="5852160"/>
            <a:ext cx="91440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Public HF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0" y="5852160"/>
            <a:ext cx="1938528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FinQA, TAT-QA, FinanceBench, LegalBench, IBM-AML, SARSum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8412480"/>
            <a:ext cx="3218688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ocu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877824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54880" y="8412480"/>
            <a:ext cx="91440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8564"/>
                </a:solidFill>
                <a:latin typeface="NVIDIA Sans Medium"/>
              </a:rPr>
              <a:t>Regulatory PDFs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0" y="8412480"/>
            <a:ext cx="1938528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FFIEC BSA/AML Manual, FATF guidance, FinCEN advisories, OFAC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10972800"/>
            <a:ext cx="3218688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loud-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11338560"/>
            <a:ext cx="1463040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54880" y="10972800"/>
            <a:ext cx="91440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Open APIs /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0" y="10972800"/>
            <a:ext cx="1938528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data.gov, OpenSanctions, ICIJ FinCEN Files, court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13533120"/>
            <a:ext cx="3218688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light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13898880"/>
            <a:ext cx="146304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54880" y="13533120"/>
            <a:ext cx="91440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5E5E5E"/>
                </a:solidFill>
                <a:latin typeface="NVIDIA Sans Medium"/>
              </a:rPr>
              <a:t>Synthetic generators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0" y="13533120"/>
            <a:ext cx="1938528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Domain-specific generator repos (AMLGentex, etc.)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16093440"/>
            <a:ext cx="3218688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ock-clo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16459200"/>
            <a:ext cx="1463040" cy="146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54880" y="16093440"/>
            <a:ext cx="91440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Internal / proprietary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0" y="16093440"/>
            <a:ext cx="1938528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Your own historical labels, case files, expert annotations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Our AML Corpus — 20+ Sources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What feeds Curator (M5), Data Designer (M6), and downstream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6217920"/>
            <a:ext cx="1499616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CPT corpus — L1 broad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7680960"/>
            <a:ext cx="1499616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EDGAR — 10-K, 10-Q filings (89% of L1)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Financial news + analyst reports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Banking textbooks + reg primers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36640" y="5852160"/>
            <a:ext cx="1609344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385280" y="6217920"/>
            <a:ext cx="1499616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008564"/>
                </a:solidFill>
                <a:latin typeface="NVIDIA Sans Medium"/>
              </a:rPr>
              <a:t>CPT corpus — L2 AML-specific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0" y="7680960"/>
            <a:ext cx="1499616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FFIEC BSA/AML Examination Manual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FinCEN advisories + FAQs (49%)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OFAC guidance (45%) + FATF + court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12252960"/>
            <a:ext cx="1609344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12618720"/>
            <a:ext cx="1499616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SFT seed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4081760"/>
            <a:ext cx="1499616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FinQA, TAT-QA, FinanceBench (table reasoning)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LegalBench (statute reasoning)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IBM-AML, SARSum (SAR-specific)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36640" y="12252960"/>
            <a:ext cx="1609344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385280" y="12618720"/>
            <a:ext cx="1499616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E5E5E"/>
                </a:solidFill>
                <a:latin typeface="NVIDIA Sans Medium"/>
              </a:rPr>
              <a:t>Transactional +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0" y="14081760"/>
            <a:ext cx="1499616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Synthetic transactions (AMLGentex)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Sanctions lists (OpenSanctions, OFAC SDN)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ICIJ FinCEN Files (real leaked cases)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18470880"/>
            <a:ext cx="32918400" cy="109728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18470880"/>
            <a:ext cx="32918400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000" b="1" i="1">
                <a:solidFill>
                  <a:srgbClr val="76B900"/>
                </a:solidFill>
                <a:latin typeface="NVIDIA Sans"/>
              </a:rPr>
              <a:t>Total raw: ~300 GB · 3,197 M tokens of text · ~75 K records will eventually be SDG-generated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711807"/>
            <a:ext cx="33649920" cy="114838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 dirty="0">
                <a:solidFill>
                  <a:srgbClr val="000000"/>
                </a:solidFill>
                <a:latin typeface="NVIDIA Sans Medium"/>
              </a:rPr>
              <a:t>Extraction Best Practices</a:t>
            </a:r>
            <a:r>
              <a:rPr lang="en-US" sz="7200" b="1" i="0" dirty="0">
                <a:solidFill>
                  <a:srgbClr val="000000"/>
                </a:solidFill>
                <a:latin typeface="NVIDIA Sans Medium"/>
              </a:rPr>
              <a:t> for CPT</a:t>
            </a:r>
            <a:endParaRPr sz="7200" b="1" i="0" dirty="0">
              <a:solidFill>
                <a:srgbClr val="000000"/>
              </a:solidFill>
              <a:latin typeface="NVIDIA Sans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Decouple raw download from preprocessing; never lose source provenance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459200" cy="1081895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14996159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Principles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8668512"/>
            <a:ext cx="548640" cy="5486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8412480"/>
            <a:ext cx="1463040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Schema-aware extractors per source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9985248"/>
            <a:ext cx="548640" cy="5486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9729216"/>
            <a:ext cx="1463040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 dirty="0">
                <a:solidFill>
                  <a:srgbClr val="000000"/>
                </a:solidFill>
                <a:latin typeface="NVIDIA Sans"/>
              </a:rPr>
              <a:t>Parallel PDF parse with pypdfium2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0" y="11484864"/>
            <a:ext cx="548640" cy="5486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11228832"/>
            <a:ext cx="1463040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 dirty="0">
                <a:solidFill>
                  <a:srgbClr val="000000"/>
                </a:solidFill>
                <a:latin typeface="NVIDIA Sans"/>
              </a:rPr>
              <a:t>Write raw/ separately from clean/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0" y="12801600"/>
            <a:ext cx="548640" cy="5486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12545568"/>
            <a:ext cx="1463040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One source ↦ one extractor module</a:t>
            </a:r>
          </a:p>
        </p:txBody>
      </p:sp>
      <p:sp>
        <p:nvSpPr>
          <p:cNvPr id="18" name="Oval 17"/>
          <p:cNvSpPr/>
          <p:nvPr/>
        </p:nvSpPr>
        <p:spPr>
          <a:xfrm>
            <a:off x="2743200" y="14118336"/>
            <a:ext cx="548640" cy="5486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13862304"/>
            <a:ext cx="1463040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Per-source license file alongside output</a:t>
            </a:r>
          </a:p>
        </p:txBody>
      </p:sp>
      <p:sp>
        <p:nvSpPr>
          <p:cNvPr id="20" name="Oval 19"/>
          <p:cNvSpPr/>
          <p:nvPr/>
        </p:nvSpPr>
        <p:spPr>
          <a:xfrm>
            <a:off x="2743200" y="15435072"/>
            <a:ext cx="548640" cy="5486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15179040"/>
            <a:ext cx="1463040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Token-stats summary.json per 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385280" y="5852160"/>
            <a:ext cx="15361920" cy="1243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00" y="6510528"/>
            <a:ext cx="1389888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Layout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0" y="8229600"/>
            <a:ext cx="13898880" cy="9509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data/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├── raw/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│   ├── ffiec/&lt;source&gt;.pdf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│   ├── ofac/&lt;source&gt;.csv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│   └── edgar/&lt;source&gt;.jsonl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├── clean/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│   ├── cpt/level_1/&lt;source&gt;.jsonl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│   ├── cpt/level_2/&lt;source&gt;.jsonl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│   └── sft/&lt;source&gt;.jsonl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└── summary.json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Tokenization — Use the Target Model's Tokenizer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Tokenizer choice is the single biggest source of CPT/SFT subtle bugs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Rule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8778240"/>
            <a:ext cx="548640" cy="5486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8412480"/>
            <a:ext cx="14081760" cy="168249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Use the *target* model's tokenizer (Nemotron-3-Nano-30B-A3B here)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0460736"/>
            <a:ext cx="548640" cy="5486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0094976"/>
            <a:ext cx="14081760" cy="168249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Never mix tokenizers mid-pipeline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0" y="12143232"/>
            <a:ext cx="548640" cy="5486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1777472"/>
            <a:ext cx="14081760" cy="168249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Token-count every source at extract time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0" y="13825728"/>
            <a:ext cx="548640" cy="5486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13459968"/>
            <a:ext cx="14081760" cy="168249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Truncate / pack at training-time, not extract-time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0" y="15508224"/>
            <a:ext cx="548640" cy="5486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15142464"/>
            <a:ext cx="14081760" cy="168249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Log token stats in summary.json — drives capacity planning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19520" y="5852160"/>
            <a:ext cx="15727680" cy="1243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751040" y="6510528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Sample summary.json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0" y="8229600"/>
            <a:ext cx="14630400" cy="9509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{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"source": "ffiec_bsa_aml",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"records": 1284,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"tokens": 4_321_557,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"tokenizer": "nvidia/Nemotron-3-Nano-30B-A3B-FP8",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"p50_tokens": 2641,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"p95_tokens": 8194,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"p99_tokens": 14302,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"max_tokens": 31044,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"license": "Public-Domain-US-Gov"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Canonical Output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What Curator (M5) expects to find on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8288000" cy="1243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171907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Consolas"/>
              </a:rPr>
              <a:t>data/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8229600"/>
            <a:ext cx="17190720" cy="95097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├── raw/                  ← never modified after download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│   ├── ffiec/            ← regulatory PDFs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│   ├── fincen/           ← advisory PDFs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│   ├── ofac/             ← sanctions CSVs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│   ├── edgar/            ← 10-K JSONL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│   └── transactional/    ← synthetic CSV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├── cpt/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│   ├── level_1/          ← broad financial (L1)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│   └── level_2/          ← AML-specific (L2)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├── sft/                  ← instruction pairs (later)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├── transactional/        ← tool reference data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└── summary.json          ← token stats per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0" y="5852160"/>
            <a:ext cx="1353312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0" y="6510528"/>
            <a:ext cx="124358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Why this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0" y="8412480"/>
            <a:ext cx="4389120" cy="18288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raw/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0" y="9326880"/>
            <a:ext cx="1207008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immutable archive of every byte downloaded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0" y="10424160"/>
            <a:ext cx="4389120" cy="18288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cpt/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0" y="11338560"/>
            <a:ext cx="1207008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pre-segregated for FineWeb / Dolma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0" y="12435840"/>
            <a:ext cx="4389120" cy="18288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level_1/2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0" y="13350240"/>
            <a:ext cx="1207008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two-stage CPT curriculum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0" y="14447520"/>
            <a:ext cx="4389120" cy="18288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sft/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0" y="15361920"/>
            <a:ext cx="1207008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M6 Data Designer writes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0" y="16459200"/>
            <a:ext cx="4389120" cy="18288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summary.json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0" y="17373600"/>
            <a:ext cx="1207008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drives recipe sizing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8046720"/>
            <a:ext cx="32918400" cy="29260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800" b="1" i="0">
                <a:solidFill>
                  <a:srgbClr val="76B900"/>
                </a:solidFill>
                <a:latin typeface="NVIDIA Sans Medium"/>
              </a:rPr>
              <a:t>Raw bytes are ready.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338560"/>
            <a:ext cx="32918400" cy="21945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5600" b="0" i="1">
                <a:solidFill>
                  <a:srgbClr val="5E5E5E"/>
                </a:solidFill>
                <a:latin typeface="NVIDIA Sans"/>
              </a:rPr>
              <a:t>Next up: NeMo Curator turns 300 GB of mess into trainable JSONL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5" ma:contentTypeDescription="Create a new document." ma:contentTypeScope="" ma:versionID="39d09db77ad425bdbc3d080218c7c01e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262224961ea4106f8e7d0f360b05b90c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B8F5C1-CC17-4575-A1B9-9EB541A76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5b1eea-32a8-4673-8d38-de3226caeee3"/>
    <ds:schemaRef ds:uri="f65afe6d-7162-4df4-ae98-80745cab72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4C7E1E-6C20-440E-941A-535F1A24C014}">
  <ds:schemaRefs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microsoft.com/sharepoint/v3"/>
    <ds:schemaRef ds:uri="http://schemas.microsoft.com/office/2006/metadata/properties"/>
    <ds:schemaRef ds:uri="2a5b1eea-32a8-4673-8d38-de3226caeee3"/>
    <ds:schemaRef ds:uri="http://purl.org/dc/terms/"/>
    <ds:schemaRef ds:uri="http://www.w3.org/XML/1998/namespace"/>
    <ds:schemaRef ds:uri="http://schemas.openxmlformats.org/package/2006/metadata/core-properties"/>
    <ds:schemaRef ds:uri="f65afe6d-7162-4df4-ae98-80745cab72d4"/>
  </ds:schemaRefs>
</ds:datastoreItem>
</file>

<file path=customXml/itemProps3.xml><?xml version="1.0" encoding="utf-8"?>
<ds:datastoreItem xmlns:ds="http://schemas.openxmlformats.org/officeDocument/2006/customXml" ds:itemID="{E65AC8C1-8675-4762-89BF-D102E51271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1891</TotalTime>
  <Words>1092</Words>
  <Application>Microsoft Macintosh PowerPoint</Application>
  <PresentationFormat>Custom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Consolas</vt:lpstr>
      <vt:lpstr>NVIDIA Sans</vt:lpstr>
      <vt:lpstr>NVIDIA Sans Light</vt:lpstr>
      <vt:lpstr>NVIDIA Sans Medium</vt:lpstr>
      <vt:lpstr>Roboto Mono</vt:lpstr>
      <vt:lpstr>Title Only</vt:lpstr>
      <vt:lpstr>Data Preparation for Domain LLMs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Spillman</dc:creator>
  <cp:lastModifiedBy>Swaminathan B S</cp:lastModifiedBy>
  <cp:revision>16</cp:revision>
  <dcterms:created xsi:type="dcterms:W3CDTF">2023-07-05T16:37:04Z</dcterms:created>
  <dcterms:modified xsi:type="dcterms:W3CDTF">2026-06-01T07:00:24Z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ediaServiceImageTags">
    <vt:lpwstr/>
  </property>
</Properties>
</file>
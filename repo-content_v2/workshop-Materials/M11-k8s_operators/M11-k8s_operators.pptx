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8" r:id="rId16"/>
    <p:sldId id="269" r:id="rId17"/>
    <p:sldId id="271" r:id="rId18"/>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D1D1"/>
    <a:srgbClr val="C0C0C0"/>
    <a:srgbClr val="B8B8B8"/>
    <a:srgbClr val="151617"/>
    <a:srgbClr val="FAC2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99" autoAdjust="0"/>
    <p:restoredTop sz="96391" autoAdjust="0"/>
  </p:normalViewPr>
  <p:slideViewPr>
    <p:cSldViewPr snapToGrid="0">
      <p:cViewPr varScale="1">
        <p:scale>
          <a:sx n="41" d="100"/>
          <a:sy n="41" d="100"/>
        </p:scale>
        <p:origin x="768" y="216"/>
      </p:cViewPr>
      <p:guideLst/>
    </p:cSldViewPr>
  </p:slideViewPr>
  <p:outlineViewPr>
    <p:cViewPr>
      <p:scale>
        <a:sx n="33" d="100"/>
        <a:sy n="33" d="100"/>
      </p:scale>
      <p:origin x="0" y="-1581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3" d="100"/>
          <a:sy n="83" d="100"/>
        </p:scale>
        <p:origin x="2214"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en Hill-Peterson" userId="d3234e37-15a6-4633-bb53-3a1db57a2b03" providerId="ADAL" clId="{B2019596-BB80-4E31-BDC5-354A8DA3B09C}"/>
    <pc:docChg chg="addSld modSld sldOrd">
      <pc:chgData name="Kristen Hill-Peterson" userId="d3234e37-15a6-4633-bb53-3a1db57a2b03" providerId="ADAL" clId="{B2019596-BB80-4E31-BDC5-354A8DA3B09C}" dt="2023-10-18T20:22:03.862" v="2"/>
      <pc:docMkLst>
        <pc:docMk/>
      </pc:docMkLst>
      <pc:sldChg chg="add ord">
        <pc:chgData name="Kristen Hill-Peterson" userId="d3234e37-15a6-4633-bb53-3a1db57a2b03" providerId="ADAL" clId="{B2019596-BB80-4E31-BDC5-354A8DA3B09C}" dt="2023-10-18T20:22:03.862" v="2"/>
        <pc:sldMkLst>
          <pc:docMk/>
          <pc:sldMk cId="2245222864" sldId="550145268"/>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6/3/26</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6/3/26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30-minute K8s Operators module. The arc: (1) what an operator IS, (2) the three NVIDIA operators and where each lives in the stack, (3) the CRDs for each, (4) why they're better together, (5) one closing decision frame. This is theory-only — no in-workshop K8s demo; the operators are a fleet-scale topic that doesn't fit on attendee laptops.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Foundational slide. Most attendees know K8s basics (deployments, services) but not operators. Anchor: 'An operator is K8s running a runbook for you — forever.' Reconciliation loop is the magic: drift → controller detects → controller fixes. This pattern is what all 3 NVIDIA operators use.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Adapted from NIM Operator customer deck slide 7. The framing for the rest of the module: each layer of pain maps 1:1 to an NVIDIA operator. Spend ~25s per card.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mental map for the rest of the deck. Read bottom-up: Linux + K8s give you a cluster; Network + GPU Operators turn it into AI-ready infra; NIM Operator turns it into an inference platform; on top runs the workshop's AML agent. Each operator owns ONE concern. Spend ~30s — this slide tells the whole arc.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Without GPU Operator: install driver, install container toolkit, install device plugin, install DCGM, configure MIG by hand — repeat per node, version-lock everything, redo on every kernel upgrade. With GPU Operator: one CRD, all of this as containers. github.com/NVIDIA/gpu-operator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CRD instance defines the entire GPU stack across the whole cluster. The operator reconciles every component on every matching node. Upgrade driver from 550 to 555? Edit one field, the operator does the rolling driver upgrade for you. Source: reference/repos/gpu-operator/api/nvidia/v1/clusterpolicy_types.go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Without Network Operator: install MOFED on every node, configure SR-IOV in BIOS + kernel, deploy RDMA device plugin, configure Multus + per-pod NICs — by hand. With Network Operator: one CRD. The NIC Configuration Operator (newest piece) even programs the firmware. github.com/Mellanox/network-operator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the singleton constraint: the operator only acts on a NICClusterPolicy named `nic-cluster-policy` (per README). Each sub-state is independently optional — IB shop? Skip SR-IOV. Pure Ethernet RoCE? Skip ibKubernetes. The README has a full spec breakdown. Source: reference/repos/network-operator/api/v1alpha1/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'why both' slide. GPUDirect RDMA = NIC writes directly into GPU memory via PCIe, bypassing host CPU + system RAM. Without it, every byte gets copied through CPU memory twice. With it, NCCL all-reduce on 8 nodes scales linearly. This is THE reason multi-node AI training works at all — and it needs BOTH operators coordinating driver versions, PCIe topology, and the secondary network.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NIM Operator customer deck slide 8. Anchor: a 'docker run' is fine for one NIM during dev. A production agent pipeline (workshop's AML agent included) easily hits 5-10 NIMs across LLM, embedder, reranker, guardrails — and that's just for ONE app. Multiply by tenant count, region count, model versions = fleet scale.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NIM CRDs. Usage order: NIMCache pre-pulls the model → NIMService runs it → NIMPipeline composes services. NIMCache is the secret sauce that makes autoscaling actually fast — without it, a new replica takes 5+ minutes to pull a 30 GB model. From customer deck slide 9.</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Adapted from customer deck slide 10. The mental model: operator in its own ns watches CRs cluster-wide. When you apply a NIMService CR in any app namespace, the operator pulls the container + model from NGC, creates Pod + PVC + Service + Ingress + HPA + Secret, wires them together. You manage abstractions; operator manages primitives.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closing 'one diagram' slide. Read top-down: your application sits on top; under it, NIMs/NeMo (NIM Operator); under that, drivers + fabric (GPU + Network Operators); under that, vanilla K8s; under that, NVIDIA hardware. Each layer has ONE owner. This is the AI factory pattern.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Wrap-up. Three takeaways: (1) An operator is a CRD + controller running a reconciliation loop — same pattern for all three NVIDIA operators. (2) GPU Operator + Network Operator are required if you do any multi-node training or fabric-bound inference — they're not optional. (3) NIM Operator turns the fleet-NIM operational nightmare into kubectl apply. All three are open-source, helm-installable in one command. Roadmap items (NIM Op Q1/Q2 2026): Dynamo-NIM aggregate + disaggregated, DRA for dynamic GPU domains, Data Designer + Auditor CRDs. End the module here; M12 picks up with deployment patterns.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dirty="0"/>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dirty="0"/>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dirty="0"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dirty="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dirty="0"/>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a16="http://schemas.microsoft.com/office/drawing/2014/main"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dirty="0"/>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dirty="0"/>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dirty="0"/>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Lst>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K8s Operators for NVIDIA AI Infrastructure</a:t>
            </a:r>
          </a:p>
        </p:txBody>
      </p:sp>
      <p:sp>
        <p:nvSpPr>
          <p:cNvPr id="3" name="Subtitle 2"/>
          <p:cNvSpPr>
            <a:spLocks noGrp="1"/>
          </p:cNvSpPr>
          <p:nvPr>
            <p:ph type="subTitle" idx="1"/>
          </p:nvPr>
        </p:nvSpPr>
        <p:spPr/>
        <p:txBody>
          <a:bodyPr/>
          <a:lstStyle/>
          <a:p>
            <a:r>
              <a:t>GPU Operator · Network Operator · NIM Operator — one stack, three CRDs, zero day-2 toil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The Kubernetes Operator Pattern</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Custom Resources + a controller loop = K8s as your day-2 operations engineer</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3167360" cy="1316736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6217920"/>
            <a:ext cx="13167360" cy="1463040"/>
          </a:xfrm>
          <a:prstGeom prst="rect">
            <a:avLst/>
          </a:prstGeom>
          <a:noFill/>
        </p:spPr>
        <p:txBody>
          <a:bodyPr wrap="square" lIns="50000" tIns="20000" rIns="50000" bIns="20000" anchor="ctr">
            <a:spAutoFit/>
          </a:bodyPr>
          <a:lstStyle/>
          <a:p>
            <a:pPr algn="ctr"/>
            <a:r>
              <a:rPr sz="5200" b="1" i="0">
                <a:solidFill>
                  <a:srgbClr val="76B900"/>
                </a:solidFill>
                <a:latin typeface="NVIDIA Sans Medium"/>
              </a:rPr>
              <a:t>What is a K8s Operator?</a:t>
            </a:r>
          </a:p>
        </p:txBody>
      </p:sp>
      <p:sp>
        <p:nvSpPr>
          <p:cNvPr id="7" name="TextBox 6"/>
          <p:cNvSpPr txBox="1"/>
          <p:nvPr/>
        </p:nvSpPr>
        <p:spPr>
          <a:xfrm>
            <a:off x="2194560" y="8046720"/>
            <a:ext cx="12070080" cy="1170432"/>
          </a:xfrm>
          <a:prstGeom prst="rect">
            <a:avLst/>
          </a:prstGeom>
          <a:noFill/>
        </p:spPr>
        <p:txBody>
          <a:bodyPr wrap="square" lIns="50000" tIns="20000" rIns="50000" bIns="20000" anchor="t">
            <a:spAutoFit/>
          </a:bodyPr>
          <a:lstStyle/>
          <a:p>
            <a:pPr algn="l"/>
            <a:r>
              <a:rPr sz="4400" b="1" i="0">
                <a:solidFill>
                  <a:srgbClr val="76B900"/>
                </a:solidFill>
                <a:latin typeface="NVIDIA Sans Medium"/>
              </a:rPr>
              <a:t>▸ CRD (Custom Resource)</a:t>
            </a:r>
          </a:p>
        </p:txBody>
      </p:sp>
      <p:sp>
        <p:nvSpPr>
          <p:cNvPr id="8" name="TextBox 7"/>
          <p:cNvSpPr txBox="1"/>
          <p:nvPr/>
        </p:nvSpPr>
        <p:spPr>
          <a:xfrm>
            <a:off x="2743200" y="9217152"/>
            <a:ext cx="11704320" cy="1463040"/>
          </a:xfrm>
          <a:prstGeom prst="rect">
            <a:avLst/>
          </a:prstGeom>
          <a:noFill/>
        </p:spPr>
        <p:txBody>
          <a:bodyPr wrap="square" lIns="50000" tIns="20000" rIns="50000" bIns="20000" anchor="t">
            <a:spAutoFit/>
          </a:bodyPr>
          <a:lstStyle/>
          <a:p>
            <a:pPr algn="l"/>
            <a:r>
              <a:rPr sz="3600" b="0" i="0">
                <a:solidFill>
                  <a:srgbClr val="000000"/>
                </a:solidFill>
                <a:latin typeface="NVIDIA Sans"/>
              </a:rPr>
              <a:t>A new Kubernetes object type you define — e.g. ClusterPolicy, NICClusterPolicy, NIMService.</a:t>
            </a:r>
          </a:p>
        </p:txBody>
      </p:sp>
      <p:sp>
        <p:nvSpPr>
          <p:cNvPr id="9" name="TextBox 8"/>
          <p:cNvSpPr txBox="1"/>
          <p:nvPr/>
        </p:nvSpPr>
        <p:spPr>
          <a:xfrm>
            <a:off x="2194560" y="10607040"/>
            <a:ext cx="12070080" cy="1170432"/>
          </a:xfrm>
          <a:prstGeom prst="rect">
            <a:avLst/>
          </a:prstGeom>
          <a:noFill/>
        </p:spPr>
        <p:txBody>
          <a:bodyPr wrap="square" lIns="50000" tIns="20000" rIns="50000" bIns="20000" anchor="t">
            <a:spAutoFit/>
          </a:bodyPr>
          <a:lstStyle/>
          <a:p>
            <a:pPr algn="l"/>
            <a:r>
              <a:rPr sz="4400" b="1" i="0">
                <a:solidFill>
                  <a:srgbClr val="76B900"/>
                </a:solidFill>
                <a:latin typeface="NVIDIA Sans Medium"/>
              </a:rPr>
              <a:t>▸ Controller</a:t>
            </a:r>
          </a:p>
        </p:txBody>
      </p:sp>
      <p:sp>
        <p:nvSpPr>
          <p:cNvPr id="10" name="TextBox 9"/>
          <p:cNvSpPr txBox="1"/>
          <p:nvPr/>
        </p:nvSpPr>
        <p:spPr>
          <a:xfrm>
            <a:off x="2743200" y="11777472"/>
            <a:ext cx="11704320" cy="1463040"/>
          </a:xfrm>
          <a:prstGeom prst="rect">
            <a:avLst/>
          </a:prstGeom>
          <a:noFill/>
        </p:spPr>
        <p:txBody>
          <a:bodyPr wrap="square" lIns="50000" tIns="20000" rIns="50000" bIns="20000" anchor="t">
            <a:spAutoFit/>
          </a:bodyPr>
          <a:lstStyle/>
          <a:p>
            <a:pPr algn="l"/>
            <a:r>
              <a:rPr sz="3600" b="0" i="0">
                <a:solidFill>
                  <a:srgbClr val="000000"/>
                </a:solidFill>
                <a:latin typeface="NVIDIA Sans"/>
              </a:rPr>
              <a:t>A pod that watches CRs of that type and drives the cluster to match the spec.</a:t>
            </a:r>
          </a:p>
        </p:txBody>
      </p:sp>
      <p:sp>
        <p:nvSpPr>
          <p:cNvPr id="11" name="TextBox 10"/>
          <p:cNvSpPr txBox="1"/>
          <p:nvPr/>
        </p:nvSpPr>
        <p:spPr>
          <a:xfrm>
            <a:off x="2194560" y="13167360"/>
            <a:ext cx="12070080" cy="1170432"/>
          </a:xfrm>
          <a:prstGeom prst="rect">
            <a:avLst/>
          </a:prstGeom>
          <a:noFill/>
        </p:spPr>
        <p:txBody>
          <a:bodyPr wrap="square" lIns="50000" tIns="20000" rIns="50000" bIns="20000" anchor="t">
            <a:spAutoFit/>
          </a:bodyPr>
          <a:lstStyle/>
          <a:p>
            <a:pPr algn="l"/>
            <a:r>
              <a:rPr sz="4400" b="1" i="0">
                <a:solidFill>
                  <a:srgbClr val="76B900"/>
                </a:solidFill>
                <a:latin typeface="NVIDIA Sans Medium"/>
              </a:rPr>
              <a:t>▸ Reconciliation loop</a:t>
            </a:r>
          </a:p>
        </p:txBody>
      </p:sp>
      <p:sp>
        <p:nvSpPr>
          <p:cNvPr id="12" name="TextBox 11"/>
          <p:cNvSpPr txBox="1"/>
          <p:nvPr/>
        </p:nvSpPr>
        <p:spPr>
          <a:xfrm>
            <a:off x="2743200" y="14337792"/>
            <a:ext cx="11704320" cy="1463040"/>
          </a:xfrm>
          <a:prstGeom prst="rect">
            <a:avLst/>
          </a:prstGeom>
          <a:noFill/>
        </p:spPr>
        <p:txBody>
          <a:bodyPr wrap="square" lIns="50000" tIns="20000" rIns="50000" bIns="20000" anchor="t">
            <a:spAutoFit/>
          </a:bodyPr>
          <a:lstStyle/>
          <a:p>
            <a:pPr algn="l"/>
            <a:r>
              <a:rPr sz="3600" b="0" i="0">
                <a:solidFill>
                  <a:srgbClr val="000000"/>
                </a:solidFill>
                <a:latin typeface="NVIDIA Sans"/>
              </a:rPr>
              <a:t>Continuously: observe actual state → diff with desired → act. Self-healing by design.</a:t>
            </a:r>
          </a:p>
        </p:txBody>
      </p:sp>
      <p:sp>
        <p:nvSpPr>
          <p:cNvPr id="13" name="TextBox 12"/>
          <p:cNvSpPr txBox="1"/>
          <p:nvPr/>
        </p:nvSpPr>
        <p:spPr>
          <a:xfrm>
            <a:off x="2194560" y="15727680"/>
            <a:ext cx="12070080" cy="1170432"/>
          </a:xfrm>
          <a:prstGeom prst="rect">
            <a:avLst/>
          </a:prstGeom>
          <a:noFill/>
        </p:spPr>
        <p:txBody>
          <a:bodyPr wrap="square" lIns="50000" tIns="20000" rIns="50000" bIns="20000" anchor="t">
            <a:spAutoFit/>
          </a:bodyPr>
          <a:lstStyle/>
          <a:p>
            <a:pPr algn="l"/>
            <a:r>
              <a:rPr sz="4400" b="1" i="0">
                <a:solidFill>
                  <a:srgbClr val="76B900"/>
                </a:solidFill>
                <a:latin typeface="NVIDIA Sans Medium"/>
              </a:rPr>
              <a:t>▸ Operator = CRD + Controller</a:t>
            </a:r>
          </a:p>
        </p:txBody>
      </p:sp>
      <p:sp>
        <p:nvSpPr>
          <p:cNvPr id="14" name="TextBox 13"/>
          <p:cNvSpPr txBox="1"/>
          <p:nvPr/>
        </p:nvSpPr>
        <p:spPr>
          <a:xfrm>
            <a:off x="2743200" y="16898112"/>
            <a:ext cx="11704320" cy="594388"/>
          </a:xfrm>
          <a:prstGeom prst="rect">
            <a:avLst/>
          </a:prstGeom>
          <a:noFill/>
        </p:spPr>
        <p:txBody>
          <a:bodyPr wrap="square" lIns="50000" tIns="20000" rIns="50000" bIns="20000" anchor="t">
            <a:spAutoFit/>
          </a:bodyPr>
          <a:lstStyle/>
          <a:p>
            <a:pPr algn="l"/>
            <a:r>
              <a:rPr sz="3600" b="0" i="0" dirty="0">
                <a:solidFill>
                  <a:srgbClr val="000000"/>
                </a:solidFill>
                <a:latin typeface="NVIDIA Sans"/>
              </a:rPr>
              <a:t>Captures human ops as code that runs forever.</a:t>
            </a:r>
          </a:p>
        </p:txBody>
      </p:sp>
      <p:sp>
        <p:nvSpPr>
          <p:cNvPr id="15" name="TextBox 14"/>
          <p:cNvSpPr txBox="1"/>
          <p:nvPr/>
        </p:nvSpPr>
        <p:spPr>
          <a:xfrm>
            <a:off x="15179040" y="5852160"/>
            <a:ext cx="19751040" cy="1463040"/>
          </a:xfrm>
          <a:prstGeom prst="rect">
            <a:avLst/>
          </a:prstGeom>
          <a:noFill/>
        </p:spPr>
        <p:txBody>
          <a:bodyPr wrap="square" lIns="50000" tIns="20000" rIns="50000" bIns="20000" anchor="ctr">
            <a:spAutoFit/>
          </a:bodyPr>
          <a:lstStyle/>
          <a:p>
            <a:pPr algn="ctr"/>
            <a:r>
              <a:rPr sz="5200" b="1" i="0">
                <a:solidFill>
                  <a:srgbClr val="000000"/>
                </a:solidFill>
                <a:latin typeface="NVIDIA Sans Medium"/>
              </a:rPr>
              <a:t>The reconciliation loop</a:t>
            </a:r>
          </a:p>
        </p:txBody>
      </p:sp>
      <p:sp>
        <p:nvSpPr>
          <p:cNvPr id="16" name="Oval 15"/>
          <p:cNvSpPr/>
          <p:nvPr/>
        </p:nvSpPr>
        <p:spPr>
          <a:xfrm>
            <a:off x="23042880" y="8046720"/>
            <a:ext cx="4023360" cy="2926080"/>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042880" y="8046720"/>
            <a:ext cx="4023360" cy="146304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Observe</a:t>
            </a:r>
          </a:p>
        </p:txBody>
      </p:sp>
      <p:sp>
        <p:nvSpPr>
          <p:cNvPr id="18" name="TextBox 17"/>
          <p:cNvSpPr txBox="1"/>
          <p:nvPr/>
        </p:nvSpPr>
        <p:spPr>
          <a:xfrm>
            <a:off x="23042880" y="9326880"/>
            <a:ext cx="4023360" cy="1463040"/>
          </a:xfrm>
          <a:prstGeom prst="rect">
            <a:avLst/>
          </a:prstGeom>
          <a:noFill/>
        </p:spPr>
        <p:txBody>
          <a:bodyPr wrap="square" lIns="50000" tIns="20000" rIns="50000" bIns="20000" anchor="ctr">
            <a:spAutoFit/>
          </a:bodyPr>
          <a:lstStyle/>
          <a:p>
            <a:pPr algn="ctr"/>
            <a:r>
              <a:rPr sz="3200" b="0" i="0">
                <a:solidFill>
                  <a:srgbClr val="FFFFFF"/>
                </a:solidFill>
                <a:latin typeface="NVIDIA Sans"/>
              </a:rPr>
              <a:t>Watch CR + cluster state</a:t>
            </a:r>
          </a:p>
        </p:txBody>
      </p:sp>
      <p:sp>
        <p:nvSpPr>
          <p:cNvPr id="19" name="Oval 18"/>
          <p:cNvSpPr/>
          <p:nvPr/>
        </p:nvSpPr>
        <p:spPr>
          <a:xfrm>
            <a:off x="26052075" y="13258799"/>
            <a:ext cx="4023360" cy="292608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52075" y="13258799"/>
            <a:ext cx="4023360" cy="146304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Diff</a:t>
            </a:r>
          </a:p>
        </p:txBody>
      </p:sp>
      <p:sp>
        <p:nvSpPr>
          <p:cNvPr id="21" name="TextBox 20"/>
          <p:cNvSpPr txBox="1"/>
          <p:nvPr/>
        </p:nvSpPr>
        <p:spPr>
          <a:xfrm>
            <a:off x="26052075" y="14538959"/>
            <a:ext cx="4023360" cy="1463040"/>
          </a:xfrm>
          <a:prstGeom prst="rect">
            <a:avLst/>
          </a:prstGeom>
          <a:noFill/>
        </p:spPr>
        <p:txBody>
          <a:bodyPr wrap="square" lIns="50000" tIns="20000" rIns="50000" bIns="20000" anchor="ctr">
            <a:spAutoFit/>
          </a:bodyPr>
          <a:lstStyle/>
          <a:p>
            <a:pPr algn="ctr"/>
            <a:r>
              <a:rPr sz="3200" b="0" i="0">
                <a:solidFill>
                  <a:srgbClr val="FFFFFF"/>
                </a:solidFill>
                <a:latin typeface="NVIDIA Sans"/>
              </a:rPr>
              <a:t>Desired vs actual</a:t>
            </a:r>
          </a:p>
        </p:txBody>
      </p:sp>
      <p:sp>
        <p:nvSpPr>
          <p:cNvPr id="22" name="Oval 21"/>
          <p:cNvSpPr/>
          <p:nvPr/>
        </p:nvSpPr>
        <p:spPr>
          <a:xfrm>
            <a:off x="20033685" y="13258800"/>
            <a:ext cx="4023360" cy="292608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033685" y="13258800"/>
            <a:ext cx="4023360" cy="146304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Act</a:t>
            </a:r>
          </a:p>
        </p:txBody>
      </p:sp>
      <p:sp>
        <p:nvSpPr>
          <p:cNvPr id="24" name="TextBox 23"/>
          <p:cNvSpPr txBox="1"/>
          <p:nvPr/>
        </p:nvSpPr>
        <p:spPr>
          <a:xfrm>
            <a:off x="20033685" y="14538960"/>
            <a:ext cx="4023360" cy="1463040"/>
          </a:xfrm>
          <a:prstGeom prst="rect">
            <a:avLst/>
          </a:prstGeom>
          <a:noFill/>
        </p:spPr>
        <p:txBody>
          <a:bodyPr wrap="square" lIns="50000" tIns="20000" rIns="50000" bIns="20000" anchor="ctr">
            <a:spAutoFit/>
          </a:bodyPr>
          <a:lstStyle/>
          <a:p>
            <a:pPr algn="ctr"/>
            <a:r>
              <a:rPr sz="3200" b="0" i="0">
                <a:solidFill>
                  <a:srgbClr val="FFFFFF"/>
                </a:solidFill>
                <a:latin typeface="NVIDIA Sans"/>
              </a:rPr>
              <a:t>Create / update / delete</a:t>
            </a:r>
          </a:p>
        </p:txBody>
      </p:sp>
      <p:sp>
        <p:nvSpPr>
          <p:cNvPr id="25" name="TextBox 24"/>
          <p:cNvSpPr txBox="1"/>
          <p:nvPr/>
        </p:nvSpPr>
        <p:spPr>
          <a:xfrm>
            <a:off x="23591520" y="11887200"/>
            <a:ext cx="2926080" cy="2194560"/>
          </a:xfrm>
          <a:prstGeom prst="rect">
            <a:avLst/>
          </a:prstGeom>
          <a:noFill/>
        </p:spPr>
        <p:txBody>
          <a:bodyPr wrap="square" lIns="50000" tIns="20000" rIns="50000" bIns="20000" anchor="ctr">
            <a:spAutoFit/>
          </a:bodyPr>
          <a:lstStyle/>
          <a:p>
            <a:pPr algn="ctr"/>
            <a:r>
              <a:rPr sz="9600" b="1" i="0">
                <a:solidFill>
                  <a:srgbClr val="5E5E5E"/>
                </a:solidFill>
                <a:latin typeface="NVIDIA Sans"/>
              </a:rPr>
              <a:t>↻</a:t>
            </a:r>
          </a:p>
        </p:txBody>
      </p:sp>
      <p:sp>
        <p:nvSpPr>
          <p:cNvPr id="26" name="Rounded Rectangle 25"/>
          <p:cNvSpPr/>
          <p:nvPr/>
        </p:nvSpPr>
        <p:spPr>
          <a:xfrm>
            <a:off x="15179040" y="17190720"/>
            <a:ext cx="19751040" cy="1645920"/>
          </a:xfrm>
          <a:prstGeom prst="roundRect">
            <a:avLst>
              <a:gd name="adj" fmla="val 4000"/>
            </a:avLst>
          </a:prstGeom>
          <a:solidFill>
            <a:srgbClr val="E2F0D9"/>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179040" y="17190720"/>
            <a:ext cx="19751040" cy="1645920"/>
          </a:xfrm>
          <a:prstGeom prst="rect">
            <a:avLst/>
          </a:prstGeom>
          <a:noFill/>
        </p:spPr>
        <p:txBody>
          <a:bodyPr wrap="square" lIns="50000" tIns="20000" rIns="50000" bIns="20000" anchor="ctr">
            <a:spAutoFit/>
          </a:bodyPr>
          <a:lstStyle/>
          <a:p>
            <a:pPr algn="ctr"/>
            <a:r>
              <a:rPr sz="4400" b="1" i="1">
                <a:solidFill>
                  <a:srgbClr val="76B900"/>
                </a:solidFill>
                <a:latin typeface="NVIDIA Sans Medium"/>
              </a:rPr>
              <a:t>You write one YAML; the operator runs forever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Why Operators for AI Infrastructure?</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AI infra has three layers of operational pain — drivers, network, microservices</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0789920" cy="12435840"/>
          </a:xfrm>
          <a:prstGeom prst="roundRect">
            <a:avLst>
              <a:gd name="adj" fmla="val 4000"/>
            </a:avLst>
          </a:prstGeom>
          <a:solidFill>
            <a:srgbClr val="FFFFFF"/>
          </a:solidFill>
          <a:ln w="254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5669280"/>
            <a:ext cx="10789920" cy="2194560"/>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5669280"/>
            <a:ext cx="10789920" cy="219456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Drivers + runtime</a:t>
            </a:r>
          </a:p>
        </p:txBody>
      </p:sp>
      <p:sp>
        <p:nvSpPr>
          <p:cNvPr id="8" name="TextBox 7"/>
          <p:cNvSpPr txBox="1"/>
          <p:nvPr/>
        </p:nvSpPr>
        <p:spPr>
          <a:xfrm>
            <a:off x="2194560" y="8595360"/>
            <a:ext cx="9326880" cy="8961120"/>
          </a:xfrm>
          <a:prstGeom prst="rect">
            <a:avLst/>
          </a:prstGeom>
          <a:noFill/>
        </p:spPr>
        <p:txBody>
          <a:bodyPr wrap="square" lIns="50000" tIns="20000" rIns="50000" bIns="20000" anchor="t">
            <a:spAutoFit/>
          </a:bodyPr>
          <a:lstStyle/>
          <a:p>
            <a:pPr algn="l"/>
            <a:r>
              <a:rPr sz="4000" b="0" i="0">
                <a:solidFill>
                  <a:srgbClr val="000000"/>
                </a:solidFill>
                <a:latin typeface="NVIDIA Sans"/>
              </a:rPr>
              <a:t>GPU drivers, container runtime, device plugin, MIG config, monitoring agents — each node needs ~7 components installed in the right order, kept in version-lock.</a:t>
            </a:r>
          </a:p>
        </p:txBody>
      </p:sp>
      <p:sp>
        <p:nvSpPr>
          <p:cNvPr id="9" name="Rounded Rectangle 8"/>
          <p:cNvSpPr/>
          <p:nvPr/>
        </p:nvSpPr>
        <p:spPr>
          <a:xfrm>
            <a:off x="12801600" y="5669280"/>
            <a:ext cx="10789920" cy="12435840"/>
          </a:xfrm>
          <a:prstGeom prst="roundRect">
            <a:avLst>
              <a:gd name="adj" fmla="val 4000"/>
            </a:avLst>
          </a:prstGeom>
          <a:solidFill>
            <a:srgbClr val="FFFFFF"/>
          </a:solidFill>
          <a:ln w="2540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2801600" y="5669280"/>
            <a:ext cx="10789920" cy="219456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0" y="5669280"/>
            <a:ext cx="10789920" cy="219456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Fabric + RDMA</a:t>
            </a:r>
          </a:p>
        </p:txBody>
      </p:sp>
      <p:sp>
        <p:nvSpPr>
          <p:cNvPr id="12" name="TextBox 11"/>
          <p:cNvSpPr txBox="1"/>
          <p:nvPr/>
        </p:nvSpPr>
        <p:spPr>
          <a:xfrm>
            <a:off x="13533120" y="8595360"/>
            <a:ext cx="9326880" cy="8961120"/>
          </a:xfrm>
          <a:prstGeom prst="rect">
            <a:avLst/>
          </a:prstGeom>
          <a:noFill/>
        </p:spPr>
        <p:txBody>
          <a:bodyPr wrap="square" lIns="50000" tIns="20000" rIns="50000" bIns="20000" anchor="t">
            <a:spAutoFit/>
          </a:bodyPr>
          <a:lstStyle/>
          <a:p>
            <a:pPr algn="l"/>
            <a:r>
              <a:rPr sz="4000" b="0" i="0">
                <a:solidFill>
                  <a:srgbClr val="000000"/>
                </a:solidFill>
                <a:latin typeface="NVIDIA Sans"/>
              </a:rPr>
              <a:t>OFED drivers, SR-IOV configuration, RDMA shared device plugin, secondary networks, GPUDirect alignment — without this, multi-node training is slow or just broken.</a:t>
            </a:r>
          </a:p>
        </p:txBody>
      </p:sp>
      <p:sp>
        <p:nvSpPr>
          <p:cNvPr id="13" name="Rounded Rectangle 12"/>
          <p:cNvSpPr/>
          <p:nvPr/>
        </p:nvSpPr>
        <p:spPr>
          <a:xfrm>
            <a:off x="24140160" y="5669280"/>
            <a:ext cx="10789920" cy="1243584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4140160" y="5669280"/>
            <a:ext cx="10789920" cy="2194560"/>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140160" y="5669280"/>
            <a:ext cx="10789920" cy="219456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Inference microservices</a:t>
            </a:r>
          </a:p>
        </p:txBody>
      </p:sp>
      <p:sp>
        <p:nvSpPr>
          <p:cNvPr id="16" name="TextBox 15"/>
          <p:cNvSpPr txBox="1"/>
          <p:nvPr/>
        </p:nvSpPr>
        <p:spPr>
          <a:xfrm>
            <a:off x="24871680" y="8595360"/>
            <a:ext cx="9326880" cy="8961120"/>
          </a:xfrm>
          <a:prstGeom prst="rect">
            <a:avLst/>
          </a:prstGeom>
          <a:noFill/>
        </p:spPr>
        <p:txBody>
          <a:bodyPr wrap="square" lIns="50000" tIns="20000" rIns="50000" bIns="20000" anchor="t">
            <a:spAutoFit/>
          </a:bodyPr>
          <a:lstStyle/>
          <a:p>
            <a:pPr algn="l"/>
            <a:r>
              <a:rPr sz="4000" b="0" i="0">
                <a:solidFill>
                  <a:srgbClr val="000000"/>
                </a:solidFill>
                <a:latin typeface="NVIDIA Sans"/>
              </a:rPr>
              <a:t>NIMs need model cache, autoscaling, ingress, GPU pinning, health probes, rolling upgrades — and you might run tens to hundreds of NIMs in production.</a:t>
            </a:r>
          </a:p>
        </p:txBody>
      </p:sp>
      <p:sp>
        <p:nvSpPr>
          <p:cNvPr id="17" name="TextBox 16"/>
          <p:cNvSpPr txBox="1"/>
          <p:nvPr/>
        </p:nvSpPr>
        <p:spPr>
          <a:xfrm>
            <a:off x="1463040" y="18470880"/>
            <a:ext cx="33649920" cy="1097280"/>
          </a:xfrm>
          <a:prstGeom prst="rect">
            <a:avLst/>
          </a:prstGeom>
          <a:noFill/>
        </p:spPr>
        <p:txBody>
          <a:bodyPr wrap="square" lIns="50000" tIns="20000" rIns="50000" bIns="20000" anchor="t">
            <a:spAutoFit/>
          </a:bodyPr>
          <a:lstStyle/>
          <a:p>
            <a:pPr algn="ctr"/>
            <a:r>
              <a:rPr sz="4400" b="1" i="1">
                <a:solidFill>
                  <a:srgbClr val="76B900"/>
                </a:solidFill>
                <a:latin typeface="NVIDIA Sans"/>
              </a:rPr>
              <a:t>Three layers of pain → three NVIDIA operators that take it off your plate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Three NVIDIA Operators in One Stack</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From bare metal to a running NIM — three operators, layered cleanly</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63040" y="11265408"/>
            <a:ext cx="7315200" cy="1463040"/>
          </a:xfrm>
          <a:prstGeom prst="rect">
            <a:avLst/>
          </a:prstGeom>
          <a:noFill/>
        </p:spPr>
        <p:txBody>
          <a:bodyPr wrap="square" lIns="50000" tIns="20000" rIns="50000" bIns="20000" anchor="ctr">
            <a:spAutoFit/>
          </a:bodyPr>
          <a:lstStyle/>
          <a:p>
            <a:pPr algn="ctr"/>
            <a:r>
              <a:rPr sz="4000" b="0" i="1">
                <a:solidFill>
                  <a:srgbClr val="5E5E5E"/>
                </a:solidFill>
                <a:latin typeface="NVIDIA Sans"/>
              </a:rPr>
              <a:t>↑ Each layer</a:t>
            </a:r>
          </a:p>
          <a:p>
            <a:pPr algn="ctr"/>
            <a:r>
              <a:rPr sz="4000" b="0" i="1">
                <a:solidFill>
                  <a:srgbClr val="5E5E5E"/>
                </a:solidFill>
                <a:latin typeface="NVIDIA Sans"/>
              </a:rPr>
              <a:t>   adds one capability</a:t>
            </a:r>
          </a:p>
        </p:txBody>
      </p:sp>
      <p:sp>
        <p:nvSpPr>
          <p:cNvPr id="6" name="Rounded Rectangle 5"/>
          <p:cNvSpPr/>
          <p:nvPr/>
        </p:nvSpPr>
        <p:spPr>
          <a:xfrm>
            <a:off x="9509760" y="5669280"/>
            <a:ext cx="25603200" cy="1682496"/>
          </a:xfrm>
          <a:prstGeom prst="roundRect">
            <a:avLst>
              <a:gd name="adj" fmla="val 4000"/>
            </a:avLst>
          </a:prstGeom>
          <a:solidFill>
            <a:srgbClr val="CDCDCD"/>
          </a:solidFill>
          <a:ln w="1270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0" y="5669280"/>
            <a:ext cx="8778240" cy="1682496"/>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Linux distribution</a:t>
            </a:r>
          </a:p>
        </p:txBody>
      </p:sp>
      <p:sp>
        <p:nvSpPr>
          <p:cNvPr id="8" name="TextBox 7"/>
          <p:cNvSpPr txBox="1"/>
          <p:nvPr/>
        </p:nvSpPr>
        <p:spPr>
          <a:xfrm>
            <a:off x="19202400" y="5669280"/>
            <a:ext cx="15361920" cy="1682496"/>
          </a:xfrm>
          <a:prstGeom prst="rect">
            <a:avLst/>
          </a:prstGeom>
          <a:noFill/>
        </p:spPr>
        <p:txBody>
          <a:bodyPr wrap="square" lIns="50000" tIns="20000" rIns="50000" bIns="20000" anchor="ctr">
            <a:spAutoFit/>
          </a:bodyPr>
          <a:lstStyle/>
          <a:p>
            <a:pPr algn="l"/>
            <a:r>
              <a:rPr sz="3600" b="0" i="0">
                <a:solidFill>
                  <a:srgbClr val="000000"/>
                </a:solidFill>
                <a:latin typeface="NVIDIA Sans"/>
              </a:rPr>
              <a:t>RHEL · Ubuntu · SLES — same OS image on every node</a:t>
            </a:r>
          </a:p>
        </p:txBody>
      </p:sp>
      <p:sp>
        <p:nvSpPr>
          <p:cNvPr id="9" name="Rounded Rectangle 8"/>
          <p:cNvSpPr/>
          <p:nvPr/>
        </p:nvSpPr>
        <p:spPr>
          <a:xfrm>
            <a:off x="9509760" y="7498080"/>
            <a:ext cx="25603200" cy="1682496"/>
          </a:xfrm>
          <a:prstGeom prst="roundRect">
            <a:avLst>
              <a:gd name="adj" fmla="val 4000"/>
            </a:avLst>
          </a:prstGeom>
          <a:solidFill>
            <a:srgbClr val="5E5E5E"/>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0" y="7498080"/>
            <a:ext cx="8778240" cy="1682496"/>
          </a:xfrm>
          <a:prstGeom prst="rect">
            <a:avLst/>
          </a:prstGeom>
          <a:noFill/>
        </p:spPr>
        <p:txBody>
          <a:bodyPr wrap="square" lIns="50000" tIns="20000" rIns="50000" bIns="20000" anchor="ctr">
            <a:spAutoFit/>
          </a:bodyPr>
          <a:lstStyle/>
          <a:p>
            <a:pPr algn="l"/>
            <a:r>
              <a:rPr sz="4400" b="1" i="0">
                <a:solidFill>
                  <a:srgbClr val="FFFFFF"/>
                </a:solidFill>
                <a:latin typeface="NVIDIA Sans Medium"/>
              </a:rPr>
              <a:t>Kubernetes</a:t>
            </a:r>
          </a:p>
        </p:txBody>
      </p:sp>
      <p:sp>
        <p:nvSpPr>
          <p:cNvPr id="11" name="TextBox 10"/>
          <p:cNvSpPr txBox="1"/>
          <p:nvPr/>
        </p:nvSpPr>
        <p:spPr>
          <a:xfrm>
            <a:off x="19202400" y="7498080"/>
            <a:ext cx="15361920" cy="1682496"/>
          </a:xfrm>
          <a:prstGeom prst="rect">
            <a:avLst/>
          </a:prstGeom>
          <a:noFill/>
        </p:spPr>
        <p:txBody>
          <a:bodyPr wrap="square" lIns="50000" tIns="20000" rIns="50000" bIns="20000" anchor="ctr">
            <a:spAutoFit/>
          </a:bodyPr>
          <a:lstStyle/>
          <a:p>
            <a:pPr algn="l"/>
            <a:r>
              <a:rPr sz="3600" b="0" i="0">
                <a:solidFill>
                  <a:srgbClr val="FFFFFF"/>
                </a:solidFill>
                <a:latin typeface="NVIDIA Sans"/>
              </a:rPr>
              <a:t>Vanilla K8s · OpenShift · EKS · GKE · AKS · TKG</a:t>
            </a:r>
          </a:p>
        </p:txBody>
      </p:sp>
      <p:sp>
        <p:nvSpPr>
          <p:cNvPr id="12" name="Rounded Rectangle 11"/>
          <p:cNvSpPr/>
          <p:nvPr/>
        </p:nvSpPr>
        <p:spPr>
          <a:xfrm>
            <a:off x="9509760" y="9326880"/>
            <a:ext cx="25603200" cy="1682496"/>
          </a:xfrm>
          <a:prstGeom prst="roundRect">
            <a:avLst>
              <a:gd name="adj" fmla="val 4000"/>
            </a:avLst>
          </a:prstGeom>
          <a:solidFill>
            <a:srgbClr val="0071C5"/>
          </a:solidFill>
          <a:ln w="1270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0" y="9326880"/>
            <a:ext cx="8778240" cy="1682496"/>
          </a:xfrm>
          <a:prstGeom prst="rect">
            <a:avLst/>
          </a:prstGeom>
          <a:noFill/>
        </p:spPr>
        <p:txBody>
          <a:bodyPr wrap="square" lIns="50000" tIns="20000" rIns="50000" bIns="20000" anchor="ctr">
            <a:spAutoFit/>
          </a:bodyPr>
          <a:lstStyle/>
          <a:p>
            <a:pPr algn="l"/>
            <a:r>
              <a:rPr sz="4400" b="1" i="0">
                <a:solidFill>
                  <a:srgbClr val="FFFFFF"/>
                </a:solidFill>
                <a:latin typeface="NVIDIA Sans Medium"/>
              </a:rPr>
              <a:t>Network Operator</a:t>
            </a:r>
          </a:p>
        </p:txBody>
      </p:sp>
      <p:sp>
        <p:nvSpPr>
          <p:cNvPr id="14" name="TextBox 13"/>
          <p:cNvSpPr txBox="1"/>
          <p:nvPr/>
        </p:nvSpPr>
        <p:spPr>
          <a:xfrm>
            <a:off x="19202400" y="9326880"/>
            <a:ext cx="15361920" cy="1682496"/>
          </a:xfrm>
          <a:prstGeom prst="rect">
            <a:avLst/>
          </a:prstGeom>
          <a:noFill/>
        </p:spPr>
        <p:txBody>
          <a:bodyPr wrap="square" lIns="50000" tIns="20000" rIns="50000" bIns="20000" anchor="ctr">
            <a:spAutoFit/>
          </a:bodyPr>
          <a:lstStyle/>
          <a:p>
            <a:pPr algn="l"/>
            <a:r>
              <a:rPr sz="3600" b="0" i="0">
                <a:solidFill>
                  <a:srgbClr val="FFFFFF"/>
                </a:solidFill>
                <a:latin typeface="NVIDIA Sans"/>
              </a:rPr>
              <a:t>OFED · SR-IOV · RDMA · IPoIB · GPUDirect · secondary networks</a:t>
            </a:r>
          </a:p>
        </p:txBody>
      </p:sp>
      <p:sp>
        <p:nvSpPr>
          <p:cNvPr id="15" name="Rounded Rectangle 14"/>
          <p:cNvSpPr/>
          <p:nvPr/>
        </p:nvSpPr>
        <p:spPr>
          <a:xfrm>
            <a:off x="9509760" y="11155680"/>
            <a:ext cx="25603200" cy="1682496"/>
          </a:xfrm>
          <a:prstGeom prst="roundRect">
            <a:avLst>
              <a:gd name="adj" fmla="val 4000"/>
            </a:avLst>
          </a:prstGeom>
          <a:solidFill>
            <a:srgbClr val="5D1682"/>
          </a:solidFill>
          <a:ln w="127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0" y="11155680"/>
            <a:ext cx="8778240" cy="1682496"/>
          </a:xfrm>
          <a:prstGeom prst="rect">
            <a:avLst/>
          </a:prstGeom>
          <a:noFill/>
        </p:spPr>
        <p:txBody>
          <a:bodyPr wrap="square" lIns="50000" tIns="20000" rIns="50000" bIns="20000" anchor="ctr">
            <a:spAutoFit/>
          </a:bodyPr>
          <a:lstStyle/>
          <a:p>
            <a:pPr algn="l"/>
            <a:r>
              <a:rPr sz="4400" b="1" i="0">
                <a:solidFill>
                  <a:srgbClr val="FFFFFF"/>
                </a:solidFill>
                <a:latin typeface="NVIDIA Sans Medium"/>
              </a:rPr>
              <a:t>GPU Operator</a:t>
            </a:r>
          </a:p>
        </p:txBody>
      </p:sp>
      <p:sp>
        <p:nvSpPr>
          <p:cNvPr id="17" name="TextBox 16"/>
          <p:cNvSpPr txBox="1"/>
          <p:nvPr/>
        </p:nvSpPr>
        <p:spPr>
          <a:xfrm>
            <a:off x="19202400" y="11155680"/>
            <a:ext cx="15361920" cy="1682496"/>
          </a:xfrm>
          <a:prstGeom prst="rect">
            <a:avLst/>
          </a:prstGeom>
          <a:noFill/>
        </p:spPr>
        <p:txBody>
          <a:bodyPr wrap="square" lIns="50000" tIns="20000" rIns="50000" bIns="20000" anchor="ctr">
            <a:spAutoFit/>
          </a:bodyPr>
          <a:lstStyle/>
          <a:p>
            <a:pPr algn="l"/>
            <a:r>
              <a:rPr sz="3600" b="0" i="0">
                <a:solidFill>
                  <a:srgbClr val="FFFFFF"/>
                </a:solidFill>
                <a:latin typeface="NVIDIA Sans"/>
              </a:rPr>
              <a:t>Drivers · container runtime · device plugin · DCGM · MIG · NFD</a:t>
            </a:r>
          </a:p>
        </p:txBody>
      </p:sp>
      <p:sp>
        <p:nvSpPr>
          <p:cNvPr id="18" name="Rounded Rectangle 17"/>
          <p:cNvSpPr/>
          <p:nvPr/>
        </p:nvSpPr>
        <p:spPr>
          <a:xfrm>
            <a:off x="9509760" y="12984480"/>
            <a:ext cx="25603200" cy="1682496"/>
          </a:xfrm>
          <a:prstGeom prst="roundRect">
            <a:avLst>
              <a:gd name="adj" fmla="val 4000"/>
            </a:avLst>
          </a:prstGeom>
          <a:solidFill>
            <a:srgbClr val="76B900"/>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0" y="12984480"/>
            <a:ext cx="8778240" cy="1682496"/>
          </a:xfrm>
          <a:prstGeom prst="rect">
            <a:avLst/>
          </a:prstGeom>
          <a:noFill/>
        </p:spPr>
        <p:txBody>
          <a:bodyPr wrap="square" lIns="50000" tIns="20000" rIns="50000" bIns="20000" anchor="ctr">
            <a:spAutoFit/>
          </a:bodyPr>
          <a:lstStyle/>
          <a:p>
            <a:pPr algn="l"/>
            <a:r>
              <a:rPr sz="4400" b="1" i="0">
                <a:solidFill>
                  <a:srgbClr val="FFFFFF"/>
                </a:solidFill>
                <a:latin typeface="NVIDIA Sans Medium"/>
              </a:rPr>
              <a:t>NIM Operator</a:t>
            </a:r>
          </a:p>
        </p:txBody>
      </p:sp>
      <p:sp>
        <p:nvSpPr>
          <p:cNvPr id="20" name="TextBox 19"/>
          <p:cNvSpPr txBox="1"/>
          <p:nvPr/>
        </p:nvSpPr>
        <p:spPr>
          <a:xfrm>
            <a:off x="19202400" y="12984480"/>
            <a:ext cx="15361920" cy="1682496"/>
          </a:xfrm>
          <a:prstGeom prst="rect">
            <a:avLst/>
          </a:prstGeom>
          <a:noFill/>
        </p:spPr>
        <p:txBody>
          <a:bodyPr wrap="square" lIns="50000" tIns="20000" rIns="50000" bIns="20000" anchor="ctr">
            <a:spAutoFit/>
          </a:bodyPr>
          <a:lstStyle/>
          <a:p>
            <a:pPr algn="l"/>
            <a:r>
              <a:rPr sz="3600" b="0" i="0">
                <a:solidFill>
                  <a:srgbClr val="FFFFFF"/>
                </a:solidFill>
                <a:latin typeface="NVIDIA Sans"/>
              </a:rPr>
              <a:t>NIMService · NIMCache · NIMPipeline · NeMo microservices CRDs</a:t>
            </a:r>
          </a:p>
        </p:txBody>
      </p:sp>
      <p:sp>
        <p:nvSpPr>
          <p:cNvPr id="21" name="Rounded Rectangle 20"/>
          <p:cNvSpPr/>
          <p:nvPr/>
        </p:nvSpPr>
        <p:spPr>
          <a:xfrm>
            <a:off x="9509760" y="14813280"/>
            <a:ext cx="25603200" cy="1682496"/>
          </a:xfrm>
          <a:prstGeom prst="roundRect">
            <a:avLst>
              <a:gd name="adj" fmla="val 4000"/>
            </a:avLst>
          </a:prstGeom>
          <a:solidFill>
            <a:srgbClr val="E2F0D9"/>
          </a:solidFill>
          <a:ln w="12700">
            <a:solidFill>
              <a:srgbClr val="E2F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0" y="14813280"/>
            <a:ext cx="8778240" cy="1682496"/>
          </a:xfrm>
          <a:prstGeom prst="rect">
            <a:avLst/>
          </a:prstGeom>
          <a:noFill/>
        </p:spPr>
        <p:txBody>
          <a:bodyPr wrap="square" lIns="50000" tIns="20000" rIns="50000" bIns="20000" anchor="ctr">
            <a:spAutoFit/>
          </a:bodyPr>
          <a:lstStyle/>
          <a:p>
            <a:pPr algn="l"/>
            <a:r>
              <a:rPr sz="4400" b="1" i="0">
                <a:solidFill>
                  <a:srgbClr val="76B900"/>
                </a:solidFill>
                <a:latin typeface="NVIDIA Sans Medium"/>
              </a:rPr>
              <a:t>NIM + NeMo microservices</a:t>
            </a:r>
          </a:p>
        </p:txBody>
      </p:sp>
      <p:sp>
        <p:nvSpPr>
          <p:cNvPr id="23" name="TextBox 22"/>
          <p:cNvSpPr txBox="1"/>
          <p:nvPr/>
        </p:nvSpPr>
        <p:spPr>
          <a:xfrm>
            <a:off x="19202400" y="14813280"/>
            <a:ext cx="15361920" cy="1682496"/>
          </a:xfrm>
          <a:prstGeom prst="rect">
            <a:avLst/>
          </a:prstGeom>
          <a:noFill/>
        </p:spPr>
        <p:txBody>
          <a:bodyPr wrap="square" lIns="50000" tIns="20000" rIns="50000" bIns="20000" anchor="ctr">
            <a:spAutoFit/>
          </a:bodyPr>
          <a:lstStyle/>
          <a:p>
            <a:pPr algn="l"/>
            <a:r>
              <a:rPr sz="3600" b="0" i="0">
                <a:solidFill>
                  <a:srgbClr val="76B900"/>
                </a:solidFill>
                <a:latin typeface="NVIDIA Sans"/>
              </a:rPr>
              <a:t>Your inference + customization + evaluation + guardrails</a:t>
            </a:r>
          </a:p>
        </p:txBody>
      </p:sp>
      <p:sp>
        <p:nvSpPr>
          <p:cNvPr id="24" name="Rounded Rectangle 23"/>
          <p:cNvSpPr/>
          <p:nvPr/>
        </p:nvSpPr>
        <p:spPr>
          <a:xfrm>
            <a:off x="9509760" y="16642080"/>
            <a:ext cx="25603200" cy="1682496"/>
          </a:xfrm>
          <a:prstGeom prst="roundRect">
            <a:avLst>
              <a:gd name="adj" fmla="val 4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80" y="16642080"/>
            <a:ext cx="8778240" cy="1682496"/>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Application</a:t>
            </a:r>
          </a:p>
        </p:txBody>
      </p:sp>
      <p:sp>
        <p:nvSpPr>
          <p:cNvPr id="26" name="TextBox 25"/>
          <p:cNvSpPr txBox="1"/>
          <p:nvPr/>
        </p:nvSpPr>
        <p:spPr>
          <a:xfrm>
            <a:off x="19202400" y="16642080"/>
            <a:ext cx="15361920" cy="1682496"/>
          </a:xfrm>
          <a:prstGeom prst="rect">
            <a:avLst/>
          </a:prstGeom>
          <a:noFill/>
        </p:spPr>
        <p:txBody>
          <a:bodyPr wrap="square" lIns="50000" tIns="20000" rIns="50000" bIns="20000" anchor="ctr">
            <a:spAutoFit/>
          </a:bodyPr>
          <a:lstStyle/>
          <a:p>
            <a:pPr algn="l"/>
            <a:r>
              <a:rPr sz="3600" b="0" i="0">
                <a:solidFill>
                  <a:srgbClr val="000000"/>
                </a:solidFill>
                <a:latin typeface="NVIDIA Sans"/>
              </a:rPr>
              <a:t>AML agent · RAG pipeline · digital human · enterprise app</a:t>
            </a:r>
          </a:p>
        </p:txBody>
      </p:sp>
      <p:sp>
        <p:nvSpPr>
          <p:cNvPr id="27" name="TextBox 26"/>
          <p:cNvSpPr txBox="1"/>
          <p:nvPr/>
        </p:nvSpPr>
        <p:spPr>
          <a:xfrm>
            <a:off x="1463040" y="18690336"/>
            <a:ext cx="33649920" cy="1097280"/>
          </a:xfrm>
          <a:prstGeom prst="rect">
            <a:avLst/>
          </a:prstGeom>
          <a:noFill/>
        </p:spPr>
        <p:txBody>
          <a:bodyPr wrap="square" lIns="50000" tIns="20000" rIns="50000" bIns="20000" anchor="t">
            <a:spAutoFit/>
          </a:bodyPr>
          <a:lstStyle/>
          <a:p>
            <a:pPr algn="ctr"/>
            <a:r>
              <a:rPr sz="4400" b="1" i="1">
                <a:solidFill>
                  <a:srgbClr val="76B900"/>
                </a:solidFill>
                <a:latin typeface="NVIDIA Sans"/>
              </a:rPr>
              <a:t>Three operators · seven layers · one declarative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GPU Operator — What It Manages</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All the GPU node software, installed and lifecycle-managed as containers</a:t>
            </a:r>
          </a:p>
        </p:txBody>
      </p:sp>
      <p:sp>
        <p:nvSpPr>
          <p:cNvPr id="4" name="Rectangle 3"/>
          <p:cNvSpPr/>
          <p:nvPr/>
        </p:nvSpPr>
        <p:spPr>
          <a:xfrm>
            <a:off x="1463040" y="4901184"/>
            <a:ext cx="2194560" cy="109728"/>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011680" y="6144768"/>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26080" y="5852160"/>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NVIDIA driver</a:t>
            </a:r>
          </a:p>
        </p:txBody>
      </p:sp>
      <p:sp>
        <p:nvSpPr>
          <p:cNvPr id="8" name="TextBox 7"/>
          <p:cNvSpPr txBox="1"/>
          <p:nvPr/>
        </p:nvSpPr>
        <p:spPr>
          <a:xfrm>
            <a:off x="2926080" y="7132320"/>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Datacenter or precompiled driver as a daemonset</a:t>
            </a:r>
          </a:p>
        </p:txBody>
      </p:sp>
      <p:sp>
        <p:nvSpPr>
          <p:cNvPr id="9" name="Rounded Rectangle 8"/>
          <p:cNvSpPr/>
          <p:nvPr/>
        </p:nvSpPr>
        <p:spPr>
          <a:xfrm>
            <a:off x="12691872" y="5669280"/>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240512" y="6144768"/>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54912" y="5852160"/>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Container runtime</a:t>
            </a:r>
          </a:p>
        </p:txBody>
      </p:sp>
      <p:sp>
        <p:nvSpPr>
          <p:cNvPr id="12" name="TextBox 11"/>
          <p:cNvSpPr txBox="1"/>
          <p:nvPr/>
        </p:nvSpPr>
        <p:spPr>
          <a:xfrm>
            <a:off x="14154912" y="7132320"/>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nvidia-container-toolkit — enables GPU access in pods</a:t>
            </a:r>
          </a:p>
        </p:txBody>
      </p:sp>
      <p:sp>
        <p:nvSpPr>
          <p:cNvPr id="13" name="Rounded Rectangle 12"/>
          <p:cNvSpPr/>
          <p:nvPr/>
        </p:nvSpPr>
        <p:spPr>
          <a:xfrm>
            <a:off x="23920704" y="5669280"/>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469344" y="6144768"/>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383744" y="5852160"/>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Device plugin</a:t>
            </a:r>
          </a:p>
        </p:txBody>
      </p:sp>
      <p:sp>
        <p:nvSpPr>
          <p:cNvPr id="16" name="TextBox 15"/>
          <p:cNvSpPr txBox="1"/>
          <p:nvPr/>
        </p:nvSpPr>
        <p:spPr>
          <a:xfrm>
            <a:off x="25383744" y="7132320"/>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Advertises GPUs as a schedulable resource to kubelet</a:t>
            </a:r>
          </a:p>
        </p:txBody>
      </p:sp>
      <p:sp>
        <p:nvSpPr>
          <p:cNvPr id="17" name="Rounded Rectangle 16"/>
          <p:cNvSpPr/>
          <p:nvPr/>
        </p:nvSpPr>
        <p:spPr>
          <a:xfrm>
            <a:off x="1463040" y="9582912"/>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011680" y="10058400"/>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9765792"/>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DCGM exporter</a:t>
            </a:r>
          </a:p>
        </p:txBody>
      </p:sp>
      <p:sp>
        <p:nvSpPr>
          <p:cNvPr id="20" name="TextBox 19"/>
          <p:cNvSpPr txBox="1"/>
          <p:nvPr/>
        </p:nvSpPr>
        <p:spPr>
          <a:xfrm>
            <a:off x="2926080" y="11045952"/>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GPU health + utilization metrics for Prometheus</a:t>
            </a:r>
          </a:p>
        </p:txBody>
      </p:sp>
      <p:sp>
        <p:nvSpPr>
          <p:cNvPr id="21" name="Rounded Rectangle 20"/>
          <p:cNvSpPr/>
          <p:nvPr/>
        </p:nvSpPr>
        <p:spPr>
          <a:xfrm>
            <a:off x="12691872" y="9582912"/>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240512" y="10058400"/>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54912" y="9765792"/>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GPU Feature Discovery</a:t>
            </a:r>
          </a:p>
        </p:txBody>
      </p:sp>
      <p:sp>
        <p:nvSpPr>
          <p:cNvPr id="24" name="TextBox 23"/>
          <p:cNvSpPr txBox="1"/>
          <p:nvPr/>
        </p:nvSpPr>
        <p:spPr>
          <a:xfrm>
            <a:off x="14154912" y="11045952"/>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Labels nodes by GPU model, memory, compute capability</a:t>
            </a:r>
          </a:p>
        </p:txBody>
      </p:sp>
      <p:sp>
        <p:nvSpPr>
          <p:cNvPr id="25" name="Rounded Rectangle 24"/>
          <p:cNvSpPr/>
          <p:nvPr/>
        </p:nvSpPr>
        <p:spPr>
          <a:xfrm>
            <a:off x="23920704" y="9582912"/>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4469344" y="10058400"/>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383744" y="9765792"/>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MIG manager</a:t>
            </a:r>
          </a:p>
        </p:txBody>
      </p:sp>
      <p:sp>
        <p:nvSpPr>
          <p:cNvPr id="28" name="TextBox 27"/>
          <p:cNvSpPr txBox="1"/>
          <p:nvPr/>
        </p:nvSpPr>
        <p:spPr>
          <a:xfrm>
            <a:off x="25383744" y="11045952"/>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Configures Multi-Instance GPU partitions on Hopper/Ampere</a:t>
            </a:r>
          </a:p>
        </p:txBody>
      </p:sp>
      <p:sp>
        <p:nvSpPr>
          <p:cNvPr id="29" name="Rounded Rectangle 28"/>
          <p:cNvSpPr/>
          <p:nvPr/>
        </p:nvSpPr>
        <p:spPr>
          <a:xfrm>
            <a:off x="1463040" y="13496544"/>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011680" y="13972032"/>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26080" y="13679424"/>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vGPU support</a:t>
            </a:r>
          </a:p>
        </p:txBody>
      </p:sp>
      <p:sp>
        <p:nvSpPr>
          <p:cNvPr id="32" name="TextBox 31"/>
          <p:cNvSpPr txBox="1"/>
          <p:nvPr/>
        </p:nvSpPr>
        <p:spPr>
          <a:xfrm>
            <a:off x="2926080" y="14959584"/>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Manages NVIDIA virtual GPU drivers on supported nodes</a:t>
            </a:r>
          </a:p>
        </p:txBody>
      </p:sp>
      <p:sp>
        <p:nvSpPr>
          <p:cNvPr id="33" name="Rounded Rectangle 32"/>
          <p:cNvSpPr/>
          <p:nvPr/>
        </p:nvSpPr>
        <p:spPr>
          <a:xfrm>
            <a:off x="12691872" y="13496544"/>
            <a:ext cx="10789920" cy="3474720"/>
          </a:xfrm>
          <a:prstGeom prst="roundRect">
            <a:avLst>
              <a:gd name="adj" fmla="val 4000"/>
            </a:avLst>
          </a:prstGeom>
          <a:solidFill>
            <a:srgbClr val="FFFFFF"/>
          </a:solidFill>
          <a:ln w="1524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3240512" y="13972032"/>
            <a:ext cx="731520" cy="7315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4154912" y="13679424"/>
            <a:ext cx="8961120" cy="1463040"/>
          </a:xfrm>
          <a:prstGeom prst="rect">
            <a:avLst/>
          </a:prstGeom>
          <a:noFill/>
        </p:spPr>
        <p:txBody>
          <a:bodyPr wrap="square" lIns="50000" tIns="20000" rIns="50000" bIns="20000" anchor="t">
            <a:spAutoFit/>
          </a:bodyPr>
          <a:lstStyle/>
          <a:p>
            <a:pPr algn="l"/>
            <a:r>
              <a:rPr sz="4400" b="1" i="0">
                <a:solidFill>
                  <a:srgbClr val="5D1682"/>
                </a:solidFill>
                <a:latin typeface="NVIDIA Sans Medium"/>
              </a:rPr>
              <a:t>Sandbox device plugin</a:t>
            </a:r>
          </a:p>
        </p:txBody>
      </p:sp>
      <p:sp>
        <p:nvSpPr>
          <p:cNvPr id="36" name="TextBox 35"/>
          <p:cNvSpPr txBox="1"/>
          <p:nvPr/>
        </p:nvSpPr>
        <p:spPr>
          <a:xfrm>
            <a:off x="14154912" y="14959584"/>
            <a:ext cx="8961120" cy="1828800"/>
          </a:xfrm>
          <a:prstGeom prst="rect">
            <a:avLst/>
          </a:prstGeom>
          <a:noFill/>
        </p:spPr>
        <p:txBody>
          <a:bodyPr wrap="square" lIns="50000" tIns="20000" rIns="50000" bIns="20000" anchor="t">
            <a:spAutoFit/>
          </a:bodyPr>
          <a:lstStyle/>
          <a:p>
            <a:pPr algn="l"/>
            <a:r>
              <a:rPr sz="3600" b="0" i="0">
                <a:solidFill>
                  <a:srgbClr val="000000"/>
                </a:solidFill>
                <a:latin typeface="NVIDIA Sans"/>
              </a:rPr>
              <a:t>GPU passthrough for KubeVirt VM workloads</a:t>
            </a:r>
          </a:p>
        </p:txBody>
      </p:sp>
      <p:sp>
        <p:nvSpPr>
          <p:cNvPr id="37" name="Rounded Rectangle 36"/>
          <p:cNvSpPr/>
          <p:nvPr/>
        </p:nvSpPr>
        <p:spPr>
          <a:xfrm>
            <a:off x="1463040" y="18105120"/>
            <a:ext cx="33649920" cy="1280160"/>
          </a:xfrm>
          <a:prstGeom prst="roundRect">
            <a:avLst>
              <a:gd name="adj" fmla="val 4000"/>
            </a:avLst>
          </a:prstGeom>
          <a:solidFill>
            <a:srgbClr val="F7F7F7"/>
          </a:solidFill>
          <a:ln w="127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463040" y="18105120"/>
            <a:ext cx="33649920" cy="1280160"/>
          </a:xfrm>
          <a:prstGeom prst="rect">
            <a:avLst/>
          </a:prstGeom>
          <a:noFill/>
        </p:spPr>
        <p:txBody>
          <a:bodyPr wrap="square" lIns="50000" tIns="20000" rIns="50000" bIns="20000" anchor="ctr">
            <a:spAutoFit/>
          </a:bodyPr>
          <a:lstStyle/>
          <a:p>
            <a:pPr algn="ctr"/>
            <a:r>
              <a:rPr sz="4000" b="1" i="1">
                <a:solidFill>
                  <a:srgbClr val="5D1682"/>
                </a:solidFill>
                <a:latin typeface="Consolas"/>
              </a:rPr>
              <a:t>→ One ClusterPolicy CR. ~7 components installed on every GPU node, kept in version-lock. helm install nvidia/gpu-operator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GPU Operator — `ClusterPolicy` CRD</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One Custom Resource defines the entire GPU software stack</a:t>
            </a:r>
          </a:p>
        </p:txBody>
      </p:sp>
      <p:sp>
        <p:nvSpPr>
          <p:cNvPr id="4" name="Rectangle 3"/>
          <p:cNvSpPr/>
          <p:nvPr/>
        </p:nvSpPr>
        <p:spPr>
          <a:xfrm>
            <a:off x="1463040" y="4901184"/>
            <a:ext cx="2194560" cy="109728"/>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3167360" cy="13167360"/>
          </a:xfrm>
          <a:prstGeom prst="roundRect">
            <a:avLst>
              <a:gd name="adj" fmla="val 4000"/>
            </a:avLst>
          </a:prstGeom>
          <a:solidFill>
            <a:srgbClr val="FFFFFF"/>
          </a:solidFill>
          <a:ln w="1905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6217920"/>
            <a:ext cx="13167360" cy="1463040"/>
          </a:xfrm>
          <a:prstGeom prst="rect">
            <a:avLst/>
          </a:prstGeom>
          <a:noFill/>
        </p:spPr>
        <p:txBody>
          <a:bodyPr wrap="square" lIns="50000" tIns="20000" rIns="50000" bIns="20000" anchor="ctr">
            <a:spAutoFit/>
          </a:bodyPr>
          <a:lstStyle/>
          <a:p>
            <a:pPr algn="ctr"/>
            <a:r>
              <a:rPr sz="5200" b="1" i="0">
                <a:solidFill>
                  <a:srgbClr val="5D1682"/>
                </a:solidFill>
                <a:latin typeface="NVIDIA Sans Medium"/>
              </a:rPr>
              <a:t>What ClusterPolicy declares</a:t>
            </a:r>
          </a:p>
        </p:txBody>
      </p:sp>
      <p:sp>
        <p:nvSpPr>
          <p:cNvPr id="7" name="TextBox 6"/>
          <p:cNvSpPr txBox="1"/>
          <p:nvPr/>
        </p:nvSpPr>
        <p:spPr>
          <a:xfrm>
            <a:off x="2194560" y="8046720"/>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driver</a:t>
            </a:r>
          </a:p>
        </p:txBody>
      </p:sp>
      <p:sp>
        <p:nvSpPr>
          <p:cNvPr id="8" name="TextBox 7"/>
          <p:cNvSpPr txBox="1"/>
          <p:nvPr/>
        </p:nvSpPr>
        <p:spPr>
          <a:xfrm>
            <a:off x="7498079" y="8046720"/>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Image + version of the NVIDIA driver container</a:t>
            </a:r>
          </a:p>
        </p:txBody>
      </p:sp>
      <p:sp>
        <p:nvSpPr>
          <p:cNvPr id="9" name="TextBox 8"/>
          <p:cNvSpPr txBox="1"/>
          <p:nvPr/>
        </p:nvSpPr>
        <p:spPr>
          <a:xfrm>
            <a:off x="2194560" y="9582912"/>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toolkit</a:t>
            </a:r>
          </a:p>
        </p:txBody>
      </p:sp>
      <p:sp>
        <p:nvSpPr>
          <p:cNvPr id="10" name="TextBox 9"/>
          <p:cNvSpPr txBox="1"/>
          <p:nvPr/>
        </p:nvSpPr>
        <p:spPr>
          <a:xfrm>
            <a:off x="7498079" y="9582912"/>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nvidia-container-toolkit image + version</a:t>
            </a:r>
          </a:p>
        </p:txBody>
      </p:sp>
      <p:sp>
        <p:nvSpPr>
          <p:cNvPr id="11" name="TextBox 10"/>
          <p:cNvSpPr txBox="1"/>
          <p:nvPr/>
        </p:nvSpPr>
        <p:spPr>
          <a:xfrm>
            <a:off x="2194560" y="11119104"/>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devicePlugin</a:t>
            </a:r>
          </a:p>
        </p:txBody>
      </p:sp>
      <p:sp>
        <p:nvSpPr>
          <p:cNvPr id="12" name="TextBox 11"/>
          <p:cNvSpPr txBox="1"/>
          <p:nvPr/>
        </p:nvSpPr>
        <p:spPr>
          <a:xfrm>
            <a:off x="7498079" y="11119104"/>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Device plugin image + advertised resource name</a:t>
            </a:r>
          </a:p>
        </p:txBody>
      </p:sp>
      <p:sp>
        <p:nvSpPr>
          <p:cNvPr id="13" name="TextBox 12"/>
          <p:cNvSpPr txBox="1"/>
          <p:nvPr/>
        </p:nvSpPr>
        <p:spPr>
          <a:xfrm>
            <a:off x="2194560" y="12655296"/>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dcgm / dcgmExporter</a:t>
            </a:r>
          </a:p>
        </p:txBody>
      </p:sp>
      <p:sp>
        <p:nvSpPr>
          <p:cNvPr id="14" name="TextBox 13"/>
          <p:cNvSpPr txBox="1"/>
          <p:nvPr/>
        </p:nvSpPr>
        <p:spPr>
          <a:xfrm>
            <a:off x="7498079" y="12655296"/>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DCGM agent + Prometheus exporter</a:t>
            </a:r>
          </a:p>
        </p:txBody>
      </p:sp>
      <p:sp>
        <p:nvSpPr>
          <p:cNvPr id="15" name="TextBox 14"/>
          <p:cNvSpPr txBox="1"/>
          <p:nvPr/>
        </p:nvSpPr>
        <p:spPr>
          <a:xfrm>
            <a:off x="2194560" y="14191488"/>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mig</a:t>
            </a:r>
          </a:p>
        </p:txBody>
      </p:sp>
      <p:sp>
        <p:nvSpPr>
          <p:cNvPr id="16" name="TextBox 15"/>
          <p:cNvSpPr txBox="1"/>
          <p:nvPr/>
        </p:nvSpPr>
        <p:spPr>
          <a:xfrm>
            <a:off x="7498079" y="14191488"/>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MIG strategy (none / single / mixed)</a:t>
            </a:r>
          </a:p>
        </p:txBody>
      </p:sp>
      <p:sp>
        <p:nvSpPr>
          <p:cNvPr id="17" name="TextBox 16"/>
          <p:cNvSpPr txBox="1"/>
          <p:nvPr/>
        </p:nvSpPr>
        <p:spPr>
          <a:xfrm>
            <a:off x="2194560" y="15727680"/>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gfd</a:t>
            </a:r>
          </a:p>
        </p:txBody>
      </p:sp>
      <p:sp>
        <p:nvSpPr>
          <p:cNvPr id="18" name="TextBox 17"/>
          <p:cNvSpPr txBox="1"/>
          <p:nvPr/>
        </p:nvSpPr>
        <p:spPr>
          <a:xfrm>
            <a:off x="7498079" y="15727680"/>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GPU Feature Discovery for node labelling</a:t>
            </a:r>
          </a:p>
        </p:txBody>
      </p:sp>
      <p:sp>
        <p:nvSpPr>
          <p:cNvPr id="19" name="TextBox 18"/>
          <p:cNvSpPr txBox="1"/>
          <p:nvPr/>
        </p:nvSpPr>
        <p:spPr>
          <a:xfrm>
            <a:off x="2194560" y="17263872"/>
            <a:ext cx="5120640" cy="1463040"/>
          </a:xfrm>
          <a:prstGeom prst="rect">
            <a:avLst/>
          </a:prstGeom>
          <a:noFill/>
        </p:spPr>
        <p:txBody>
          <a:bodyPr wrap="square" lIns="50000" tIns="20000" rIns="50000" bIns="20000" anchor="ctr">
            <a:spAutoFit/>
          </a:bodyPr>
          <a:lstStyle/>
          <a:p>
            <a:pPr algn="l"/>
            <a:r>
              <a:rPr sz="4000" b="1" i="0">
                <a:solidFill>
                  <a:srgbClr val="5D1682"/>
                </a:solidFill>
                <a:latin typeface="Consolas"/>
              </a:rPr>
              <a:t>nodeSelector</a:t>
            </a:r>
          </a:p>
        </p:txBody>
      </p:sp>
      <p:sp>
        <p:nvSpPr>
          <p:cNvPr id="20" name="TextBox 19"/>
          <p:cNvSpPr txBox="1"/>
          <p:nvPr/>
        </p:nvSpPr>
        <p:spPr>
          <a:xfrm>
            <a:off x="7498079" y="17263872"/>
            <a:ext cx="6949440" cy="1463040"/>
          </a:xfrm>
          <a:prstGeom prst="rect">
            <a:avLst/>
          </a:prstGeom>
          <a:noFill/>
        </p:spPr>
        <p:txBody>
          <a:bodyPr wrap="square" lIns="50000" tIns="20000" rIns="50000" bIns="20000" anchor="ctr">
            <a:spAutoFit/>
          </a:bodyPr>
          <a:lstStyle/>
          <a:p>
            <a:pPr algn="l"/>
            <a:r>
              <a:rPr sz="3600" b="0" i="0">
                <a:solidFill>
                  <a:srgbClr val="000000"/>
                </a:solidFill>
                <a:latin typeface="NVIDIA Sans"/>
              </a:rPr>
              <a:t>Which nodes the operator should target</a:t>
            </a:r>
          </a:p>
        </p:txBody>
      </p:sp>
      <p:sp>
        <p:nvSpPr>
          <p:cNvPr id="21" name="TextBox 20"/>
          <p:cNvSpPr txBox="1"/>
          <p:nvPr/>
        </p:nvSpPr>
        <p:spPr>
          <a:xfrm>
            <a:off x="15179040" y="6217920"/>
            <a:ext cx="19751040" cy="1280160"/>
          </a:xfrm>
          <a:prstGeom prst="rect">
            <a:avLst/>
          </a:prstGeom>
          <a:noFill/>
        </p:spPr>
        <p:txBody>
          <a:bodyPr wrap="square" lIns="50000" tIns="20000" rIns="50000" bIns="20000" anchor="ctr">
            <a:spAutoFit/>
          </a:bodyPr>
          <a:lstStyle/>
          <a:p>
            <a:pPr algn="l"/>
            <a:r>
              <a:rPr sz="4000" b="0" i="1">
                <a:solidFill>
                  <a:srgbClr val="5E5E5E"/>
                </a:solidFill>
                <a:latin typeface="Consolas"/>
              </a:rPr>
              <a:t>ClusterPolicy (excerpt)</a:t>
            </a:r>
          </a:p>
        </p:txBody>
      </p:sp>
      <p:sp>
        <p:nvSpPr>
          <p:cNvPr id="22" name="Rounded Rectangle 21"/>
          <p:cNvSpPr/>
          <p:nvPr/>
        </p:nvSpPr>
        <p:spPr>
          <a:xfrm>
            <a:off x="15179040" y="7680960"/>
            <a:ext cx="19751040" cy="11155680"/>
          </a:xfrm>
          <a:prstGeom prst="roundRect">
            <a:avLst>
              <a:gd name="adj" fmla="val 2000"/>
            </a:avLst>
          </a:prstGeom>
          <a:solidFill>
            <a:srgbClr val="1F2A38"/>
          </a:solidFill>
          <a:ln w="635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617952" y="8046720"/>
            <a:ext cx="18873216" cy="10424160"/>
          </a:xfrm>
          <a:prstGeom prst="rect">
            <a:avLst/>
          </a:prstGeom>
          <a:noFill/>
        </p:spPr>
        <p:txBody>
          <a:bodyPr wrap="square" lIns="50000" tIns="20000" rIns="50000" bIns="20000" anchor="t">
            <a:spAutoFit/>
          </a:bodyPr>
          <a:lstStyle/>
          <a:p>
            <a:pPr algn="l"/>
            <a:r>
              <a:rPr sz="4000" b="0" i="0">
                <a:solidFill>
                  <a:srgbClr val="E8F0EA"/>
                </a:solidFill>
                <a:latin typeface="Consolas"/>
              </a:rPr>
              <a:t>apiVersion: nvidia.com/v1</a:t>
            </a:r>
          </a:p>
          <a:p>
            <a:pPr algn="l"/>
            <a:r>
              <a:rPr sz="4000" b="0" i="0">
                <a:solidFill>
                  <a:srgbClr val="E8F0EA"/>
                </a:solidFill>
                <a:latin typeface="Consolas"/>
              </a:rPr>
              <a:t>kind: ClusterPolicy</a:t>
            </a:r>
          </a:p>
          <a:p>
            <a:pPr algn="l"/>
            <a:r>
              <a:rPr sz="4000" b="0" i="0">
                <a:solidFill>
                  <a:srgbClr val="E8F0EA"/>
                </a:solidFill>
                <a:latin typeface="Consolas"/>
              </a:rPr>
              <a:t>metadata:</a:t>
            </a:r>
          </a:p>
          <a:p>
            <a:pPr algn="l"/>
            <a:r>
              <a:rPr sz="4000" b="0" i="0">
                <a:solidFill>
                  <a:srgbClr val="E8F0EA"/>
                </a:solidFill>
                <a:latin typeface="Consolas"/>
              </a:rPr>
              <a:t>  name: cluster-policy</a:t>
            </a:r>
          </a:p>
          <a:p>
            <a:pPr algn="l"/>
            <a:r>
              <a:rPr sz="4000" b="0" i="0">
                <a:solidFill>
                  <a:srgbClr val="E8F0EA"/>
                </a:solidFill>
                <a:latin typeface="Consolas"/>
              </a:rPr>
              <a:t>spec:</a:t>
            </a:r>
          </a:p>
          <a:p>
            <a:pPr algn="l"/>
            <a:r>
              <a:rPr sz="4000" b="0" i="0">
                <a:solidFill>
                  <a:srgbClr val="E8F0EA"/>
                </a:solidFill>
                <a:latin typeface="Consolas"/>
              </a:rPr>
              <a:t>  driver:</a:t>
            </a:r>
          </a:p>
          <a:p>
            <a:pPr algn="l"/>
            <a:r>
              <a:rPr sz="4000" b="0" i="0">
                <a:solidFill>
                  <a:srgbClr val="E8F0EA"/>
                </a:solidFill>
                <a:latin typeface="Consolas"/>
              </a:rPr>
              <a:t>    enabled: true</a:t>
            </a:r>
          </a:p>
          <a:p>
            <a:pPr algn="l"/>
            <a:r>
              <a:rPr sz="4000" b="0" i="0">
                <a:solidFill>
                  <a:srgbClr val="E8F0EA"/>
                </a:solidFill>
                <a:latin typeface="Consolas"/>
              </a:rPr>
              <a:t>    version: "550.90.07"</a:t>
            </a:r>
          </a:p>
          <a:p>
            <a:pPr algn="l"/>
            <a:r>
              <a:rPr sz="4000" b="0" i="0">
                <a:solidFill>
                  <a:srgbClr val="E8F0EA"/>
                </a:solidFill>
                <a:latin typeface="Consolas"/>
              </a:rPr>
              <a:t>  toolkit:      { enabled: true }</a:t>
            </a:r>
          </a:p>
          <a:p>
            <a:pPr algn="l"/>
            <a:r>
              <a:rPr sz="4000" b="0" i="0">
                <a:solidFill>
                  <a:srgbClr val="E8F0EA"/>
                </a:solidFill>
                <a:latin typeface="Consolas"/>
              </a:rPr>
              <a:t>  devicePlugin: { enabled: true }</a:t>
            </a:r>
          </a:p>
          <a:p>
            <a:pPr algn="l"/>
            <a:r>
              <a:rPr sz="4000" b="0" i="0">
                <a:solidFill>
                  <a:srgbClr val="E8F0EA"/>
                </a:solidFill>
                <a:latin typeface="Consolas"/>
              </a:rPr>
              <a:t>  dcgmExporter: { enabled: true }</a:t>
            </a:r>
          </a:p>
          <a:p>
            <a:pPr algn="l"/>
            <a:r>
              <a:rPr sz="4000" b="0" i="0">
                <a:solidFill>
                  <a:srgbClr val="E8F0EA"/>
                </a:solidFill>
                <a:latin typeface="Consolas"/>
              </a:rPr>
              <a:t>  gfd:          { enabled: true }</a:t>
            </a:r>
          </a:p>
          <a:p>
            <a:pPr algn="l"/>
            <a:r>
              <a:rPr sz="4000" b="0" i="0">
                <a:solidFill>
                  <a:srgbClr val="E8F0EA"/>
                </a:solidFill>
                <a:latin typeface="Consolas"/>
              </a:rPr>
              <a:t>  mig:</a:t>
            </a:r>
          </a:p>
          <a:p>
            <a:pPr algn="l"/>
            <a:r>
              <a:rPr sz="4000" b="0" i="0">
                <a:solidFill>
                  <a:srgbClr val="E8F0EA"/>
                </a:solidFill>
                <a:latin typeface="Consolas"/>
              </a:rPr>
              <a:t>    strategy: single</a:t>
            </a:r>
          </a:p>
          <a:p>
            <a:pPr algn="l"/>
            <a:r>
              <a:rPr sz="4000" b="0" i="0">
                <a:solidFill>
                  <a:srgbClr val="E8F0EA"/>
                </a:solidFill>
                <a:latin typeface="Consolas"/>
              </a:rPr>
              <a:t>  nodeSelector:</a:t>
            </a:r>
          </a:p>
          <a:p>
            <a:pPr algn="l"/>
            <a:r>
              <a:rPr sz="4000" b="0" i="0">
                <a:solidFill>
                  <a:srgbClr val="E8F0EA"/>
                </a:solidFill>
                <a:latin typeface="Consolas"/>
              </a:rPr>
              <a:t>    nvidia.com/gpu.present: "true"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Network Operator — What It Manages</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Fast networking, RDMA, and GPUDirect for AI workloads on Kubernetes</a:t>
            </a:r>
          </a:p>
        </p:txBody>
      </p:sp>
      <p:sp>
        <p:nvSpPr>
          <p:cNvPr id="4" name="Rectangle 3"/>
          <p:cNvSpPr/>
          <p:nvPr/>
        </p:nvSpPr>
        <p:spPr>
          <a:xfrm>
            <a:off x="1463040" y="4901184"/>
            <a:ext cx="2194560" cy="109728"/>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011680" y="610819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852928" y="581558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OFED driver</a:t>
            </a:r>
          </a:p>
        </p:txBody>
      </p:sp>
      <p:sp>
        <p:nvSpPr>
          <p:cNvPr id="8" name="TextBox 7"/>
          <p:cNvSpPr txBox="1"/>
          <p:nvPr/>
        </p:nvSpPr>
        <p:spPr>
          <a:xfrm>
            <a:off x="2852928" y="698601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Mellanox OpenFabrics driver as a container — InfiniBand + RoCE</a:t>
            </a:r>
          </a:p>
        </p:txBody>
      </p:sp>
      <p:sp>
        <p:nvSpPr>
          <p:cNvPr id="9" name="Rounded Rectangle 8"/>
          <p:cNvSpPr/>
          <p:nvPr/>
        </p:nvSpPr>
        <p:spPr>
          <a:xfrm>
            <a:off x="12691872" y="566928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240512" y="610819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081760" y="581558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RDMA shared device plugin</a:t>
            </a:r>
          </a:p>
        </p:txBody>
      </p:sp>
      <p:sp>
        <p:nvSpPr>
          <p:cNvPr id="12" name="TextBox 11"/>
          <p:cNvSpPr txBox="1"/>
          <p:nvPr/>
        </p:nvSpPr>
        <p:spPr>
          <a:xfrm>
            <a:off x="14081760" y="698601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Lets pods share RDMA devices without exclusive ownership</a:t>
            </a:r>
          </a:p>
        </p:txBody>
      </p:sp>
      <p:sp>
        <p:nvSpPr>
          <p:cNvPr id="13" name="Rounded Rectangle 12"/>
          <p:cNvSpPr/>
          <p:nvPr/>
        </p:nvSpPr>
        <p:spPr>
          <a:xfrm>
            <a:off x="23920704" y="566928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469344" y="610819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310592" y="581558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SR-IOV device plugin</a:t>
            </a:r>
          </a:p>
        </p:txBody>
      </p:sp>
      <p:sp>
        <p:nvSpPr>
          <p:cNvPr id="16" name="TextBox 15"/>
          <p:cNvSpPr txBox="1"/>
          <p:nvPr/>
        </p:nvSpPr>
        <p:spPr>
          <a:xfrm>
            <a:off x="25310592" y="698601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Exposes SR-IOV virtual functions as pod-level resources</a:t>
            </a:r>
          </a:p>
        </p:txBody>
      </p:sp>
      <p:sp>
        <p:nvSpPr>
          <p:cNvPr id="17" name="Rounded Rectangle 16"/>
          <p:cNvSpPr/>
          <p:nvPr/>
        </p:nvSpPr>
        <p:spPr>
          <a:xfrm>
            <a:off x="1463040" y="914400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011680" y="958291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52928" y="929030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Multus CNI</a:t>
            </a:r>
          </a:p>
        </p:txBody>
      </p:sp>
      <p:sp>
        <p:nvSpPr>
          <p:cNvPr id="20" name="TextBox 19"/>
          <p:cNvSpPr txBox="1"/>
          <p:nvPr/>
        </p:nvSpPr>
        <p:spPr>
          <a:xfrm>
            <a:off x="2852928" y="1046073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Adds secondary network interfaces to pods (per-pod NICs)</a:t>
            </a:r>
          </a:p>
        </p:txBody>
      </p:sp>
      <p:sp>
        <p:nvSpPr>
          <p:cNvPr id="21" name="Rounded Rectangle 20"/>
          <p:cNvSpPr/>
          <p:nvPr/>
        </p:nvSpPr>
        <p:spPr>
          <a:xfrm>
            <a:off x="12691872" y="914400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240512" y="958291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081760" y="929030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IPoIB CNI</a:t>
            </a:r>
          </a:p>
        </p:txBody>
      </p:sp>
      <p:sp>
        <p:nvSpPr>
          <p:cNvPr id="24" name="TextBox 23"/>
          <p:cNvSpPr txBox="1"/>
          <p:nvPr/>
        </p:nvSpPr>
        <p:spPr>
          <a:xfrm>
            <a:off x="14081760" y="1046073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IP-over-InfiniBand interfaces — high-bandwidth IP traffic</a:t>
            </a:r>
          </a:p>
        </p:txBody>
      </p:sp>
      <p:sp>
        <p:nvSpPr>
          <p:cNvPr id="25" name="Rounded Rectangle 24"/>
          <p:cNvSpPr/>
          <p:nvPr/>
        </p:nvSpPr>
        <p:spPr>
          <a:xfrm>
            <a:off x="23920704" y="914400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4469344" y="958291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310592" y="929030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MacvlanNetwork CRD</a:t>
            </a:r>
          </a:p>
        </p:txBody>
      </p:sp>
      <p:sp>
        <p:nvSpPr>
          <p:cNvPr id="28" name="TextBox 27"/>
          <p:cNvSpPr txBox="1"/>
          <p:nvPr/>
        </p:nvSpPr>
        <p:spPr>
          <a:xfrm>
            <a:off x="25310592" y="1046073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Per-pod macvlan child interfaces with IPAM</a:t>
            </a:r>
          </a:p>
        </p:txBody>
      </p:sp>
      <p:sp>
        <p:nvSpPr>
          <p:cNvPr id="29" name="Rounded Rectangle 28"/>
          <p:cNvSpPr/>
          <p:nvPr/>
        </p:nvSpPr>
        <p:spPr>
          <a:xfrm>
            <a:off x="1463040" y="1261872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011680" y="1305763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852928" y="1276502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HostDeviceNetwork CRD</a:t>
            </a:r>
          </a:p>
        </p:txBody>
      </p:sp>
      <p:sp>
        <p:nvSpPr>
          <p:cNvPr id="32" name="TextBox 31"/>
          <p:cNvSpPr txBox="1"/>
          <p:nvPr/>
        </p:nvSpPr>
        <p:spPr>
          <a:xfrm>
            <a:off x="2852928" y="1393545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Direct host-device attachment for SR-IOV / passthrough</a:t>
            </a:r>
          </a:p>
        </p:txBody>
      </p:sp>
      <p:sp>
        <p:nvSpPr>
          <p:cNvPr id="33" name="Rounded Rectangle 32"/>
          <p:cNvSpPr/>
          <p:nvPr/>
        </p:nvSpPr>
        <p:spPr>
          <a:xfrm>
            <a:off x="12691872" y="1261872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3240512" y="1305763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4081760" y="1276502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NVIDIA IPAM</a:t>
            </a:r>
          </a:p>
        </p:txBody>
      </p:sp>
      <p:sp>
        <p:nvSpPr>
          <p:cNvPr id="36" name="TextBox 35"/>
          <p:cNvSpPr txBox="1"/>
          <p:nvPr/>
        </p:nvSpPr>
        <p:spPr>
          <a:xfrm>
            <a:off x="14081760" y="1393545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Cluster-scoped IP address management for secondary networks</a:t>
            </a:r>
          </a:p>
        </p:txBody>
      </p:sp>
      <p:sp>
        <p:nvSpPr>
          <p:cNvPr id="37" name="Rounded Rectangle 36"/>
          <p:cNvSpPr/>
          <p:nvPr/>
        </p:nvSpPr>
        <p:spPr>
          <a:xfrm>
            <a:off x="23920704" y="12618720"/>
            <a:ext cx="10789920" cy="3108960"/>
          </a:xfrm>
          <a:prstGeom prst="roundRect">
            <a:avLst>
              <a:gd name="adj" fmla="val 4000"/>
            </a:avLst>
          </a:prstGeom>
          <a:solidFill>
            <a:srgbClr val="FFFFFF"/>
          </a:solidFill>
          <a:ln w="1524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4469344" y="13057632"/>
            <a:ext cx="658368" cy="658368"/>
          </a:xfrm>
          <a:prstGeom prst="ellipse">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310592" y="12765024"/>
            <a:ext cx="9034272" cy="1280160"/>
          </a:xfrm>
          <a:prstGeom prst="rect">
            <a:avLst/>
          </a:prstGeom>
          <a:noFill/>
        </p:spPr>
        <p:txBody>
          <a:bodyPr wrap="square" lIns="50000" tIns="20000" rIns="50000" bIns="20000" anchor="t">
            <a:spAutoFit/>
          </a:bodyPr>
          <a:lstStyle/>
          <a:p>
            <a:pPr algn="l"/>
            <a:r>
              <a:rPr sz="4000" b="1" i="0">
                <a:solidFill>
                  <a:srgbClr val="0071C5"/>
                </a:solidFill>
                <a:latin typeface="NVIDIA Sans Medium"/>
              </a:rPr>
              <a:t>NIC Configuration Operator</a:t>
            </a:r>
          </a:p>
        </p:txBody>
      </p:sp>
      <p:sp>
        <p:nvSpPr>
          <p:cNvPr id="40" name="TextBox 39"/>
          <p:cNvSpPr txBox="1"/>
          <p:nvPr/>
        </p:nvSpPr>
        <p:spPr>
          <a:xfrm>
            <a:off x="25310592" y="13935456"/>
            <a:ext cx="9034272" cy="1645920"/>
          </a:xfrm>
          <a:prstGeom prst="rect">
            <a:avLst/>
          </a:prstGeom>
          <a:noFill/>
        </p:spPr>
        <p:txBody>
          <a:bodyPr wrap="square" lIns="50000" tIns="20000" rIns="50000" bIns="20000" anchor="t">
            <a:spAutoFit/>
          </a:bodyPr>
          <a:lstStyle/>
          <a:p>
            <a:pPr algn="l"/>
            <a:r>
              <a:rPr sz="3600" b="0" i="0">
                <a:solidFill>
                  <a:srgbClr val="000000"/>
                </a:solidFill>
                <a:latin typeface="NVIDIA Sans"/>
              </a:rPr>
              <a:t>Programs NIC firmware-level settings declaratively</a:t>
            </a:r>
          </a:p>
        </p:txBody>
      </p:sp>
      <p:sp>
        <p:nvSpPr>
          <p:cNvPr id="41" name="Rounded Rectangle 40"/>
          <p:cNvSpPr/>
          <p:nvPr/>
        </p:nvSpPr>
        <p:spPr>
          <a:xfrm>
            <a:off x="1463040" y="17739360"/>
            <a:ext cx="33649920" cy="1280160"/>
          </a:xfrm>
          <a:prstGeom prst="roundRect">
            <a:avLst>
              <a:gd name="adj" fmla="val 4000"/>
            </a:avLst>
          </a:prstGeom>
          <a:solidFill>
            <a:srgbClr val="F7F7F7"/>
          </a:solidFill>
          <a:ln w="1270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463040" y="17739360"/>
            <a:ext cx="33649920" cy="1280160"/>
          </a:xfrm>
          <a:prstGeom prst="rect">
            <a:avLst/>
          </a:prstGeom>
          <a:noFill/>
        </p:spPr>
        <p:txBody>
          <a:bodyPr wrap="square" lIns="50000" tIns="20000" rIns="50000" bIns="20000" anchor="ctr">
            <a:spAutoFit/>
          </a:bodyPr>
          <a:lstStyle/>
          <a:p>
            <a:pPr algn="ctr"/>
            <a:r>
              <a:rPr sz="4000" b="1" i="1">
                <a:solidFill>
                  <a:srgbClr val="0071C5"/>
                </a:solidFill>
                <a:latin typeface="Consolas"/>
              </a:rPr>
              <a:t>→ One NICClusterPolicy CR. helm install nvidia/network-operator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Network Operator — `NICClusterPolicy` CRD</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Compose your fabric — pick sub-states by what your AI workload needs</a:t>
            </a:r>
          </a:p>
        </p:txBody>
      </p:sp>
      <p:sp>
        <p:nvSpPr>
          <p:cNvPr id="4" name="Rectangle 3"/>
          <p:cNvSpPr/>
          <p:nvPr/>
        </p:nvSpPr>
        <p:spPr>
          <a:xfrm>
            <a:off x="1463040" y="4901184"/>
            <a:ext cx="2194560" cy="109728"/>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3167360" cy="13167360"/>
          </a:xfrm>
          <a:prstGeom prst="roundRect">
            <a:avLst>
              <a:gd name="adj" fmla="val 4000"/>
            </a:avLst>
          </a:prstGeom>
          <a:solidFill>
            <a:srgbClr val="FFFFFF"/>
          </a:solidFill>
          <a:ln w="1905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6217920"/>
            <a:ext cx="13167360" cy="1463040"/>
          </a:xfrm>
          <a:prstGeom prst="rect">
            <a:avLst/>
          </a:prstGeom>
          <a:noFill/>
        </p:spPr>
        <p:txBody>
          <a:bodyPr wrap="square" lIns="50000" tIns="20000" rIns="50000" bIns="20000" anchor="ctr">
            <a:spAutoFit/>
          </a:bodyPr>
          <a:lstStyle/>
          <a:p>
            <a:pPr algn="ctr"/>
            <a:r>
              <a:rPr sz="5200" b="1" i="0">
                <a:solidFill>
                  <a:srgbClr val="0071C5"/>
                </a:solidFill>
                <a:latin typeface="NVIDIA Sans Medium"/>
              </a:rPr>
              <a:t>Sub-state knobs</a:t>
            </a:r>
          </a:p>
        </p:txBody>
      </p:sp>
      <p:sp>
        <p:nvSpPr>
          <p:cNvPr id="7" name="TextBox 6"/>
          <p:cNvSpPr txBox="1"/>
          <p:nvPr/>
        </p:nvSpPr>
        <p:spPr>
          <a:xfrm>
            <a:off x="2011680" y="8046720"/>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ofedDriver</a:t>
            </a:r>
          </a:p>
        </p:txBody>
      </p:sp>
      <p:sp>
        <p:nvSpPr>
          <p:cNvPr id="8" name="TextBox 7"/>
          <p:cNvSpPr txBox="1"/>
          <p:nvPr/>
        </p:nvSpPr>
        <p:spPr>
          <a:xfrm>
            <a:off x="8412480" y="8046720"/>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MOFED driver container</a:t>
            </a:r>
          </a:p>
        </p:txBody>
      </p:sp>
      <p:sp>
        <p:nvSpPr>
          <p:cNvPr id="9" name="TextBox 8"/>
          <p:cNvSpPr txBox="1"/>
          <p:nvPr/>
        </p:nvSpPr>
        <p:spPr>
          <a:xfrm>
            <a:off x="2011680" y="9436608"/>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rdmaSharedDevicePlugin</a:t>
            </a:r>
          </a:p>
        </p:txBody>
      </p:sp>
      <p:sp>
        <p:nvSpPr>
          <p:cNvPr id="10" name="TextBox 9"/>
          <p:cNvSpPr txBox="1"/>
          <p:nvPr/>
        </p:nvSpPr>
        <p:spPr>
          <a:xfrm>
            <a:off x="8412480" y="9436608"/>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Share an RDMA device across pods</a:t>
            </a:r>
          </a:p>
        </p:txBody>
      </p:sp>
      <p:sp>
        <p:nvSpPr>
          <p:cNvPr id="11" name="TextBox 10"/>
          <p:cNvSpPr txBox="1"/>
          <p:nvPr/>
        </p:nvSpPr>
        <p:spPr>
          <a:xfrm>
            <a:off x="2011680" y="10826496"/>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sriovDevicePlugin</a:t>
            </a:r>
          </a:p>
        </p:txBody>
      </p:sp>
      <p:sp>
        <p:nvSpPr>
          <p:cNvPr id="12" name="TextBox 11"/>
          <p:cNvSpPr txBox="1"/>
          <p:nvPr/>
        </p:nvSpPr>
        <p:spPr>
          <a:xfrm>
            <a:off x="8412480" y="10826496"/>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Expose SR-IOV VFs as resources</a:t>
            </a:r>
          </a:p>
        </p:txBody>
      </p:sp>
      <p:sp>
        <p:nvSpPr>
          <p:cNvPr id="13" name="TextBox 12"/>
          <p:cNvSpPr txBox="1"/>
          <p:nvPr/>
        </p:nvSpPr>
        <p:spPr>
          <a:xfrm>
            <a:off x="2011680" y="12216384"/>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ibKubernetes</a:t>
            </a:r>
          </a:p>
        </p:txBody>
      </p:sp>
      <p:sp>
        <p:nvSpPr>
          <p:cNvPr id="14" name="TextBox 13"/>
          <p:cNvSpPr txBox="1"/>
          <p:nvPr/>
        </p:nvSpPr>
        <p:spPr>
          <a:xfrm>
            <a:off x="8412480" y="12216384"/>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InfiniBand workload support</a:t>
            </a:r>
          </a:p>
        </p:txBody>
      </p:sp>
      <p:sp>
        <p:nvSpPr>
          <p:cNvPr id="15" name="TextBox 14"/>
          <p:cNvSpPr txBox="1"/>
          <p:nvPr/>
        </p:nvSpPr>
        <p:spPr>
          <a:xfrm>
            <a:off x="2011680" y="13606272"/>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secondaryNetwork</a:t>
            </a:r>
          </a:p>
        </p:txBody>
      </p:sp>
      <p:sp>
        <p:nvSpPr>
          <p:cNvPr id="16" name="TextBox 15"/>
          <p:cNvSpPr txBox="1"/>
          <p:nvPr/>
        </p:nvSpPr>
        <p:spPr>
          <a:xfrm>
            <a:off x="8412480" y="13606272"/>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Multus + CNI + IPoIB plugins</a:t>
            </a:r>
          </a:p>
        </p:txBody>
      </p:sp>
      <p:sp>
        <p:nvSpPr>
          <p:cNvPr id="17" name="TextBox 16"/>
          <p:cNvSpPr txBox="1"/>
          <p:nvPr/>
        </p:nvSpPr>
        <p:spPr>
          <a:xfrm>
            <a:off x="2011680" y="14996160"/>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nvIpam</a:t>
            </a:r>
          </a:p>
        </p:txBody>
      </p:sp>
      <p:sp>
        <p:nvSpPr>
          <p:cNvPr id="18" name="TextBox 17"/>
          <p:cNvSpPr txBox="1"/>
          <p:nvPr/>
        </p:nvSpPr>
        <p:spPr>
          <a:xfrm>
            <a:off x="8412480" y="14996160"/>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Cluster IP address management</a:t>
            </a:r>
          </a:p>
        </p:txBody>
      </p:sp>
      <p:sp>
        <p:nvSpPr>
          <p:cNvPr id="19" name="TextBox 18"/>
          <p:cNvSpPr txBox="1"/>
          <p:nvPr/>
        </p:nvSpPr>
        <p:spPr>
          <a:xfrm>
            <a:off x="2011680" y="16386048"/>
            <a:ext cx="6217920" cy="1316736"/>
          </a:xfrm>
          <a:prstGeom prst="rect">
            <a:avLst/>
          </a:prstGeom>
          <a:noFill/>
        </p:spPr>
        <p:txBody>
          <a:bodyPr wrap="square" lIns="50000" tIns="20000" rIns="50000" bIns="20000" anchor="ctr">
            <a:spAutoFit/>
          </a:bodyPr>
          <a:lstStyle/>
          <a:p>
            <a:pPr algn="l"/>
            <a:r>
              <a:rPr sz="3600" b="1" i="0">
                <a:solidFill>
                  <a:srgbClr val="0071C5"/>
                </a:solidFill>
                <a:latin typeface="Consolas"/>
              </a:rPr>
              <a:t>nicConfigOperator</a:t>
            </a:r>
          </a:p>
        </p:txBody>
      </p:sp>
      <p:sp>
        <p:nvSpPr>
          <p:cNvPr id="20" name="TextBox 19"/>
          <p:cNvSpPr txBox="1"/>
          <p:nvPr/>
        </p:nvSpPr>
        <p:spPr>
          <a:xfrm>
            <a:off x="8412480" y="16386048"/>
            <a:ext cx="6035040" cy="1316736"/>
          </a:xfrm>
          <a:prstGeom prst="rect">
            <a:avLst/>
          </a:prstGeom>
          <a:noFill/>
        </p:spPr>
        <p:txBody>
          <a:bodyPr wrap="square" lIns="50000" tIns="20000" rIns="50000" bIns="20000" anchor="ctr">
            <a:spAutoFit/>
          </a:bodyPr>
          <a:lstStyle/>
          <a:p>
            <a:pPr algn="l"/>
            <a:r>
              <a:rPr sz="3600" b="0" i="0">
                <a:solidFill>
                  <a:srgbClr val="000000"/>
                </a:solidFill>
                <a:latin typeface="NVIDIA Sans"/>
              </a:rPr>
              <a:t>Declarative NIC firmware config</a:t>
            </a:r>
          </a:p>
        </p:txBody>
      </p:sp>
      <p:sp>
        <p:nvSpPr>
          <p:cNvPr id="21" name="TextBox 20"/>
          <p:cNvSpPr txBox="1"/>
          <p:nvPr/>
        </p:nvSpPr>
        <p:spPr>
          <a:xfrm>
            <a:off x="1463040" y="18105120"/>
            <a:ext cx="13167360" cy="731520"/>
          </a:xfrm>
          <a:prstGeom prst="rect">
            <a:avLst/>
          </a:prstGeom>
          <a:noFill/>
        </p:spPr>
        <p:txBody>
          <a:bodyPr wrap="square" lIns="50000" tIns="20000" rIns="50000" bIns="20000" anchor="t">
            <a:spAutoFit/>
          </a:bodyPr>
          <a:lstStyle/>
          <a:p>
            <a:pPr algn="ctr"/>
            <a:r>
              <a:rPr sz="3600" b="0" i="1">
                <a:solidFill>
                  <a:srgbClr val="5E5E5E"/>
                </a:solidFill>
                <a:latin typeface="NVIDIA Sans"/>
              </a:rPr>
              <a:t>Any sub-state may be omitted</a:t>
            </a:r>
          </a:p>
        </p:txBody>
      </p:sp>
      <p:sp>
        <p:nvSpPr>
          <p:cNvPr id="22" name="TextBox 21"/>
          <p:cNvSpPr txBox="1"/>
          <p:nvPr/>
        </p:nvSpPr>
        <p:spPr>
          <a:xfrm>
            <a:off x="15179040" y="6217920"/>
            <a:ext cx="19751040" cy="1280160"/>
          </a:xfrm>
          <a:prstGeom prst="rect">
            <a:avLst/>
          </a:prstGeom>
          <a:noFill/>
        </p:spPr>
        <p:txBody>
          <a:bodyPr wrap="square" lIns="50000" tIns="20000" rIns="50000" bIns="20000" anchor="ctr">
            <a:spAutoFit/>
          </a:bodyPr>
          <a:lstStyle/>
          <a:p>
            <a:pPr algn="l"/>
            <a:r>
              <a:rPr sz="4000" b="0" i="1">
                <a:solidFill>
                  <a:srgbClr val="5E5E5E"/>
                </a:solidFill>
                <a:latin typeface="Consolas"/>
              </a:rPr>
              <a:t>NICClusterPolicy (excerpt)</a:t>
            </a:r>
          </a:p>
        </p:txBody>
      </p:sp>
      <p:sp>
        <p:nvSpPr>
          <p:cNvPr id="23" name="Rounded Rectangle 22"/>
          <p:cNvSpPr/>
          <p:nvPr/>
        </p:nvSpPr>
        <p:spPr>
          <a:xfrm>
            <a:off x="15179040" y="7680960"/>
            <a:ext cx="19751040" cy="11155680"/>
          </a:xfrm>
          <a:prstGeom prst="roundRect">
            <a:avLst>
              <a:gd name="adj" fmla="val 2000"/>
            </a:avLst>
          </a:prstGeom>
          <a:solidFill>
            <a:srgbClr val="1F2A38"/>
          </a:solidFill>
          <a:ln w="635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617952" y="8046720"/>
            <a:ext cx="18873216" cy="10424160"/>
          </a:xfrm>
          <a:prstGeom prst="rect">
            <a:avLst/>
          </a:prstGeom>
          <a:noFill/>
        </p:spPr>
        <p:txBody>
          <a:bodyPr wrap="square" lIns="50000" tIns="20000" rIns="50000" bIns="20000" anchor="t">
            <a:spAutoFit/>
          </a:bodyPr>
          <a:lstStyle/>
          <a:p>
            <a:pPr algn="l"/>
            <a:r>
              <a:rPr sz="3600" b="0" i="0">
                <a:solidFill>
                  <a:srgbClr val="E8F0EA"/>
                </a:solidFill>
                <a:latin typeface="Consolas"/>
              </a:rPr>
              <a:t>apiVersion: mellanox.com/v1alpha1</a:t>
            </a:r>
          </a:p>
          <a:p>
            <a:pPr algn="l"/>
            <a:r>
              <a:rPr sz="3600" b="0" i="0">
                <a:solidFill>
                  <a:srgbClr val="E8F0EA"/>
                </a:solidFill>
                <a:latin typeface="Consolas"/>
              </a:rPr>
              <a:t>kind: NICClusterPolicy</a:t>
            </a:r>
          </a:p>
          <a:p>
            <a:pPr algn="l"/>
            <a:r>
              <a:rPr sz="3600" b="0" i="0">
                <a:solidFill>
                  <a:srgbClr val="E8F0EA"/>
                </a:solidFill>
                <a:latin typeface="Consolas"/>
              </a:rPr>
              <a:t>metadata:</a:t>
            </a:r>
          </a:p>
          <a:p>
            <a:pPr algn="l"/>
            <a:r>
              <a:rPr sz="3600" b="0" i="0">
                <a:solidFill>
                  <a:srgbClr val="E8F0EA"/>
                </a:solidFill>
                <a:latin typeface="Consolas"/>
              </a:rPr>
              <a:t>  name: nic-cluster-policy</a:t>
            </a:r>
          </a:p>
          <a:p>
            <a:pPr algn="l"/>
            <a:r>
              <a:rPr sz="3600" b="0" i="0">
                <a:solidFill>
                  <a:srgbClr val="E8F0EA"/>
                </a:solidFill>
                <a:latin typeface="Consolas"/>
              </a:rPr>
              <a:t>spec:</a:t>
            </a:r>
          </a:p>
          <a:p>
            <a:pPr algn="l"/>
            <a:r>
              <a:rPr sz="3600" b="0" i="0">
                <a:solidFill>
                  <a:srgbClr val="E8F0EA"/>
                </a:solidFill>
                <a:latin typeface="Consolas"/>
              </a:rPr>
              <a:t>  ofedDriver:</a:t>
            </a:r>
          </a:p>
          <a:p>
            <a:pPr algn="l"/>
            <a:r>
              <a:rPr sz="3600" b="0" i="0">
                <a:solidFill>
                  <a:srgbClr val="E8F0EA"/>
                </a:solidFill>
                <a:latin typeface="Consolas"/>
              </a:rPr>
              <a:t>    image: doca-driver</a:t>
            </a:r>
          </a:p>
          <a:p>
            <a:pPr algn="l"/>
            <a:r>
              <a:rPr sz="3600" b="0" i="0">
                <a:solidFill>
                  <a:srgbClr val="E8F0EA"/>
                </a:solidFill>
                <a:latin typeface="Consolas"/>
              </a:rPr>
              <a:t>    version: 25.04-0.6.1.0</a:t>
            </a:r>
          </a:p>
          <a:p>
            <a:pPr algn="l"/>
            <a:r>
              <a:rPr sz="3600" b="0" i="0">
                <a:solidFill>
                  <a:srgbClr val="E8F0EA"/>
                </a:solidFill>
                <a:latin typeface="Consolas"/>
              </a:rPr>
              <a:t>  rdmaSharedDevicePlugin:</a:t>
            </a:r>
          </a:p>
          <a:p>
            <a:pPr algn="l"/>
            <a:r>
              <a:rPr sz="3600" b="0" i="0">
                <a:solidFill>
                  <a:srgbClr val="E8F0EA"/>
                </a:solidFill>
                <a:latin typeface="Consolas"/>
              </a:rPr>
              <a:t>    image: k8s-rdma-shared-dev-plugin</a:t>
            </a:r>
          </a:p>
          <a:p>
            <a:pPr algn="l"/>
            <a:r>
              <a:rPr sz="3600" b="0" i="0">
                <a:solidFill>
                  <a:srgbClr val="E8F0EA"/>
                </a:solidFill>
                <a:latin typeface="Consolas"/>
              </a:rPr>
              <a:t>    config: |</a:t>
            </a:r>
          </a:p>
          <a:p>
            <a:pPr algn="l"/>
            <a:r>
              <a:rPr sz="3600" b="0" i="0">
                <a:solidFill>
                  <a:srgbClr val="E8F0EA"/>
                </a:solidFill>
                <a:latin typeface="Consolas"/>
              </a:rPr>
              <a:t>      { configList: [{...}] }</a:t>
            </a:r>
          </a:p>
          <a:p>
            <a:pPr algn="l"/>
            <a:r>
              <a:rPr sz="3600" b="0" i="0">
                <a:solidFill>
                  <a:srgbClr val="E8F0EA"/>
                </a:solidFill>
                <a:latin typeface="Consolas"/>
              </a:rPr>
              <a:t>  secondaryNetwork:</a:t>
            </a:r>
          </a:p>
          <a:p>
            <a:pPr algn="l"/>
            <a:r>
              <a:rPr sz="3600" b="0" i="0">
                <a:solidFill>
                  <a:srgbClr val="E8F0EA"/>
                </a:solidFill>
                <a:latin typeface="Consolas"/>
              </a:rPr>
              <a:t>    multus:     { image: multus }</a:t>
            </a:r>
          </a:p>
          <a:p>
            <a:pPr algn="l"/>
            <a:r>
              <a:rPr sz="3600" b="0" i="0">
                <a:solidFill>
                  <a:srgbClr val="E8F0EA"/>
                </a:solidFill>
                <a:latin typeface="Consolas"/>
              </a:rPr>
              <a:t>    cniPlugins: { image: plugins }</a:t>
            </a:r>
          </a:p>
          <a:p>
            <a:pPr algn="l"/>
            <a:r>
              <a:rPr sz="3600" b="0" i="0">
                <a:solidFill>
                  <a:srgbClr val="E8F0EA"/>
                </a:solidFill>
                <a:latin typeface="Consolas"/>
              </a:rPr>
              <a:t>    ipoib:      { image: ipoib-cni }</a:t>
            </a:r>
          </a:p>
          <a:p>
            <a:pPr algn="l"/>
            <a:r>
              <a:rPr sz="3600" b="0" i="0">
                <a:solidFill>
                  <a:srgbClr val="E8F0EA"/>
                </a:solidFill>
                <a:latin typeface="Consolas"/>
              </a:rPr>
              <a:t>  nvIpam:</a:t>
            </a:r>
          </a:p>
          <a:p>
            <a:pPr algn="l"/>
            <a:r>
              <a:rPr sz="3600" b="0" i="0">
                <a:solidFill>
                  <a:srgbClr val="E8F0EA"/>
                </a:solidFill>
                <a:latin typeface="Consolas"/>
              </a:rPr>
              <a:t>    image: nvidia-k8s-ipam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GPU Operator + Network Operator = GPUDirect RDMA</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Why both together — the fabric that makes multi-node AI training possible</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33649920" cy="5303520"/>
          </a:xfrm>
          <a:prstGeom prst="roundRect">
            <a:avLst>
              <a:gd name="adj" fmla="val 4000"/>
            </a:avLst>
          </a:prstGeom>
          <a:solidFill>
            <a:srgbClr val="FFF4F4"/>
          </a:solidFill>
          <a:ln w="1905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6035040"/>
            <a:ext cx="7315200" cy="1463040"/>
          </a:xfrm>
          <a:prstGeom prst="rect">
            <a:avLst/>
          </a:prstGeom>
          <a:noFill/>
        </p:spPr>
        <p:txBody>
          <a:bodyPr wrap="square" lIns="50000" tIns="20000" rIns="50000" bIns="20000" anchor="t">
            <a:spAutoFit/>
          </a:bodyPr>
          <a:lstStyle/>
          <a:p>
            <a:pPr algn="l"/>
            <a:r>
              <a:rPr sz="4800" b="1" i="0">
                <a:solidFill>
                  <a:srgbClr val="890C58"/>
                </a:solidFill>
                <a:latin typeface="NVIDIA Sans Medium"/>
              </a:rPr>
              <a:t>Without GPUDirect</a:t>
            </a:r>
          </a:p>
        </p:txBody>
      </p:sp>
      <p:sp>
        <p:nvSpPr>
          <p:cNvPr id="7" name="Rounded Rectangle 6"/>
          <p:cNvSpPr/>
          <p:nvPr/>
        </p:nvSpPr>
        <p:spPr>
          <a:xfrm>
            <a:off x="7315200" y="7863840"/>
            <a:ext cx="3291840" cy="2560320"/>
          </a:xfrm>
          <a:prstGeom prst="roundRect">
            <a:avLst>
              <a:gd name="adj" fmla="val 4000"/>
            </a:avLst>
          </a:prstGeom>
          <a:solidFill>
            <a:srgbClr val="FFFFFF"/>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0" y="7863840"/>
            <a:ext cx="3291840" cy="2560320"/>
          </a:xfrm>
          <a:prstGeom prst="rect">
            <a:avLst/>
          </a:prstGeom>
          <a:noFill/>
        </p:spPr>
        <p:txBody>
          <a:bodyPr wrap="square" lIns="50000" tIns="20000" rIns="50000" bIns="20000" anchor="ctr">
            <a:spAutoFit/>
          </a:bodyPr>
          <a:lstStyle/>
          <a:p>
            <a:pPr algn="ctr"/>
            <a:r>
              <a:rPr sz="3200" b="1" i="0">
                <a:solidFill>
                  <a:srgbClr val="5E5E5E"/>
                </a:solidFill>
                <a:latin typeface="NVIDIA Sans Medium"/>
              </a:rPr>
              <a:t>GPU 1</a:t>
            </a:r>
          </a:p>
          <a:p>
            <a:pPr algn="ctr"/>
            <a:r>
              <a:rPr sz="3200" b="1" i="0">
                <a:solidFill>
                  <a:srgbClr val="5E5E5E"/>
                </a:solidFill>
                <a:latin typeface="NVIDIA Sans Medium"/>
              </a:rPr>
              <a:t>(Node A)</a:t>
            </a:r>
          </a:p>
        </p:txBody>
      </p:sp>
      <p:sp>
        <p:nvSpPr>
          <p:cNvPr id="9" name="Right Arrow 8"/>
          <p:cNvSpPr/>
          <p:nvPr/>
        </p:nvSpPr>
        <p:spPr>
          <a:xfrm>
            <a:off x="10680192" y="8851392"/>
            <a:ext cx="585216" cy="54864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338560" y="7863840"/>
            <a:ext cx="3291840" cy="2560320"/>
          </a:xfrm>
          <a:prstGeom prst="roundRect">
            <a:avLst>
              <a:gd name="adj" fmla="val 4000"/>
            </a:avLst>
          </a:prstGeom>
          <a:solidFill>
            <a:srgbClr val="FFFFFF"/>
          </a:solidFill>
          <a:ln w="1270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338560" y="7863840"/>
            <a:ext cx="3291840" cy="2560320"/>
          </a:xfrm>
          <a:prstGeom prst="rect">
            <a:avLst/>
          </a:prstGeom>
          <a:noFill/>
        </p:spPr>
        <p:txBody>
          <a:bodyPr wrap="square" lIns="50000" tIns="20000" rIns="50000" bIns="20000" anchor="ctr">
            <a:spAutoFit/>
          </a:bodyPr>
          <a:lstStyle/>
          <a:p>
            <a:pPr algn="ctr"/>
            <a:r>
              <a:rPr sz="3200" b="1" i="0">
                <a:solidFill>
                  <a:srgbClr val="890C58"/>
                </a:solidFill>
                <a:latin typeface="NVIDIA Sans Medium"/>
              </a:rPr>
              <a:t>CPU</a:t>
            </a:r>
          </a:p>
          <a:p>
            <a:pPr algn="ctr"/>
            <a:r>
              <a:rPr sz="3200" b="1" i="0">
                <a:solidFill>
                  <a:srgbClr val="890C58"/>
                </a:solidFill>
                <a:latin typeface="NVIDIA Sans Medium"/>
              </a:rPr>
              <a:t>buffer</a:t>
            </a:r>
          </a:p>
        </p:txBody>
      </p:sp>
      <p:sp>
        <p:nvSpPr>
          <p:cNvPr id="12" name="Right Arrow 11"/>
          <p:cNvSpPr/>
          <p:nvPr/>
        </p:nvSpPr>
        <p:spPr>
          <a:xfrm>
            <a:off x="14703552" y="8851392"/>
            <a:ext cx="585216" cy="54864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5361920" y="7863840"/>
            <a:ext cx="3291840" cy="2560320"/>
          </a:xfrm>
          <a:prstGeom prst="roundRect">
            <a:avLst>
              <a:gd name="adj" fmla="val 4000"/>
            </a:avLst>
          </a:prstGeom>
          <a:solidFill>
            <a:srgbClr val="FFFFFF"/>
          </a:solidFill>
          <a:ln w="1270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361920" y="7863840"/>
            <a:ext cx="3291840" cy="2560320"/>
          </a:xfrm>
          <a:prstGeom prst="rect">
            <a:avLst/>
          </a:prstGeom>
          <a:noFill/>
        </p:spPr>
        <p:txBody>
          <a:bodyPr wrap="square" lIns="50000" tIns="20000" rIns="50000" bIns="20000" anchor="ctr">
            <a:spAutoFit/>
          </a:bodyPr>
          <a:lstStyle/>
          <a:p>
            <a:pPr algn="ctr"/>
            <a:r>
              <a:rPr sz="3200" b="1" i="0">
                <a:solidFill>
                  <a:srgbClr val="890C58"/>
                </a:solidFill>
                <a:latin typeface="NVIDIA Sans Medium"/>
              </a:rPr>
              <a:t>NIC</a:t>
            </a:r>
          </a:p>
        </p:txBody>
      </p:sp>
      <p:sp>
        <p:nvSpPr>
          <p:cNvPr id="15" name="Right Arrow 14"/>
          <p:cNvSpPr/>
          <p:nvPr/>
        </p:nvSpPr>
        <p:spPr>
          <a:xfrm>
            <a:off x="18726912" y="8851392"/>
            <a:ext cx="585216" cy="54864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9385280" y="7863840"/>
            <a:ext cx="3291840" cy="2560320"/>
          </a:xfrm>
          <a:prstGeom prst="roundRect">
            <a:avLst>
              <a:gd name="adj" fmla="val 4000"/>
            </a:avLst>
          </a:prstGeom>
          <a:solidFill>
            <a:srgbClr val="FFFFFF"/>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9385280" y="7863840"/>
            <a:ext cx="3291840" cy="2560320"/>
          </a:xfrm>
          <a:prstGeom prst="rect">
            <a:avLst/>
          </a:prstGeom>
          <a:noFill/>
        </p:spPr>
        <p:txBody>
          <a:bodyPr wrap="square" lIns="50000" tIns="20000" rIns="50000" bIns="20000" anchor="ctr">
            <a:spAutoFit/>
          </a:bodyPr>
          <a:lstStyle/>
          <a:p>
            <a:pPr algn="ctr"/>
            <a:r>
              <a:rPr sz="3200" b="1" i="0">
                <a:solidFill>
                  <a:srgbClr val="5E5E5E"/>
                </a:solidFill>
                <a:latin typeface="NVIDIA Sans Medium"/>
              </a:rPr>
              <a:t>Network</a:t>
            </a:r>
          </a:p>
        </p:txBody>
      </p:sp>
      <p:sp>
        <p:nvSpPr>
          <p:cNvPr id="18" name="Right Arrow 17"/>
          <p:cNvSpPr/>
          <p:nvPr/>
        </p:nvSpPr>
        <p:spPr>
          <a:xfrm>
            <a:off x="22750272" y="8851392"/>
            <a:ext cx="585216" cy="54864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3408640" y="7863840"/>
            <a:ext cx="3291840" cy="2560320"/>
          </a:xfrm>
          <a:prstGeom prst="roundRect">
            <a:avLst>
              <a:gd name="adj" fmla="val 4000"/>
            </a:avLst>
          </a:prstGeom>
          <a:solidFill>
            <a:srgbClr val="FFFFFF"/>
          </a:solidFill>
          <a:ln w="1270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408640" y="7863840"/>
            <a:ext cx="3291840" cy="2560320"/>
          </a:xfrm>
          <a:prstGeom prst="rect">
            <a:avLst/>
          </a:prstGeom>
          <a:noFill/>
        </p:spPr>
        <p:txBody>
          <a:bodyPr wrap="square" lIns="50000" tIns="20000" rIns="50000" bIns="20000" anchor="ctr">
            <a:spAutoFit/>
          </a:bodyPr>
          <a:lstStyle/>
          <a:p>
            <a:pPr algn="ctr"/>
            <a:r>
              <a:rPr sz="3200" b="1" i="0">
                <a:solidFill>
                  <a:srgbClr val="890C58"/>
                </a:solidFill>
                <a:latin typeface="NVIDIA Sans Medium"/>
              </a:rPr>
              <a:t>NIC</a:t>
            </a:r>
          </a:p>
        </p:txBody>
      </p:sp>
      <p:sp>
        <p:nvSpPr>
          <p:cNvPr id="21" name="Right Arrow 20"/>
          <p:cNvSpPr/>
          <p:nvPr/>
        </p:nvSpPr>
        <p:spPr>
          <a:xfrm>
            <a:off x="26773632" y="8851392"/>
            <a:ext cx="585216" cy="54864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7432000" y="7863840"/>
            <a:ext cx="3291840" cy="2560320"/>
          </a:xfrm>
          <a:prstGeom prst="roundRect">
            <a:avLst>
              <a:gd name="adj" fmla="val 4000"/>
            </a:avLst>
          </a:prstGeom>
          <a:solidFill>
            <a:srgbClr val="FFFFFF"/>
          </a:solidFill>
          <a:ln w="1270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00" y="7863840"/>
            <a:ext cx="3291840" cy="2560320"/>
          </a:xfrm>
          <a:prstGeom prst="rect">
            <a:avLst/>
          </a:prstGeom>
          <a:noFill/>
        </p:spPr>
        <p:txBody>
          <a:bodyPr wrap="square" lIns="50000" tIns="20000" rIns="50000" bIns="20000" anchor="ctr">
            <a:spAutoFit/>
          </a:bodyPr>
          <a:lstStyle/>
          <a:p>
            <a:pPr algn="ctr"/>
            <a:r>
              <a:rPr sz="3200" b="1" i="0">
                <a:solidFill>
                  <a:srgbClr val="890C58"/>
                </a:solidFill>
                <a:latin typeface="NVIDIA Sans Medium"/>
              </a:rPr>
              <a:t>CPU</a:t>
            </a:r>
          </a:p>
          <a:p>
            <a:pPr algn="ctr"/>
            <a:r>
              <a:rPr sz="3200" b="1" i="0">
                <a:solidFill>
                  <a:srgbClr val="890C58"/>
                </a:solidFill>
                <a:latin typeface="NVIDIA Sans Medium"/>
              </a:rPr>
              <a:t>buffer</a:t>
            </a:r>
          </a:p>
        </p:txBody>
      </p:sp>
      <p:sp>
        <p:nvSpPr>
          <p:cNvPr id="24" name="Right Arrow 23"/>
          <p:cNvSpPr/>
          <p:nvPr/>
        </p:nvSpPr>
        <p:spPr>
          <a:xfrm>
            <a:off x="30796992" y="8851392"/>
            <a:ext cx="585216" cy="54864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1455360" y="7863840"/>
            <a:ext cx="3291840" cy="2560320"/>
          </a:xfrm>
          <a:prstGeom prst="roundRect">
            <a:avLst>
              <a:gd name="adj" fmla="val 4000"/>
            </a:avLst>
          </a:prstGeom>
          <a:solidFill>
            <a:srgbClr val="FFFFFF"/>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455360" y="7863840"/>
            <a:ext cx="3291840" cy="2560320"/>
          </a:xfrm>
          <a:prstGeom prst="rect">
            <a:avLst/>
          </a:prstGeom>
          <a:noFill/>
        </p:spPr>
        <p:txBody>
          <a:bodyPr wrap="square" lIns="50000" tIns="20000" rIns="50000" bIns="20000" anchor="ctr">
            <a:spAutoFit/>
          </a:bodyPr>
          <a:lstStyle/>
          <a:p>
            <a:pPr algn="ctr"/>
            <a:r>
              <a:rPr sz="3200" b="1" i="0">
                <a:solidFill>
                  <a:srgbClr val="5E5E5E"/>
                </a:solidFill>
                <a:latin typeface="NVIDIA Sans Medium"/>
              </a:rPr>
              <a:t>GPU 2</a:t>
            </a:r>
          </a:p>
          <a:p>
            <a:pPr algn="ctr"/>
            <a:r>
              <a:rPr sz="3200" b="1" i="0">
                <a:solidFill>
                  <a:srgbClr val="5E5E5E"/>
                </a:solidFill>
                <a:latin typeface="NVIDIA Sans Medium"/>
              </a:rPr>
              <a:t>(Node B)</a:t>
            </a:r>
          </a:p>
        </p:txBody>
      </p:sp>
      <p:sp>
        <p:nvSpPr>
          <p:cNvPr id="27" name="Rounded Rectangle 26"/>
          <p:cNvSpPr/>
          <p:nvPr/>
        </p:nvSpPr>
        <p:spPr>
          <a:xfrm>
            <a:off x="1463040" y="11521440"/>
            <a:ext cx="33649920" cy="5303520"/>
          </a:xfrm>
          <a:prstGeom prst="roundRect">
            <a:avLst>
              <a:gd name="adj" fmla="val 4000"/>
            </a:avLst>
          </a:prstGeom>
          <a:solidFill>
            <a:srgbClr val="E2F0D9"/>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11680" y="11887200"/>
            <a:ext cx="731520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With GPUDirect RDMA</a:t>
            </a:r>
          </a:p>
        </p:txBody>
      </p:sp>
      <p:sp>
        <p:nvSpPr>
          <p:cNvPr id="29" name="Rounded Rectangle 28"/>
          <p:cNvSpPr/>
          <p:nvPr/>
        </p:nvSpPr>
        <p:spPr>
          <a:xfrm>
            <a:off x="7315200" y="13716000"/>
            <a:ext cx="3291840" cy="256032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0" y="13716000"/>
            <a:ext cx="3291840" cy="2560320"/>
          </a:xfrm>
          <a:prstGeom prst="rect">
            <a:avLst/>
          </a:prstGeom>
          <a:noFill/>
        </p:spPr>
        <p:txBody>
          <a:bodyPr wrap="square" lIns="50000" tIns="20000" rIns="50000" bIns="20000" anchor="ctr">
            <a:spAutoFit/>
          </a:bodyPr>
          <a:lstStyle/>
          <a:p>
            <a:pPr algn="ctr"/>
            <a:r>
              <a:rPr sz="3200" b="1" i="0">
                <a:solidFill>
                  <a:srgbClr val="76B900"/>
                </a:solidFill>
                <a:latin typeface="NVIDIA Sans Medium"/>
              </a:rPr>
              <a:t>GPU 1</a:t>
            </a:r>
          </a:p>
          <a:p>
            <a:pPr algn="ctr"/>
            <a:r>
              <a:rPr sz="3200" b="1" i="0">
                <a:solidFill>
                  <a:srgbClr val="76B900"/>
                </a:solidFill>
                <a:latin typeface="NVIDIA Sans Medium"/>
              </a:rPr>
              <a:t>(Node A)</a:t>
            </a:r>
          </a:p>
        </p:txBody>
      </p:sp>
      <p:sp>
        <p:nvSpPr>
          <p:cNvPr id="31" name="Right Arrow 30"/>
          <p:cNvSpPr/>
          <p:nvPr/>
        </p:nvSpPr>
        <p:spPr>
          <a:xfrm>
            <a:off x="10753344" y="14703552"/>
            <a:ext cx="2450592" cy="54864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3350240" y="13716000"/>
            <a:ext cx="3291840" cy="256032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350240" y="13716000"/>
            <a:ext cx="3291840" cy="2560320"/>
          </a:xfrm>
          <a:prstGeom prst="rect">
            <a:avLst/>
          </a:prstGeom>
          <a:noFill/>
        </p:spPr>
        <p:txBody>
          <a:bodyPr wrap="square" lIns="50000" tIns="20000" rIns="50000" bIns="20000" anchor="ctr">
            <a:spAutoFit/>
          </a:bodyPr>
          <a:lstStyle/>
          <a:p>
            <a:pPr algn="ctr"/>
            <a:r>
              <a:rPr sz="3200" b="1" i="0">
                <a:solidFill>
                  <a:srgbClr val="76B900"/>
                </a:solidFill>
                <a:latin typeface="NVIDIA Sans Medium"/>
              </a:rPr>
              <a:t>NIC</a:t>
            </a:r>
          </a:p>
        </p:txBody>
      </p:sp>
      <p:sp>
        <p:nvSpPr>
          <p:cNvPr id="34" name="Right Arrow 33"/>
          <p:cNvSpPr/>
          <p:nvPr/>
        </p:nvSpPr>
        <p:spPr>
          <a:xfrm>
            <a:off x="16788384" y="14703552"/>
            <a:ext cx="2450592" cy="54864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385280" y="13716000"/>
            <a:ext cx="3291840" cy="2560320"/>
          </a:xfrm>
          <a:prstGeom prst="roundRect">
            <a:avLst>
              <a:gd name="adj" fmla="val 4000"/>
            </a:avLst>
          </a:prstGeom>
          <a:solidFill>
            <a:srgbClr val="FFFFFF"/>
          </a:solidFill>
          <a:ln w="1905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9385280" y="13716000"/>
            <a:ext cx="3291840" cy="2560320"/>
          </a:xfrm>
          <a:prstGeom prst="rect">
            <a:avLst/>
          </a:prstGeom>
          <a:noFill/>
        </p:spPr>
        <p:txBody>
          <a:bodyPr wrap="square" lIns="50000" tIns="20000" rIns="50000" bIns="20000" anchor="ctr">
            <a:spAutoFit/>
          </a:bodyPr>
          <a:lstStyle/>
          <a:p>
            <a:pPr algn="ctr"/>
            <a:r>
              <a:rPr sz="3200" b="1" i="0">
                <a:solidFill>
                  <a:srgbClr val="5E5E5E"/>
                </a:solidFill>
                <a:latin typeface="NVIDIA Sans Medium"/>
              </a:rPr>
              <a:t>Network</a:t>
            </a:r>
          </a:p>
        </p:txBody>
      </p:sp>
      <p:sp>
        <p:nvSpPr>
          <p:cNvPr id="37" name="Right Arrow 36"/>
          <p:cNvSpPr/>
          <p:nvPr/>
        </p:nvSpPr>
        <p:spPr>
          <a:xfrm>
            <a:off x="22823424" y="14703552"/>
            <a:ext cx="2450592" cy="54864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5420320" y="13716000"/>
            <a:ext cx="3291840" cy="256032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420320" y="13716000"/>
            <a:ext cx="3291840" cy="2560320"/>
          </a:xfrm>
          <a:prstGeom prst="rect">
            <a:avLst/>
          </a:prstGeom>
          <a:noFill/>
        </p:spPr>
        <p:txBody>
          <a:bodyPr wrap="square" lIns="50000" tIns="20000" rIns="50000" bIns="20000" anchor="ctr">
            <a:spAutoFit/>
          </a:bodyPr>
          <a:lstStyle/>
          <a:p>
            <a:pPr algn="ctr"/>
            <a:r>
              <a:rPr sz="3200" b="1" i="0">
                <a:solidFill>
                  <a:srgbClr val="76B900"/>
                </a:solidFill>
                <a:latin typeface="NVIDIA Sans Medium"/>
              </a:rPr>
              <a:t>NIC</a:t>
            </a:r>
          </a:p>
        </p:txBody>
      </p:sp>
      <p:sp>
        <p:nvSpPr>
          <p:cNvPr id="40" name="Right Arrow 39"/>
          <p:cNvSpPr/>
          <p:nvPr/>
        </p:nvSpPr>
        <p:spPr>
          <a:xfrm>
            <a:off x="28858464" y="14703552"/>
            <a:ext cx="2450592" cy="54864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1455360" y="13716000"/>
            <a:ext cx="3291840" cy="256032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1455360" y="13716000"/>
            <a:ext cx="3291840" cy="2560320"/>
          </a:xfrm>
          <a:prstGeom prst="rect">
            <a:avLst/>
          </a:prstGeom>
          <a:noFill/>
        </p:spPr>
        <p:txBody>
          <a:bodyPr wrap="square" lIns="50000" tIns="20000" rIns="50000" bIns="20000" anchor="ctr">
            <a:spAutoFit/>
          </a:bodyPr>
          <a:lstStyle/>
          <a:p>
            <a:pPr algn="ctr"/>
            <a:r>
              <a:rPr sz="3200" b="1" i="0">
                <a:solidFill>
                  <a:srgbClr val="76B900"/>
                </a:solidFill>
                <a:latin typeface="NVIDIA Sans Medium"/>
              </a:rPr>
              <a:t>GPU 2</a:t>
            </a:r>
          </a:p>
          <a:p>
            <a:pPr algn="ctr"/>
            <a:r>
              <a:rPr sz="3200" b="1" i="0">
                <a:solidFill>
                  <a:srgbClr val="76B900"/>
                </a:solidFill>
                <a:latin typeface="NVIDIA Sans Medium"/>
              </a:rPr>
              <a:t>(Node B)</a:t>
            </a:r>
          </a:p>
        </p:txBody>
      </p:sp>
      <p:sp>
        <p:nvSpPr>
          <p:cNvPr id="43" name="TextBox 42"/>
          <p:cNvSpPr txBox="1"/>
          <p:nvPr/>
        </p:nvSpPr>
        <p:spPr>
          <a:xfrm>
            <a:off x="1463040" y="17373600"/>
            <a:ext cx="16642080" cy="1097280"/>
          </a:xfrm>
          <a:prstGeom prst="rect">
            <a:avLst/>
          </a:prstGeom>
          <a:noFill/>
        </p:spPr>
        <p:txBody>
          <a:bodyPr wrap="square" lIns="50000" tIns="20000" rIns="50000" bIns="20000" anchor="t">
            <a:spAutoFit/>
          </a:bodyPr>
          <a:lstStyle/>
          <a:p>
            <a:pPr algn="ctr"/>
            <a:r>
              <a:rPr sz="4000" b="1" i="0">
                <a:solidFill>
                  <a:srgbClr val="5D1682"/>
                </a:solidFill>
                <a:latin typeface="NVIDIA Sans Medium"/>
              </a:rPr>
              <a:t>GPU Operator gives: driver + nvidia-peermem + node labels</a:t>
            </a:r>
          </a:p>
        </p:txBody>
      </p:sp>
      <p:sp>
        <p:nvSpPr>
          <p:cNvPr id="44" name="TextBox 43"/>
          <p:cNvSpPr txBox="1"/>
          <p:nvPr/>
        </p:nvSpPr>
        <p:spPr>
          <a:xfrm>
            <a:off x="18470880" y="17373600"/>
            <a:ext cx="16642080" cy="1097280"/>
          </a:xfrm>
          <a:prstGeom prst="rect">
            <a:avLst/>
          </a:prstGeom>
          <a:noFill/>
        </p:spPr>
        <p:txBody>
          <a:bodyPr wrap="square" lIns="50000" tIns="20000" rIns="50000" bIns="20000" anchor="t">
            <a:spAutoFit/>
          </a:bodyPr>
          <a:lstStyle/>
          <a:p>
            <a:pPr algn="ctr"/>
            <a:r>
              <a:rPr sz="4000" b="1" i="0">
                <a:solidFill>
                  <a:srgbClr val="0071C5"/>
                </a:solidFill>
                <a:latin typeface="NVIDIA Sans Medium"/>
              </a:rPr>
              <a:t>Network Operator gives: OFED + RDMA plugin + secondary network</a:t>
            </a:r>
          </a:p>
        </p:txBody>
      </p:sp>
      <p:sp>
        <p:nvSpPr>
          <p:cNvPr id="45" name="TextBox 44"/>
          <p:cNvSpPr txBox="1"/>
          <p:nvPr/>
        </p:nvSpPr>
        <p:spPr>
          <a:xfrm>
            <a:off x="1463040" y="18653760"/>
            <a:ext cx="33649920" cy="914400"/>
          </a:xfrm>
          <a:prstGeom prst="rect">
            <a:avLst/>
          </a:prstGeom>
          <a:noFill/>
        </p:spPr>
        <p:txBody>
          <a:bodyPr wrap="square" lIns="50000" tIns="20000" rIns="50000" bIns="20000" anchor="t">
            <a:spAutoFit/>
          </a:bodyPr>
          <a:lstStyle/>
          <a:p>
            <a:pPr algn="ctr"/>
            <a:r>
              <a:rPr sz="4400" b="1" i="1">
                <a:solidFill>
                  <a:srgbClr val="76B900"/>
                </a:solidFill>
                <a:latin typeface="NVIDIA Sans"/>
              </a:rPr>
              <a:t>Together: data moves NIC → GPU directly. 5-10× lower latency, no CPU copy, line-rate at 400/800 GbE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NIM Operator — From `docker run` to a NIM Fleet</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Manage tens-to-hundreds of NIMs and NeMo microservices like first-class K8s objects</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6642080" cy="13167360"/>
          </a:xfrm>
          <a:prstGeom prst="roundRect">
            <a:avLst>
              <a:gd name="adj" fmla="val 4000"/>
            </a:avLst>
          </a:prstGeom>
          <a:solidFill>
            <a:srgbClr val="FFF4F4"/>
          </a:solidFill>
          <a:ln w="1905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6217920"/>
            <a:ext cx="16642080" cy="1463040"/>
          </a:xfrm>
          <a:prstGeom prst="rect">
            <a:avLst/>
          </a:prstGeom>
          <a:noFill/>
        </p:spPr>
        <p:txBody>
          <a:bodyPr wrap="square" lIns="50000" tIns="20000" rIns="50000" bIns="20000" anchor="ctr">
            <a:spAutoFit/>
          </a:bodyPr>
          <a:lstStyle/>
          <a:p>
            <a:pPr algn="ctr"/>
            <a:r>
              <a:rPr sz="4800" b="1" i="0">
                <a:solidFill>
                  <a:srgbClr val="890C58"/>
                </a:solidFill>
                <a:latin typeface="NVIDIA Sans Medium"/>
              </a:rPr>
              <a:t>Without the operator</a:t>
            </a:r>
          </a:p>
        </p:txBody>
      </p:sp>
      <p:sp>
        <p:nvSpPr>
          <p:cNvPr id="7" name="TextBox 6"/>
          <p:cNvSpPr txBox="1"/>
          <p:nvPr/>
        </p:nvSpPr>
        <p:spPr>
          <a:xfrm>
            <a:off x="2194560" y="8229600"/>
            <a:ext cx="914400" cy="1463040"/>
          </a:xfrm>
          <a:prstGeom prst="rect">
            <a:avLst/>
          </a:prstGeom>
          <a:noFill/>
        </p:spPr>
        <p:txBody>
          <a:bodyPr wrap="square" lIns="50000" tIns="20000" rIns="50000" bIns="20000" anchor="ctr">
            <a:spAutoFit/>
          </a:bodyPr>
          <a:lstStyle/>
          <a:p>
            <a:pPr algn="l"/>
            <a:r>
              <a:rPr sz="4800" b="1" i="0">
                <a:solidFill>
                  <a:srgbClr val="890C58"/>
                </a:solidFill>
                <a:latin typeface="NVIDIA Sans"/>
              </a:rPr>
              <a:t>✗</a:t>
            </a:r>
          </a:p>
        </p:txBody>
      </p:sp>
      <p:sp>
        <p:nvSpPr>
          <p:cNvPr id="8" name="TextBox 7"/>
          <p:cNvSpPr txBox="1"/>
          <p:nvPr/>
        </p:nvSpPr>
        <p:spPr>
          <a:xfrm>
            <a:off x="3291840" y="822960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docker run per NIM, per node — by hand</a:t>
            </a:r>
          </a:p>
        </p:txBody>
      </p:sp>
      <p:sp>
        <p:nvSpPr>
          <p:cNvPr id="9" name="TextBox 8"/>
          <p:cNvSpPr txBox="1"/>
          <p:nvPr/>
        </p:nvSpPr>
        <p:spPr>
          <a:xfrm>
            <a:off x="2194560" y="9875520"/>
            <a:ext cx="914400" cy="1463040"/>
          </a:xfrm>
          <a:prstGeom prst="rect">
            <a:avLst/>
          </a:prstGeom>
          <a:noFill/>
        </p:spPr>
        <p:txBody>
          <a:bodyPr wrap="square" lIns="50000" tIns="20000" rIns="50000" bIns="20000" anchor="ctr">
            <a:spAutoFit/>
          </a:bodyPr>
          <a:lstStyle/>
          <a:p>
            <a:pPr algn="l"/>
            <a:r>
              <a:rPr sz="4800" b="1" i="0">
                <a:solidFill>
                  <a:srgbClr val="890C58"/>
                </a:solidFill>
                <a:latin typeface="NVIDIA Sans"/>
              </a:rPr>
              <a:t>✗</a:t>
            </a:r>
          </a:p>
        </p:txBody>
      </p:sp>
      <p:sp>
        <p:nvSpPr>
          <p:cNvPr id="10" name="TextBox 9"/>
          <p:cNvSpPr txBox="1"/>
          <p:nvPr/>
        </p:nvSpPr>
        <p:spPr>
          <a:xfrm>
            <a:off x="3291840" y="987552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Cold start: download 30 GB model on every restart</a:t>
            </a:r>
          </a:p>
        </p:txBody>
      </p:sp>
      <p:sp>
        <p:nvSpPr>
          <p:cNvPr id="11" name="TextBox 10"/>
          <p:cNvSpPr txBox="1"/>
          <p:nvPr/>
        </p:nvSpPr>
        <p:spPr>
          <a:xfrm>
            <a:off x="2194560" y="11521440"/>
            <a:ext cx="914400" cy="1463040"/>
          </a:xfrm>
          <a:prstGeom prst="rect">
            <a:avLst/>
          </a:prstGeom>
          <a:noFill/>
        </p:spPr>
        <p:txBody>
          <a:bodyPr wrap="square" lIns="50000" tIns="20000" rIns="50000" bIns="20000" anchor="ctr">
            <a:spAutoFit/>
          </a:bodyPr>
          <a:lstStyle/>
          <a:p>
            <a:pPr algn="l"/>
            <a:r>
              <a:rPr sz="4800" b="1" i="0">
                <a:solidFill>
                  <a:srgbClr val="890C58"/>
                </a:solidFill>
                <a:latin typeface="NVIDIA Sans"/>
              </a:rPr>
              <a:t>✗</a:t>
            </a:r>
          </a:p>
        </p:txBody>
      </p:sp>
      <p:sp>
        <p:nvSpPr>
          <p:cNvPr id="12" name="TextBox 11"/>
          <p:cNvSpPr txBox="1"/>
          <p:nvPr/>
        </p:nvSpPr>
        <p:spPr>
          <a:xfrm>
            <a:off x="3291840" y="1152144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No autoscaling — fixed replicas burn idle GPU</a:t>
            </a:r>
          </a:p>
        </p:txBody>
      </p:sp>
      <p:sp>
        <p:nvSpPr>
          <p:cNvPr id="13" name="TextBox 12"/>
          <p:cNvSpPr txBox="1"/>
          <p:nvPr/>
        </p:nvSpPr>
        <p:spPr>
          <a:xfrm>
            <a:off x="2194560" y="13167360"/>
            <a:ext cx="914400" cy="1463040"/>
          </a:xfrm>
          <a:prstGeom prst="rect">
            <a:avLst/>
          </a:prstGeom>
          <a:noFill/>
        </p:spPr>
        <p:txBody>
          <a:bodyPr wrap="square" lIns="50000" tIns="20000" rIns="50000" bIns="20000" anchor="ctr">
            <a:spAutoFit/>
          </a:bodyPr>
          <a:lstStyle/>
          <a:p>
            <a:pPr algn="l"/>
            <a:r>
              <a:rPr sz="4800" b="1" i="0">
                <a:solidFill>
                  <a:srgbClr val="890C58"/>
                </a:solidFill>
                <a:latin typeface="NVIDIA Sans"/>
              </a:rPr>
              <a:t>✗</a:t>
            </a:r>
          </a:p>
        </p:txBody>
      </p:sp>
      <p:sp>
        <p:nvSpPr>
          <p:cNvPr id="14" name="TextBox 13"/>
          <p:cNvSpPr txBox="1"/>
          <p:nvPr/>
        </p:nvSpPr>
        <p:spPr>
          <a:xfrm>
            <a:off x="3291840" y="1316736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No declarative upgrades — break a NIM = break the app</a:t>
            </a:r>
          </a:p>
        </p:txBody>
      </p:sp>
      <p:sp>
        <p:nvSpPr>
          <p:cNvPr id="15" name="TextBox 14"/>
          <p:cNvSpPr txBox="1"/>
          <p:nvPr/>
        </p:nvSpPr>
        <p:spPr>
          <a:xfrm>
            <a:off x="2194560" y="14813280"/>
            <a:ext cx="914400" cy="1463040"/>
          </a:xfrm>
          <a:prstGeom prst="rect">
            <a:avLst/>
          </a:prstGeom>
          <a:noFill/>
        </p:spPr>
        <p:txBody>
          <a:bodyPr wrap="square" lIns="50000" tIns="20000" rIns="50000" bIns="20000" anchor="ctr">
            <a:spAutoFit/>
          </a:bodyPr>
          <a:lstStyle/>
          <a:p>
            <a:pPr algn="l"/>
            <a:r>
              <a:rPr sz="4800" b="1" i="0">
                <a:solidFill>
                  <a:srgbClr val="890C58"/>
                </a:solidFill>
                <a:latin typeface="NVIDIA Sans"/>
              </a:rPr>
              <a:t>✗</a:t>
            </a:r>
          </a:p>
        </p:txBody>
      </p:sp>
      <p:sp>
        <p:nvSpPr>
          <p:cNvPr id="16" name="TextBox 15"/>
          <p:cNvSpPr txBox="1"/>
          <p:nvPr/>
        </p:nvSpPr>
        <p:spPr>
          <a:xfrm>
            <a:off x="3291840" y="1481328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Ingress, secrets, GPU pinning, health = your problem</a:t>
            </a:r>
          </a:p>
        </p:txBody>
      </p:sp>
      <p:sp>
        <p:nvSpPr>
          <p:cNvPr id="17" name="TextBox 16"/>
          <p:cNvSpPr txBox="1"/>
          <p:nvPr/>
        </p:nvSpPr>
        <p:spPr>
          <a:xfrm>
            <a:off x="2194560" y="16459200"/>
            <a:ext cx="914400" cy="1463040"/>
          </a:xfrm>
          <a:prstGeom prst="rect">
            <a:avLst/>
          </a:prstGeom>
          <a:noFill/>
        </p:spPr>
        <p:txBody>
          <a:bodyPr wrap="square" lIns="50000" tIns="20000" rIns="50000" bIns="20000" anchor="ctr">
            <a:spAutoFit/>
          </a:bodyPr>
          <a:lstStyle/>
          <a:p>
            <a:pPr algn="l"/>
            <a:r>
              <a:rPr sz="4800" b="1" i="0">
                <a:solidFill>
                  <a:srgbClr val="890C58"/>
                </a:solidFill>
                <a:latin typeface="NVIDIA Sans"/>
              </a:rPr>
              <a:t>✗</a:t>
            </a:r>
          </a:p>
        </p:txBody>
      </p:sp>
      <p:sp>
        <p:nvSpPr>
          <p:cNvPr id="18" name="TextBox 17"/>
          <p:cNvSpPr txBox="1"/>
          <p:nvPr/>
        </p:nvSpPr>
        <p:spPr>
          <a:xfrm>
            <a:off x="3291840" y="1645920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LoRA adapters? Manually mount, manually swap</a:t>
            </a:r>
          </a:p>
        </p:txBody>
      </p:sp>
      <p:sp>
        <p:nvSpPr>
          <p:cNvPr id="19" name="Rounded Rectangle 18"/>
          <p:cNvSpPr/>
          <p:nvPr/>
        </p:nvSpPr>
        <p:spPr>
          <a:xfrm>
            <a:off x="18470880" y="5669280"/>
            <a:ext cx="16642080" cy="13167360"/>
          </a:xfrm>
          <a:prstGeom prst="roundRect">
            <a:avLst>
              <a:gd name="adj" fmla="val 4000"/>
            </a:avLst>
          </a:prstGeom>
          <a:solidFill>
            <a:srgbClr val="E2F0D9"/>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470880" y="6217920"/>
            <a:ext cx="16642080" cy="1463040"/>
          </a:xfrm>
          <a:prstGeom prst="rect">
            <a:avLst/>
          </a:prstGeom>
          <a:noFill/>
        </p:spPr>
        <p:txBody>
          <a:bodyPr wrap="square" lIns="50000" tIns="20000" rIns="50000" bIns="20000" anchor="ctr">
            <a:spAutoFit/>
          </a:bodyPr>
          <a:lstStyle/>
          <a:p>
            <a:pPr algn="ctr"/>
            <a:r>
              <a:rPr sz="4800" b="1" i="0">
                <a:solidFill>
                  <a:srgbClr val="76B900"/>
                </a:solidFill>
                <a:latin typeface="NVIDIA Sans Medium"/>
              </a:rPr>
              <a:t>With NIM Operator</a:t>
            </a:r>
          </a:p>
        </p:txBody>
      </p:sp>
      <p:sp>
        <p:nvSpPr>
          <p:cNvPr id="21" name="TextBox 20"/>
          <p:cNvSpPr txBox="1"/>
          <p:nvPr/>
        </p:nvSpPr>
        <p:spPr>
          <a:xfrm>
            <a:off x="19202400" y="8229600"/>
            <a:ext cx="914400" cy="1463040"/>
          </a:xfrm>
          <a:prstGeom prst="rect">
            <a:avLst/>
          </a:prstGeom>
          <a:noFill/>
        </p:spPr>
        <p:txBody>
          <a:bodyPr wrap="square" lIns="50000" tIns="20000" rIns="50000" bIns="20000" anchor="ctr">
            <a:spAutoFit/>
          </a:bodyPr>
          <a:lstStyle/>
          <a:p>
            <a:pPr algn="l"/>
            <a:r>
              <a:rPr sz="4800" b="1" i="0">
                <a:solidFill>
                  <a:srgbClr val="76B900"/>
                </a:solidFill>
                <a:latin typeface="NVIDIA Sans"/>
              </a:rPr>
              <a:t>✓</a:t>
            </a:r>
          </a:p>
        </p:txBody>
      </p:sp>
      <p:sp>
        <p:nvSpPr>
          <p:cNvPr id="22" name="TextBox 21"/>
          <p:cNvSpPr txBox="1"/>
          <p:nvPr/>
        </p:nvSpPr>
        <p:spPr>
          <a:xfrm>
            <a:off x="20299680" y="822960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One CR per NIM — kubectl apply, done</a:t>
            </a:r>
          </a:p>
        </p:txBody>
      </p:sp>
      <p:sp>
        <p:nvSpPr>
          <p:cNvPr id="23" name="TextBox 22"/>
          <p:cNvSpPr txBox="1"/>
          <p:nvPr/>
        </p:nvSpPr>
        <p:spPr>
          <a:xfrm>
            <a:off x="19202400" y="9875520"/>
            <a:ext cx="914400" cy="1463040"/>
          </a:xfrm>
          <a:prstGeom prst="rect">
            <a:avLst/>
          </a:prstGeom>
          <a:noFill/>
        </p:spPr>
        <p:txBody>
          <a:bodyPr wrap="square" lIns="50000" tIns="20000" rIns="50000" bIns="20000" anchor="ctr">
            <a:spAutoFit/>
          </a:bodyPr>
          <a:lstStyle/>
          <a:p>
            <a:pPr algn="l"/>
            <a:r>
              <a:rPr sz="4800" b="1" i="0">
                <a:solidFill>
                  <a:srgbClr val="76B900"/>
                </a:solidFill>
                <a:latin typeface="NVIDIA Sans"/>
              </a:rPr>
              <a:t>✓</a:t>
            </a:r>
          </a:p>
        </p:txBody>
      </p:sp>
      <p:sp>
        <p:nvSpPr>
          <p:cNvPr id="24" name="TextBox 23"/>
          <p:cNvSpPr txBox="1"/>
          <p:nvPr/>
        </p:nvSpPr>
        <p:spPr>
          <a:xfrm>
            <a:off x="20299680" y="987552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NIMCache pre-pulls + warms models once per node</a:t>
            </a:r>
          </a:p>
        </p:txBody>
      </p:sp>
      <p:sp>
        <p:nvSpPr>
          <p:cNvPr id="25" name="TextBox 24"/>
          <p:cNvSpPr txBox="1"/>
          <p:nvPr/>
        </p:nvSpPr>
        <p:spPr>
          <a:xfrm>
            <a:off x="19202400" y="11521440"/>
            <a:ext cx="914400" cy="1463040"/>
          </a:xfrm>
          <a:prstGeom prst="rect">
            <a:avLst/>
          </a:prstGeom>
          <a:noFill/>
        </p:spPr>
        <p:txBody>
          <a:bodyPr wrap="square" lIns="50000" tIns="20000" rIns="50000" bIns="20000" anchor="ctr">
            <a:spAutoFit/>
          </a:bodyPr>
          <a:lstStyle/>
          <a:p>
            <a:pPr algn="l"/>
            <a:r>
              <a:rPr sz="4800" b="1" i="0">
                <a:solidFill>
                  <a:srgbClr val="76B900"/>
                </a:solidFill>
                <a:latin typeface="NVIDIA Sans"/>
              </a:rPr>
              <a:t>✓</a:t>
            </a:r>
          </a:p>
        </p:txBody>
      </p:sp>
      <p:sp>
        <p:nvSpPr>
          <p:cNvPr id="26" name="TextBox 25"/>
          <p:cNvSpPr txBox="1"/>
          <p:nvPr/>
        </p:nvSpPr>
        <p:spPr>
          <a:xfrm>
            <a:off x="20299680" y="1152144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HPA-aware autoscaling on tok/s and queue depth</a:t>
            </a:r>
          </a:p>
        </p:txBody>
      </p:sp>
      <p:sp>
        <p:nvSpPr>
          <p:cNvPr id="27" name="TextBox 26"/>
          <p:cNvSpPr txBox="1"/>
          <p:nvPr/>
        </p:nvSpPr>
        <p:spPr>
          <a:xfrm>
            <a:off x="19202400" y="13167360"/>
            <a:ext cx="914400" cy="1463040"/>
          </a:xfrm>
          <a:prstGeom prst="rect">
            <a:avLst/>
          </a:prstGeom>
          <a:noFill/>
        </p:spPr>
        <p:txBody>
          <a:bodyPr wrap="square" lIns="50000" tIns="20000" rIns="50000" bIns="20000" anchor="ctr">
            <a:spAutoFit/>
          </a:bodyPr>
          <a:lstStyle/>
          <a:p>
            <a:pPr algn="l"/>
            <a:r>
              <a:rPr sz="4800" b="1" i="0">
                <a:solidFill>
                  <a:srgbClr val="76B900"/>
                </a:solidFill>
                <a:latin typeface="NVIDIA Sans"/>
              </a:rPr>
              <a:t>✓</a:t>
            </a:r>
          </a:p>
        </p:txBody>
      </p:sp>
      <p:sp>
        <p:nvSpPr>
          <p:cNvPr id="28" name="TextBox 27"/>
          <p:cNvSpPr txBox="1"/>
          <p:nvPr/>
        </p:nvSpPr>
        <p:spPr>
          <a:xfrm>
            <a:off x="20299680" y="1316736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Rolling, canary, blue-green upgrades — declarative</a:t>
            </a:r>
          </a:p>
        </p:txBody>
      </p:sp>
      <p:sp>
        <p:nvSpPr>
          <p:cNvPr id="29" name="TextBox 28"/>
          <p:cNvSpPr txBox="1"/>
          <p:nvPr/>
        </p:nvSpPr>
        <p:spPr>
          <a:xfrm>
            <a:off x="19202400" y="14813280"/>
            <a:ext cx="914400" cy="1463040"/>
          </a:xfrm>
          <a:prstGeom prst="rect">
            <a:avLst/>
          </a:prstGeom>
          <a:noFill/>
        </p:spPr>
        <p:txBody>
          <a:bodyPr wrap="square" lIns="50000" tIns="20000" rIns="50000" bIns="20000" anchor="ctr">
            <a:spAutoFit/>
          </a:bodyPr>
          <a:lstStyle/>
          <a:p>
            <a:pPr algn="l"/>
            <a:r>
              <a:rPr sz="4800" b="1" i="0">
                <a:solidFill>
                  <a:srgbClr val="76B900"/>
                </a:solidFill>
                <a:latin typeface="NVIDIA Sans"/>
              </a:rPr>
              <a:t>✓</a:t>
            </a:r>
          </a:p>
        </p:txBody>
      </p:sp>
      <p:sp>
        <p:nvSpPr>
          <p:cNvPr id="30" name="TextBox 29"/>
          <p:cNvSpPr txBox="1"/>
          <p:nvPr/>
        </p:nvSpPr>
        <p:spPr>
          <a:xfrm>
            <a:off x="20299680" y="1481328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Ingress, secrets, GPU, probes — set by operator</a:t>
            </a:r>
          </a:p>
        </p:txBody>
      </p:sp>
      <p:sp>
        <p:nvSpPr>
          <p:cNvPr id="31" name="TextBox 30"/>
          <p:cNvSpPr txBox="1"/>
          <p:nvPr/>
        </p:nvSpPr>
        <p:spPr>
          <a:xfrm>
            <a:off x="19202400" y="16459200"/>
            <a:ext cx="914400" cy="1463040"/>
          </a:xfrm>
          <a:prstGeom prst="rect">
            <a:avLst/>
          </a:prstGeom>
          <a:noFill/>
        </p:spPr>
        <p:txBody>
          <a:bodyPr wrap="square" lIns="50000" tIns="20000" rIns="50000" bIns="20000" anchor="ctr">
            <a:spAutoFit/>
          </a:bodyPr>
          <a:lstStyle/>
          <a:p>
            <a:pPr algn="l"/>
            <a:r>
              <a:rPr sz="4800" b="1" i="0">
                <a:solidFill>
                  <a:srgbClr val="76B900"/>
                </a:solidFill>
                <a:latin typeface="NVIDIA Sans"/>
              </a:rPr>
              <a:t>✓</a:t>
            </a:r>
          </a:p>
        </p:txBody>
      </p:sp>
      <p:sp>
        <p:nvSpPr>
          <p:cNvPr id="32" name="TextBox 31"/>
          <p:cNvSpPr txBox="1"/>
          <p:nvPr/>
        </p:nvSpPr>
        <p:spPr>
          <a:xfrm>
            <a:off x="20299680" y="16459200"/>
            <a:ext cx="14996159" cy="1463040"/>
          </a:xfrm>
          <a:prstGeom prst="rect">
            <a:avLst/>
          </a:prstGeom>
          <a:noFill/>
        </p:spPr>
        <p:txBody>
          <a:bodyPr wrap="square" lIns="50000" tIns="20000" rIns="50000" bIns="20000" anchor="ctr">
            <a:spAutoFit/>
          </a:bodyPr>
          <a:lstStyle/>
          <a:p>
            <a:pPr algn="l"/>
            <a:r>
              <a:rPr sz="4000" b="0" i="0">
                <a:solidFill>
                  <a:srgbClr val="000000"/>
                </a:solidFill>
                <a:latin typeface="NVIDIA Sans"/>
              </a:rPr>
              <a:t>LoRA adapters as first-class CRD field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NIM Operator — Core CRDs</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Three custom resources for the full NIM lifecycle</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0789920" cy="12801600"/>
          </a:xfrm>
          <a:prstGeom prst="roundRect">
            <a:avLst>
              <a:gd name="adj" fmla="val 4000"/>
            </a:avLst>
          </a:prstGeom>
          <a:solidFill>
            <a:srgbClr val="FFFFFF"/>
          </a:solidFill>
          <a:ln w="2540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5669280"/>
            <a:ext cx="10789920" cy="1828800"/>
          </a:xfrm>
          <a:prstGeom prst="rect">
            <a:avLst/>
          </a:prstGeom>
          <a:solidFill>
            <a:srgbClr val="008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5669280"/>
            <a:ext cx="10789920" cy="182880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NIMCache</a:t>
            </a:r>
          </a:p>
        </p:txBody>
      </p:sp>
      <p:sp>
        <p:nvSpPr>
          <p:cNvPr id="8" name="TextBox 7"/>
          <p:cNvSpPr txBox="1"/>
          <p:nvPr/>
        </p:nvSpPr>
        <p:spPr>
          <a:xfrm>
            <a:off x="2194560" y="8046720"/>
            <a:ext cx="9326880" cy="3108960"/>
          </a:xfrm>
          <a:prstGeom prst="rect">
            <a:avLst/>
          </a:prstGeom>
          <a:noFill/>
        </p:spPr>
        <p:txBody>
          <a:bodyPr wrap="square" lIns="50000" tIns="20000" rIns="50000" bIns="20000" anchor="t">
            <a:spAutoFit/>
          </a:bodyPr>
          <a:lstStyle/>
          <a:p>
            <a:pPr algn="l"/>
            <a:r>
              <a:rPr sz="4000" b="0" i="0">
                <a:solidFill>
                  <a:srgbClr val="000000"/>
                </a:solidFill>
                <a:latin typeface="NVIDIA Sans"/>
              </a:rPr>
              <a:t>Pre-pulls and warms a NIM model on a node before any inference request arrives.</a:t>
            </a:r>
          </a:p>
        </p:txBody>
      </p:sp>
      <p:sp>
        <p:nvSpPr>
          <p:cNvPr id="9" name="TextBox 8"/>
          <p:cNvSpPr txBox="1"/>
          <p:nvPr/>
        </p:nvSpPr>
        <p:spPr>
          <a:xfrm>
            <a:off x="2194560" y="11338560"/>
            <a:ext cx="9326880" cy="1097280"/>
          </a:xfrm>
          <a:prstGeom prst="rect">
            <a:avLst/>
          </a:prstGeom>
          <a:noFill/>
        </p:spPr>
        <p:txBody>
          <a:bodyPr wrap="square" lIns="50000" tIns="20000" rIns="50000" bIns="20000" anchor="t">
            <a:spAutoFit/>
          </a:bodyPr>
          <a:lstStyle/>
          <a:p>
            <a:pPr algn="l"/>
            <a:r>
              <a:rPr sz="3600" b="1" i="1">
                <a:solidFill>
                  <a:srgbClr val="008564"/>
                </a:solidFill>
                <a:latin typeface="NVIDIA Sans Medium"/>
              </a:rPr>
              <a:t>What it does</a:t>
            </a:r>
          </a:p>
        </p:txBody>
      </p:sp>
      <p:sp>
        <p:nvSpPr>
          <p:cNvPr id="10" name="TextBox 9"/>
          <p:cNvSpPr txBox="1"/>
          <p:nvPr/>
        </p:nvSpPr>
        <p:spPr>
          <a:xfrm>
            <a:off x="2194560" y="12435840"/>
            <a:ext cx="9326880" cy="2560320"/>
          </a:xfrm>
          <a:prstGeom prst="rect">
            <a:avLst/>
          </a:prstGeom>
          <a:noFill/>
        </p:spPr>
        <p:txBody>
          <a:bodyPr wrap="square" lIns="50000" tIns="20000" rIns="50000" bIns="20000" anchor="t">
            <a:spAutoFit/>
          </a:bodyPr>
          <a:lstStyle/>
          <a:p>
            <a:pPr algn="l"/>
            <a:r>
              <a:rPr sz="3600" b="0" i="0">
                <a:solidFill>
                  <a:srgbClr val="000000"/>
                </a:solidFill>
                <a:latin typeface="NVIDIA Sans"/>
              </a:rPr>
              <a:t>Eliminates cold-start. Speeds up autoscaling — replicas come up in seconds, not minutes.</a:t>
            </a:r>
          </a:p>
        </p:txBody>
      </p:sp>
      <p:sp>
        <p:nvSpPr>
          <p:cNvPr id="11" name="TextBox 10"/>
          <p:cNvSpPr txBox="1"/>
          <p:nvPr/>
        </p:nvSpPr>
        <p:spPr>
          <a:xfrm>
            <a:off x="2194560" y="15179040"/>
            <a:ext cx="9326880" cy="1097280"/>
          </a:xfrm>
          <a:prstGeom prst="rect">
            <a:avLst/>
          </a:prstGeom>
          <a:noFill/>
        </p:spPr>
        <p:txBody>
          <a:bodyPr wrap="square" lIns="50000" tIns="20000" rIns="50000" bIns="20000" anchor="t">
            <a:spAutoFit/>
          </a:bodyPr>
          <a:lstStyle/>
          <a:p>
            <a:pPr algn="l"/>
            <a:r>
              <a:rPr sz="3600" b="1" i="1">
                <a:solidFill>
                  <a:srgbClr val="008564"/>
                </a:solidFill>
                <a:latin typeface="NVIDIA Sans Medium"/>
              </a:rPr>
              <a:t>Key field</a:t>
            </a:r>
          </a:p>
        </p:txBody>
      </p:sp>
      <p:sp>
        <p:nvSpPr>
          <p:cNvPr id="12" name="TextBox 11"/>
          <p:cNvSpPr txBox="1"/>
          <p:nvPr/>
        </p:nvSpPr>
        <p:spPr>
          <a:xfrm>
            <a:off x="2194560" y="16276320"/>
            <a:ext cx="9326880" cy="2011680"/>
          </a:xfrm>
          <a:prstGeom prst="rect">
            <a:avLst/>
          </a:prstGeom>
          <a:noFill/>
        </p:spPr>
        <p:txBody>
          <a:bodyPr wrap="square" lIns="50000" tIns="20000" rIns="50000" bIns="20000" anchor="t">
            <a:spAutoFit/>
          </a:bodyPr>
          <a:lstStyle/>
          <a:p>
            <a:pPr algn="l"/>
            <a:r>
              <a:rPr sz="3600" b="0" i="0">
                <a:solidFill>
                  <a:srgbClr val="000000"/>
                </a:solidFill>
                <a:latin typeface="NVIDIA Sans"/>
              </a:rPr>
              <a:t>Tracks NIMProfile[] — the (precision, parallelism, GPU type) variants for a model</a:t>
            </a:r>
          </a:p>
        </p:txBody>
      </p:sp>
      <p:sp>
        <p:nvSpPr>
          <p:cNvPr id="13" name="Rounded Rectangle 12"/>
          <p:cNvSpPr/>
          <p:nvPr/>
        </p:nvSpPr>
        <p:spPr>
          <a:xfrm>
            <a:off x="12801600" y="5669280"/>
            <a:ext cx="10789920" cy="1280160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2801600" y="5669280"/>
            <a:ext cx="10789920" cy="1828800"/>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0" y="5669280"/>
            <a:ext cx="10789920" cy="182880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NIMService</a:t>
            </a:r>
          </a:p>
        </p:txBody>
      </p:sp>
      <p:sp>
        <p:nvSpPr>
          <p:cNvPr id="16" name="TextBox 15"/>
          <p:cNvSpPr txBox="1"/>
          <p:nvPr/>
        </p:nvSpPr>
        <p:spPr>
          <a:xfrm>
            <a:off x="13533120" y="8046720"/>
            <a:ext cx="9326880" cy="3108960"/>
          </a:xfrm>
          <a:prstGeom prst="rect">
            <a:avLst/>
          </a:prstGeom>
          <a:noFill/>
        </p:spPr>
        <p:txBody>
          <a:bodyPr wrap="square" lIns="50000" tIns="20000" rIns="50000" bIns="20000" anchor="t">
            <a:spAutoFit/>
          </a:bodyPr>
          <a:lstStyle/>
          <a:p>
            <a:pPr algn="l"/>
            <a:r>
              <a:rPr sz="4000" b="0" i="0">
                <a:solidFill>
                  <a:srgbClr val="000000"/>
                </a:solidFill>
                <a:latin typeface="NVIDIA Sans"/>
              </a:rPr>
              <a:t>One NIM model as a fully-managed K8s Service — Deployment + Service + Ingress + HPA.</a:t>
            </a:r>
          </a:p>
        </p:txBody>
      </p:sp>
      <p:sp>
        <p:nvSpPr>
          <p:cNvPr id="17" name="TextBox 16"/>
          <p:cNvSpPr txBox="1"/>
          <p:nvPr/>
        </p:nvSpPr>
        <p:spPr>
          <a:xfrm>
            <a:off x="13533120" y="11338560"/>
            <a:ext cx="9326880" cy="1097280"/>
          </a:xfrm>
          <a:prstGeom prst="rect">
            <a:avLst/>
          </a:prstGeom>
          <a:noFill/>
        </p:spPr>
        <p:txBody>
          <a:bodyPr wrap="square" lIns="50000" tIns="20000" rIns="50000" bIns="20000" anchor="t">
            <a:spAutoFit/>
          </a:bodyPr>
          <a:lstStyle/>
          <a:p>
            <a:pPr algn="l"/>
            <a:r>
              <a:rPr sz="3600" b="1" i="1">
                <a:solidFill>
                  <a:srgbClr val="76B900"/>
                </a:solidFill>
                <a:latin typeface="NVIDIA Sans Medium"/>
              </a:rPr>
              <a:t>What it does</a:t>
            </a:r>
          </a:p>
        </p:txBody>
      </p:sp>
      <p:sp>
        <p:nvSpPr>
          <p:cNvPr id="18" name="TextBox 17"/>
          <p:cNvSpPr txBox="1"/>
          <p:nvPr/>
        </p:nvSpPr>
        <p:spPr>
          <a:xfrm>
            <a:off x="13533120" y="12435840"/>
            <a:ext cx="9326880" cy="2560320"/>
          </a:xfrm>
          <a:prstGeom prst="rect">
            <a:avLst/>
          </a:prstGeom>
          <a:noFill/>
        </p:spPr>
        <p:txBody>
          <a:bodyPr wrap="square" lIns="50000" tIns="20000" rIns="50000" bIns="20000" anchor="t">
            <a:spAutoFit/>
          </a:bodyPr>
          <a:lstStyle/>
          <a:p>
            <a:pPr algn="l"/>
            <a:r>
              <a:rPr sz="3600" b="0" i="0">
                <a:solidFill>
                  <a:srgbClr val="000000"/>
                </a:solidFill>
                <a:latin typeface="NVIDIA Sans"/>
              </a:rPr>
              <a:t>Lifecycle: deploy → autoscale → roll out new model version → drain old → delete.</a:t>
            </a:r>
          </a:p>
        </p:txBody>
      </p:sp>
      <p:sp>
        <p:nvSpPr>
          <p:cNvPr id="19" name="TextBox 18"/>
          <p:cNvSpPr txBox="1"/>
          <p:nvPr/>
        </p:nvSpPr>
        <p:spPr>
          <a:xfrm>
            <a:off x="13533120" y="15179040"/>
            <a:ext cx="9326880" cy="1097280"/>
          </a:xfrm>
          <a:prstGeom prst="rect">
            <a:avLst/>
          </a:prstGeom>
          <a:noFill/>
        </p:spPr>
        <p:txBody>
          <a:bodyPr wrap="square" lIns="50000" tIns="20000" rIns="50000" bIns="20000" anchor="t">
            <a:spAutoFit/>
          </a:bodyPr>
          <a:lstStyle/>
          <a:p>
            <a:pPr algn="l"/>
            <a:r>
              <a:rPr sz="3600" b="1" i="1">
                <a:solidFill>
                  <a:srgbClr val="76B900"/>
                </a:solidFill>
                <a:latin typeface="NVIDIA Sans Medium"/>
              </a:rPr>
              <a:t>Key field</a:t>
            </a:r>
          </a:p>
        </p:txBody>
      </p:sp>
      <p:sp>
        <p:nvSpPr>
          <p:cNvPr id="20" name="TextBox 19"/>
          <p:cNvSpPr txBox="1"/>
          <p:nvPr/>
        </p:nvSpPr>
        <p:spPr>
          <a:xfrm>
            <a:off x="13533120" y="16276320"/>
            <a:ext cx="9326880" cy="2011680"/>
          </a:xfrm>
          <a:prstGeom prst="rect">
            <a:avLst/>
          </a:prstGeom>
          <a:noFill/>
        </p:spPr>
        <p:txBody>
          <a:bodyPr wrap="square" lIns="50000" tIns="20000" rIns="50000" bIns="20000" anchor="t">
            <a:spAutoFit/>
          </a:bodyPr>
          <a:lstStyle/>
          <a:p>
            <a:pPr algn="l"/>
            <a:r>
              <a:rPr sz="3600" b="0" i="0">
                <a:solidFill>
                  <a:srgbClr val="000000"/>
                </a:solidFill>
                <a:latin typeface="NVIDIA Sans"/>
              </a:rPr>
              <a:t>LoRA adapters: declared as a field; the controller mounts them at runtime</a:t>
            </a:r>
          </a:p>
        </p:txBody>
      </p:sp>
      <p:sp>
        <p:nvSpPr>
          <p:cNvPr id="21" name="Rounded Rectangle 20"/>
          <p:cNvSpPr/>
          <p:nvPr/>
        </p:nvSpPr>
        <p:spPr>
          <a:xfrm>
            <a:off x="24140160" y="5669280"/>
            <a:ext cx="10789920" cy="12801600"/>
          </a:xfrm>
          <a:prstGeom prst="roundRect">
            <a:avLst>
              <a:gd name="adj" fmla="val 4000"/>
            </a:avLst>
          </a:prstGeom>
          <a:solidFill>
            <a:srgbClr val="FFFFFF"/>
          </a:solidFill>
          <a:ln w="254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4140160" y="5669280"/>
            <a:ext cx="10789920" cy="1828800"/>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140160" y="5669280"/>
            <a:ext cx="10789920" cy="182880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NIMPipeline</a:t>
            </a:r>
          </a:p>
        </p:txBody>
      </p:sp>
      <p:sp>
        <p:nvSpPr>
          <p:cNvPr id="24" name="TextBox 23"/>
          <p:cNvSpPr txBox="1"/>
          <p:nvPr/>
        </p:nvSpPr>
        <p:spPr>
          <a:xfrm>
            <a:off x="24871680" y="8046720"/>
            <a:ext cx="9326880" cy="3108960"/>
          </a:xfrm>
          <a:prstGeom prst="rect">
            <a:avLst/>
          </a:prstGeom>
          <a:noFill/>
        </p:spPr>
        <p:txBody>
          <a:bodyPr wrap="square" lIns="50000" tIns="20000" rIns="50000" bIns="20000" anchor="t">
            <a:spAutoFit/>
          </a:bodyPr>
          <a:lstStyle/>
          <a:p>
            <a:pPr algn="l"/>
            <a:r>
              <a:rPr sz="4000" b="0" i="0">
                <a:solidFill>
                  <a:srgbClr val="000000"/>
                </a:solidFill>
                <a:latin typeface="NVIDIA Sans"/>
              </a:rPr>
              <a:t>A composition of multiple NIMServices wired into a generative-AI pipeline.</a:t>
            </a:r>
          </a:p>
        </p:txBody>
      </p:sp>
      <p:sp>
        <p:nvSpPr>
          <p:cNvPr id="25" name="TextBox 24"/>
          <p:cNvSpPr txBox="1"/>
          <p:nvPr/>
        </p:nvSpPr>
        <p:spPr>
          <a:xfrm>
            <a:off x="24871680" y="11338560"/>
            <a:ext cx="9326880" cy="1097280"/>
          </a:xfrm>
          <a:prstGeom prst="rect">
            <a:avLst/>
          </a:prstGeom>
          <a:noFill/>
        </p:spPr>
        <p:txBody>
          <a:bodyPr wrap="square" lIns="50000" tIns="20000" rIns="50000" bIns="20000" anchor="t">
            <a:spAutoFit/>
          </a:bodyPr>
          <a:lstStyle/>
          <a:p>
            <a:pPr algn="l"/>
            <a:r>
              <a:rPr sz="3600" b="1" i="1">
                <a:solidFill>
                  <a:srgbClr val="5D1682"/>
                </a:solidFill>
                <a:latin typeface="NVIDIA Sans Medium"/>
              </a:rPr>
              <a:t>What it does</a:t>
            </a:r>
          </a:p>
        </p:txBody>
      </p:sp>
      <p:sp>
        <p:nvSpPr>
          <p:cNvPr id="26" name="TextBox 25"/>
          <p:cNvSpPr txBox="1"/>
          <p:nvPr/>
        </p:nvSpPr>
        <p:spPr>
          <a:xfrm>
            <a:off x="24871680" y="12435840"/>
            <a:ext cx="9326880" cy="2560320"/>
          </a:xfrm>
          <a:prstGeom prst="rect">
            <a:avLst/>
          </a:prstGeom>
          <a:noFill/>
        </p:spPr>
        <p:txBody>
          <a:bodyPr wrap="square" lIns="50000" tIns="20000" rIns="50000" bIns="20000" anchor="t">
            <a:spAutoFit/>
          </a:bodyPr>
          <a:lstStyle/>
          <a:p>
            <a:pPr algn="l"/>
            <a:r>
              <a:rPr sz="3600" b="0" i="0">
                <a:solidFill>
                  <a:srgbClr val="000000"/>
                </a:solidFill>
                <a:latin typeface="NVIDIA Sans"/>
              </a:rPr>
              <a:t>Single CR deploys an entire RAG-style pipeline: embedder + reranker + LLM together.</a:t>
            </a:r>
          </a:p>
        </p:txBody>
      </p:sp>
      <p:sp>
        <p:nvSpPr>
          <p:cNvPr id="27" name="TextBox 26"/>
          <p:cNvSpPr txBox="1"/>
          <p:nvPr/>
        </p:nvSpPr>
        <p:spPr>
          <a:xfrm>
            <a:off x="24871680" y="15179040"/>
            <a:ext cx="9326880" cy="1097280"/>
          </a:xfrm>
          <a:prstGeom prst="rect">
            <a:avLst/>
          </a:prstGeom>
          <a:noFill/>
        </p:spPr>
        <p:txBody>
          <a:bodyPr wrap="square" lIns="50000" tIns="20000" rIns="50000" bIns="20000" anchor="t">
            <a:spAutoFit/>
          </a:bodyPr>
          <a:lstStyle/>
          <a:p>
            <a:pPr algn="l"/>
            <a:r>
              <a:rPr sz="3600" b="1" i="1">
                <a:solidFill>
                  <a:srgbClr val="5D1682"/>
                </a:solidFill>
                <a:latin typeface="NVIDIA Sans Medium"/>
              </a:rPr>
              <a:t>Key field</a:t>
            </a:r>
          </a:p>
        </p:txBody>
      </p:sp>
      <p:sp>
        <p:nvSpPr>
          <p:cNvPr id="28" name="TextBox 27"/>
          <p:cNvSpPr txBox="1"/>
          <p:nvPr/>
        </p:nvSpPr>
        <p:spPr>
          <a:xfrm>
            <a:off x="24871680" y="16276320"/>
            <a:ext cx="9326880" cy="2011680"/>
          </a:xfrm>
          <a:prstGeom prst="rect">
            <a:avLst/>
          </a:prstGeom>
          <a:noFill/>
        </p:spPr>
        <p:txBody>
          <a:bodyPr wrap="square" lIns="50000" tIns="20000" rIns="50000" bIns="20000" anchor="t">
            <a:spAutoFit/>
          </a:bodyPr>
          <a:lstStyle/>
          <a:p>
            <a:pPr algn="l"/>
            <a:r>
              <a:rPr sz="3600" b="0" i="0">
                <a:solidFill>
                  <a:srgbClr val="000000"/>
                </a:solidFill>
                <a:latin typeface="NVIDIA Sans"/>
              </a:rPr>
              <a:t>Updates the whole pipeline transactionally — no half-rolled-out states</a:t>
            </a:r>
          </a:p>
        </p:txBody>
      </p:sp>
      <p:sp>
        <p:nvSpPr>
          <p:cNvPr id="29" name="TextBox 28"/>
          <p:cNvSpPr txBox="1"/>
          <p:nvPr/>
        </p:nvSpPr>
        <p:spPr>
          <a:xfrm>
            <a:off x="1463040" y="18836640"/>
            <a:ext cx="33649920" cy="731520"/>
          </a:xfrm>
          <a:prstGeom prst="rect">
            <a:avLst/>
          </a:prstGeom>
          <a:noFill/>
        </p:spPr>
        <p:txBody>
          <a:bodyPr wrap="square" lIns="50000" tIns="20000" rIns="50000" bIns="20000" anchor="t">
            <a:spAutoFit/>
          </a:bodyPr>
          <a:lstStyle/>
          <a:p>
            <a:pPr algn="ctr"/>
            <a:r>
              <a:rPr sz="3200" b="0" i="1">
                <a:solidFill>
                  <a:srgbClr val="5E5E5E"/>
                </a:solidFill>
                <a:latin typeface="Consolas"/>
              </a:rPr>
              <a:t>Source: reference/repos/k8s-nim-operator/api/apps/v1alpha1/{nimcache,nimservice,nimpipeline}_types.go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NIM Operator — High-Level Architecture</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Two namespaces · two controllers · CRs in, deployed services out</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16093440" cy="1316736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6217920"/>
            <a:ext cx="16093440" cy="1463040"/>
          </a:xfrm>
          <a:prstGeom prst="rect">
            <a:avLst/>
          </a:prstGeom>
          <a:noFill/>
        </p:spPr>
        <p:txBody>
          <a:bodyPr wrap="square" lIns="50000" tIns="20000" rIns="50000" bIns="20000" anchor="ctr">
            <a:spAutoFit/>
          </a:bodyPr>
          <a:lstStyle/>
          <a:p>
            <a:pPr algn="ctr"/>
            <a:r>
              <a:rPr sz="5200" b="1" i="0">
                <a:solidFill>
                  <a:srgbClr val="76B900"/>
                </a:solidFill>
                <a:latin typeface="NVIDIA Sans Medium"/>
              </a:rPr>
              <a:t>Operator namespace</a:t>
            </a:r>
          </a:p>
        </p:txBody>
      </p:sp>
      <p:sp>
        <p:nvSpPr>
          <p:cNvPr id="7" name="Rounded Rectangle 6"/>
          <p:cNvSpPr/>
          <p:nvPr/>
        </p:nvSpPr>
        <p:spPr>
          <a:xfrm>
            <a:off x="2011680" y="8412480"/>
            <a:ext cx="4754880" cy="3291840"/>
          </a:xfrm>
          <a:prstGeom prst="roundRect">
            <a:avLst>
              <a:gd name="adj" fmla="val 4000"/>
            </a:avLst>
          </a:prstGeom>
          <a:solidFill>
            <a:srgbClr val="76B900"/>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0" y="9484207"/>
            <a:ext cx="4754880" cy="1148386"/>
          </a:xfrm>
          <a:prstGeom prst="rect">
            <a:avLst/>
          </a:prstGeom>
          <a:noFill/>
        </p:spPr>
        <p:txBody>
          <a:bodyPr wrap="square" lIns="50000" tIns="20000" rIns="50000" bIns="20000" anchor="ctr">
            <a:spAutoFit/>
          </a:bodyPr>
          <a:lstStyle/>
          <a:p>
            <a:pPr algn="ctr"/>
            <a:r>
              <a:rPr sz="3600" b="1" i="0" dirty="0">
                <a:solidFill>
                  <a:srgbClr val="FFFFFF"/>
                </a:solidFill>
                <a:latin typeface="NVIDIA Sans Medium"/>
              </a:rPr>
              <a:t>NIM</a:t>
            </a:r>
          </a:p>
          <a:p>
            <a:pPr algn="ctr"/>
            <a:r>
              <a:rPr sz="3600" b="1" i="0" dirty="0">
                <a:solidFill>
                  <a:srgbClr val="FFFFFF"/>
                </a:solidFill>
                <a:latin typeface="NVIDIA Sans Medium"/>
              </a:rPr>
              <a:t>Service Controllers</a:t>
            </a:r>
          </a:p>
        </p:txBody>
      </p:sp>
      <p:sp>
        <p:nvSpPr>
          <p:cNvPr id="9" name="Rounded Rectangle 8"/>
          <p:cNvSpPr/>
          <p:nvPr/>
        </p:nvSpPr>
        <p:spPr>
          <a:xfrm>
            <a:off x="7132320" y="8412480"/>
            <a:ext cx="4754880" cy="3291840"/>
          </a:xfrm>
          <a:prstGeom prst="roundRect">
            <a:avLst>
              <a:gd name="adj" fmla="val 4000"/>
            </a:avLst>
          </a:prstGeom>
          <a:solidFill>
            <a:srgbClr val="008564"/>
          </a:solidFill>
          <a:ln w="1270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0" y="8412480"/>
            <a:ext cx="4754880" cy="3291840"/>
          </a:xfrm>
          <a:prstGeom prst="rect">
            <a:avLst/>
          </a:prstGeom>
          <a:noFill/>
        </p:spPr>
        <p:txBody>
          <a:bodyPr wrap="square" lIns="50000" tIns="20000" rIns="50000" bIns="20000" anchor="ctr">
            <a:spAutoFit/>
          </a:bodyPr>
          <a:lstStyle/>
          <a:p>
            <a:pPr algn="ctr"/>
            <a:r>
              <a:rPr sz="3600" b="1" i="0">
                <a:solidFill>
                  <a:srgbClr val="FFFFFF"/>
                </a:solidFill>
                <a:latin typeface="NVIDIA Sans Medium"/>
              </a:rPr>
              <a:t>Model Cache</a:t>
            </a:r>
          </a:p>
          <a:p>
            <a:pPr algn="ctr"/>
            <a:r>
              <a:rPr sz="3600" b="1" i="0">
                <a:solidFill>
                  <a:srgbClr val="FFFFFF"/>
                </a:solidFill>
                <a:latin typeface="NVIDIA Sans Medium"/>
              </a:rPr>
              <a:t>Controller</a:t>
            </a:r>
          </a:p>
        </p:txBody>
      </p:sp>
      <p:sp>
        <p:nvSpPr>
          <p:cNvPr id="11" name="Rounded Rectangle 10"/>
          <p:cNvSpPr/>
          <p:nvPr/>
        </p:nvSpPr>
        <p:spPr>
          <a:xfrm>
            <a:off x="12252960" y="8412480"/>
            <a:ext cx="4754880" cy="3291840"/>
          </a:xfrm>
          <a:prstGeom prst="roundRect">
            <a:avLst>
              <a:gd name="adj" fmla="val 4000"/>
            </a:avLst>
          </a:prstGeom>
          <a:solidFill>
            <a:srgbClr val="5D1682"/>
          </a:solidFill>
          <a:ln w="127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252960" y="8412480"/>
            <a:ext cx="4754880" cy="3291840"/>
          </a:xfrm>
          <a:prstGeom prst="rect">
            <a:avLst/>
          </a:prstGeom>
          <a:noFill/>
        </p:spPr>
        <p:txBody>
          <a:bodyPr wrap="square" lIns="50000" tIns="20000" rIns="50000" bIns="20000" anchor="ctr">
            <a:spAutoFit/>
          </a:bodyPr>
          <a:lstStyle/>
          <a:p>
            <a:pPr algn="ctr"/>
            <a:r>
              <a:rPr sz="3600" b="1" i="0">
                <a:solidFill>
                  <a:srgbClr val="FFFFFF"/>
                </a:solidFill>
                <a:latin typeface="NVIDIA Sans Medium"/>
              </a:rPr>
              <a:t>Pipeline</a:t>
            </a:r>
          </a:p>
          <a:p>
            <a:pPr algn="ctr"/>
            <a:r>
              <a:rPr sz="3600" b="1" i="0">
                <a:solidFill>
                  <a:srgbClr val="FFFFFF"/>
                </a:solidFill>
                <a:latin typeface="NVIDIA Sans Medium"/>
              </a:rPr>
              <a:t>Controller</a:t>
            </a:r>
          </a:p>
        </p:txBody>
      </p:sp>
      <p:sp>
        <p:nvSpPr>
          <p:cNvPr id="13" name="TextBox 12"/>
          <p:cNvSpPr txBox="1"/>
          <p:nvPr/>
        </p:nvSpPr>
        <p:spPr>
          <a:xfrm>
            <a:off x="1828800" y="12435840"/>
            <a:ext cx="15361920" cy="1097280"/>
          </a:xfrm>
          <a:prstGeom prst="rect">
            <a:avLst/>
          </a:prstGeom>
          <a:noFill/>
        </p:spPr>
        <p:txBody>
          <a:bodyPr wrap="square" lIns="50000" tIns="20000" rIns="50000" bIns="20000" anchor="t">
            <a:spAutoFit/>
          </a:bodyPr>
          <a:lstStyle/>
          <a:p>
            <a:pPr algn="ctr"/>
            <a:r>
              <a:rPr sz="3600" b="0" i="1">
                <a:solidFill>
                  <a:srgbClr val="5E5E5E"/>
                </a:solidFill>
                <a:latin typeface="NVIDIA Sans"/>
              </a:rPr>
              <a:t>watches CRs · pulls from NGC · reconciles app namespace</a:t>
            </a:r>
          </a:p>
        </p:txBody>
      </p:sp>
      <p:sp>
        <p:nvSpPr>
          <p:cNvPr id="14" name="Rounded Rectangle 13"/>
          <p:cNvSpPr/>
          <p:nvPr/>
        </p:nvSpPr>
        <p:spPr>
          <a:xfrm>
            <a:off x="5120640" y="14081760"/>
            <a:ext cx="8778240" cy="2194560"/>
          </a:xfrm>
          <a:prstGeom prst="roundRect">
            <a:avLst>
              <a:gd name="adj" fmla="val 4000"/>
            </a:avLst>
          </a:prstGeom>
          <a:solidFill>
            <a:srgbClr val="CDCDCD"/>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20640" y="14081760"/>
            <a:ext cx="8778240" cy="2194560"/>
          </a:xfrm>
          <a:prstGeom prst="rect">
            <a:avLst/>
          </a:prstGeom>
          <a:noFill/>
        </p:spPr>
        <p:txBody>
          <a:bodyPr wrap="square" lIns="50000" tIns="20000" rIns="50000" bIns="20000" anchor="ctr">
            <a:spAutoFit/>
          </a:bodyPr>
          <a:lstStyle/>
          <a:p>
            <a:pPr algn="ctr"/>
            <a:r>
              <a:rPr sz="3600" b="0" i="0">
                <a:solidFill>
                  <a:srgbClr val="000000"/>
                </a:solidFill>
                <a:latin typeface="NVIDIA Sans"/>
              </a:rPr>
              <a:t>NGC Registry</a:t>
            </a:r>
          </a:p>
          <a:p>
            <a:pPr algn="ctr"/>
            <a:r>
              <a:rPr sz="3600" b="0" i="0">
                <a:solidFill>
                  <a:srgbClr val="000000"/>
                </a:solidFill>
                <a:latin typeface="NVIDIA Sans"/>
              </a:rPr>
              <a:t>(models · containers)</a:t>
            </a:r>
          </a:p>
        </p:txBody>
      </p:sp>
      <p:sp>
        <p:nvSpPr>
          <p:cNvPr id="16" name="Right Arrow 15"/>
          <p:cNvSpPr/>
          <p:nvPr/>
        </p:nvSpPr>
        <p:spPr>
          <a:xfrm>
            <a:off x="17739360" y="11521440"/>
            <a:ext cx="1280160" cy="109728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739360" y="12801600"/>
            <a:ext cx="1280160" cy="731520"/>
          </a:xfrm>
          <a:prstGeom prst="rect">
            <a:avLst/>
          </a:prstGeom>
          <a:noFill/>
        </p:spPr>
        <p:txBody>
          <a:bodyPr wrap="square" lIns="50000" tIns="20000" rIns="50000" bIns="20000" anchor="t">
            <a:spAutoFit/>
          </a:bodyPr>
          <a:lstStyle/>
          <a:p>
            <a:pPr algn="ctr"/>
            <a:r>
              <a:rPr sz="3200" b="0" i="1">
                <a:solidFill>
                  <a:srgbClr val="76B900"/>
                </a:solidFill>
                <a:latin typeface="NVIDIA Sans"/>
              </a:rPr>
              <a:t>deploys</a:t>
            </a:r>
          </a:p>
        </p:txBody>
      </p:sp>
      <p:sp>
        <p:nvSpPr>
          <p:cNvPr id="18" name="Rounded Rectangle 17"/>
          <p:cNvSpPr/>
          <p:nvPr/>
        </p:nvSpPr>
        <p:spPr>
          <a:xfrm>
            <a:off x="19202400" y="5669280"/>
            <a:ext cx="15910559" cy="13167360"/>
          </a:xfrm>
          <a:prstGeom prst="roundRect">
            <a:avLst>
              <a:gd name="adj" fmla="val 4000"/>
            </a:avLst>
          </a:prstGeom>
          <a:solidFill>
            <a:srgbClr val="F7F7F7"/>
          </a:solidFill>
          <a:ln w="1905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9202400" y="6217920"/>
            <a:ext cx="15910559" cy="1463040"/>
          </a:xfrm>
          <a:prstGeom prst="rect">
            <a:avLst/>
          </a:prstGeom>
          <a:noFill/>
        </p:spPr>
        <p:txBody>
          <a:bodyPr wrap="square" lIns="50000" tIns="20000" rIns="50000" bIns="20000" anchor="ctr">
            <a:spAutoFit/>
          </a:bodyPr>
          <a:lstStyle/>
          <a:p>
            <a:pPr algn="ctr"/>
            <a:r>
              <a:rPr sz="5200" b="1" i="0">
                <a:solidFill>
                  <a:srgbClr val="5E5E5E"/>
                </a:solidFill>
                <a:latin typeface="NVIDIA Sans Medium"/>
              </a:rPr>
              <a:t>Application namespace</a:t>
            </a:r>
          </a:p>
        </p:txBody>
      </p:sp>
      <p:sp>
        <p:nvSpPr>
          <p:cNvPr id="20" name="Rounded Rectangle 19"/>
          <p:cNvSpPr/>
          <p:nvPr/>
        </p:nvSpPr>
        <p:spPr>
          <a:xfrm>
            <a:off x="19751040" y="8046720"/>
            <a:ext cx="7132320" cy="201168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16800" y="8046720"/>
            <a:ext cx="1828800" cy="2011680"/>
          </a:xfrm>
          <a:prstGeom prst="rect">
            <a:avLst/>
          </a:prstGeom>
          <a:noFill/>
        </p:spPr>
        <p:txBody>
          <a:bodyPr wrap="square" lIns="50000" tIns="20000" rIns="50000" bIns="20000" anchor="ctr">
            <a:spAutoFit/>
          </a:bodyPr>
          <a:lstStyle/>
          <a:p>
            <a:pPr algn="l"/>
            <a:r>
              <a:rPr sz="4000" b="1" i="0">
                <a:solidFill>
                  <a:srgbClr val="76B900"/>
                </a:solidFill>
                <a:latin typeface="Consolas"/>
              </a:rPr>
              <a:t>Pod</a:t>
            </a:r>
          </a:p>
        </p:txBody>
      </p:sp>
      <p:sp>
        <p:nvSpPr>
          <p:cNvPr id="22" name="TextBox 21"/>
          <p:cNvSpPr txBox="1"/>
          <p:nvPr/>
        </p:nvSpPr>
        <p:spPr>
          <a:xfrm>
            <a:off x="22128480" y="8046720"/>
            <a:ext cx="4572000" cy="2011680"/>
          </a:xfrm>
          <a:prstGeom prst="rect">
            <a:avLst/>
          </a:prstGeom>
          <a:noFill/>
        </p:spPr>
        <p:txBody>
          <a:bodyPr wrap="square" lIns="50000" tIns="20000" rIns="50000" bIns="20000" anchor="ctr">
            <a:spAutoFit/>
          </a:bodyPr>
          <a:lstStyle/>
          <a:p>
            <a:pPr algn="l"/>
            <a:r>
              <a:rPr sz="3600" b="0" i="0">
                <a:solidFill>
                  <a:srgbClr val="000000"/>
                </a:solidFill>
                <a:latin typeface="NVIDIA Sans"/>
              </a:rPr>
              <a:t>NIM container</a:t>
            </a:r>
          </a:p>
        </p:txBody>
      </p:sp>
      <p:sp>
        <p:nvSpPr>
          <p:cNvPr id="23" name="Rounded Rectangle 22"/>
          <p:cNvSpPr/>
          <p:nvPr/>
        </p:nvSpPr>
        <p:spPr>
          <a:xfrm>
            <a:off x="27249120" y="8046720"/>
            <a:ext cx="7132320" cy="201168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614880" y="8046720"/>
            <a:ext cx="1828800" cy="2011680"/>
          </a:xfrm>
          <a:prstGeom prst="rect">
            <a:avLst/>
          </a:prstGeom>
          <a:noFill/>
        </p:spPr>
        <p:txBody>
          <a:bodyPr wrap="square" lIns="50000" tIns="20000" rIns="50000" bIns="20000" anchor="ctr">
            <a:spAutoFit/>
          </a:bodyPr>
          <a:lstStyle/>
          <a:p>
            <a:pPr algn="l"/>
            <a:r>
              <a:rPr sz="4000" b="1" i="0">
                <a:solidFill>
                  <a:srgbClr val="76B900"/>
                </a:solidFill>
                <a:latin typeface="Consolas"/>
              </a:rPr>
              <a:t>PVC</a:t>
            </a:r>
          </a:p>
        </p:txBody>
      </p:sp>
      <p:sp>
        <p:nvSpPr>
          <p:cNvPr id="25" name="TextBox 24"/>
          <p:cNvSpPr txBox="1"/>
          <p:nvPr/>
        </p:nvSpPr>
        <p:spPr>
          <a:xfrm>
            <a:off x="29626560" y="8046720"/>
            <a:ext cx="4572000" cy="2011680"/>
          </a:xfrm>
          <a:prstGeom prst="rect">
            <a:avLst/>
          </a:prstGeom>
          <a:noFill/>
        </p:spPr>
        <p:txBody>
          <a:bodyPr wrap="square" lIns="50000" tIns="20000" rIns="50000" bIns="20000" anchor="ctr">
            <a:spAutoFit/>
          </a:bodyPr>
          <a:lstStyle/>
          <a:p>
            <a:pPr algn="l"/>
            <a:r>
              <a:rPr sz="3600" b="0" i="0">
                <a:solidFill>
                  <a:srgbClr val="000000"/>
                </a:solidFill>
                <a:latin typeface="NVIDIA Sans"/>
              </a:rPr>
              <a:t>Model cache</a:t>
            </a:r>
          </a:p>
        </p:txBody>
      </p:sp>
      <p:sp>
        <p:nvSpPr>
          <p:cNvPr id="26" name="Rounded Rectangle 25"/>
          <p:cNvSpPr/>
          <p:nvPr/>
        </p:nvSpPr>
        <p:spPr>
          <a:xfrm>
            <a:off x="19751040" y="10424160"/>
            <a:ext cx="7132320" cy="201168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116800" y="10424160"/>
            <a:ext cx="1828800" cy="2011680"/>
          </a:xfrm>
          <a:prstGeom prst="rect">
            <a:avLst/>
          </a:prstGeom>
          <a:noFill/>
        </p:spPr>
        <p:txBody>
          <a:bodyPr wrap="square" lIns="50000" tIns="20000" rIns="50000" bIns="20000" anchor="ctr">
            <a:spAutoFit/>
          </a:bodyPr>
          <a:lstStyle/>
          <a:p>
            <a:pPr algn="l"/>
            <a:r>
              <a:rPr sz="4000" b="1" i="0">
                <a:solidFill>
                  <a:srgbClr val="76B900"/>
                </a:solidFill>
                <a:latin typeface="Consolas"/>
              </a:rPr>
              <a:t>Svc</a:t>
            </a:r>
          </a:p>
        </p:txBody>
      </p:sp>
      <p:sp>
        <p:nvSpPr>
          <p:cNvPr id="28" name="TextBox 27"/>
          <p:cNvSpPr txBox="1"/>
          <p:nvPr/>
        </p:nvSpPr>
        <p:spPr>
          <a:xfrm>
            <a:off x="22128480" y="10424160"/>
            <a:ext cx="4572000" cy="2011680"/>
          </a:xfrm>
          <a:prstGeom prst="rect">
            <a:avLst/>
          </a:prstGeom>
          <a:noFill/>
        </p:spPr>
        <p:txBody>
          <a:bodyPr wrap="square" lIns="50000" tIns="20000" rIns="50000" bIns="20000" anchor="ctr">
            <a:spAutoFit/>
          </a:bodyPr>
          <a:lstStyle/>
          <a:p>
            <a:pPr algn="l"/>
            <a:r>
              <a:rPr sz="3600" b="0" i="0">
                <a:solidFill>
                  <a:srgbClr val="000000"/>
                </a:solidFill>
                <a:latin typeface="NVIDIA Sans"/>
              </a:rPr>
              <a:t>ClusterIP</a:t>
            </a:r>
          </a:p>
        </p:txBody>
      </p:sp>
      <p:sp>
        <p:nvSpPr>
          <p:cNvPr id="29" name="Rounded Rectangle 28"/>
          <p:cNvSpPr/>
          <p:nvPr/>
        </p:nvSpPr>
        <p:spPr>
          <a:xfrm>
            <a:off x="27249120" y="10424160"/>
            <a:ext cx="7132320" cy="201168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614880" y="10424160"/>
            <a:ext cx="1828800" cy="2011680"/>
          </a:xfrm>
          <a:prstGeom prst="rect">
            <a:avLst/>
          </a:prstGeom>
          <a:noFill/>
        </p:spPr>
        <p:txBody>
          <a:bodyPr wrap="square" lIns="50000" tIns="20000" rIns="50000" bIns="20000" anchor="ctr">
            <a:spAutoFit/>
          </a:bodyPr>
          <a:lstStyle/>
          <a:p>
            <a:pPr algn="l"/>
            <a:r>
              <a:rPr sz="4000" b="1" i="0">
                <a:solidFill>
                  <a:srgbClr val="76B900"/>
                </a:solidFill>
                <a:latin typeface="Consolas"/>
              </a:rPr>
              <a:t>Ing</a:t>
            </a:r>
          </a:p>
        </p:txBody>
      </p:sp>
      <p:sp>
        <p:nvSpPr>
          <p:cNvPr id="31" name="TextBox 30"/>
          <p:cNvSpPr txBox="1"/>
          <p:nvPr/>
        </p:nvSpPr>
        <p:spPr>
          <a:xfrm>
            <a:off x="29626560" y="10424160"/>
            <a:ext cx="4572000" cy="2011680"/>
          </a:xfrm>
          <a:prstGeom prst="rect">
            <a:avLst/>
          </a:prstGeom>
          <a:noFill/>
        </p:spPr>
        <p:txBody>
          <a:bodyPr wrap="square" lIns="50000" tIns="20000" rIns="50000" bIns="20000" anchor="ctr">
            <a:spAutoFit/>
          </a:bodyPr>
          <a:lstStyle/>
          <a:p>
            <a:pPr algn="l"/>
            <a:r>
              <a:rPr sz="3600" b="0" i="0">
                <a:solidFill>
                  <a:srgbClr val="000000"/>
                </a:solidFill>
                <a:latin typeface="NVIDIA Sans"/>
              </a:rPr>
              <a:t>External ingress</a:t>
            </a:r>
          </a:p>
        </p:txBody>
      </p:sp>
      <p:sp>
        <p:nvSpPr>
          <p:cNvPr id="32" name="Rounded Rectangle 31"/>
          <p:cNvSpPr/>
          <p:nvPr/>
        </p:nvSpPr>
        <p:spPr>
          <a:xfrm>
            <a:off x="19751040" y="12801600"/>
            <a:ext cx="7132320" cy="201168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116800" y="12801600"/>
            <a:ext cx="1828800" cy="2011680"/>
          </a:xfrm>
          <a:prstGeom prst="rect">
            <a:avLst/>
          </a:prstGeom>
          <a:noFill/>
        </p:spPr>
        <p:txBody>
          <a:bodyPr wrap="square" lIns="50000" tIns="20000" rIns="50000" bIns="20000" anchor="ctr">
            <a:spAutoFit/>
          </a:bodyPr>
          <a:lstStyle/>
          <a:p>
            <a:pPr algn="l"/>
            <a:r>
              <a:rPr sz="4000" b="1" i="0">
                <a:solidFill>
                  <a:srgbClr val="76B900"/>
                </a:solidFill>
                <a:latin typeface="Consolas"/>
              </a:rPr>
              <a:t>HPA</a:t>
            </a:r>
          </a:p>
        </p:txBody>
      </p:sp>
      <p:sp>
        <p:nvSpPr>
          <p:cNvPr id="34" name="TextBox 33"/>
          <p:cNvSpPr txBox="1"/>
          <p:nvPr/>
        </p:nvSpPr>
        <p:spPr>
          <a:xfrm>
            <a:off x="22128480" y="12801600"/>
            <a:ext cx="4572000" cy="2011680"/>
          </a:xfrm>
          <a:prstGeom prst="rect">
            <a:avLst/>
          </a:prstGeom>
          <a:noFill/>
        </p:spPr>
        <p:txBody>
          <a:bodyPr wrap="square" lIns="50000" tIns="20000" rIns="50000" bIns="20000" anchor="ctr">
            <a:spAutoFit/>
          </a:bodyPr>
          <a:lstStyle/>
          <a:p>
            <a:pPr algn="l"/>
            <a:r>
              <a:rPr sz="3600" b="0" i="0">
                <a:solidFill>
                  <a:srgbClr val="000000"/>
                </a:solidFill>
                <a:latin typeface="NVIDIA Sans"/>
              </a:rPr>
              <a:t>Autoscaler</a:t>
            </a:r>
          </a:p>
        </p:txBody>
      </p:sp>
      <p:sp>
        <p:nvSpPr>
          <p:cNvPr id="35" name="Rounded Rectangle 34"/>
          <p:cNvSpPr/>
          <p:nvPr/>
        </p:nvSpPr>
        <p:spPr>
          <a:xfrm>
            <a:off x="27249120" y="12801600"/>
            <a:ext cx="7132320" cy="201168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614880" y="12801600"/>
            <a:ext cx="1828800" cy="2011680"/>
          </a:xfrm>
          <a:prstGeom prst="rect">
            <a:avLst/>
          </a:prstGeom>
          <a:noFill/>
        </p:spPr>
        <p:txBody>
          <a:bodyPr wrap="square" lIns="50000" tIns="20000" rIns="50000" bIns="20000" anchor="ctr">
            <a:spAutoFit/>
          </a:bodyPr>
          <a:lstStyle/>
          <a:p>
            <a:pPr algn="l"/>
            <a:r>
              <a:rPr sz="4000" b="1" i="0">
                <a:solidFill>
                  <a:srgbClr val="76B900"/>
                </a:solidFill>
                <a:latin typeface="Consolas"/>
              </a:rPr>
              <a:t>Sec</a:t>
            </a:r>
          </a:p>
        </p:txBody>
      </p:sp>
      <p:sp>
        <p:nvSpPr>
          <p:cNvPr id="37" name="TextBox 36"/>
          <p:cNvSpPr txBox="1"/>
          <p:nvPr/>
        </p:nvSpPr>
        <p:spPr>
          <a:xfrm>
            <a:off x="29626560" y="12801600"/>
            <a:ext cx="4572000" cy="2011680"/>
          </a:xfrm>
          <a:prstGeom prst="rect">
            <a:avLst/>
          </a:prstGeom>
          <a:noFill/>
        </p:spPr>
        <p:txBody>
          <a:bodyPr wrap="square" lIns="50000" tIns="20000" rIns="50000" bIns="20000" anchor="ctr">
            <a:spAutoFit/>
          </a:bodyPr>
          <a:lstStyle/>
          <a:p>
            <a:pPr algn="l"/>
            <a:r>
              <a:rPr sz="3600" b="0" i="0">
                <a:solidFill>
                  <a:srgbClr val="000000"/>
                </a:solidFill>
                <a:latin typeface="NVIDIA Sans"/>
              </a:rPr>
              <a:t>NGC API key</a:t>
            </a:r>
          </a:p>
        </p:txBody>
      </p:sp>
      <p:sp>
        <p:nvSpPr>
          <p:cNvPr id="38" name="TextBox 37"/>
          <p:cNvSpPr txBox="1"/>
          <p:nvPr/>
        </p:nvSpPr>
        <p:spPr>
          <a:xfrm>
            <a:off x="19202400" y="17007840"/>
            <a:ext cx="15910559" cy="1097280"/>
          </a:xfrm>
          <a:prstGeom prst="rect">
            <a:avLst/>
          </a:prstGeom>
          <a:noFill/>
        </p:spPr>
        <p:txBody>
          <a:bodyPr wrap="square" lIns="50000" tIns="20000" rIns="50000" bIns="20000" anchor="ctr">
            <a:spAutoFit/>
          </a:bodyPr>
          <a:lstStyle/>
          <a:p>
            <a:pPr algn="ctr"/>
            <a:r>
              <a:rPr sz="4000" b="1" i="1">
                <a:solidFill>
                  <a:srgbClr val="76B900"/>
                </a:solidFill>
                <a:latin typeface="NVIDIA Sans"/>
              </a:rPr>
              <a:t>User applies: NIMCache + NIMService CRs</a:t>
            </a:r>
          </a:p>
        </p:txBody>
      </p:sp>
      <p:sp>
        <p:nvSpPr>
          <p:cNvPr id="39" name="TextBox 38"/>
          <p:cNvSpPr txBox="1"/>
          <p:nvPr/>
        </p:nvSpPr>
        <p:spPr>
          <a:xfrm>
            <a:off x="1463040" y="18836640"/>
            <a:ext cx="33649920" cy="731520"/>
          </a:xfrm>
          <a:prstGeom prst="rect">
            <a:avLst/>
          </a:prstGeom>
          <a:noFill/>
        </p:spPr>
        <p:txBody>
          <a:bodyPr wrap="square" lIns="50000" tIns="20000" rIns="50000" bIns="20000" anchor="t">
            <a:spAutoFit/>
          </a:bodyPr>
          <a:lstStyle/>
          <a:p>
            <a:pPr algn="ctr"/>
            <a:r>
              <a:rPr sz="4000" b="0" i="1">
                <a:solidFill>
                  <a:srgbClr val="5E5E5E"/>
                </a:solidFill>
                <a:latin typeface="NVIDIA Sans"/>
              </a:rPr>
              <a:t>User applies CR · operator reconciles · K8s primitives appear in the app namespace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The AI Factory Pattern — All Three Operators Together</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One declarative stack: from kernel to inference endpoint</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669280"/>
            <a:ext cx="6400800" cy="1645920"/>
          </a:xfrm>
          <a:prstGeom prst="roundRect">
            <a:avLst>
              <a:gd name="adj" fmla="val 4000"/>
            </a:avLst>
          </a:prstGeom>
          <a:solidFill>
            <a:srgbClr val="5E5E5E"/>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5669280"/>
            <a:ext cx="6400800" cy="1645920"/>
          </a:xfrm>
          <a:prstGeom prst="rect">
            <a:avLst/>
          </a:prstGeom>
          <a:noFill/>
        </p:spPr>
        <p:txBody>
          <a:bodyPr wrap="square" lIns="50000" tIns="20000" rIns="50000" bIns="20000" anchor="ctr">
            <a:spAutoFit/>
          </a:bodyPr>
          <a:lstStyle/>
          <a:p>
            <a:pPr algn="ctr"/>
            <a:r>
              <a:rPr sz="4000" b="1" i="0">
                <a:solidFill>
                  <a:srgbClr val="FFFFFF"/>
                </a:solidFill>
                <a:latin typeface="NVIDIA Sans Medium"/>
              </a:rPr>
              <a:t>Application Layer</a:t>
            </a:r>
          </a:p>
        </p:txBody>
      </p:sp>
      <p:sp>
        <p:nvSpPr>
          <p:cNvPr id="7" name="Rounded Rectangle 6"/>
          <p:cNvSpPr/>
          <p:nvPr/>
        </p:nvSpPr>
        <p:spPr>
          <a:xfrm>
            <a:off x="8229600" y="5669280"/>
            <a:ext cx="26883360" cy="1645920"/>
          </a:xfrm>
          <a:prstGeom prst="roundRect">
            <a:avLst>
              <a:gd name="adj" fmla="val 4000"/>
            </a:avLst>
          </a:prstGeom>
          <a:solidFill>
            <a:srgbClr val="FFFFFF"/>
          </a:solidFill>
          <a:ln w="1270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0" y="5852160"/>
            <a:ext cx="25786080" cy="1280160"/>
          </a:xfrm>
          <a:prstGeom prst="rect">
            <a:avLst/>
          </a:prstGeom>
          <a:noFill/>
        </p:spPr>
        <p:txBody>
          <a:bodyPr wrap="square" lIns="50000" tIns="20000" rIns="50000" bIns="20000" anchor="ctr">
            <a:spAutoFit/>
          </a:bodyPr>
          <a:lstStyle/>
          <a:p>
            <a:pPr algn="l"/>
            <a:r>
              <a:rPr sz="4000" b="0" i="0">
                <a:solidFill>
                  <a:srgbClr val="000000"/>
                </a:solidFill>
                <a:latin typeface="NVIDIA Sans"/>
              </a:rPr>
              <a:t>AML SAR Agent (NAT) · RAG · Digital Human · Customer apps</a:t>
            </a:r>
          </a:p>
        </p:txBody>
      </p:sp>
      <p:sp>
        <p:nvSpPr>
          <p:cNvPr id="9" name="Rounded Rectangle 8"/>
          <p:cNvSpPr/>
          <p:nvPr/>
        </p:nvSpPr>
        <p:spPr>
          <a:xfrm>
            <a:off x="1463040" y="7498079"/>
            <a:ext cx="6400800" cy="3108960"/>
          </a:xfrm>
          <a:prstGeom prst="roundRect">
            <a:avLst>
              <a:gd name="adj" fmla="val 4000"/>
            </a:avLst>
          </a:prstGeom>
          <a:solidFill>
            <a:srgbClr val="76B900"/>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63040" y="7498079"/>
            <a:ext cx="6400800" cy="3108960"/>
          </a:xfrm>
          <a:prstGeom prst="rect">
            <a:avLst/>
          </a:prstGeom>
          <a:noFill/>
        </p:spPr>
        <p:txBody>
          <a:bodyPr wrap="square" lIns="50000" tIns="20000" rIns="50000" bIns="20000" anchor="ctr">
            <a:spAutoFit/>
          </a:bodyPr>
          <a:lstStyle/>
          <a:p>
            <a:pPr algn="ctr"/>
            <a:r>
              <a:rPr sz="4000" b="1" i="0">
                <a:solidFill>
                  <a:srgbClr val="FFFFFF"/>
                </a:solidFill>
                <a:latin typeface="NVIDIA Sans Medium"/>
              </a:rPr>
              <a:t>Inference Layer</a:t>
            </a:r>
          </a:p>
        </p:txBody>
      </p:sp>
      <p:sp>
        <p:nvSpPr>
          <p:cNvPr id="11" name="Rounded Rectangle 10"/>
          <p:cNvSpPr/>
          <p:nvPr/>
        </p:nvSpPr>
        <p:spPr>
          <a:xfrm>
            <a:off x="8229600" y="7498079"/>
            <a:ext cx="26883360" cy="3108960"/>
          </a:xfrm>
          <a:prstGeom prst="roundRect">
            <a:avLst>
              <a:gd name="adj" fmla="val 4000"/>
            </a:avLst>
          </a:prstGeom>
          <a:solidFill>
            <a:srgbClr val="FFFFFF"/>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0" y="7680959"/>
            <a:ext cx="25786080" cy="1371600"/>
          </a:xfrm>
          <a:prstGeom prst="rect">
            <a:avLst/>
          </a:prstGeom>
          <a:noFill/>
        </p:spPr>
        <p:txBody>
          <a:bodyPr wrap="square" lIns="50000" tIns="20000" rIns="50000" bIns="20000" anchor="ctr">
            <a:spAutoFit/>
          </a:bodyPr>
          <a:lstStyle/>
          <a:p>
            <a:pPr algn="l"/>
            <a:r>
              <a:rPr sz="4000" b="0" i="0">
                <a:solidFill>
                  <a:srgbClr val="000000"/>
                </a:solidFill>
                <a:latin typeface="NVIDIA Sans"/>
              </a:rPr>
              <a:t>NIMs · NeMo Customizer · Evaluator · Guardrails · DataStore</a:t>
            </a:r>
          </a:p>
        </p:txBody>
      </p:sp>
      <p:sp>
        <p:nvSpPr>
          <p:cNvPr id="13" name="TextBox 12"/>
          <p:cNvSpPr txBox="1"/>
          <p:nvPr/>
        </p:nvSpPr>
        <p:spPr>
          <a:xfrm>
            <a:off x="8778240" y="9052559"/>
            <a:ext cx="25786080" cy="1371600"/>
          </a:xfrm>
          <a:prstGeom prst="rect">
            <a:avLst/>
          </a:prstGeom>
          <a:noFill/>
        </p:spPr>
        <p:txBody>
          <a:bodyPr wrap="square" lIns="50000" tIns="20000" rIns="50000" bIns="20000" anchor="ctr">
            <a:spAutoFit/>
          </a:bodyPr>
          <a:lstStyle/>
          <a:p>
            <a:pPr algn="l"/>
            <a:r>
              <a:rPr sz="4000" b="1" i="1">
                <a:solidFill>
                  <a:srgbClr val="76B900"/>
                </a:solidFill>
                <a:latin typeface="NVIDIA Sans Medium"/>
              </a:rPr>
              <a:t>Managed by: NIM Operator (NIMService · NIMCache · NIMPipeline)</a:t>
            </a:r>
          </a:p>
        </p:txBody>
      </p:sp>
      <p:sp>
        <p:nvSpPr>
          <p:cNvPr id="14" name="Rounded Rectangle 13"/>
          <p:cNvSpPr/>
          <p:nvPr/>
        </p:nvSpPr>
        <p:spPr>
          <a:xfrm>
            <a:off x="1463040" y="10789920"/>
            <a:ext cx="6400800" cy="5669280"/>
          </a:xfrm>
          <a:prstGeom prst="roundRect">
            <a:avLst>
              <a:gd name="adj" fmla="val 4000"/>
            </a:avLst>
          </a:prstGeom>
          <a:solidFill>
            <a:srgbClr val="5D1682"/>
          </a:solidFill>
          <a:ln w="127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63040" y="10789920"/>
            <a:ext cx="6400800" cy="5669280"/>
          </a:xfrm>
          <a:prstGeom prst="rect">
            <a:avLst/>
          </a:prstGeom>
          <a:noFill/>
        </p:spPr>
        <p:txBody>
          <a:bodyPr wrap="square" lIns="50000" tIns="20000" rIns="50000" bIns="20000" anchor="ctr">
            <a:spAutoFit/>
          </a:bodyPr>
          <a:lstStyle/>
          <a:p>
            <a:pPr algn="ctr"/>
            <a:r>
              <a:rPr sz="4000" b="1" i="0">
                <a:solidFill>
                  <a:srgbClr val="FFFFFF"/>
                </a:solidFill>
                <a:latin typeface="NVIDIA Sans Medium"/>
              </a:rPr>
              <a:t>Infrastructure Layer</a:t>
            </a:r>
          </a:p>
        </p:txBody>
      </p:sp>
      <p:sp>
        <p:nvSpPr>
          <p:cNvPr id="16" name="Rounded Rectangle 15"/>
          <p:cNvSpPr/>
          <p:nvPr/>
        </p:nvSpPr>
        <p:spPr>
          <a:xfrm>
            <a:off x="8229600" y="10789920"/>
            <a:ext cx="26883360" cy="5669280"/>
          </a:xfrm>
          <a:prstGeom prst="roundRect">
            <a:avLst>
              <a:gd name="adj" fmla="val 4000"/>
            </a:avLst>
          </a:prstGeom>
          <a:solidFill>
            <a:srgbClr val="FFFFFF"/>
          </a:solidFill>
          <a:ln w="127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0" y="10972800"/>
            <a:ext cx="25786080" cy="1325880"/>
          </a:xfrm>
          <a:prstGeom prst="rect">
            <a:avLst/>
          </a:prstGeom>
          <a:noFill/>
        </p:spPr>
        <p:txBody>
          <a:bodyPr wrap="square" lIns="50000" tIns="20000" rIns="50000" bIns="20000" anchor="ctr">
            <a:spAutoFit/>
          </a:bodyPr>
          <a:lstStyle/>
          <a:p>
            <a:pPr algn="l"/>
            <a:r>
              <a:rPr sz="4000" b="0" i="0">
                <a:solidFill>
                  <a:srgbClr val="000000"/>
                </a:solidFill>
                <a:latin typeface="NVIDIA Sans"/>
              </a:rPr>
              <a:t>NVIDIA drivers · container runtime · MIG · DCGM · device plugin</a:t>
            </a:r>
          </a:p>
        </p:txBody>
      </p:sp>
      <p:sp>
        <p:nvSpPr>
          <p:cNvPr id="18" name="TextBox 17"/>
          <p:cNvSpPr txBox="1"/>
          <p:nvPr/>
        </p:nvSpPr>
        <p:spPr>
          <a:xfrm>
            <a:off x="8778240" y="12298680"/>
            <a:ext cx="25786080" cy="1325880"/>
          </a:xfrm>
          <a:prstGeom prst="rect">
            <a:avLst/>
          </a:prstGeom>
          <a:noFill/>
        </p:spPr>
        <p:txBody>
          <a:bodyPr wrap="square" lIns="50000" tIns="20000" rIns="50000" bIns="20000" anchor="ctr">
            <a:spAutoFit/>
          </a:bodyPr>
          <a:lstStyle/>
          <a:p>
            <a:pPr algn="l"/>
            <a:r>
              <a:rPr sz="4000" b="1" i="1">
                <a:solidFill>
                  <a:srgbClr val="5D1682"/>
                </a:solidFill>
                <a:latin typeface="NVIDIA Sans Medium"/>
              </a:rPr>
              <a:t>Managed by: GPU Operator (ClusterPolicy)</a:t>
            </a:r>
          </a:p>
        </p:txBody>
      </p:sp>
      <p:sp>
        <p:nvSpPr>
          <p:cNvPr id="19" name="TextBox 18"/>
          <p:cNvSpPr txBox="1"/>
          <p:nvPr/>
        </p:nvSpPr>
        <p:spPr>
          <a:xfrm>
            <a:off x="8778240" y="13624560"/>
            <a:ext cx="25786080" cy="1325880"/>
          </a:xfrm>
          <a:prstGeom prst="rect">
            <a:avLst/>
          </a:prstGeom>
          <a:noFill/>
        </p:spPr>
        <p:txBody>
          <a:bodyPr wrap="square" lIns="50000" tIns="20000" rIns="50000" bIns="20000" anchor="ctr">
            <a:spAutoFit/>
          </a:bodyPr>
          <a:lstStyle/>
          <a:p>
            <a:pPr algn="l"/>
            <a:r>
              <a:rPr sz="4000" b="0" i="0">
                <a:solidFill>
                  <a:srgbClr val="000000"/>
                </a:solidFill>
                <a:latin typeface="NVIDIA Sans"/>
              </a:rPr>
              <a:t>OFED · SR-IOV · RDMA · IPoIB · GPUDirect · secondary networks</a:t>
            </a:r>
          </a:p>
        </p:txBody>
      </p:sp>
      <p:sp>
        <p:nvSpPr>
          <p:cNvPr id="20" name="TextBox 19"/>
          <p:cNvSpPr txBox="1"/>
          <p:nvPr/>
        </p:nvSpPr>
        <p:spPr>
          <a:xfrm>
            <a:off x="8778240" y="14950440"/>
            <a:ext cx="25786080" cy="1325880"/>
          </a:xfrm>
          <a:prstGeom prst="rect">
            <a:avLst/>
          </a:prstGeom>
          <a:noFill/>
        </p:spPr>
        <p:txBody>
          <a:bodyPr wrap="square" lIns="50000" tIns="20000" rIns="50000" bIns="20000" anchor="ctr">
            <a:spAutoFit/>
          </a:bodyPr>
          <a:lstStyle/>
          <a:p>
            <a:pPr algn="l"/>
            <a:r>
              <a:rPr sz="4000" b="1" i="1">
                <a:solidFill>
                  <a:srgbClr val="5D1682"/>
                </a:solidFill>
                <a:latin typeface="NVIDIA Sans Medium"/>
              </a:rPr>
              <a:t>Managed by: Network Operator (NICClusterPolicy)</a:t>
            </a:r>
          </a:p>
        </p:txBody>
      </p:sp>
      <p:sp>
        <p:nvSpPr>
          <p:cNvPr id="21" name="Rounded Rectangle 20"/>
          <p:cNvSpPr/>
          <p:nvPr/>
        </p:nvSpPr>
        <p:spPr>
          <a:xfrm>
            <a:off x="1463040" y="16642080"/>
            <a:ext cx="6400800" cy="1463040"/>
          </a:xfrm>
          <a:prstGeom prst="roundRect">
            <a:avLst>
              <a:gd name="adj" fmla="val 4000"/>
            </a:avLst>
          </a:prstGeom>
          <a:solidFill>
            <a:srgbClr val="0071C5"/>
          </a:solidFill>
          <a:ln w="1270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63040" y="16642080"/>
            <a:ext cx="6400800" cy="1463040"/>
          </a:xfrm>
          <a:prstGeom prst="rect">
            <a:avLst/>
          </a:prstGeom>
          <a:noFill/>
        </p:spPr>
        <p:txBody>
          <a:bodyPr wrap="square" lIns="50000" tIns="20000" rIns="50000" bIns="20000" anchor="ctr">
            <a:spAutoFit/>
          </a:bodyPr>
          <a:lstStyle/>
          <a:p>
            <a:pPr algn="ctr"/>
            <a:r>
              <a:rPr sz="4000" b="1" i="0">
                <a:solidFill>
                  <a:srgbClr val="FFFFFF"/>
                </a:solidFill>
                <a:latin typeface="NVIDIA Sans Medium"/>
              </a:rPr>
              <a:t>Platform Layer</a:t>
            </a:r>
          </a:p>
        </p:txBody>
      </p:sp>
      <p:sp>
        <p:nvSpPr>
          <p:cNvPr id="23" name="Rounded Rectangle 22"/>
          <p:cNvSpPr/>
          <p:nvPr/>
        </p:nvSpPr>
        <p:spPr>
          <a:xfrm>
            <a:off x="8229600" y="16642080"/>
            <a:ext cx="26883360" cy="1463040"/>
          </a:xfrm>
          <a:prstGeom prst="roundRect">
            <a:avLst>
              <a:gd name="adj" fmla="val 4000"/>
            </a:avLst>
          </a:prstGeom>
          <a:solidFill>
            <a:srgbClr val="FFFFFF"/>
          </a:solidFill>
          <a:ln w="12700">
            <a:solidFill>
              <a:srgbClr val="007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0" y="16824960"/>
            <a:ext cx="25786080" cy="1097280"/>
          </a:xfrm>
          <a:prstGeom prst="rect">
            <a:avLst/>
          </a:prstGeom>
          <a:noFill/>
        </p:spPr>
        <p:txBody>
          <a:bodyPr wrap="square" lIns="50000" tIns="20000" rIns="50000" bIns="20000" anchor="ctr">
            <a:spAutoFit/>
          </a:bodyPr>
          <a:lstStyle/>
          <a:p>
            <a:pPr algn="l"/>
            <a:r>
              <a:rPr sz="4000" b="0" i="0">
                <a:solidFill>
                  <a:srgbClr val="000000"/>
                </a:solidFill>
                <a:latin typeface="NVIDIA Sans"/>
              </a:rPr>
              <a:t>Kubernetes · CNI · CSI · ingress controller · cert-manager</a:t>
            </a:r>
          </a:p>
        </p:txBody>
      </p:sp>
      <p:sp>
        <p:nvSpPr>
          <p:cNvPr id="25" name="Rounded Rectangle 24"/>
          <p:cNvSpPr/>
          <p:nvPr/>
        </p:nvSpPr>
        <p:spPr>
          <a:xfrm>
            <a:off x="1463040" y="18288000"/>
            <a:ext cx="6400800" cy="1463040"/>
          </a:xfrm>
          <a:prstGeom prst="roundRect">
            <a:avLst>
              <a:gd name="adj" fmla="val 4000"/>
            </a:avLst>
          </a:prstGeom>
          <a:solidFill>
            <a:srgbClr val="CDCDCD"/>
          </a:solidFill>
          <a:ln w="1270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463040" y="18288000"/>
            <a:ext cx="6400800" cy="1463040"/>
          </a:xfrm>
          <a:prstGeom prst="rect">
            <a:avLst/>
          </a:prstGeom>
          <a:noFill/>
        </p:spPr>
        <p:txBody>
          <a:bodyPr wrap="square" lIns="50000" tIns="20000" rIns="50000" bIns="20000" anchor="ctr">
            <a:spAutoFit/>
          </a:bodyPr>
          <a:lstStyle/>
          <a:p>
            <a:pPr algn="ctr"/>
            <a:r>
              <a:rPr sz="4000" b="1" i="0">
                <a:solidFill>
                  <a:srgbClr val="000000"/>
                </a:solidFill>
                <a:latin typeface="NVIDIA Sans Medium"/>
              </a:rPr>
              <a:t>Hardware Layer</a:t>
            </a:r>
          </a:p>
        </p:txBody>
      </p:sp>
      <p:sp>
        <p:nvSpPr>
          <p:cNvPr id="27" name="Rounded Rectangle 26"/>
          <p:cNvSpPr/>
          <p:nvPr/>
        </p:nvSpPr>
        <p:spPr>
          <a:xfrm>
            <a:off x="8229600" y="18288000"/>
            <a:ext cx="26883360" cy="1463040"/>
          </a:xfrm>
          <a:prstGeom prst="roundRect">
            <a:avLst>
              <a:gd name="adj" fmla="val 4000"/>
            </a:avLst>
          </a:prstGeom>
          <a:solidFill>
            <a:srgbClr val="FFFFFF"/>
          </a:solidFill>
          <a:ln w="1270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0" y="18470880"/>
            <a:ext cx="25786080" cy="1097280"/>
          </a:xfrm>
          <a:prstGeom prst="rect">
            <a:avLst/>
          </a:prstGeom>
          <a:noFill/>
        </p:spPr>
        <p:txBody>
          <a:bodyPr wrap="square" lIns="50000" tIns="20000" rIns="50000" bIns="20000" anchor="ctr">
            <a:spAutoFit/>
          </a:bodyPr>
          <a:lstStyle/>
          <a:p>
            <a:pPr algn="l"/>
            <a:r>
              <a:rPr sz="4000" b="0" i="0">
                <a:solidFill>
                  <a:srgbClr val="000000"/>
                </a:solidFill>
                <a:latin typeface="NVIDIA Sans"/>
              </a:rPr>
              <a:t>GPUs · BlueField DPUs · ConnectX NICs · NVLink · NVSwitch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7315200"/>
            <a:ext cx="32918400" cy="2560320"/>
          </a:xfrm>
          <a:prstGeom prst="rect">
            <a:avLst/>
          </a:prstGeom>
          <a:noFill/>
        </p:spPr>
        <p:txBody>
          <a:bodyPr wrap="square" lIns="50000" tIns="20000" rIns="50000" bIns="20000" anchor="t">
            <a:spAutoFit/>
          </a:bodyPr>
          <a:lstStyle/>
          <a:p>
            <a:pPr algn="ctr"/>
            <a:r>
              <a:rPr sz="8800" b="1" i="0">
                <a:solidFill>
                  <a:srgbClr val="76B900"/>
                </a:solidFill>
                <a:latin typeface="NVIDIA Sans Medium"/>
              </a:rPr>
              <a:t>Three operators · one stack</a:t>
            </a:r>
          </a:p>
        </p:txBody>
      </p:sp>
      <p:sp>
        <p:nvSpPr>
          <p:cNvPr id="3" name="TextBox 2"/>
          <p:cNvSpPr txBox="1"/>
          <p:nvPr/>
        </p:nvSpPr>
        <p:spPr>
          <a:xfrm>
            <a:off x="1828800" y="10424160"/>
            <a:ext cx="32918400" cy="1463040"/>
          </a:xfrm>
          <a:prstGeom prst="rect">
            <a:avLst/>
          </a:prstGeom>
          <a:noFill/>
        </p:spPr>
        <p:txBody>
          <a:bodyPr wrap="square" lIns="50000" tIns="20000" rIns="50000" bIns="20000" anchor="t">
            <a:spAutoFit/>
          </a:bodyPr>
          <a:lstStyle/>
          <a:p>
            <a:pPr algn="ctr"/>
            <a:r>
              <a:rPr sz="4400" b="0" i="1">
                <a:solidFill>
                  <a:srgbClr val="5E5E5E"/>
                </a:solidFill>
                <a:latin typeface="Consolas"/>
              </a:rPr>
              <a:t>github.com/NVIDIA/gpu-operator   ·   github.com/Mellanox/network-operator   ·   github.com/NVIDIA/k8s-nim-operator</a:t>
            </a:r>
          </a:p>
        </p:txBody>
      </p:sp>
    </p:spTree>
  </p:cSld>
  <p:clrMapOvr>
    <a:masterClrMapping/>
  </p:clrMapOvr>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45EAE5F8329F47B840B6DEBAC2F43F" ma:contentTypeVersion="15" ma:contentTypeDescription="Create a new document." ma:contentTypeScope="" ma:versionID="39d09db77ad425bdbc3d080218c7c01e">
  <xsd:schema xmlns:xsd="http://www.w3.org/2001/XMLSchema" xmlns:xs="http://www.w3.org/2001/XMLSchema" xmlns:p="http://schemas.microsoft.com/office/2006/metadata/properties" xmlns:ns1="http://schemas.microsoft.com/sharepoint/v3" xmlns:ns2="2a5b1eea-32a8-4673-8d38-de3226caeee3" xmlns:ns3="f65afe6d-7162-4df4-ae98-80745cab72d4" targetNamespace="http://schemas.microsoft.com/office/2006/metadata/properties" ma:root="true" ma:fieldsID="262224961ea4106f8e7d0f360b05b90c" ns1:_="" ns2:_="" ns3:_="">
    <xsd:import namespace="http://schemas.microsoft.com/sharepoint/v3"/>
    <xsd:import namespace="2a5b1eea-32a8-4673-8d38-de3226caeee3"/>
    <xsd:import namespace="f65afe6d-7162-4df4-ae98-80745cab72d4"/>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5b1eea-32a8-4673-8d38-de3226caeee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04b2a00-2846-4002-b30b-85ebaf4c019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5afe6d-7162-4df4-ae98-80745cab72d4"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9d4e2c1-4547-4ca0-9568-b573cd0c84c4}" ma:internalName="TaxCatchAll" ma:showField="CatchAllData" ma:web="f65afe6d-7162-4df4-ae98-80745cab72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65afe6d-7162-4df4-ae98-80745cab72d4" xsi:nil="true"/>
    <PublishingExpirationDate xmlns="http://schemas.microsoft.com/sharepoint/v3" xsi:nil="true"/>
    <PublishingStartDate xmlns="http://schemas.microsoft.com/sharepoint/v3" xsi:nil="true"/>
    <lcf76f155ced4ddcb4097134ff3c332f xmlns="2a5b1eea-32a8-4673-8d38-de3226caeee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B8F5C1-CC17-4575-A1B9-9EB541A76E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a5b1eea-32a8-4673-8d38-de3226caeee3"/>
    <ds:schemaRef ds:uri="f65afe6d-7162-4df4-ae98-80745cab72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4C7E1E-6C20-440E-941A-535F1A24C014}">
  <ds:schemaRefs>
    <ds:schemaRef ds:uri="f65afe6d-7162-4df4-ae98-80745cab72d4"/>
    <ds:schemaRef ds:uri="http://purl.org/dc/terms/"/>
    <ds:schemaRef ds:uri="http://schemas.microsoft.com/office/2006/documentManagement/types"/>
    <ds:schemaRef ds:uri="http://schemas.openxmlformats.org/package/2006/metadata/core-properties"/>
    <ds:schemaRef ds:uri="2a5b1eea-32a8-4673-8d38-de3226caeee3"/>
    <ds:schemaRef ds:uri="http://schemas.microsoft.com/sharepoint/v3"/>
    <ds:schemaRef ds:uri="http://www.w3.org/XML/1998/namespace"/>
    <ds:schemaRef ds:uri="http://schemas.microsoft.com/office/2006/metadata/properties"/>
    <ds:schemaRef ds:uri="http://schemas.microsoft.com/office/infopath/2007/PartnerControls"/>
    <ds:schemaRef ds:uri="http://purl.org/dc/dcmitype/"/>
    <ds:schemaRef ds:uri="http://purl.org/dc/elements/1.1/"/>
  </ds:schemaRefs>
</ds:datastoreItem>
</file>

<file path=customXml/itemProps3.xml><?xml version="1.0" encoding="utf-8"?>
<ds:datastoreItem xmlns:ds="http://schemas.openxmlformats.org/officeDocument/2006/customXml" ds:itemID="{E65AC8C1-8675-4762-89BF-D102E51271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1929</TotalTime>
  <Words>2541</Words>
  <Application>Microsoft Macintosh PowerPoint</Application>
  <PresentationFormat>Custom</PresentationFormat>
  <Paragraphs>295</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Consolas</vt:lpstr>
      <vt:lpstr>NVIDIA Sans</vt:lpstr>
      <vt:lpstr>NVIDIA Sans Light</vt:lpstr>
      <vt:lpstr>NVIDIA Sans Medium</vt:lpstr>
      <vt:lpstr>Roboto Mono</vt:lpstr>
      <vt:lpstr>Title Only</vt:lpstr>
      <vt:lpstr>K8s Operators for NVIDIA AI Infrastructure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Spillman</dc:creator>
  <cp:lastModifiedBy>Swaminathan B S</cp:lastModifiedBy>
  <cp:revision>18</cp:revision>
  <dcterms:created xsi:type="dcterms:W3CDTF">2023-07-05T16:37:04Z</dcterms:created>
  <dcterms:modified xsi:type="dcterms:W3CDTF">2026-06-03T14:47:52Z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0x010100A145EAE5F8329F47B840B6DEBAC2F43F</vt:lpwstr>
  </property>
  <property fmtid="{D5CDD505-2E9C-101B-9397-08002B2CF9AE}" pid="3" name="MediaServiceImageTags">
    <vt:lpwstr/>
  </property>
</Properties>
</file>
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2F_2234DD64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6" r:id="rId5"/>
  </p:sldMasterIdLst>
  <p:notesMasterIdLst>
    <p:notesMasterId r:id="rId20"/>
  </p:notesMasterIdLst>
  <p:handoutMasterIdLst>
    <p:handoutMasterId r:id="rId21"/>
  </p:handoutMasterIdLst>
  <p:sldIdLst>
    <p:sldId id="256" r:id="rId6"/>
    <p:sldId id="257" r:id="rId7"/>
    <p:sldId id="2147482826" r:id="rId8"/>
    <p:sldId id="2147482830" r:id="rId9"/>
    <p:sldId id="292" r:id="rId10"/>
    <p:sldId id="293" r:id="rId11"/>
    <p:sldId id="294" r:id="rId12"/>
    <p:sldId id="303" r:id="rId13"/>
    <p:sldId id="259" r:id="rId14"/>
    <p:sldId id="260" r:id="rId15"/>
    <p:sldId id="261" r:id="rId16"/>
    <p:sldId id="262" r:id="rId17"/>
    <p:sldId id="258" r:id="rId18"/>
    <p:sldId id="263" r:id="rId19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F8C09E-FFB3-6C1E-B62F-19B26FE8F14F}" name="Nirmal Kumar Juluru" initials="NJ" userId="S::njuluru@nvidia.com::4955b243-3477-428b-8cc5-d1b9b3938a74" providerId="AD"/>
  <p188:author id="{78D4FAA3-42D8-BFE2-A9C2-0B5D6DB5E5ED}" name="Chris Alexiuk" initials="CA" userId="S::calexiuk@nvidia.com::aab761e2-51b1-4007-9fb4-451ab621a4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89" autoAdjust="0"/>
    <p:restoredTop sz="96391" autoAdjust="0"/>
  </p:normalViewPr>
  <p:slideViewPr>
    <p:cSldViewPr snapToGrid="0">
      <p:cViewPr varScale="1">
        <p:scale>
          <a:sx n="50" d="100"/>
          <a:sy n="50" d="100"/>
        </p:scale>
        <p:origin x="160" y="288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en Hill-Peterson" userId="d3234e37-15a6-4633-bb53-3a1db57a2b03" providerId="ADAL" clId="{B2019596-BB80-4E31-BDC5-354A8DA3B09C}"/>
    <pc:docChg chg="addSld modSld sldOrd">
      <pc:chgData name="Kristen Hill-Peterson" userId="d3234e37-15a6-4633-bb53-3a1db57a2b03" providerId="ADAL" clId="{B2019596-BB80-4E31-BDC5-354A8DA3B09C}" dt="2023-10-18T20:22:03.862" v="2"/>
      <pc:docMkLst>
        <pc:docMk/>
      </pc:docMkLst>
      <pc:sldChg chg="add ord">
        <pc:chgData name="Kristen Hill-Peterson" userId="d3234e37-15a6-4633-bb53-3a1db57a2b03" providerId="ADAL" clId="{B2019596-BB80-4E31-BDC5-354A8DA3B09C}" dt="2023-10-18T20:22:03.862" v="2"/>
        <pc:sldMkLst>
          <pc:docMk/>
          <pc:sldMk cId="2245222864" sldId="550145268"/>
        </pc:sldMkLst>
      </pc:sldChg>
    </pc:docChg>
  </pc:docChgLst>
</pc:chgInfo>
</file>

<file path=ppt/comments/modernComment_12F_2234DD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BC9529-C5A2-4016-8747-25479106E665}" authorId="{78D4FAA3-42D8-BFE2-A9C2-0B5D6DB5E5ED}" status="resolved" created="2025-04-04T16:16:02.7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3889892" sldId="303"/>
      <ac:spMk id="19" creationId="{5174549A-7D42-29FE-AE26-9304B336837C}"/>
      <ac:txMk cp="79" len="46">
        <ac:context len="79" hash="2554885891"/>
      </ac:txMk>
    </ac:txMkLst>
    <p188:pos x="2420470" y="2532529"/>
    <p188:replyLst>
      <p188:reply id="{3900FCF5-7C05-0B46-8077-92FB05F39D35}" authorId="{76F8C09E-FFB3-6C1E-B62F-19B26FE8F14F}" created="2025-04-07T20:00:01.023">
        <p188:txBody>
          <a:bodyPr/>
          <a:lstStyle/>
          <a:p>
            <a:r>
              <a:rPr lang="en-US"/>
              <a:t>Where should I add this? [@Chris Alexiuk]</a:t>
            </a:r>
          </a:p>
        </p188:txBody>
      </p188:reply>
    </p188:replyLst>
    <p188:txBody>
      <a:bodyPr/>
      <a:lstStyle/>
      <a:p>
        <a:r>
          <a:rPr lang="en-US"/>
          <a:t>This is not really the best way to characterize this - as it's not LLM as a Judge.</a:t>
        </a:r>
      </a:p>
    </p188:txBody>
  </p188:cm>
  <p188:cm id="{2EEEA104-830A-4D9B-849D-F0299BDF7009}" authorId="{78D4FAA3-42D8-BFE2-A9C2-0B5D6DB5E5ED}" status="resolved" created="2025-04-04T16:16:26.4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3889892" sldId="303"/>
      <ac:spMk id="2" creationId="{6A8D772D-59E6-5A19-1066-86E7E78CF88D}"/>
      <ac:txMk cp="0" len="24">
        <ac:context len="61" hash="376805042"/>
      </ac:txMk>
    </ac:txMkLst>
    <p188:pos x="23846117" y="1546411"/>
    <p188:txBody>
      <a:bodyPr/>
      <a:lstStyle/>
      <a:p>
        <a:r>
          <a:rPr lang="en-US"/>
          <a:t>I would add that we support online *and* offline evaluation.</a:t>
        </a:r>
      </a:p>
    </p188:txBody>
  </p188:cm>
  <p188:cm id="{B9274750-A6FE-4937-AF67-7C53F3235E85}" authorId="{78D4FAA3-42D8-BFE2-A9C2-0B5D6DB5E5ED}" status="resolved" created="2025-04-04T16:17:54.8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3889892" sldId="303"/>
      <ac:spMk id="23" creationId="{F85632F3-ADA9-E128-FDDC-C4DC49A11A53}"/>
      <ac:txMk cp="0" len="35">
        <ac:context len="117" hash="1371481204"/>
      </ac:txMk>
    </ac:txMkLst>
    <p188:pos x="8852647" y="649941"/>
    <p188:txBody>
      <a:bodyPr/>
      <a:lstStyle/>
      <a:p>
        <a:r>
          <a:rPr lang="en-US"/>
          <a:t>We also support SQuAD, though in a vacuum I might say: "Supports Standard and Custom Dataset Types"</a:t>
        </a:r>
      </a:p>
    </p188:txBody>
  </p188:cm>
  <p188:cm id="{F3A1C2E7-6B58-4A01-9FB2-E8CA262B0164}" authorId="{78D4FAA3-42D8-BFE2-A9C2-0B5D6DB5E5ED}" status="resolved" created="2025-04-04T16:18:36.84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3889892" sldId="303"/>
      <ac:spMk id="23" creationId="{F85632F3-ADA9-E128-FDDC-C4DC49A11A53}"/>
      <ac:txMk cp="56" len="60">
        <ac:context len="117" hash="1371481204"/>
      </ac:txMk>
    </ac:txMkLst>
    <p188:pos x="4504764" y="2061882"/>
    <p188:replyLst>
      <p188:reply id="{FA8E4A99-7FF5-704C-88BC-2D4EC7DACEBD}" authorId="{76F8C09E-FFB3-6C1E-B62F-19B26FE8F14F}" created="2025-04-07T20:01:03.981">
        <p188:txBody>
          <a:bodyPr/>
          <a:lstStyle/>
          <a:p>
            <a:r>
              <a:rPr lang="en-US"/>
              <a:t>Renamed the box to Retrieval and RAG, [@Chris Alexiuk], </a:t>
            </a:r>
          </a:p>
        </p188:txBody>
      </p188:reply>
    </p188:replyLst>
    <p188:txBody>
      <a:bodyPr/>
      <a:lstStyle/>
      <a:p>
        <a:r>
          <a:rPr lang="en-US"/>
          <a:t>Faithfulness and Answer Relevancy are not Retriever metrics, they are RAG metrics. Perhaps we could add a "RAG" and "Agent" box set here.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6/1/26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en-us/glossary/data-flywheel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15-minute module on NeMo Evaluator. Compressed because Evaluator is demo-only in this workshop (not hands-on per user decision). Keep moving — there's a 30-min Evaluator demo right after this. Slides 5-7 are the eval-mode taxonomy; slide 7 includes the calibration warning that's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eval problem statement. The third bullet is the killer — show the room how a domain-tuned model can underperform on MMLU but be 10x better at the actual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6805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Agentic AI and generative AI application development are becoming increasingly evaluation-driven. For every update at the component level, developers must evaluate changes both at the component and at the overall system level.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For example, AI agents use an LLM to generate a plan, use tools and/or retrieve information, or invoke other LLMs to respond to user queries.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Developers need to evaluate AI agents at the system level—i.e., whether the agents are effectively solving what the user is asking for.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At the component level, developers might evaluate the following: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Whether the right tools are being called with the correct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Whether the responses from other LLMs are as expected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Whether the retrieval pipeline responses are accurate, and whether the embedding or re-ranking models are suitable for the specific use case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To simply put, evaluation is very important for any enterprises building Agentic AI or Generative AI applications and developers must use the right tools to simplify evaluation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3846003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B22F-8A17-D0AB-53CF-E15DA148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111AA-4302-734E-675D-8CB005587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3E8F6-4F36-3422-2350-7029AA5BE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spcBef>
                <a:spcPts val="600"/>
              </a:spcBef>
              <a:spcAft>
                <a:spcPts val="500"/>
              </a:spcAft>
              <a:buNone/>
            </a:pP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NVIDIA </a:t>
            </a:r>
            <a:r>
              <a:rPr lang="en-US" sz="1200" b="0" i="0" u="none" strike="noStrike" dirty="0" err="1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 Evaluator™ microservice simplifies the end-to-end evaluation of generative AI applications, including retrieval-augmented generation (RAG) and agentic AI with an easy-to-use API. </a:t>
            </a:r>
          </a:p>
          <a:p>
            <a:pPr algn="l" rtl="0">
              <a:spcBef>
                <a:spcPts val="600"/>
              </a:spcBef>
              <a:spcAft>
                <a:spcPts val="500"/>
              </a:spcAft>
              <a:buNone/>
            </a:pPr>
            <a:endParaRPr lang="en-US" sz="1200" b="0" i="0" u="none" strike="noStrike" dirty="0">
              <a:solidFill>
                <a:srgbClr val="434343"/>
              </a:solidFill>
              <a:effectLst/>
              <a:latin typeface="NVIDIA Sans" panose="020B0503020203020204" pitchFamily="34" charset="0"/>
            </a:endParaRPr>
          </a:p>
          <a:p>
            <a:pPr algn="l" rtl="0">
              <a:spcBef>
                <a:spcPts val="600"/>
              </a:spcBef>
              <a:spcAft>
                <a:spcPts val="500"/>
              </a:spcAft>
              <a:buNone/>
            </a:pP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It provides LLM-as-a-judge capabilities, along with a comprehensive suite of benchmarks and metrics for a wide range of custom tasks and domains, including reasoning, coding, and instruction-following.</a:t>
            </a:r>
          </a:p>
          <a:p>
            <a:pPr algn="l" rtl="0">
              <a:spcBef>
                <a:spcPts val="600"/>
              </a:spcBef>
              <a:spcAft>
                <a:spcPts val="500"/>
              </a:spcAft>
              <a:buNone/>
            </a:pPr>
            <a:endParaRPr lang="en-US" sz="1200" b="0" dirty="0">
              <a:effectLst/>
            </a:endParaRPr>
          </a:p>
          <a:p>
            <a:pPr algn="l">
              <a:buNone/>
            </a:pP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You can seamlessly integrate </a:t>
            </a:r>
            <a:r>
              <a:rPr lang="en-US" sz="1200" b="0" i="0" u="none" strike="noStrike" dirty="0" err="1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 Evaluator into your CI/CD pipelines and build </a:t>
            </a:r>
            <a:r>
              <a:rPr lang="en-US" sz="1200" b="0" i="0" u="sng" strike="noStrike" dirty="0">
                <a:solidFill>
                  <a:srgbClr val="1155CC"/>
                </a:solidFill>
                <a:effectLst/>
                <a:latin typeface="NVIDIA Sans" panose="020B0503020203020204" pitchFamily="34" charset="0"/>
                <a:hlinkClick r:id="rId3"/>
              </a:rPr>
              <a:t>data flywheels</a:t>
            </a: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 for continuous evaluation, ensuring AI systems maintain high accuracy over time. </a:t>
            </a:r>
          </a:p>
          <a:p>
            <a:pPr algn="l">
              <a:buNone/>
            </a:pPr>
            <a:endParaRPr lang="en-US" sz="1200" b="0" i="0" u="none" strike="noStrike" dirty="0">
              <a:solidFill>
                <a:srgbClr val="434343"/>
              </a:solidFill>
              <a:effectLst/>
              <a:latin typeface="NVIDIA Sans" panose="020B0503020203020204" pitchFamily="34" charset="0"/>
            </a:endParaRPr>
          </a:p>
          <a:p>
            <a:pPr algn="l">
              <a:buNone/>
            </a:pPr>
            <a:r>
              <a:rPr lang="en-US" sz="1200" b="0" i="0" u="none" strike="noStrike" dirty="0" err="1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 Evaluator’s flexible cloud-native architecture allows you to deploy it wherever your data resides, whether on-premises, in a private cloud, or across public cloud providers. </a:t>
            </a:r>
          </a:p>
          <a:p>
            <a:pPr algn="l">
              <a:buNone/>
            </a:pPr>
            <a:endParaRPr lang="en-US" sz="1200" b="0" i="0" u="none" strike="noStrike" dirty="0">
              <a:solidFill>
                <a:srgbClr val="434343"/>
              </a:solidFill>
              <a:effectLst/>
              <a:latin typeface="NVIDIA Sans" panose="020B0503020203020204" pitchFamily="34" charset="0"/>
            </a:endParaRPr>
          </a:p>
          <a:p>
            <a:pPr algn="l">
              <a:buNone/>
            </a:pP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This enables a faster time-to-market by making it easy to set up and launch evaluation jobs, allowing you to evaluate more efficiently. </a:t>
            </a:r>
          </a:p>
          <a:p>
            <a:pPr algn="l">
              <a:buNone/>
            </a:pPr>
            <a:endParaRPr lang="en-US" sz="1200" b="0" i="0" u="none" strike="noStrike" dirty="0">
              <a:solidFill>
                <a:srgbClr val="434343"/>
              </a:solidFill>
              <a:effectLst/>
              <a:latin typeface="NVIDIA Sans" panose="020B0503020203020204" pitchFamily="34" charset="0"/>
            </a:endParaRPr>
          </a:p>
          <a:p>
            <a:pPr algn="l">
              <a:buNone/>
            </a:pP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As you can see in the chart on the right, </a:t>
            </a:r>
            <a:r>
              <a:rPr lang="en-US" sz="1200" b="0" i="0" u="none" strike="noStrike" dirty="0" err="1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200" b="0" i="0" u="none" strike="noStrike" dirty="0">
                <a:solidFill>
                  <a:srgbClr val="434343"/>
                </a:solidFill>
                <a:effectLst/>
                <a:latin typeface="NVIDIA Sans" panose="020B0503020203020204" pitchFamily="34" charset="0"/>
              </a:rPr>
              <a:t> Evaluator allows developers to streamline the evaluation of custom models, reducing the process from 21 steps with alternative open-source libraries to just 5 steps.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FF66-2D9B-D333-1D42-DFB4DF66E2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3879304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diagrams shows the evaluation of Agentic AI applications.  </a:t>
            </a:r>
          </a:p>
          <a:p>
            <a:endParaRPr lang="en-US" sz="1800" b="0" i="0" u="none" strike="noStrike" dirty="0">
              <a:solidFill>
                <a:srgbClr val="1A1A1A"/>
              </a:solidFill>
              <a:effectLst/>
              <a:latin typeface="NVIDIA Sans" panose="020B0503020203020204" pitchFamily="34" charset="0"/>
            </a:endParaRPr>
          </a:p>
          <a:p>
            <a:r>
              <a:rPr lang="en-US" sz="1800" b="0" i="0" u="none" strike="noStrike" dirty="0" err="1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 Evaluator provides a custom metric to evaluate the tool calling for AI agents. Using this metric, you can evaluate whether the agent called the right function with the right parameters. </a:t>
            </a:r>
            <a:r>
              <a:rPr lang="en-US" sz="1200" b="0" i="0" u="none" strike="noStrike" dirty="0">
                <a:solidFill>
                  <a:schemeClr val="dk1"/>
                </a:solidFill>
                <a:effectLst/>
                <a:latin typeface="NVIDIA Sans"/>
              </a:rPr>
              <a:t> </a:t>
            </a: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Alternatively, you can also evaluate the outputs of the agents with LLM-as-a-judge. 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104244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None/>
            </a:pP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For retrieval-augmented generation pipelines, you can evaluate step-by-step by assessing accuracy metrics for the LLM generator, embedding, and reranking models.</a:t>
            </a:r>
          </a:p>
          <a:p>
            <a:pPr rtl="0">
              <a:buNone/>
            </a:pPr>
            <a:endParaRPr lang="en-US" b="0" dirty="0">
              <a:effectLst/>
            </a:endParaRPr>
          </a:p>
          <a:p>
            <a:pPr rtl="0">
              <a:spcBef>
                <a:spcPts val="600"/>
              </a:spcBef>
              <a:spcAft>
                <a:spcPts val="500"/>
              </a:spcAft>
              <a:buNone/>
            </a:pPr>
            <a:r>
              <a:rPr lang="en-US" sz="1800" b="0" i="0" u="none" strike="noStrike" dirty="0" err="1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 Evaluator also supports offline evaluation—simply provide the RAG queries, responses, and metrics in the API payload. 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3098992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None/>
            </a:pP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To tailor models for enterprise needs, use </a:t>
            </a:r>
            <a:r>
              <a:rPr lang="en-US" sz="1800" b="0" i="0" u="none" strike="noStrike" dirty="0" err="1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 Customizer and </a:t>
            </a:r>
            <a:r>
              <a:rPr lang="en-US" sz="1800" b="0" i="0" u="none" strike="noStrike" dirty="0" err="1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NeMo</a:t>
            </a: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 Evaluator together and keep refining and testing until you achieve the desired accuracy, and evaluate on academic benchmarks to ensure no regression in accuracy. </a:t>
            </a:r>
            <a:endParaRPr lang="en-US" b="0" dirty="0">
              <a:effectLst/>
            </a:endParaRPr>
          </a:p>
          <a:p>
            <a:pPr rtl="0">
              <a:buNone/>
            </a:pPr>
            <a:endParaRPr lang="en-US" sz="1800" b="0" i="0" u="none" strike="noStrike" dirty="0">
              <a:solidFill>
                <a:srgbClr val="1A1A1A"/>
              </a:solidFill>
              <a:effectLst/>
              <a:latin typeface="NVIDIA Sans" panose="020B0503020203020204" pitchFamily="34" charset="0"/>
            </a:endParaRPr>
          </a:p>
          <a:p>
            <a:pPr rtl="0">
              <a:buNone/>
            </a:pPr>
            <a:r>
              <a:rPr lang="en-US" sz="1800" b="0" i="0" u="none" strike="noStrike" dirty="0">
                <a:solidFill>
                  <a:srgbClr val="1A1A1A"/>
                </a:solidFill>
                <a:effectLst/>
                <a:latin typeface="NVIDIA Sans" panose="020B0503020203020204" pitchFamily="34" charset="0"/>
              </a:rPr>
              <a:t>The customized model can be deployed as NVIDIA NIM™ microservices for higher throughput and lower latency. 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1326959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Let’s dive into the various functionalities of </a:t>
            </a:r>
            <a:r>
              <a:rPr lang="en-US" dirty="0" err="1"/>
              <a:t>NeMo</a:t>
            </a:r>
            <a:r>
              <a:rPr lang="en-US" dirty="0"/>
              <a:t> Evaluator.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NeMo</a:t>
            </a:r>
            <a:r>
              <a:rPr lang="en-US" dirty="0"/>
              <a:t> Evaluator supports both online and offline evaluations: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Online evaluation</a:t>
            </a:r>
            <a:r>
              <a:rPr lang="en-US" dirty="0"/>
              <a:t> allows you to integrate the evaluator directly into your application and assess model responses before displaying them to the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Offline evaluation</a:t>
            </a:r>
            <a:r>
              <a:rPr lang="en-US" dirty="0"/>
              <a:t> lets you prepare evaluation datasets and run assessments at specific times to determine whether the model or application is performing as expected and to ensure there are no regressions.</a:t>
            </a:r>
          </a:p>
          <a:p>
            <a:endParaRPr lang="en-US" dirty="0"/>
          </a:p>
          <a:p>
            <a:r>
              <a:rPr lang="en-US" dirty="0"/>
              <a:t>At a high level, </a:t>
            </a:r>
            <a:r>
              <a:rPr lang="en-US" dirty="0" err="1"/>
              <a:t>NeMo</a:t>
            </a:r>
            <a:r>
              <a:rPr lang="en-US" dirty="0"/>
              <a:t> Evaluator supports LLM-as-a-Judge, similarity metrics, retrieval and RAG pipelines, and evaluation using academic benchmarks.</a:t>
            </a:r>
          </a:p>
          <a:p>
            <a:endParaRPr lang="en-US" dirty="0"/>
          </a:p>
          <a:p>
            <a:r>
              <a:rPr lang="en-US" dirty="0"/>
              <a:t>For each box, use the points mentioned in the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4257216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Composability is the design pillar. You bring your dataset; Evaluator brings runners + judges +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7128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Academic benchmarks tell you the model didn't break itself. They don't tell you your AML investigator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46486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AML rubric is what attendees will see in M8.2 demo. It's the same shape as what production teams ship in week 1 of a customisation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2050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Calibration is the most important nuance. Always validate the judge on a small human-labelled holdout before trusting its scores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5770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SDK is what attendees will see in M8.2 (demo). The microservice is what powers continuous-evaluation flywheels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 off to M8.2 Evaluator demo. Open the demo notebook and walk through the 3-way bake-off live. Attendees watch — this is demo, not hands-on. Real numbers: base scores 0.4 range; SFT-final scores 0.9 range on grounding and statute. That's the lift training bought.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5" descr="A close-up of green and whit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5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NVIDIA Sans"/>
              <a:buNone/>
              <a:defRPr sz="90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NVIDIA Sans"/>
              <a:buNone/>
              <a:defRPr sz="8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" name="Google Shape;16;p35"/>
          <p:cNvSpPr/>
          <p:nvPr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6760257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82512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1_Title, Subtitle, Bulle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9845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730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VIDIA Sans"/>
              <a:buChar char="•"/>
              <a:defRPr sz="56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7595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9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9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9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NVIDIA Sans"/>
              <a:buNone/>
              <a:defRPr sz="88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9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None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58481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t Testing Layout">
  <p:cSld name="Font Testing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4" name="Google Shape;44;p50"/>
          <p:cNvSpPr/>
          <p:nvPr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45" name="Google Shape;45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7422" y="10556523"/>
            <a:ext cx="11022523" cy="78645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0"/>
          <p:cNvSpPr txBox="1">
            <a:spLocks noGrp="1"/>
          </p:cNvSpPr>
          <p:nvPr>
            <p:ph type="body" idx="3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4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38883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18184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" name="Google Shape;54;p52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" name="Google Shape;55;p52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35749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" name="Google Shape;59;p53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41695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41300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3941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" name="Google Shape;73;p5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4" name="Google Shape;74;p56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5" name="Google Shape;75;p56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1438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7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57"/>
          <p:cNvSpPr txBox="1">
            <a:spLocks noGrp="1"/>
          </p:cNvSpPr>
          <p:nvPr>
            <p:ph type="title"/>
          </p:nvPr>
        </p:nvSpPr>
        <p:spPr>
          <a:xfrm>
            <a:off x="19129248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" name="Google Shape;80;p57"/>
          <p:cNvSpPr txBox="1">
            <a:spLocks noGrp="1"/>
          </p:cNvSpPr>
          <p:nvPr>
            <p:ph type="body" idx="3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81" name="Google Shape;81;p57"/>
          <p:cNvCxnSpPr/>
          <p:nvPr/>
        </p:nvCxnSpPr>
        <p:spPr>
          <a:xfrm>
            <a:off x="16413162" y="5693228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651243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8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84" name="Google Shape;84;p58"/>
          <p:cNvCxnSpPr/>
          <p:nvPr/>
        </p:nvCxnSpPr>
        <p:spPr>
          <a:xfrm>
            <a:off x="16413162" y="5693228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58"/>
          <p:cNvSpPr txBox="1">
            <a:spLocks noGrp="1"/>
          </p:cNvSpPr>
          <p:nvPr>
            <p:ph type="title"/>
          </p:nvPr>
        </p:nvSpPr>
        <p:spPr>
          <a:xfrm>
            <a:off x="19129248" y="1218776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8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66731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9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9" name="Google Shape;89;p59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9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9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92" name="Google Shape;92;p59"/>
          <p:cNvSpPr txBox="1">
            <a:spLocks noGrp="1"/>
          </p:cNvSpPr>
          <p:nvPr>
            <p:ph type="body" idx="3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93" name="Google Shape;93;p59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4" name="Google Shape;94;p59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95" name="Google Shape;95;p59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6" name="Google Shape;96;p59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60256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 Layout">
  <p:cSld name="CODING Layou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0"/>
          <p:cNvSpPr/>
          <p:nvPr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9" name="Google Shape;99;p60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0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01" name="Google Shape;101;p60"/>
          <p:cNvSpPr txBox="1">
            <a:spLocks noGrp="1"/>
          </p:cNvSpPr>
          <p:nvPr>
            <p:ph type="body" idx="2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/>
          <p:nvPr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219455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</a:pPr>
            <a:endParaRPr sz="40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103" name="Google Shape;103;p60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04" name="Google Shape;104;p60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05" name="Google Shape;105;p60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6" name="Google Shape;106;p60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7059415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1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09" name="Google Shape;109;p61"/>
          <p:cNvSpPr txBox="1">
            <a:spLocks noGrp="1"/>
          </p:cNvSpPr>
          <p:nvPr>
            <p:ph type="title"/>
          </p:nvPr>
        </p:nvSpPr>
        <p:spPr>
          <a:xfrm>
            <a:off x="2596896" y="1218776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111" name="Google Shape;111;p61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12" name="Google Shape;112;p61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13" name="Google Shape;113;p61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4" name="Google Shape;114;p61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61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53907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2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18" name="Google Shape;118;p62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62"/>
          <p:cNvSpPr txBox="1">
            <a:spLocks noGrp="1"/>
          </p:cNvSpPr>
          <p:nvPr>
            <p:ph type="title"/>
          </p:nvPr>
        </p:nvSpPr>
        <p:spPr>
          <a:xfrm>
            <a:off x="2596896" y="8604153"/>
            <a:ext cx="12179806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62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21" name="Google Shape;121;p62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2" name="Google Shape;122;p62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290958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3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25" name="Google Shape;125;p63"/>
          <p:cNvSpPr txBox="1">
            <a:spLocks noGrp="1"/>
          </p:cNvSpPr>
          <p:nvPr>
            <p:ph type="title"/>
          </p:nvPr>
        </p:nvSpPr>
        <p:spPr>
          <a:xfrm>
            <a:off x="2596896" y="6829593"/>
            <a:ext cx="12143232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3"/>
          <p:cNvSpPr txBox="1">
            <a:spLocks noGrp="1"/>
          </p:cNvSpPr>
          <p:nvPr>
            <p:ph type="body" idx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127" name="Google Shape;127;p63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28" name="Google Shape;128;p63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9" name="Google Shape;129;p63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63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0700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Layout">
  <p:cSld name="Single Image Layou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4" name="Google Shape;134;p64"/>
          <p:cNvSpPr>
            <a:spLocks noGrp="1"/>
          </p:cNvSpPr>
          <p:nvPr>
            <p:ph type="pic" idx="2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64"/>
          <p:cNvSpPr txBox="1">
            <a:spLocks noGrp="1"/>
          </p:cNvSpPr>
          <p:nvPr>
            <p:ph type="body" idx="3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6" name="Google Shape;136;p64"/>
          <p:cNvSpPr txBox="1">
            <a:spLocks noGrp="1"/>
          </p:cNvSpPr>
          <p:nvPr>
            <p:ph type="body" idx="4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94874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Text">
  <p:cSld name="Image w/ 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5"/>
          <p:cNvSpPr txBox="1">
            <a:spLocks noGrp="1"/>
          </p:cNvSpPr>
          <p:nvPr>
            <p:ph type="body" idx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39" name="Google Shape;139;p65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65"/>
          <p:cNvSpPr txBox="1">
            <a:spLocks noGrp="1"/>
          </p:cNvSpPr>
          <p:nvPr>
            <p:ph type="body" idx="3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1" name="Google Shape;141;p65"/>
          <p:cNvSpPr txBox="1">
            <a:spLocks noGrp="1"/>
          </p:cNvSpPr>
          <p:nvPr>
            <p:ph type="body" idx="4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2" name="Google Shape;142;p6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5"/>
          <p:cNvSpPr txBox="1">
            <a:spLocks noGrp="1"/>
          </p:cNvSpPr>
          <p:nvPr>
            <p:ph type="body" idx="5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06972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">
  <p:cSld name="2-up Imag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47" name="Google Shape;147;p66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6"/>
          <p:cNvSpPr>
            <a:spLocks noGrp="1"/>
          </p:cNvSpPr>
          <p:nvPr>
            <p:ph type="pic" idx="3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66"/>
          <p:cNvSpPr txBox="1">
            <a:spLocks noGrp="1"/>
          </p:cNvSpPr>
          <p:nvPr>
            <p:ph type="body" idx="4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0" name="Google Shape;150;p66"/>
          <p:cNvSpPr txBox="1">
            <a:spLocks noGrp="1"/>
          </p:cNvSpPr>
          <p:nvPr>
            <p:ph type="body" idx="5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1" name="Google Shape;151;p66"/>
          <p:cNvSpPr txBox="1">
            <a:spLocks noGrp="1"/>
          </p:cNvSpPr>
          <p:nvPr>
            <p:ph type="body" idx="6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2" name="Google Shape;152;p66"/>
          <p:cNvSpPr txBox="1">
            <a:spLocks noGrp="1"/>
          </p:cNvSpPr>
          <p:nvPr>
            <p:ph type="body" idx="7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10416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 Layout with Bullets">
  <p:cSld name="2-up Image Layout with Bullet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6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6" name="Google Shape;156;p67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7"/>
          <p:cNvSpPr txBox="1">
            <a:spLocks noGrp="1"/>
          </p:cNvSpPr>
          <p:nvPr>
            <p:ph type="body" idx="3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58" name="Google Shape;158;p67"/>
          <p:cNvSpPr>
            <a:spLocks noGrp="1"/>
          </p:cNvSpPr>
          <p:nvPr>
            <p:ph type="pic" idx="4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67"/>
          <p:cNvSpPr txBox="1">
            <a:spLocks noGrp="1"/>
          </p:cNvSpPr>
          <p:nvPr>
            <p:ph type="body" idx="5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0" name="Google Shape;160;p67"/>
          <p:cNvSpPr txBox="1">
            <a:spLocks noGrp="1"/>
          </p:cNvSpPr>
          <p:nvPr>
            <p:ph type="body" idx="6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1" name="Google Shape;161;p67"/>
          <p:cNvSpPr txBox="1">
            <a:spLocks noGrp="1"/>
          </p:cNvSpPr>
          <p:nvPr>
            <p:ph type="body" idx="7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2" name="Google Shape;162;p67"/>
          <p:cNvSpPr txBox="1">
            <a:spLocks noGrp="1"/>
          </p:cNvSpPr>
          <p:nvPr>
            <p:ph type="body" idx="8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3" name="Google Shape;163;p67"/>
          <p:cNvSpPr txBox="1">
            <a:spLocks noGrp="1"/>
          </p:cNvSpPr>
          <p:nvPr>
            <p:ph type="body" idx="9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2325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Image">
  <p:cSld name="3-up Imag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6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67" name="Google Shape;167;p68"/>
          <p:cNvSpPr>
            <a:spLocks noGrp="1"/>
          </p:cNvSpPr>
          <p:nvPr>
            <p:ph type="pic" idx="2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8"/>
          <p:cNvSpPr>
            <a:spLocks noGrp="1"/>
          </p:cNvSpPr>
          <p:nvPr>
            <p:ph type="pic" idx="3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8"/>
          <p:cNvSpPr>
            <a:spLocks noGrp="1"/>
          </p:cNvSpPr>
          <p:nvPr>
            <p:ph type="pic" idx="4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68"/>
          <p:cNvSpPr txBox="1">
            <a:spLocks noGrp="1"/>
          </p:cNvSpPr>
          <p:nvPr>
            <p:ph type="body" idx="5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1" name="Google Shape;171;p68"/>
          <p:cNvSpPr txBox="1">
            <a:spLocks noGrp="1"/>
          </p:cNvSpPr>
          <p:nvPr>
            <p:ph type="body" idx="6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2" name="Google Shape;172;p68"/>
          <p:cNvSpPr txBox="1">
            <a:spLocks noGrp="1"/>
          </p:cNvSpPr>
          <p:nvPr>
            <p:ph type="body" idx="7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3" name="Google Shape;173;p68"/>
          <p:cNvSpPr txBox="1">
            <a:spLocks noGrp="1"/>
          </p:cNvSpPr>
          <p:nvPr>
            <p:ph type="body" idx="8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4" name="Google Shape;174;p68"/>
          <p:cNvSpPr txBox="1">
            <a:spLocks noGrp="1"/>
          </p:cNvSpPr>
          <p:nvPr>
            <p:ph type="body" idx="9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5" name="Google Shape;175;p68"/>
          <p:cNvSpPr txBox="1">
            <a:spLocks noGrp="1"/>
          </p:cNvSpPr>
          <p:nvPr>
            <p:ph type="body" idx="13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5690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up Image">
  <p:cSld name="4-up Image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6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79" name="Google Shape;179;p69"/>
          <p:cNvSpPr>
            <a:spLocks noGrp="1"/>
          </p:cNvSpPr>
          <p:nvPr>
            <p:ph type="pic" idx="2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69"/>
          <p:cNvSpPr>
            <a:spLocks noGrp="1"/>
          </p:cNvSpPr>
          <p:nvPr>
            <p:ph type="pic" idx="3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69"/>
          <p:cNvSpPr>
            <a:spLocks noGrp="1"/>
          </p:cNvSpPr>
          <p:nvPr>
            <p:ph type="pic" idx="4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9"/>
          <p:cNvSpPr>
            <a:spLocks noGrp="1"/>
          </p:cNvSpPr>
          <p:nvPr>
            <p:ph type="pic" idx="5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9"/>
          <p:cNvSpPr txBox="1">
            <a:spLocks noGrp="1"/>
          </p:cNvSpPr>
          <p:nvPr>
            <p:ph type="body" idx="6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4" name="Google Shape;184;p69"/>
          <p:cNvSpPr txBox="1">
            <a:spLocks noGrp="1"/>
          </p:cNvSpPr>
          <p:nvPr>
            <p:ph type="body" idx="7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5" name="Google Shape;185;p69"/>
          <p:cNvSpPr txBox="1">
            <a:spLocks noGrp="1"/>
          </p:cNvSpPr>
          <p:nvPr>
            <p:ph type="body" idx="8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6" name="Google Shape;186;p69"/>
          <p:cNvSpPr txBox="1">
            <a:spLocks noGrp="1"/>
          </p:cNvSpPr>
          <p:nvPr>
            <p:ph type="body" idx="9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7" name="Google Shape;187;p69"/>
          <p:cNvSpPr txBox="1">
            <a:spLocks noGrp="1"/>
          </p:cNvSpPr>
          <p:nvPr>
            <p:ph type="body" idx="13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8" name="Google Shape;188;p69"/>
          <p:cNvSpPr txBox="1">
            <a:spLocks noGrp="1"/>
          </p:cNvSpPr>
          <p:nvPr>
            <p:ph type="body" idx="14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89" name="Google Shape;189;p69"/>
          <p:cNvSpPr txBox="1">
            <a:spLocks noGrp="1"/>
          </p:cNvSpPr>
          <p:nvPr>
            <p:ph type="body" idx="15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0" name="Google Shape;190;p69"/>
          <p:cNvSpPr txBox="1">
            <a:spLocks noGrp="1"/>
          </p:cNvSpPr>
          <p:nvPr>
            <p:ph type="body" idx="16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98392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up Image">
  <p:cSld name="5-up Imag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0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0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0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0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6" name="Google Shape;196;p70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7" name="Google Shape;197;p70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8" name="Google Shape;198;p70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199" name="Google Shape;199;p70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0" name="Google Shape;200;p70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1" name="Google Shape;201;p70"/>
          <p:cNvSpPr>
            <a:spLocks noGrp="1"/>
          </p:cNvSpPr>
          <p:nvPr>
            <p:ph type="pic" idx="13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70"/>
          <p:cNvSpPr>
            <a:spLocks noGrp="1"/>
          </p:cNvSpPr>
          <p:nvPr>
            <p:ph type="pic" idx="14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0"/>
          <p:cNvSpPr txBox="1">
            <a:spLocks noGrp="1"/>
          </p:cNvSpPr>
          <p:nvPr>
            <p:ph type="body" idx="15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4" name="Google Shape;204;p70"/>
          <p:cNvSpPr txBox="1">
            <a:spLocks noGrp="1"/>
          </p:cNvSpPr>
          <p:nvPr>
            <p:ph type="body" idx="16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5" name="Google Shape;205;p70"/>
          <p:cNvSpPr txBox="1">
            <a:spLocks noGrp="1"/>
          </p:cNvSpPr>
          <p:nvPr>
            <p:ph type="body" idx="17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6" name="Google Shape;206;p70"/>
          <p:cNvSpPr txBox="1">
            <a:spLocks noGrp="1"/>
          </p:cNvSpPr>
          <p:nvPr>
            <p:ph type="body" idx="18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07" name="Google Shape;207;p7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70"/>
          <p:cNvSpPr txBox="1">
            <a:spLocks noGrp="1"/>
          </p:cNvSpPr>
          <p:nvPr>
            <p:ph type="body" idx="19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85747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up Image">
  <p:cSld name="6-up Imag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1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71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71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71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4" name="Google Shape;214;p71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5" name="Google Shape;215;p71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6" name="Google Shape;216;p71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7" name="Google Shape;217;p71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8" name="Google Shape;218;p71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19" name="Google Shape;219;p71"/>
          <p:cNvSpPr>
            <a:spLocks noGrp="1"/>
          </p:cNvSpPr>
          <p:nvPr>
            <p:ph type="pic" idx="13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71"/>
          <p:cNvSpPr>
            <a:spLocks noGrp="1"/>
          </p:cNvSpPr>
          <p:nvPr>
            <p:ph type="pic" idx="14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71"/>
          <p:cNvSpPr>
            <a:spLocks noGrp="1"/>
          </p:cNvSpPr>
          <p:nvPr>
            <p:ph type="pic" idx="15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71"/>
          <p:cNvSpPr txBox="1">
            <a:spLocks noGrp="1"/>
          </p:cNvSpPr>
          <p:nvPr>
            <p:ph type="body" idx="16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3" name="Google Shape;223;p71"/>
          <p:cNvSpPr txBox="1">
            <a:spLocks noGrp="1"/>
          </p:cNvSpPr>
          <p:nvPr>
            <p:ph type="body" idx="17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4" name="Google Shape;224;p71"/>
          <p:cNvSpPr txBox="1">
            <a:spLocks noGrp="1"/>
          </p:cNvSpPr>
          <p:nvPr>
            <p:ph type="body" idx="18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5" name="Google Shape;225;p71"/>
          <p:cNvSpPr txBox="1">
            <a:spLocks noGrp="1"/>
          </p:cNvSpPr>
          <p:nvPr>
            <p:ph type="body" idx="19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6" name="Google Shape;226;p71"/>
          <p:cNvSpPr txBox="1">
            <a:spLocks noGrp="1"/>
          </p:cNvSpPr>
          <p:nvPr>
            <p:ph type="body" idx="20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7" name="Google Shape;227;p71"/>
          <p:cNvSpPr txBox="1">
            <a:spLocks noGrp="1"/>
          </p:cNvSpPr>
          <p:nvPr>
            <p:ph type="body" idx="2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28" name="Google Shape;228;p7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71"/>
          <p:cNvSpPr txBox="1">
            <a:spLocks noGrp="1"/>
          </p:cNvSpPr>
          <p:nvPr>
            <p:ph type="body" idx="2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908339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up Image">
  <p:cSld name="7-up Imag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2"/>
          <p:cNvSpPr txBox="1">
            <a:spLocks noGrp="1"/>
          </p:cNvSpPr>
          <p:nvPr>
            <p:ph type="body" idx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2" name="Google Shape;232;p72"/>
          <p:cNvSpPr txBox="1">
            <a:spLocks noGrp="1"/>
          </p:cNvSpPr>
          <p:nvPr>
            <p:ph type="body" idx="2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3" name="Google Shape;233;p72"/>
          <p:cNvSpPr txBox="1">
            <a:spLocks noGrp="1"/>
          </p:cNvSpPr>
          <p:nvPr>
            <p:ph type="body" idx="3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4" name="Google Shape;234;p72"/>
          <p:cNvSpPr txBox="1">
            <a:spLocks noGrp="1"/>
          </p:cNvSpPr>
          <p:nvPr>
            <p:ph type="body" idx="4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5" name="Google Shape;235;p72"/>
          <p:cNvSpPr>
            <a:spLocks noGrp="1"/>
          </p:cNvSpPr>
          <p:nvPr>
            <p:ph type="pic" idx="5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72"/>
          <p:cNvSpPr>
            <a:spLocks noGrp="1"/>
          </p:cNvSpPr>
          <p:nvPr>
            <p:ph type="pic" idx="6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72"/>
          <p:cNvSpPr>
            <a:spLocks noGrp="1"/>
          </p:cNvSpPr>
          <p:nvPr>
            <p:ph type="pic" idx="7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72"/>
          <p:cNvSpPr txBox="1">
            <a:spLocks noGrp="1"/>
          </p:cNvSpPr>
          <p:nvPr>
            <p:ph type="body" idx="8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39" name="Google Shape;239;p72"/>
          <p:cNvSpPr txBox="1">
            <a:spLocks noGrp="1"/>
          </p:cNvSpPr>
          <p:nvPr>
            <p:ph type="body" idx="9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0" name="Google Shape;240;p72"/>
          <p:cNvSpPr>
            <a:spLocks noGrp="1"/>
          </p:cNvSpPr>
          <p:nvPr>
            <p:ph type="pic" idx="13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2"/>
          <p:cNvSpPr>
            <a:spLocks noGrp="1"/>
          </p:cNvSpPr>
          <p:nvPr>
            <p:ph type="pic" idx="14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72"/>
          <p:cNvSpPr>
            <a:spLocks noGrp="1"/>
          </p:cNvSpPr>
          <p:nvPr>
            <p:ph type="pic" idx="15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72"/>
          <p:cNvSpPr>
            <a:spLocks noGrp="1"/>
          </p:cNvSpPr>
          <p:nvPr>
            <p:ph type="pic" idx="16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2"/>
          <p:cNvSpPr txBox="1">
            <a:spLocks noGrp="1"/>
          </p:cNvSpPr>
          <p:nvPr>
            <p:ph type="body" idx="17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5" name="Google Shape;245;p72"/>
          <p:cNvSpPr txBox="1">
            <a:spLocks noGrp="1"/>
          </p:cNvSpPr>
          <p:nvPr>
            <p:ph type="body" idx="18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6" name="Google Shape;246;p72"/>
          <p:cNvSpPr txBox="1">
            <a:spLocks noGrp="1"/>
          </p:cNvSpPr>
          <p:nvPr>
            <p:ph type="body" idx="19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7" name="Google Shape;247;p72"/>
          <p:cNvSpPr txBox="1">
            <a:spLocks noGrp="1"/>
          </p:cNvSpPr>
          <p:nvPr>
            <p:ph type="body" idx="20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8" name="Google Shape;248;p72"/>
          <p:cNvSpPr txBox="1">
            <a:spLocks noGrp="1"/>
          </p:cNvSpPr>
          <p:nvPr>
            <p:ph type="body" idx="2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9" name="Google Shape;249;p72"/>
          <p:cNvSpPr txBox="1">
            <a:spLocks noGrp="1"/>
          </p:cNvSpPr>
          <p:nvPr>
            <p:ph type="body" idx="22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0" name="Google Shape;250;p72"/>
          <p:cNvSpPr txBox="1">
            <a:spLocks noGrp="1"/>
          </p:cNvSpPr>
          <p:nvPr>
            <p:ph type="body" idx="23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1" name="Google Shape;251;p72"/>
          <p:cNvSpPr txBox="1">
            <a:spLocks noGrp="1"/>
          </p:cNvSpPr>
          <p:nvPr>
            <p:ph type="body" idx="24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2" name="Google Shape;252;p7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2"/>
          <p:cNvSpPr txBox="1">
            <a:spLocks noGrp="1"/>
          </p:cNvSpPr>
          <p:nvPr>
            <p:ph type="body" idx="25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75897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3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73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73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73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73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73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73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3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73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4" name="Google Shape;264;p73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5" name="Google Shape;265;p73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6" name="Google Shape;266;p73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7" name="Google Shape;267;p73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8" name="Google Shape;268;p73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9" name="Google Shape;269;p73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0" name="Google Shape;270;p73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1" name="Google Shape;271;p73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2" name="Google Shape;272;p73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3" name="Google Shape;273;p73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4" name="Google Shape;274;p73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5" name="Google Shape;275;p73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6" name="Google Shape;276;p73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7" name="Google Shape;277;p73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8" name="Google Shape;278;p73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79" name="Google Shape;279;p7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73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17521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up Image">
  <p:cSld name="9-up Image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4"/>
          <p:cNvSpPr txBox="1">
            <a:spLocks noGrp="1"/>
          </p:cNvSpPr>
          <p:nvPr>
            <p:ph type="body" idx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3" name="Google Shape;283;p74"/>
          <p:cNvSpPr txBox="1">
            <a:spLocks noGrp="1"/>
          </p:cNvSpPr>
          <p:nvPr>
            <p:ph type="body" idx="2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4" name="Google Shape;284;p74"/>
          <p:cNvSpPr txBox="1">
            <a:spLocks noGrp="1"/>
          </p:cNvSpPr>
          <p:nvPr>
            <p:ph type="body" idx="3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5" name="Google Shape;285;p74"/>
          <p:cNvSpPr txBox="1">
            <a:spLocks noGrp="1"/>
          </p:cNvSpPr>
          <p:nvPr>
            <p:ph type="body" idx="4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6" name="Google Shape;286;p74"/>
          <p:cNvSpPr>
            <a:spLocks noGrp="1"/>
          </p:cNvSpPr>
          <p:nvPr>
            <p:ph type="pic" idx="5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74"/>
          <p:cNvSpPr>
            <a:spLocks noGrp="1"/>
          </p:cNvSpPr>
          <p:nvPr>
            <p:ph type="pic" idx="6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74"/>
          <p:cNvSpPr>
            <a:spLocks noGrp="1"/>
          </p:cNvSpPr>
          <p:nvPr>
            <p:ph type="pic" idx="7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74"/>
          <p:cNvSpPr txBox="1">
            <a:spLocks noGrp="1"/>
          </p:cNvSpPr>
          <p:nvPr>
            <p:ph type="body" idx="8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0" name="Google Shape;290;p74"/>
          <p:cNvSpPr txBox="1">
            <a:spLocks noGrp="1"/>
          </p:cNvSpPr>
          <p:nvPr>
            <p:ph type="body" idx="9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1" name="Google Shape;291;p74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74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74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74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74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74"/>
          <p:cNvSpPr>
            <a:spLocks noGrp="1"/>
          </p:cNvSpPr>
          <p:nvPr>
            <p:ph type="pic" idx="18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74"/>
          <p:cNvSpPr txBox="1">
            <a:spLocks noGrp="1"/>
          </p:cNvSpPr>
          <p:nvPr>
            <p:ph type="body" idx="19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8" name="Google Shape;298;p74"/>
          <p:cNvSpPr txBox="1">
            <a:spLocks noGrp="1"/>
          </p:cNvSpPr>
          <p:nvPr>
            <p:ph type="body" idx="20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99" name="Google Shape;299;p74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0" name="Google Shape;300;p74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1" name="Google Shape;301;p74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2" name="Google Shape;302;p74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3" name="Google Shape;303;p74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4" name="Google Shape;304;p74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5" name="Google Shape;305;p74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6" name="Google Shape;306;p74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7" name="Google Shape;307;p74"/>
          <p:cNvSpPr txBox="1">
            <a:spLocks noGrp="1"/>
          </p:cNvSpPr>
          <p:nvPr>
            <p:ph type="body" idx="29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8" name="Google Shape;308;p74"/>
          <p:cNvSpPr txBox="1">
            <a:spLocks noGrp="1"/>
          </p:cNvSpPr>
          <p:nvPr>
            <p:ph type="body" idx="30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09" name="Google Shape;309;p7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74"/>
          <p:cNvSpPr txBox="1">
            <a:spLocks noGrp="1"/>
          </p:cNvSpPr>
          <p:nvPr>
            <p:ph type="body" idx="3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915245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up Image">
  <p:cSld name="10-up Imag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5"/>
          <p:cNvSpPr txBox="1">
            <a:spLocks noGrp="1"/>
          </p:cNvSpPr>
          <p:nvPr>
            <p:ph type="body" idx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3" name="Google Shape;313;p75"/>
          <p:cNvSpPr txBox="1">
            <a:spLocks noGrp="1"/>
          </p:cNvSpPr>
          <p:nvPr>
            <p:ph type="body" idx="2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4" name="Google Shape;314;p75"/>
          <p:cNvSpPr txBox="1">
            <a:spLocks noGrp="1"/>
          </p:cNvSpPr>
          <p:nvPr>
            <p:ph type="body" idx="3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5" name="Google Shape;315;p75"/>
          <p:cNvSpPr txBox="1">
            <a:spLocks noGrp="1"/>
          </p:cNvSpPr>
          <p:nvPr>
            <p:ph type="body" idx="4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16" name="Google Shape;316;p75"/>
          <p:cNvSpPr>
            <a:spLocks noGrp="1"/>
          </p:cNvSpPr>
          <p:nvPr>
            <p:ph type="pic" idx="5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75"/>
          <p:cNvSpPr>
            <a:spLocks noGrp="1"/>
          </p:cNvSpPr>
          <p:nvPr>
            <p:ph type="pic" idx="6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75"/>
          <p:cNvSpPr>
            <a:spLocks noGrp="1"/>
          </p:cNvSpPr>
          <p:nvPr>
            <p:ph type="pic" idx="7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75"/>
          <p:cNvSpPr txBox="1">
            <a:spLocks noGrp="1"/>
          </p:cNvSpPr>
          <p:nvPr>
            <p:ph type="body" idx="8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0" name="Google Shape;320;p75"/>
          <p:cNvSpPr txBox="1">
            <a:spLocks noGrp="1"/>
          </p:cNvSpPr>
          <p:nvPr>
            <p:ph type="body" idx="9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1" name="Google Shape;321;p75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75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75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75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75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75"/>
          <p:cNvSpPr>
            <a:spLocks noGrp="1"/>
          </p:cNvSpPr>
          <p:nvPr>
            <p:ph type="pic" idx="18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75"/>
          <p:cNvSpPr txBox="1">
            <a:spLocks noGrp="1"/>
          </p:cNvSpPr>
          <p:nvPr>
            <p:ph type="body" idx="19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8" name="Google Shape;328;p75"/>
          <p:cNvSpPr txBox="1">
            <a:spLocks noGrp="1"/>
          </p:cNvSpPr>
          <p:nvPr>
            <p:ph type="body" idx="20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29" name="Google Shape;329;p75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0" name="Google Shape;330;p75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1" name="Google Shape;331;p75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2" name="Google Shape;332;p75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3" name="Google Shape;333;p75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4" name="Google Shape;334;p75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5" name="Google Shape;335;p75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6" name="Google Shape;336;p75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7" name="Google Shape;337;p75"/>
          <p:cNvSpPr>
            <a:spLocks noGrp="1"/>
          </p:cNvSpPr>
          <p:nvPr>
            <p:ph type="pic" idx="29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75"/>
          <p:cNvSpPr txBox="1">
            <a:spLocks noGrp="1"/>
          </p:cNvSpPr>
          <p:nvPr>
            <p:ph type="body" idx="30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39" name="Google Shape;339;p75"/>
          <p:cNvSpPr txBox="1">
            <a:spLocks noGrp="1"/>
          </p:cNvSpPr>
          <p:nvPr>
            <p:ph type="body" idx="3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0" name="Google Shape;340;p75"/>
          <p:cNvSpPr txBox="1">
            <a:spLocks noGrp="1"/>
          </p:cNvSpPr>
          <p:nvPr>
            <p:ph type="body" idx="32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1" name="Google Shape;341;p75"/>
          <p:cNvSpPr txBox="1">
            <a:spLocks noGrp="1"/>
          </p:cNvSpPr>
          <p:nvPr>
            <p:ph type="body" idx="33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42" name="Google Shape;342;p7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75"/>
          <p:cNvSpPr txBox="1">
            <a:spLocks noGrp="1"/>
          </p:cNvSpPr>
          <p:nvPr>
            <p:ph type="body" idx="34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99582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 Layout">
  <p:cSld name="Use Case Layou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76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5682760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 - Image Layout">
  <p:cSld name="1_Demo - Image Layou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7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793903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8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52" name="Google Shape;352;p78"/>
          <p:cNvSpPr>
            <a:spLocks noGrp="1"/>
          </p:cNvSpPr>
          <p:nvPr>
            <p:ph type="media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0" rIns="91425" bIns="42062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NVIDIA Sans"/>
              <a:buNone/>
              <a:defRPr sz="84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NVIDIA Sans"/>
              <a:buChar char="•"/>
              <a:defRPr sz="7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Char char="•"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20800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79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79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356" name="Google Shape;356;p79"/>
          <p:cNvCxnSpPr/>
          <p:nvPr/>
        </p:nvCxnSpPr>
        <p:spPr>
          <a:xfrm>
            <a:off x="0" y="11329275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7" name="Google Shape;357;p7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7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374406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/ Images Layout">
  <p:cSld name="Timeline w/ Images Layou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80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80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62" name="Google Shape;362;p8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8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364" name="Google Shape;364;p80"/>
          <p:cNvCxnSpPr/>
          <p:nvPr/>
        </p:nvCxnSpPr>
        <p:spPr>
          <a:xfrm>
            <a:off x="0" y="12517118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" name="Google Shape;365;p80"/>
          <p:cNvSpPr>
            <a:spLocks noGrp="1"/>
          </p:cNvSpPr>
          <p:nvPr>
            <p:ph type="pic" idx="2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80"/>
          <p:cNvSpPr txBox="1">
            <a:spLocks noGrp="1"/>
          </p:cNvSpPr>
          <p:nvPr>
            <p:ph type="body" idx="3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7" name="Google Shape;367;p80"/>
          <p:cNvSpPr txBox="1">
            <a:spLocks noGrp="1"/>
          </p:cNvSpPr>
          <p:nvPr>
            <p:ph type="body" idx="4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8" name="Google Shape;368;p80"/>
          <p:cNvSpPr txBox="1">
            <a:spLocks noGrp="1"/>
          </p:cNvSpPr>
          <p:nvPr>
            <p:ph type="body" idx="5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69" name="Google Shape;369;p80"/>
          <p:cNvSpPr>
            <a:spLocks noGrp="1"/>
          </p:cNvSpPr>
          <p:nvPr>
            <p:ph type="pic" idx="6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0"/>
          <p:cNvSpPr txBox="1">
            <a:spLocks noGrp="1"/>
          </p:cNvSpPr>
          <p:nvPr>
            <p:ph type="body" idx="7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1" name="Google Shape;371;p80"/>
          <p:cNvSpPr txBox="1">
            <a:spLocks noGrp="1"/>
          </p:cNvSpPr>
          <p:nvPr>
            <p:ph type="body" idx="8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2" name="Google Shape;372;p80"/>
          <p:cNvSpPr txBox="1">
            <a:spLocks noGrp="1"/>
          </p:cNvSpPr>
          <p:nvPr>
            <p:ph type="body" idx="9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3" name="Google Shape;373;p80"/>
          <p:cNvSpPr>
            <a:spLocks noGrp="1"/>
          </p:cNvSpPr>
          <p:nvPr>
            <p:ph type="pic" idx="13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80"/>
          <p:cNvSpPr txBox="1">
            <a:spLocks noGrp="1"/>
          </p:cNvSpPr>
          <p:nvPr>
            <p:ph type="body" idx="14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5" name="Google Shape;375;p80"/>
          <p:cNvSpPr txBox="1">
            <a:spLocks noGrp="1"/>
          </p:cNvSpPr>
          <p:nvPr>
            <p:ph type="body" idx="15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6" name="Google Shape;376;p80"/>
          <p:cNvSpPr txBox="1">
            <a:spLocks noGrp="1"/>
          </p:cNvSpPr>
          <p:nvPr>
            <p:ph type="body" idx="16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7" name="Google Shape;377;p80"/>
          <p:cNvSpPr>
            <a:spLocks noGrp="1"/>
          </p:cNvSpPr>
          <p:nvPr>
            <p:ph type="pic" idx="17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80"/>
          <p:cNvSpPr txBox="1">
            <a:spLocks noGrp="1"/>
          </p:cNvSpPr>
          <p:nvPr>
            <p:ph type="body" idx="18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79" name="Google Shape;379;p80"/>
          <p:cNvSpPr txBox="1">
            <a:spLocks noGrp="1"/>
          </p:cNvSpPr>
          <p:nvPr>
            <p:ph type="body" idx="19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0" name="Google Shape;380;p80"/>
          <p:cNvSpPr txBox="1">
            <a:spLocks noGrp="1"/>
          </p:cNvSpPr>
          <p:nvPr>
            <p:ph type="body" idx="20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1" name="Google Shape;381;p80"/>
          <p:cNvSpPr>
            <a:spLocks noGrp="1"/>
          </p:cNvSpPr>
          <p:nvPr>
            <p:ph type="pic" idx="21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80"/>
          <p:cNvSpPr txBox="1">
            <a:spLocks noGrp="1"/>
          </p:cNvSpPr>
          <p:nvPr>
            <p:ph type="body" idx="22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3" name="Google Shape;383;p80"/>
          <p:cNvSpPr txBox="1">
            <a:spLocks noGrp="1"/>
          </p:cNvSpPr>
          <p:nvPr>
            <p:ph type="body" idx="23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84" name="Google Shape;384;p80"/>
          <p:cNvSpPr txBox="1">
            <a:spLocks noGrp="1"/>
          </p:cNvSpPr>
          <p:nvPr>
            <p:ph type="body" idx="24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463608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ONG Layout">
  <p:cSld name="Quote - LONG Layout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81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3" cy="205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81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88" name="Google Shape;388;p81"/>
          <p:cNvSpPr/>
          <p:nvPr/>
        </p:nvSpPr>
        <p:spPr>
          <a:xfrm rot="10800000" flipH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89" name="Google Shape;389;p81"/>
          <p:cNvSpPr/>
          <p:nvPr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90" name="Google Shape;390;p81"/>
          <p:cNvSpPr txBox="1">
            <a:spLocks noGrp="1"/>
          </p:cNvSpPr>
          <p:nvPr>
            <p:ph type="body" idx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91" name="Google Shape;391;p81"/>
          <p:cNvSpPr txBox="1">
            <a:spLocks noGrp="1"/>
          </p:cNvSpPr>
          <p:nvPr>
            <p:ph type="body" idx="2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392" name="Google Shape;392;p81"/>
          <p:cNvSpPr txBox="1"/>
          <p:nvPr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/>
          </a:p>
        </p:txBody>
      </p:sp>
      <p:cxnSp>
        <p:nvCxnSpPr>
          <p:cNvPr id="393" name="Google Shape;393;p81"/>
          <p:cNvCxnSpPr/>
          <p:nvPr/>
        </p:nvCxnSpPr>
        <p:spPr>
          <a:xfrm>
            <a:off x="6158753" y="15523509"/>
            <a:ext cx="11394911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94;p81"/>
          <p:cNvCxnSpPr/>
          <p:nvPr/>
        </p:nvCxnSpPr>
        <p:spPr>
          <a:xfrm>
            <a:off x="19022336" y="15523509"/>
            <a:ext cx="11394911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5" name="Google Shape;395;p81"/>
          <p:cNvGrpSpPr/>
          <p:nvPr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396" name="Google Shape;396;p81"/>
            <p:cNvSpPr txBox="1"/>
            <p:nvPr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/>
            </a:p>
          </p:txBody>
        </p:sp>
        <p:cxnSp>
          <p:nvCxnSpPr>
            <p:cNvPr id="397" name="Google Shape;397;p81"/>
            <p:cNvCxnSpPr/>
            <p:nvPr/>
          </p:nvCxnSpPr>
          <p:spPr>
            <a:xfrm>
              <a:off x="6158753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81"/>
            <p:cNvCxnSpPr/>
            <p:nvPr/>
          </p:nvCxnSpPr>
          <p:spPr>
            <a:xfrm>
              <a:off x="19022336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9879678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SHORT Layout">
  <p:cSld name="Quote - SHORT Layou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82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3" cy="205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82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2" name="Google Shape;402;p82"/>
          <p:cNvSpPr/>
          <p:nvPr/>
        </p:nvSpPr>
        <p:spPr>
          <a:xfrm rot="10800000" flipH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3" name="Google Shape;403;p82"/>
          <p:cNvSpPr/>
          <p:nvPr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4" name="Google Shape;404;p82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5" name="Google Shape;405;p82"/>
          <p:cNvSpPr txBox="1">
            <a:spLocks noGrp="1"/>
          </p:cNvSpPr>
          <p:nvPr>
            <p:ph type="body" idx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06" name="Google Shape;406;p82"/>
          <p:cNvSpPr txBox="1">
            <a:spLocks noGrp="1"/>
          </p:cNvSpPr>
          <p:nvPr>
            <p:ph type="body" idx="2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407" name="Google Shape;407;p82"/>
          <p:cNvGrpSpPr/>
          <p:nvPr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408" name="Google Shape;408;p82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409" name="Google Shape;409;p82"/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  <p:sp>
            <p:nvSpPr>
              <p:cNvPr id="410" name="Google Shape;410;p82"/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</p:grpSp>
        <p:cxnSp>
          <p:nvCxnSpPr>
            <p:cNvPr id="411" name="Google Shape;411;p82"/>
            <p:cNvCxnSpPr/>
            <p:nvPr/>
          </p:nvCxnSpPr>
          <p:spPr>
            <a:xfrm>
              <a:off x="6158753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2" name="Google Shape;412;p82"/>
            <p:cNvCxnSpPr/>
            <p:nvPr/>
          </p:nvCxnSpPr>
          <p:spPr>
            <a:xfrm>
              <a:off x="19022336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3" name="Google Shape;413;p82"/>
            <p:cNvCxnSpPr/>
            <p:nvPr/>
          </p:nvCxnSpPr>
          <p:spPr>
            <a:xfrm>
              <a:off x="6158753" y="15144241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4" name="Google Shape;414;p82"/>
            <p:cNvCxnSpPr/>
            <p:nvPr/>
          </p:nvCxnSpPr>
          <p:spPr>
            <a:xfrm>
              <a:off x="19022336" y="15144241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4221247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83" descr="A green curved lines with a bright light behind the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408" r="51135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3"/>
          <p:cNvSpPr/>
          <p:nvPr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18" name="Google Shape;418;p83"/>
          <p:cNvSpPr/>
          <p:nvPr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  <p:extLst>
      <p:ext uri="{BB962C8B-B14F-4D97-AF65-F5344CB8AC3E}">
        <p14:creationId xmlns:p14="http://schemas.microsoft.com/office/powerpoint/2010/main" val="8606679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84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84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272628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8625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81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7957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82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image" Target="../media/image10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34"/>
          <p:cNvGrpSpPr/>
          <p:nvPr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11" name="Google Shape;11;p34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" name="Google Shape;12;p34" descr="A picture containing shape&#10;&#10;Description automatically generated"/>
            <p:cNvPicPr preferRelativeResize="0"/>
            <p:nvPr/>
          </p:nvPicPr>
          <p:blipFill rotWithShape="1">
            <a:blip r:embed="rId44">
              <a:alphaModFix/>
            </a:blip>
            <a:srcRect/>
            <a:stretch/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018034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  <p:sldLayoutId id="2147483765" r:id="rId39"/>
    <p:sldLayoutId id="2147483766" r:id="rId40"/>
    <p:sldLayoutId id="2147483767" r:id="rId41"/>
    <p:sldLayoutId id="2147483816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F_2234DD6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NeMo Evaluator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do you know your model actually got better?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Why Evaluation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Three problems every customization project hits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60720" y="6583680"/>
            <a:ext cx="2194560" cy="219456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0" y="6583680"/>
            <a:ext cx="2194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NVIDIA Sans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9509760"/>
            <a:ext cx="9326880" cy="2560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 Medium"/>
              </a:rPr>
              <a:t>No single number captures "good"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2618720"/>
            <a:ext cx="8961120" cy="47548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Accuracy on MMLU ≠ usefulness for SAR generation. Domain tasks need domain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0" y="5852160"/>
            <a:ext cx="107899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099280" y="6583680"/>
            <a:ext cx="2194560" cy="2194560"/>
          </a:xfrm>
          <a:prstGeom prst="ellipse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099280" y="6583680"/>
            <a:ext cx="2194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NVIDIA Sans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0" y="9509760"/>
            <a:ext cx="9326880" cy="2560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8564"/>
                </a:solidFill>
                <a:latin typeface="NVIDIA Sans Medium"/>
              </a:rPr>
              <a:t>Regression after every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0" y="12618720"/>
            <a:ext cx="8961120" cy="47548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CPT, SFT, RL each adds capabilities and silently breaks others. Continuous eval is the only defence.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40160" y="5852160"/>
            <a:ext cx="1078992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8437840" y="6583680"/>
            <a:ext cx="2194560" cy="2194560"/>
          </a:xfrm>
          <a:prstGeom prst="ellipse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40" y="6583680"/>
            <a:ext cx="219456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NVIDIA Sans Medium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0" y="9509760"/>
            <a:ext cx="9326880" cy="2560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5D1682"/>
                </a:solidFill>
                <a:latin typeface="NVIDIA Sans Medium"/>
              </a:rPr>
              <a:t>Benchmarks ≠ your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54560" y="12618720"/>
            <a:ext cx="8961120" cy="47548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A model that aces HumanEval might still hallucinate the FFIEC citation you trained it on.</a:t>
            </a:r>
          </a:p>
        </p:txBody>
      </p:sp>
    </p:spTree>
    <p:extLst>
      <p:ext uri="{BB962C8B-B14F-4D97-AF65-F5344CB8AC3E}">
        <p14:creationId xmlns:p14="http://schemas.microsoft.com/office/powerpoint/2010/main" val="12040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0C68-D0D5-0732-1037-7B632E8C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D685-C245-BC53-500A-EC36CCEE3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AI Development is Becoming Increasingly Evaluation-Driven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84380-181F-379E-4407-1FB126EF3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487168"/>
            <a:ext cx="36576000" cy="1407600"/>
          </a:xfrm>
        </p:spPr>
        <p:txBody>
          <a:bodyPr/>
          <a:lstStyle/>
          <a:p>
            <a:r>
              <a:rPr lang="en-US"/>
              <a:t>Developers must evaluate both component- and system-level regressions for any changes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CE9BDA4E-16E2-8752-D30C-44916AF933A3}"/>
              </a:ext>
            </a:extLst>
          </p:cNvPr>
          <p:cNvSpPr/>
          <p:nvPr/>
        </p:nvSpPr>
        <p:spPr>
          <a:xfrm flipH="1" flipV="1">
            <a:off x="11828248" y="7781443"/>
            <a:ext cx="7819938" cy="6814122"/>
          </a:xfrm>
          <a:prstGeom prst="arc">
            <a:avLst>
              <a:gd name="adj1" fmla="val 16864655"/>
              <a:gd name="adj2" fmla="val 20895056"/>
            </a:avLst>
          </a:prstGeom>
          <a:ln w="1905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8CC8EEE-3A24-8529-CD8C-161D5D3E1405}"/>
              </a:ext>
            </a:extLst>
          </p:cNvPr>
          <p:cNvSpPr/>
          <p:nvPr/>
        </p:nvSpPr>
        <p:spPr>
          <a:xfrm flipV="1">
            <a:off x="12629257" y="7781444"/>
            <a:ext cx="7819937" cy="6814121"/>
          </a:xfrm>
          <a:prstGeom prst="arc">
            <a:avLst>
              <a:gd name="adj1" fmla="val 17160853"/>
              <a:gd name="adj2" fmla="val 20897016"/>
            </a:avLst>
          </a:prstGeom>
          <a:ln w="19050">
            <a:solidFill>
              <a:schemeClr val="bg1"/>
            </a:solidFill>
            <a:headEnd type="triangle" w="lg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C3258062-E5DA-2096-6D23-99D37EFD1008}"/>
              </a:ext>
            </a:extLst>
          </p:cNvPr>
          <p:cNvSpPr/>
          <p:nvPr/>
        </p:nvSpPr>
        <p:spPr>
          <a:xfrm flipH="1">
            <a:off x="11707532" y="6574094"/>
            <a:ext cx="8015017" cy="6984110"/>
          </a:xfrm>
          <a:prstGeom prst="arc">
            <a:avLst>
              <a:gd name="adj1" fmla="val 18893642"/>
              <a:gd name="adj2" fmla="val 20960154"/>
            </a:avLst>
          </a:prstGeom>
          <a:ln w="19050">
            <a:solidFill>
              <a:schemeClr val="bg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D3AF1B48-45F6-A18E-EDE8-E2F934E21188}"/>
              </a:ext>
            </a:extLst>
          </p:cNvPr>
          <p:cNvSpPr/>
          <p:nvPr/>
        </p:nvSpPr>
        <p:spPr>
          <a:xfrm>
            <a:off x="12629258" y="6470907"/>
            <a:ext cx="7819937" cy="6814121"/>
          </a:xfrm>
          <a:prstGeom prst="arc">
            <a:avLst>
              <a:gd name="adj1" fmla="val 19089717"/>
              <a:gd name="adj2" fmla="val 20959204"/>
            </a:avLst>
          </a:prstGeom>
          <a:ln w="19050"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CD2F08-4816-ACEB-57F3-034BC38AF970}"/>
              </a:ext>
            </a:extLst>
          </p:cNvPr>
          <p:cNvGrpSpPr/>
          <p:nvPr/>
        </p:nvGrpSpPr>
        <p:grpSpPr>
          <a:xfrm>
            <a:off x="3122041" y="5050014"/>
            <a:ext cx="4379976" cy="2008774"/>
            <a:chOff x="6066787" y="7831152"/>
            <a:chExt cx="4379976" cy="2008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BF5CF9-F1AF-E7ED-E764-CDD97831BC4E}"/>
                </a:ext>
              </a:extLst>
            </p:cNvPr>
            <p:cNvSpPr/>
            <p:nvPr/>
          </p:nvSpPr>
          <p:spPr>
            <a:xfrm>
              <a:off x="6066787" y="9229110"/>
              <a:ext cx="4379976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User or Machine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15E1FAE-FEF3-3E62-E6D4-5E9792A2D9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613850" y="7831152"/>
              <a:ext cx="1280160" cy="1280160"/>
            </a:xfrm>
            <a:prstGeom prst="rect">
              <a:avLst/>
            </a:prstGeom>
          </p:spPr>
        </p:pic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6BC9E894-2407-5C83-7259-CE91147365F0}"/>
              </a:ext>
            </a:extLst>
          </p:cNvPr>
          <p:cNvSpPr/>
          <p:nvPr/>
        </p:nvSpPr>
        <p:spPr>
          <a:xfrm>
            <a:off x="6644207" y="5338611"/>
            <a:ext cx="6039536" cy="45719"/>
          </a:xfrm>
          <a:custGeom>
            <a:avLst/>
            <a:gdLst>
              <a:gd name="connsiteX0" fmla="*/ 0 w 3285066"/>
              <a:gd name="connsiteY0" fmla="*/ 0 h 0"/>
              <a:gd name="connsiteX1" fmla="*/ 3285066 w 32850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5066">
                <a:moveTo>
                  <a:pt x="0" y="0"/>
                </a:moveTo>
                <a:lnTo>
                  <a:pt x="3285066" y="0"/>
                </a:lnTo>
              </a:path>
            </a:pathLst>
          </a:custGeom>
          <a:noFill/>
          <a:ln w="25400">
            <a:solidFill>
              <a:schemeClr val="bg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FFFBB21-98B0-8498-19B6-52C1348F9797}"/>
              </a:ext>
            </a:extLst>
          </p:cNvPr>
          <p:cNvSpPr/>
          <p:nvPr/>
        </p:nvSpPr>
        <p:spPr>
          <a:xfrm rot="10800000">
            <a:off x="6644207" y="5893291"/>
            <a:ext cx="6039536" cy="45719"/>
          </a:xfrm>
          <a:custGeom>
            <a:avLst/>
            <a:gdLst>
              <a:gd name="connsiteX0" fmla="*/ 0 w 3285066"/>
              <a:gd name="connsiteY0" fmla="*/ 0 h 0"/>
              <a:gd name="connsiteX1" fmla="*/ 3285066 w 32850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5066">
                <a:moveTo>
                  <a:pt x="0" y="0"/>
                </a:moveTo>
                <a:lnTo>
                  <a:pt x="3285066" y="0"/>
                </a:lnTo>
              </a:path>
            </a:pathLst>
          </a:custGeom>
          <a:noFill/>
          <a:ln w="25400">
            <a:solidFill>
              <a:schemeClr val="bg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F274C-551D-E693-9C1E-70F5991456EB}"/>
              </a:ext>
            </a:extLst>
          </p:cNvPr>
          <p:cNvSpPr txBox="1"/>
          <p:nvPr/>
        </p:nvSpPr>
        <p:spPr>
          <a:xfrm>
            <a:off x="8998045" y="4943425"/>
            <a:ext cx="1331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 Medium" panose="020B0503020203020204" pitchFamily="34" charset="0"/>
                <a:cs typeface="NVIDIA Sans Medium" panose="020B0503020203020204" pitchFamily="34" charset="0"/>
                <a:sym typeface="Arial"/>
              </a:rPr>
              <a:t>Prompt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E4A08-F008-0A4B-5952-A0908BE3FF33}"/>
              </a:ext>
            </a:extLst>
          </p:cNvPr>
          <p:cNvSpPr txBox="1"/>
          <p:nvPr/>
        </p:nvSpPr>
        <p:spPr>
          <a:xfrm>
            <a:off x="8964463" y="5993436"/>
            <a:ext cx="1495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 Medium" panose="020B0503020203020204" pitchFamily="34" charset="0"/>
                <a:cs typeface="NVIDIA Sans Medium" panose="020B0503020203020204" pitchFamily="34" charset="0"/>
                <a:sym typeface="Arial"/>
              </a:rPr>
              <a:t>Response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8D190B-AAEC-B6A4-F878-800C9BCE6B3B}"/>
              </a:ext>
            </a:extLst>
          </p:cNvPr>
          <p:cNvGrpSpPr/>
          <p:nvPr/>
        </p:nvGrpSpPr>
        <p:grpSpPr>
          <a:xfrm>
            <a:off x="10778799" y="9395501"/>
            <a:ext cx="2111842" cy="2325114"/>
            <a:chOff x="13462039" y="10258705"/>
            <a:chExt cx="2111842" cy="2325114"/>
          </a:xfrm>
        </p:grpSpPr>
        <p:pic>
          <p:nvPicPr>
            <p:cNvPr id="16" name="Picture 15" descr="A green and black logo&#10;&#10;Description automatically generated">
              <a:extLst>
                <a:ext uri="{FF2B5EF4-FFF2-40B4-BE49-F238E27FC236}">
                  <a16:creationId xmlns:a16="http://schemas.microsoft.com/office/drawing/2014/main" id="{FC86EC73-984F-7C26-3E88-884280D44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62039" y="10258705"/>
              <a:ext cx="2111842" cy="2111842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118AF7B-44A6-65CB-B32E-11B1D45B60AF}"/>
                </a:ext>
              </a:extLst>
            </p:cNvPr>
            <p:cNvSpPr/>
            <p:nvPr/>
          </p:nvSpPr>
          <p:spPr>
            <a:xfrm>
              <a:off x="13651384" y="11973003"/>
              <a:ext cx="1648371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Critique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EBECD2-0BDA-309D-7E3C-6E9C2ECF4A4C}"/>
              </a:ext>
            </a:extLst>
          </p:cNvPr>
          <p:cNvGrpSpPr/>
          <p:nvPr/>
        </p:nvGrpSpPr>
        <p:grpSpPr>
          <a:xfrm>
            <a:off x="19699372" y="9735971"/>
            <a:ext cx="1648371" cy="2076432"/>
            <a:chOff x="22198506" y="10517266"/>
            <a:chExt cx="1648371" cy="207643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0A3EB3-58A8-CECA-B00C-A20991F23498}"/>
                </a:ext>
              </a:extLst>
            </p:cNvPr>
            <p:cNvGrpSpPr/>
            <p:nvPr/>
          </p:nvGrpSpPr>
          <p:grpSpPr>
            <a:xfrm>
              <a:off x="22308501" y="10517266"/>
              <a:ext cx="1471570" cy="1408176"/>
              <a:chOff x="22308501" y="10517266"/>
              <a:chExt cx="1471570" cy="140817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03A2540-4268-9AE2-0C1B-0304ACBD63AE}"/>
                  </a:ext>
                </a:extLst>
              </p:cNvPr>
              <p:cNvSpPr/>
              <p:nvPr/>
            </p:nvSpPr>
            <p:spPr>
              <a:xfrm>
                <a:off x="22308501" y="10517266"/>
                <a:ext cx="1428383" cy="140817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D83E357-AE3E-EF2C-13FC-236359A49BC4}"/>
                  </a:ext>
                </a:extLst>
              </p:cNvPr>
              <p:cNvGrpSpPr/>
              <p:nvPr/>
            </p:nvGrpSpPr>
            <p:grpSpPr>
              <a:xfrm>
                <a:off x="22451760" y="10653469"/>
                <a:ext cx="1328311" cy="338554"/>
                <a:chOff x="22451760" y="10653469"/>
                <a:chExt cx="1328311" cy="338554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34398EA-36D9-D881-2D5C-33D2CC8A4550}"/>
                    </a:ext>
                  </a:extLst>
                </p:cNvPr>
                <p:cNvSpPr txBox="1"/>
                <p:nvPr/>
              </p:nvSpPr>
              <p:spPr>
                <a:xfrm>
                  <a:off x="22705610" y="10653469"/>
                  <a:ext cx="107446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NVIDIA Sans" panose="020B0503020203020204" pitchFamily="34" charset="0"/>
                      <a:sym typeface="Arial"/>
                    </a:rPr>
                    <a:t>Calculate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AA82ECB-AB5E-9065-BBD7-3E178C0498AE}"/>
                    </a:ext>
                  </a:extLst>
                </p:cNvPr>
                <p:cNvSpPr/>
                <p:nvPr/>
              </p:nvSpPr>
              <p:spPr>
                <a:xfrm>
                  <a:off x="22451760" y="10682230"/>
                  <a:ext cx="253850" cy="250257"/>
                </a:xfrm>
                <a:prstGeom prst="rect">
                  <a:avLst/>
                </a:prstGeom>
                <a:noFill/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  <a:sym typeface="Arial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B96DB84-74BB-49FA-5A0C-68F1FE14E1DA}"/>
                  </a:ext>
                </a:extLst>
              </p:cNvPr>
              <p:cNvGrpSpPr/>
              <p:nvPr/>
            </p:nvGrpSpPr>
            <p:grpSpPr>
              <a:xfrm>
                <a:off x="22451760" y="11060335"/>
                <a:ext cx="1101198" cy="338554"/>
                <a:chOff x="22451760" y="11024050"/>
                <a:chExt cx="1101198" cy="338554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5348128-4D72-DB78-ACF4-EBE2232FB7E1}"/>
                    </a:ext>
                  </a:extLst>
                </p:cNvPr>
                <p:cNvSpPr txBox="1"/>
                <p:nvPr/>
              </p:nvSpPr>
              <p:spPr>
                <a:xfrm>
                  <a:off x="22705610" y="11024050"/>
                  <a:ext cx="84734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NVIDIA Sans" panose="020B0503020203020204" pitchFamily="34" charset="0"/>
                      <a:sym typeface="Arial"/>
                    </a:rPr>
                    <a:t>Search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0167901-A8C9-7360-6805-245194F29437}"/>
                    </a:ext>
                  </a:extLst>
                </p:cNvPr>
                <p:cNvSpPr/>
                <p:nvPr/>
              </p:nvSpPr>
              <p:spPr>
                <a:xfrm>
                  <a:off x="22451760" y="11052811"/>
                  <a:ext cx="253850" cy="250257"/>
                </a:xfrm>
                <a:prstGeom prst="rect">
                  <a:avLst/>
                </a:prstGeom>
                <a:noFill/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  <a:sym typeface="Arial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3210B09-39BE-E343-7B5D-AF7336895636}"/>
                  </a:ext>
                </a:extLst>
              </p:cNvPr>
              <p:cNvGrpSpPr/>
              <p:nvPr/>
            </p:nvGrpSpPr>
            <p:grpSpPr>
              <a:xfrm>
                <a:off x="22451760" y="11467200"/>
                <a:ext cx="1320937" cy="338554"/>
                <a:chOff x="22451760" y="11467200"/>
                <a:chExt cx="1320937" cy="338554"/>
              </a:xfrm>
            </p:grpSpPr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16050E5-516F-FA02-1EC3-77B84558EF4A}"/>
                    </a:ext>
                  </a:extLst>
                </p:cNvPr>
                <p:cNvSpPr txBox="1"/>
                <p:nvPr/>
              </p:nvSpPr>
              <p:spPr>
                <a:xfrm>
                  <a:off x="22705610" y="11467200"/>
                  <a:ext cx="10670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NVIDIA Sans" panose="020B0503020203020204" pitchFamily="34" charset="0"/>
                      <a:sym typeface="Arial"/>
                    </a:rPr>
                    <a:t>Generate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DB1C3FA-3781-A65C-2A1B-1843243C9AFA}"/>
                    </a:ext>
                  </a:extLst>
                </p:cNvPr>
                <p:cNvSpPr/>
                <p:nvPr/>
              </p:nvSpPr>
              <p:spPr>
                <a:xfrm>
                  <a:off x="22451760" y="11495961"/>
                  <a:ext cx="253850" cy="250257"/>
                </a:xfrm>
                <a:prstGeom prst="rect">
                  <a:avLst/>
                </a:prstGeom>
                <a:noFill/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  <a:sym typeface="Arial"/>
                  </a:endParaRPr>
                </a:p>
              </p:txBody>
            </p:sp>
          </p:grp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14B576C-9E93-9057-0C3B-649318D671B4}"/>
                </a:ext>
              </a:extLst>
            </p:cNvPr>
            <p:cNvSpPr/>
            <p:nvPr/>
          </p:nvSpPr>
          <p:spPr>
            <a:xfrm>
              <a:off x="22198506" y="11982882"/>
              <a:ext cx="1648371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Plan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1AB7F4-B248-752C-2B9C-FA1C0731A679}"/>
              </a:ext>
            </a:extLst>
          </p:cNvPr>
          <p:cNvGrpSpPr/>
          <p:nvPr/>
        </p:nvGrpSpPr>
        <p:grpSpPr>
          <a:xfrm>
            <a:off x="15445524" y="13894296"/>
            <a:ext cx="1648371" cy="2076432"/>
            <a:chOff x="22198506" y="10517266"/>
            <a:chExt cx="1648371" cy="20764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12B99C4-CE1F-2DE2-3773-816900EEEE87}"/>
                </a:ext>
              </a:extLst>
            </p:cNvPr>
            <p:cNvGrpSpPr/>
            <p:nvPr/>
          </p:nvGrpSpPr>
          <p:grpSpPr>
            <a:xfrm>
              <a:off x="22308501" y="10517266"/>
              <a:ext cx="1471570" cy="1408176"/>
              <a:chOff x="22308501" y="10517266"/>
              <a:chExt cx="1471570" cy="1408176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7CEDD20-3F68-EC6F-9F6B-328C770068F9}"/>
                  </a:ext>
                </a:extLst>
              </p:cNvPr>
              <p:cNvSpPr/>
              <p:nvPr/>
            </p:nvSpPr>
            <p:spPr>
              <a:xfrm>
                <a:off x="22308501" y="10517266"/>
                <a:ext cx="1428383" cy="140817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endParaRP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7925CF0-CA76-649A-FF4F-A3C43953BF36}"/>
                  </a:ext>
                </a:extLst>
              </p:cNvPr>
              <p:cNvGrpSpPr/>
              <p:nvPr/>
            </p:nvGrpSpPr>
            <p:grpSpPr>
              <a:xfrm>
                <a:off x="22451760" y="10653469"/>
                <a:ext cx="1328311" cy="338554"/>
                <a:chOff x="22451760" y="10653469"/>
                <a:chExt cx="1328311" cy="338554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F3E727E-0348-E1F2-53EC-288747D9357A}"/>
                    </a:ext>
                  </a:extLst>
                </p:cNvPr>
                <p:cNvSpPr txBox="1"/>
                <p:nvPr/>
              </p:nvSpPr>
              <p:spPr>
                <a:xfrm>
                  <a:off x="22705610" y="10653469"/>
                  <a:ext cx="107446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CDCDCD"/>
                      </a:solidFill>
                      <a:effectLst/>
                      <a:uLnTx/>
                      <a:uFillTx/>
                      <a:latin typeface="Arial"/>
                      <a:cs typeface="NVIDIA Sans" panose="020B0503020203020204" pitchFamily="34" charset="0"/>
                      <a:sym typeface="Arial"/>
                    </a:rPr>
                    <a:t>Calculate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188DD35E-A3A1-23B1-A85D-65992A9782F6}"/>
                    </a:ext>
                  </a:extLst>
                </p:cNvPr>
                <p:cNvSpPr/>
                <p:nvPr/>
              </p:nvSpPr>
              <p:spPr>
                <a:xfrm>
                  <a:off x="22451760" y="10682230"/>
                  <a:ext cx="253850" cy="250257"/>
                </a:xfrm>
                <a:prstGeom prst="rect">
                  <a:avLst/>
                </a:prstGeom>
                <a:solidFill>
                  <a:schemeClr val="tx2"/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  <a:sym typeface="Arial"/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F61E1D8-1C09-0AA9-1DDA-D1A6FD08F4FC}"/>
                  </a:ext>
                </a:extLst>
              </p:cNvPr>
              <p:cNvGrpSpPr/>
              <p:nvPr/>
            </p:nvGrpSpPr>
            <p:grpSpPr>
              <a:xfrm>
                <a:off x="22451760" y="11060335"/>
                <a:ext cx="1101198" cy="338554"/>
                <a:chOff x="22451760" y="11024050"/>
                <a:chExt cx="1101198" cy="338554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C987D2-FB21-93C8-6141-44084A56DDB6}"/>
                    </a:ext>
                  </a:extLst>
                </p:cNvPr>
                <p:cNvSpPr txBox="1"/>
                <p:nvPr/>
              </p:nvSpPr>
              <p:spPr>
                <a:xfrm>
                  <a:off x="22705610" y="11024050"/>
                  <a:ext cx="84734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CDCDCD"/>
                      </a:solidFill>
                      <a:effectLst/>
                      <a:uLnTx/>
                      <a:uFillTx/>
                      <a:latin typeface="Arial"/>
                      <a:cs typeface="NVIDIA Sans" panose="020B0503020203020204" pitchFamily="34" charset="0"/>
                      <a:sym typeface="Arial"/>
                    </a:rPr>
                    <a:t>Search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B3DDAB-A2A4-773B-6A88-F0958AA66518}"/>
                    </a:ext>
                  </a:extLst>
                </p:cNvPr>
                <p:cNvSpPr/>
                <p:nvPr/>
              </p:nvSpPr>
              <p:spPr>
                <a:xfrm>
                  <a:off x="22451760" y="11052811"/>
                  <a:ext cx="253850" cy="250257"/>
                </a:xfrm>
                <a:prstGeom prst="rect">
                  <a:avLst/>
                </a:prstGeom>
                <a:solidFill>
                  <a:schemeClr val="tx2"/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  <a:sym typeface="Arial"/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1CB712A-2F5D-81AB-F9AA-BBE74D6BA3B9}"/>
                  </a:ext>
                </a:extLst>
              </p:cNvPr>
              <p:cNvGrpSpPr/>
              <p:nvPr/>
            </p:nvGrpSpPr>
            <p:grpSpPr>
              <a:xfrm>
                <a:off x="22451760" y="11467200"/>
                <a:ext cx="1320937" cy="338554"/>
                <a:chOff x="22451760" y="11467200"/>
                <a:chExt cx="1320937" cy="338554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BD73C8-4821-0E46-C028-3ED9EA975FA0}"/>
                    </a:ext>
                  </a:extLst>
                </p:cNvPr>
                <p:cNvSpPr txBox="1"/>
                <p:nvPr/>
              </p:nvSpPr>
              <p:spPr>
                <a:xfrm>
                  <a:off x="22705610" y="11467200"/>
                  <a:ext cx="10670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CDCDCD"/>
                      </a:solidFill>
                      <a:effectLst/>
                      <a:uLnTx/>
                      <a:uFillTx/>
                      <a:latin typeface="Arial"/>
                      <a:cs typeface="NVIDIA Sans" panose="020B0503020203020204" pitchFamily="34" charset="0"/>
                      <a:sym typeface="Arial"/>
                    </a:rPr>
                    <a:t>Generate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6D1E8530-8554-1C9B-FB56-EE986E8DAFF6}"/>
                    </a:ext>
                  </a:extLst>
                </p:cNvPr>
                <p:cNvSpPr/>
                <p:nvPr/>
              </p:nvSpPr>
              <p:spPr>
                <a:xfrm>
                  <a:off x="22451760" y="11495961"/>
                  <a:ext cx="253850" cy="250257"/>
                </a:xfrm>
                <a:prstGeom prst="rect">
                  <a:avLst/>
                </a:prstGeom>
                <a:solidFill>
                  <a:schemeClr val="tx2"/>
                </a:solidFill>
                <a:ln w="1905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VIDIA Sans" panose="020B0503020203020204" pitchFamily="34" charset="0"/>
                    <a:ea typeface="+mn-ea"/>
                    <a:cs typeface="NVIDIA Sans" panose="020B0503020203020204" pitchFamily="34" charset="0"/>
                    <a:sym typeface="Arial"/>
                  </a:endParaRPr>
                </a:p>
              </p:txBody>
            </p:sp>
          </p:grp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8963B77-B805-2E96-1B6D-912A449C912C}"/>
                </a:ext>
              </a:extLst>
            </p:cNvPr>
            <p:cNvSpPr/>
            <p:nvPr/>
          </p:nvSpPr>
          <p:spPr>
            <a:xfrm>
              <a:off x="22198506" y="11982882"/>
              <a:ext cx="1648371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endParaRP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2182D1D-217B-101F-F251-BD65A3D91941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12616515" y="16158139"/>
            <a:ext cx="3388092" cy="0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Arc 45">
            <a:extLst>
              <a:ext uri="{FF2B5EF4-FFF2-40B4-BE49-F238E27FC236}">
                <a16:creationId xmlns:a16="http://schemas.microsoft.com/office/drawing/2014/main" id="{9745073D-1A5E-A946-D5A4-F8E1C0FB325A}"/>
              </a:ext>
            </a:extLst>
          </p:cNvPr>
          <p:cNvSpPr/>
          <p:nvPr/>
        </p:nvSpPr>
        <p:spPr>
          <a:xfrm rot="5400000">
            <a:off x="15778841" y="15686651"/>
            <a:ext cx="451531" cy="491444"/>
          </a:xfrm>
          <a:prstGeom prst="arc">
            <a:avLst/>
          </a:prstGeom>
          <a:ln w="25400">
            <a:solidFill>
              <a:schemeClr val="bg1"/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8200E91-A9B5-1357-5F35-91F8B7BA555C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16496051" y="16158139"/>
            <a:ext cx="3392424" cy="0"/>
          </a:xfrm>
          <a:prstGeom prst="straightConnector1">
            <a:avLst/>
          </a:prstGeom>
          <a:ln w="2540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c 47">
            <a:extLst>
              <a:ext uri="{FF2B5EF4-FFF2-40B4-BE49-F238E27FC236}">
                <a16:creationId xmlns:a16="http://schemas.microsoft.com/office/drawing/2014/main" id="{1A857EB5-8937-CFC1-46EA-C1E8373D57A5}"/>
              </a:ext>
            </a:extLst>
          </p:cNvPr>
          <p:cNvSpPr/>
          <p:nvPr/>
        </p:nvSpPr>
        <p:spPr>
          <a:xfrm rot="16200000" flipH="1">
            <a:off x="16270285" y="15686651"/>
            <a:ext cx="451531" cy="491444"/>
          </a:xfrm>
          <a:prstGeom prst="arc">
            <a:avLst/>
          </a:prstGeom>
          <a:ln w="25400">
            <a:solidFill>
              <a:schemeClr val="bg1"/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C174017-6DEF-E0BB-F3D8-D48DBBDBB01C}"/>
              </a:ext>
            </a:extLst>
          </p:cNvPr>
          <p:cNvSpPr/>
          <p:nvPr/>
        </p:nvSpPr>
        <p:spPr>
          <a:xfrm>
            <a:off x="14136469" y="18327201"/>
            <a:ext cx="4379976" cy="610816"/>
          </a:xfrm>
          <a:prstGeom prst="rect">
            <a:avLst/>
          </a:prstGeom>
          <a:noFill/>
          <a:ln w="12700"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t>Retrieve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t>Information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23BC5BCD-F285-002D-E999-6567FE5C8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683532" y="16925953"/>
            <a:ext cx="1280160" cy="1280160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179F8F44-ACFF-B4DC-EA0C-7B88465595DE}"/>
              </a:ext>
            </a:extLst>
          </p:cNvPr>
          <p:cNvSpPr/>
          <p:nvPr/>
        </p:nvSpPr>
        <p:spPr>
          <a:xfrm>
            <a:off x="27635891" y="10869014"/>
            <a:ext cx="4379976" cy="610816"/>
          </a:xfrm>
          <a:prstGeom prst="rect">
            <a:avLst/>
          </a:prstGeom>
          <a:noFill/>
          <a:ln w="12700"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t>Evaluation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B7BA813-F224-F9AD-B1B9-2C611DAAE6DE}"/>
              </a:ext>
            </a:extLst>
          </p:cNvPr>
          <p:cNvSpPr/>
          <p:nvPr/>
        </p:nvSpPr>
        <p:spPr>
          <a:xfrm>
            <a:off x="13630124" y="4544975"/>
            <a:ext cx="5020441" cy="5066474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>
            <a:glow rad="101600">
              <a:schemeClr val="tx2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4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5FE1BF75-1D10-A78F-6432-0337E5E46581}"/>
              </a:ext>
            </a:extLst>
          </p:cNvPr>
          <p:cNvSpPr/>
          <p:nvPr/>
        </p:nvSpPr>
        <p:spPr>
          <a:xfrm rot="16200000">
            <a:off x="16153617" y="15723675"/>
            <a:ext cx="345681" cy="152262"/>
          </a:xfrm>
          <a:custGeom>
            <a:avLst/>
            <a:gdLst>
              <a:gd name="connsiteX0" fmla="*/ 0 w 3285066"/>
              <a:gd name="connsiteY0" fmla="*/ 0 h 0"/>
              <a:gd name="connsiteX1" fmla="*/ 3285066 w 32850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5066">
                <a:moveTo>
                  <a:pt x="0" y="0"/>
                </a:moveTo>
                <a:lnTo>
                  <a:pt x="3285066" y="0"/>
                </a:lnTo>
              </a:path>
            </a:pathLst>
          </a:custGeom>
          <a:noFill/>
          <a:ln w="25400">
            <a:solidFill>
              <a:schemeClr val="bg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487DEB-A54F-015B-8495-B65C47B3FF63}"/>
              </a:ext>
            </a:extLst>
          </p:cNvPr>
          <p:cNvGrpSpPr/>
          <p:nvPr/>
        </p:nvGrpSpPr>
        <p:grpSpPr>
          <a:xfrm>
            <a:off x="10493755" y="16894235"/>
            <a:ext cx="4379976" cy="2012064"/>
            <a:chOff x="793944" y="4779385"/>
            <a:chExt cx="4379976" cy="2012064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D8B5F57-A1AD-9B39-E374-CBBF6824CFED}"/>
                </a:ext>
              </a:extLst>
            </p:cNvPr>
            <p:cNvSpPr/>
            <p:nvPr/>
          </p:nvSpPr>
          <p:spPr>
            <a:xfrm>
              <a:off x="793944" y="6180633"/>
              <a:ext cx="4379976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Use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Tools</a:t>
              </a:r>
            </a:p>
          </p:txBody>
        </p:sp>
        <p:pic>
          <p:nvPicPr>
            <p:cNvPr id="62" name="Graphic 7">
              <a:extLst>
                <a:ext uri="{FF2B5EF4-FFF2-40B4-BE49-F238E27FC236}">
                  <a16:creationId xmlns:a16="http://schemas.microsoft.com/office/drawing/2014/main" id="{23DBBD0E-1E8A-C698-9B0F-74D18AD57A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41007" y="4779385"/>
              <a:ext cx="1280160" cy="1280160"/>
            </a:xfrm>
            <a:prstGeom prst="rect">
              <a:avLst/>
            </a:prstGeom>
          </p:spPr>
        </p:pic>
      </p:grpSp>
      <p:sp>
        <p:nvSpPr>
          <p:cNvPr id="66" name="Arc 65">
            <a:extLst>
              <a:ext uri="{FF2B5EF4-FFF2-40B4-BE49-F238E27FC236}">
                <a16:creationId xmlns:a16="http://schemas.microsoft.com/office/drawing/2014/main" id="{185CD369-D67B-FC2E-47D1-395AEFD97AFC}"/>
              </a:ext>
            </a:extLst>
          </p:cNvPr>
          <p:cNvSpPr/>
          <p:nvPr/>
        </p:nvSpPr>
        <p:spPr>
          <a:xfrm rot="16200000" flipV="1">
            <a:off x="19660214" y="16136097"/>
            <a:ext cx="451531" cy="491444"/>
          </a:xfrm>
          <a:prstGeom prst="arc">
            <a:avLst/>
          </a:prstGeom>
          <a:ln w="25400">
            <a:solidFill>
              <a:schemeClr val="bg1"/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63AB5FB8-8261-FD6B-AEAC-9B7F905B7950}"/>
              </a:ext>
            </a:extLst>
          </p:cNvPr>
          <p:cNvSpPr/>
          <p:nvPr/>
        </p:nvSpPr>
        <p:spPr>
          <a:xfrm rot="5400000" flipH="1" flipV="1">
            <a:off x="12415941" y="16138182"/>
            <a:ext cx="451531" cy="491444"/>
          </a:xfrm>
          <a:prstGeom prst="arc">
            <a:avLst/>
          </a:prstGeom>
          <a:ln w="25400">
            <a:solidFill>
              <a:schemeClr val="bg1"/>
            </a:solidFill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A8F042E-9928-4B2C-F6D4-B5F0B2132C78}"/>
              </a:ext>
            </a:extLst>
          </p:cNvPr>
          <p:cNvSpPr/>
          <p:nvPr/>
        </p:nvSpPr>
        <p:spPr>
          <a:xfrm>
            <a:off x="13657387" y="4582983"/>
            <a:ext cx="5020441" cy="5020441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  <a:scene3d>
            <a:camera prst="orthographicFront"/>
            <a:lightRig rig="soft" dir="t">
              <a:rot lat="0" lon="0" rev="20400000"/>
            </a:lightRig>
          </a:scene3d>
          <a:sp3d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69" name="Picture 68" descr="A cartoon of a person wearing glasses&#10;&#10;Description automatically generated">
            <a:extLst>
              <a:ext uri="{FF2B5EF4-FFF2-40B4-BE49-F238E27FC236}">
                <a16:creationId xmlns:a16="http://schemas.microsoft.com/office/drawing/2014/main" id="{DEB1F94C-60A8-37DB-8568-98FE8FC2563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435" r="20356"/>
          <a:stretch/>
        </p:blipFill>
        <p:spPr>
          <a:xfrm>
            <a:off x="13688243" y="4596466"/>
            <a:ext cx="5016848" cy="5020440"/>
          </a:xfrm>
          <a:prstGeom prst="ellipse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18BD3BCD-7853-64F6-58CB-221551E7C6EF}"/>
              </a:ext>
            </a:extLst>
          </p:cNvPr>
          <p:cNvGrpSpPr/>
          <p:nvPr/>
        </p:nvGrpSpPr>
        <p:grpSpPr>
          <a:xfrm>
            <a:off x="13948485" y="9220726"/>
            <a:ext cx="4379976" cy="2091983"/>
            <a:chOff x="9249562" y="4699466"/>
            <a:chExt cx="4379976" cy="2091983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22E58A0-83B8-0B6A-56DB-7F1F7554A5A9}"/>
                </a:ext>
              </a:extLst>
            </p:cNvPr>
            <p:cNvSpPr/>
            <p:nvPr/>
          </p:nvSpPr>
          <p:spPr>
            <a:xfrm>
              <a:off x="9249562" y="6180633"/>
              <a:ext cx="4379976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LLM</a:t>
              </a:r>
            </a:p>
          </p:txBody>
        </p:sp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0786A5CE-3A26-2B10-D776-B7E1F752CC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794813" y="4699466"/>
              <a:ext cx="1283450" cy="1497358"/>
            </a:xfrm>
            <a:prstGeom prst="rect">
              <a:avLst/>
            </a:prstGeom>
          </p:spPr>
        </p:pic>
      </p:grpSp>
      <p:sp>
        <p:nvSpPr>
          <p:cNvPr id="73" name="Arc 72">
            <a:extLst>
              <a:ext uri="{FF2B5EF4-FFF2-40B4-BE49-F238E27FC236}">
                <a16:creationId xmlns:a16="http://schemas.microsoft.com/office/drawing/2014/main" id="{BB219C34-D688-79D6-6B56-5517686A0C46}"/>
              </a:ext>
            </a:extLst>
          </p:cNvPr>
          <p:cNvSpPr/>
          <p:nvPr/>
        </p:nvSpPr>
        <p:spPr>
          <a:xfrm rot="6356516">
            <a:off x="18192916" y="9090206"/>
            <a:ext cx="1902490" cy="1902490"/>
          </a:xfrm>
          <a:prstGeom prst="arc">
            <a:avLst>
              <a:gd name="adj1" fmla="val 18400379"/>
              <a:gd name="adj2" fmla="val 13844800"/>
            </a:avLst>
          </a:prstGeom>
          <a:ln w="44450">
            <a:solidFill>
              <a:schemeClr val="accent5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ADF8327-A868-FAAC-54F8-0107A7C4B587}"/>
              </a:ext>
            </a:extLst>
          </p:cNvPr>
          <p:cNvGrpSpPr/>
          <p:nvPr/>
        </p:nvGrpSpPr>
        <p:grpSpPr>
          <a:xfrm>
            <a:off x="17968228" y="16894235"/>
            <a:ext cx="4379976" cy="2091983"/>
            <a:chOff x="9249562" y="4699466"/>
            <a:chExt cx="4379976" cy="209198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4D088C4-0B14-E0D6-3E79-9DD646B6EC4A}"/>
                </a:ext>
              </a:extLst>
            </p:cNvPr>
            <p:cNvSpPr/>
            <p:nvPr/>
          </p:nvSpPr>
          <p:spPr>
            <a:xfrm>
              <a:off x="9249562" y="6180633"/>
              <a:ext cx="4379976" cy="610816"/>
            </a:xfrm>
            <a:prstGeom prst="rect">
              <a:avLst/>
            </a:prstGeom>
            <a:noFill/>
            <a:ln w="12700"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Use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NVIDIA Sans" panose="020B0503020203020204" pitchFamily="34" charset="0"/>
                  <a:ea typeface="+mn-ea"/>
                  <a:cs typeface="NVIDIA Sans" panose="020B0503020203020204" pitchFamily="34" charset="0"/>
                  <a:sym typeface="Arial"/>
                </a:rPr>
                <a:t> LLMs</a:t>
              </a: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D98FEC70-7CB2-F99B-EF18-88E09E2B45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794813" y="4699466"/>
              <a:ext cx="1283450" cy="1497358"/>
            </a:xfrm>
            <a:prstGeom prst="rect">
              <a:avLst/>
            </a:prstGeom>
          </p:spPr>
        </p:pic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A775B8D0-0DEF-1C6B-A103-9B819B01A10E}"/>
              </a:ext>
            </a:extLst>
          </p:cNvPr>
          <p:cNvSpPr/>
          <p:nvPr/>
        </p:nvSpPr>
        <p:spPr>
          <a:xfrm>
            <a:off x="10990406" y="16526365"/>
            <a:ext cx="10312400" cy="3026615"/>
          </a:xfrm>
          <a:prstGeom prst="rect">
            <a:avLst/>
          </a:prstGeom>
          <a:noFill/>
          <a:ln w="31750">
            <a:solidFill>
              <a:schemeClr val="accent2">
                <a:lumMod val="40000"/>
                <a:lumOff val="6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149FB20-EFD3-D74C-9B0C-EB2E15F156D9}"/>
              </a:ext>
            </a:extLst>
          </p:cNvPr>
          <p:cNvGrpSpPr/>
          <p:nvPr/>
        </p:nvGrpSpPr>
        <p:grpSpPr>
          <a:xfrm rot="5400000">
            <a:off x="17466700" y="9002936"/>
            <a:ext cx="10209073" cy="903062"/>
            <a:chOff x="22167873" y="15859007"/>
            <a:chExt cx="7735717" cy="903062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6CC81AA-2A5D-451E-A7E1-045DE191847D}"/>
                </a:ext>
              </a:extLst>
            </p:cNvPr>
            <p:cNvCxnSpPr>
              <a:cxnSpLocks/>
              <a:stCxn id="87" idx="2"/>
            </p:cNvCxnSpPr>
            <p:nvPr/>
          </p:nvCxnSpPr>
          <p:spPr>
            <a:xfrm flipH="1">
              <a:off x="22388403" y="16310539"/>
              <a:ext cx="3388092" cy="0"/>
            </a:xfrm>
            <a:prstGeom prst="straightConnector1">
              <a:avLst/>
            </a:prstGeom>
            <a:ln w="25400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D908CD4D-7775-C37A-E4E9-1258300C49E5}"/>
                </a:ext>
              </a:extLst>
            </p:cNvPr>
            <p:cNvSpPr/>
            <p:nvPr/>
          </p:nvSpPr>
          <p:spPr>
            <a:xfrm rot="5400000">
              <a:off x="25550729" y="15839051"/>
              <a:ext cx="451531" cy="491444"/>
            </a:xfrm>
            <a:prstGeom prst="arc">
              <a:avLst/>
            </a:prstGeom>
            <a:ln w="25400">
              <a:solidFill>
                <a:schemeClr val="accent2">
                  <a:lumMod val="40000"/>
                  <a:lumOff val="60000"/>
                </a:schemeClr>
              </a:solidFill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6E410A28-74DC-7BE3-AF0F-CA55026BAB49}"/>
                </a:ext>
              </a:extLst>
            </p:cNvPr>
            <p:cNvCxnSpPr>
              <a:cxnSpLocks/>
              <a:stCxn id="89" idx="2"/>
            </p:cNvCxnSpPr>
            <p:nvPr/>
          </p:nvCxnSpPr>
          <p:spPr>
            <a:xfrm>
              <a:off x="26267939" y="16310539"/>
              <a:ext cx="3392424" cy="0"/>
            </a:xfrm>
            <a:prstGeom prst="straightConnector1">
              <a:avLst/>
            </a:prstGeom>
            <a:ln w="25400">
              <a:solidFill>
                <a:schemeClr val="accent2">
                  <a:lumMod val="40000"/>
                  <a:lumOff val="6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0B3E408A-79E4-C6DD-D33A-0ACA2BD3FC4D}"/>
                </a:ext>
              </a:extLst>
            </p:cNvPr>
            <p:cNvSpPr/>
            <p:nvPr/>
          </p:nvSpPr>
          <p:spPr>
            <a:xfrm rot="16200000" flipH="1">
              <a:off x="26042173" y="15839051"/>
              <a:ext cx="451531" cy="491444"/>
            </a:xfrm>
            <a:prstGeom prst="arc">
              <a:avLst/>
            </a:prstGeom>
            <a:ln w="25400">
              <a:solidFill>
                <a:schemeClr val="accent2">
                  <a:lumMod val="40000"/>
                  <a:lumOff val="60000"/>
                </a:schemeClr>
              </a:solidFill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61EEC9E9-E427-8400-9292-E478C885762F}"/>
                </a:ext>
              </a:extLst>
            </p:cNvPr>
            <p:cNvSpPr/>
            <p:nvPr/>
          </p:nvSpPr>
          <p:spPr>
            <a:xfrm rot="16200000" flipV="1">
              <a:off x="29432102" y="16288497"/>
              <a:ext cx="451531" cy="491444"/>
            </a:xfrm>
            <a:prstGeom prst="arc">
              <a:avLst/>
            </a:prstGeom>
            <a:ln w="25400">
              <a:solidFill>
                <a:schemeClr val="accent2">
                  <a:lumMod val="40000"/>
                  <a:lumOff val="60000"/>
                </a:schemeClr>
              </a:solidFill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757AF577-61ED-D7E6-EE6A-7DEA6641F782}"/>
                </a:ext>
              </a:extLst>
            </p:cNvPr>
            <p:cNvSpPr/>
            <p:nvPr/>
          </p:nvSpPr>
          <p:spPr>
            <a:xfrm rot="5400000" flipH="1" flipV="1">
              <a:off x="22187829" y="16290582"/>
              <a:ext cx="451531" cy="491444"/>
            </a:xfrm>
            <a:prstGeom prst="arc">
              <a:avLst/>
            </a:prstGeom>
            <a:ln w="25400">
              <a:solidFill>
                <a:schemeClr val="accent2">
                  <a:lumMod val="40000"/>
                  <a:lumOff val="60000"/>
                </a:schemeClr>
              </a:solidFill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93" name="Freeform 92">
            <a:extLst>
              <a:ext uri="{FF2B5EF4-FFF2-40B4-BE49-F238E27FC236}">
                <a16:creationId xmlns:a16="http://schemas.microsoft.com/office/drawing/2014/main" id="{A48C55FF-7550-4B9B-CB6A-4BE45E9F0BF9}"/>
              </a:ext>
            </a:extLst>
          </p:cNvPr>
          <p:cNvSpPr/>
          <p:nvPr/>
        </p:nvSpPr>
        <p:spPr>
          <a:xfrm>
            <a:off x="22797001" y="9437528"/>
            <a:ext cx="6039536" cy="45719"/>
          </a:xfrm>
          <a:custGeom>
            <a:avLst/>
            <a:gdLst>
              <a:gd name="connsiteX0" fmla="*/ 0 w 3285066"/>
              <a:gd name="connsiteY0" fmla="*/ 0 h 0"/>
              <a:gd name="connsiteX1" fmla="*/ 3285066 w 32850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5066">
                <a:moveTo>
                  <a:pt x="0" y="0"/>
                </a:moveTo>
                <a:lnTo>
                  <a:pt x="3285066" y="0"/>
                </a:lnTo>
              </a:path>
            </a:pathLst>
          </a:custGeom>
          <a:noFill/>
          <a:ln w="25400">
            <a:solidFill>
              <a:schemeClr val="accent2">
                <a:lumMod val="40000"/>
                <a:lumOff val="60000"/>
              </a:schemeClr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0C969B0B-F87F-5442-5985-5D97CE9938EB}"/>
              </a:ext>
            </a:extLst>
          </p:cNvPr>
          <p:cNvCxnSpPr>
            <a:cxnSpLocks/>
            <a:stCxn id="80" idx="3"/>
            <a:endCxn id="99" idx="2"/>
          </p:cNvCxnSpPr>
          <p:nvPr/>
        </p:nvCxnSpPr>
        <p:spPr>
          <a:xfrm flipV="1">
            <a:off x="21302806" y="11479830"/>
            <a:ext cx="8523073" cy="6559843"/>
          </a:xfrm>
          <a:prstGeom prst="bentConnector2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97" descr="A yellow square with a white circle and a black background&#10;&#10;AI-generated content may be incorrect.">
            <a:extLst>
              <a:ext uri="{FF2B5EF4-FFF2-40B4-BE49-F238E27FC236}">
                <a16:creationId xmlns:a16="http://schemas.microsoft.com/office/drawing/2014/main" id="{03F4C003-524A-79CF-D667-53F2FCBDE4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79928" y="7932557"/>
            <a:ext cx="3091902" cy="3091902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1002653A-5702-8AA1-3DC7-47016BD7137E}"/>
              </a:ext>
            </a:extLst>
          </p:cNvPr>
          <p:cNvSpPr/>
          <p:nvPr/>
        </p:nvSpPr>
        <p:spPr>
          <a:xfrm>
            <a:off x="24886746" y="9138403"/>
            <a:ext cx="2424577" cy="68020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t>System Level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D16C042-96E2-C650-DADC-80C6015E67CC}"/>
              </a:ext>
            </a:extLst>
          </p:cNvPr>
          <p:cNvSpPr/>
          <p:nvPr/>
        </p:nvSpPr>
        <p:spPr>
          <a:xfrm>
            <a:off x="24886745" y="17810176"/>
            <a:ext cx="2424577" cy="68020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t>Component Level</a:t>
            </a:r>
          </a:p>
        </p:txBody>
      </p:sp>
    </p:spTree>
    <p:extLst>
      <p:ext uri="{BB962C8B-B14F-4D97-AF65-F5344CB8AC3E}">
        <p14:creationId xmlns:p14="http://schemas.microsoft.com/office/powerpoint/2010/main" val="338150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59228-730C-270D-7962-4CDD5CFB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FB03-A0EC-E758-887C-2A44C940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Accelerate Agentic AI Evaluation with </a:t>
            </a:r>
            <a:r>
              <a:rPr lang="en-US" err="1"/>
              <a:t>NeMo</a:t>
            </a:r>
            <a:r>
              <a:rPr lang="en-US"/>
              <a:t> Evaluator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34304-44FE-95AF-B847-1E6479433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487168"/>
            <a:ext cx="36576000" cy="1407600"/>
          </a:xfrm>
        </p:spPr>
        <p:txBody>
          <a:bodyPr/>
          <a:lstStyle/>
          <a:p>
            <a:r>
              <a:rPr lang="en-US"/>
              <a:t>API-driven evaluation that can be easily integrated into your CI/CD pipelines.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AB4266A-79FB-2F01-922C-00CE9C2E306A}"/>
              </a:ext>
            </a:extLst>
          </p:cNvPr>
          <p:cNvGrpSpPr/>
          <p:nvPr/>
        </p:nvGrpSpPr>
        <p:grpSpPr>
          <a:xfrm>
            <a:off x="616134" y="4188681"/>
            <a:ext cx="15186401" cy="14053821"/>
            <a:chOff x="1203960" y="4188681"/>
            <a:chExt cx="15186401" cy="14053821"/>
          </a:xfrm>
        </p:grpSpPr>
        <p:pic>
          <p:nvPicPr>
            <p:cNvPr id="4" name="Google Shape;2328;p6">
              <a:extLst>
                <a:ext uri="{FF2B5EF4-FFF2-40B4-BE49-F238E27FC236}">
                  <a16:creationId xmlns:a16="http://schemas.microsoft.com/office/drawing/2014/main" id="{8D441AD6-B3AD-7392-F621-5952C8ABEAD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659" t="6476" r="8235" b="7854"/>
            <a:stretch/>
          </p:blipFill>
          <p:spPr>
            <a:xfrm>
              <a:off x="1203963" y="4188681"/>
              <a:ext cx="1691633" cy="1691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30F39D-A8D9-3BA3-0CF5-F1B196602D2B}"/>
                </a:ext>
              </a:extLst>
            </p:cNvPr>
            <p:cNvSpPr txBox="1"/>
            <p:nvPr/>
          </p:nvSpPr>
          <p:spPr>
            <a:xfrm>
              <a:off x="3269451" y="4988088"/>
              <a:ext cx="1006090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Parallelized evaluation with multiple NIM endpoints for custom LLM-as-a-Judge </a:t>
              </a:r>
            </a:p>
          </p:txBody>
        </p:sp>
        <p:pic>
          <p:nvPicPr>
            <p:cNvPr id="6" name="Picture 5" descr="A green hexagons with text&#10;&#10;AI-generated content may be incorrect.">
              <a:extLst>
                <a:ext uri="{FF2B5EF4-FFF2-40B4-BE49-F238E27FC236}">
                  <a16:creationId xmlns:a16="http://schemas.microsoft.com/office/drawing/2014/main" id="{022B8635-56B0-EFF9-C2C0-DCBF97663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962" y="7279227"/>
              <a:ext cx="1691633" cy="169163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34D3BB-FA4C-59A3-4B0B-CCFD7E741F55}"/>
                </a:ext>
              </a:extLst>
            </p:cNvPr>
            <p:cNvSpPr txBox="1"/>
            <p:nvPr/>
          </p:nvSpPr>
          <p:spPr>
            <a:xfrm>
              <a:off x="3269453" y="7232183"/>
              <a:ext cx="6837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Faster Time-to-Market</a:t>
              </a:r>
            </a:p>
          </p:txBody>
        </p:sp>
        <p:pic>
          <p:nvPicPr>
            <p:cNvPr id="8" name="Picture 7" descr="A green logo with arrows&#10;&#10;AI-generated content may be incorrect.">
              <a:extLst>
                <a:ext uri="{FF2B5EF4-FFF2-40B4-BE49-F238E27FC236}">
                  <a16:creationId xmlns:a16="http://schemas.microsoft.com/office/drawing/2014/main" id="{D42DC759-ABAE-657B-DEA8-06ADDC09B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3961" y="10369773"/>
              <a:ext cx="1691633" cy="1691633"/>
            </a:xfrm>
            <a:prstGeom prst="rect">
              <a:avLst/>
            </a:prstGeom>
          </p:spPr>
        </p:pic>
        <p:pic>
          <p:nvPicPr>
            <p:cNvPr id="10" name="Picture 9" descr="A green outline of a lock in a hexagon shape&#10;&#10;AI-generated content may be incorrect.">
              <a:extLst>
                <a:ext uri="{FF2B5EF4-FFF2-40B4-BE49-F238E27FC236}">
                  <a16:creationId xmlns:a16="http://schemas.microsoft.com/office/drawing/2014/main" id="{D47041C5-CDF5-3E4A-06D5-4F53619FD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03961" y="16550868"/>
              <a:ext cx="1691634" cy="169163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B85238-F1E1-F4A1-702E-5229A05A023C}"/>
                </a:ext>
              </a:extLst>
            </p:cNvPr>
            <p:cNvSpPr txBox="1"/>
            <p:nvPr/>
          </p:nvSpPr>
          <p:spPr>
            <a:xfrm>
              <a:off x="3269456" y="4397268"/>
              <a:ext cx="68371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Accelerated Evaluation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A0D642-C749-F6D5-995A-4B75E0741F87}"/>
                </a:ext>
              </a:extLst>
            </p:cNvPr>
            <p:cNvSpPr txBox="1"/>
            <p:nvPr/>
          </p:nvSpPr>
          <p:spPr>
            <a:xfrm>
              <a:off x="3269453" y="10465816"/>
              <a:ext cx="90836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Comprehensive Suite of Options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DA3336-7CDE-162B-2B31-E6170093AB9E}"/>
                </a:ext>
              </a:extLst>
            </p:cNvPr>
            <p:cNvSpPr txBox="1"/>
            <p:nvPr/>
          </p:nvSpPr>
          <p:spPr>
            <a:xfrm>
              <a:off x="3269454" y="16832840"/>
              <a:ext cx="777731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Enterprise-Grade Containers</a:t>
              </a:r>
            </a:p>
          </p:txBody>
        </p:sp>
        <p:pic>
          <p:nvPicPr>
            <p:cNvPr id="16" name="Picture 14">
              <a:extLst>
                <a:ext uri="{FF2B5EF4-FFF2-40B4-BE49-F238E27FC236}">
                  <a16:creationId xmlns:a16="http://schemas.microsoft.com/office/drawing/2014/main" id="{237C2E5D-5B20-88A1-F320-6ADFD13D56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3960" y="13460319"/>
              <a:ext cx="1691634" cy="1691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E4EA35-77A6-62D6-9C95-B1B7C4F70D22}"/>
                </a:ext>
              </a:extLst>
            </p:cNvPr>
            <p:cNvSpPr txBox="1"/>
            <p:nvPr/>
          </p:nvSpPr>
          <p:spPr>
            <a:xfrm>
              <a:off x="3269454" y="13702293"/>
              <a:ext cx="777731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Run Anywhere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936B33-0779-1566-0085-4568FEC12A42}"/>
                </a:ext>
              </a:extLst>
            </p:cNvPr>
            <p:cNvSpPr txBox="1"/>
            <p:nvPr/>
          </p:nvSpPr>
          <p:spPr>
            <a:xfrm>
              <a:off x="3269451" y="7822315"/>
              <a:ext cx="971278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Rapid iterations with API driven integration in CI/CD pipelines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6812DB-55F4-959B-3D7F-7803D8596E1A}"/>
                </a:ext>
              </a:extLst>
            </p:cNvPr>
            <p:cNvSpPr txBox="1"/>
            <p:nvPr/>
          </p:nvSpPr>
          <p:spPr>
            <a:xfrm>
              <a:off x="3269451" y="11115704"/>
              <a:ext cx="996763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LLM-as-a-Judge, academic benchmarks, similarity metrics and retrieval metrics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3F7C9C-AAE0-2D1E-F8F9-266B7EAE4F49}"/>
                </a:ext>
              </a:extLst>
            </p:cNvPr>
            <p:cNvSpPr txBox="1"/>
            <p:nvPr/>
          </p:nvSpPr>
          <p:spPr>
            <a:xfrm>
              <a:off x="3269449" y="17478910"/>
              <a:ext cx="131209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Secure, stable and supported software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EE2610-83B5-CCF0-4F04-B26BDCD380CC}"/>
                </a:ext>
              </a:extLst>
            </p:cNvPr>
            <p:cNvSpPr txBox="1"/>
            <p:nvPr/>
          </p:nvSpPr>
          <p:spPr>
            <a:xfrm>
              <a:off x="3280258" y="14447392"/>
              <a:ext cx="970198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VIDIA Sans" panose="020B0503020203020204" pitchFamily="34" charset="0"/>
                  <a:cs typeface="NVIDIA Sans" panose="020B0503020203020204" pitchFamily="34" charset="0"/>
                  <a:sym typeface="Arial"/>
                </a:rPr>
                <a:t>Provides higher security, privacy and flexibility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C28660-FC1E-6A05-AC9F-4C8D7A015FBE}"/>
              </a:ext>
            </a:extLst>
          </p:cNvPr>
          <p:cNvCxnSpPr>
            <a:cxnSpLocks/>
          </p:cNvCxnSpPr>
          <p:nvPr/>
        </p:nvCxnSpPr>
        <p:spPr>
          <a:xfrm>
            <a:off x="12938765" y="4271454"/>
            <a:ext cx="0" cy="1483994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Google Shape;2439;p13">
            <a:extLst>
              <a:ext uri="{FF2B5EF4-FFF2-40B4-BE49-F238E27FC236}">
                <a16:creationId xmlns:a16="http://schemas.microsoft.com/office/drawing/2014/main" id="{D30E83D2-4C8F-5EBF-1C20-9A768FE92C52}"/>
              </a:ext>
            </a:extLst>
          </p:cNvPr>
          <p:cNvSpPr/>
          <p:nvPr/>
        </p:nvSpPr>
        <p:spPr>
          <a:xfrm>
            <a:off x="14058008" y="5225146"/>
            <a:ext cx="10404474" cy="1358430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2457;p13">
            <a:extLst>
              <a:ext uri="{FF2B5EF4-FFF2-40B4-BE49-F238E27FC236}">
                <a16:creationId xmlns:a16="http://schemas.microsoft.com/office/drawing/2014/main" id="{6707E118-7DE4-904E-E042-3AD18F8ED9FB}"/>
              </a:ext>
            </a:extLst>
          </p:cNvPr>
          <p:cNvSpPr txBox="1"/>
          <p:nvPr/>
        </p:nvSpPr>
        <p:spPr>
          <a:xfrm>
            <a:off x="14045601" y="4194088"/>
            <a:ext cx="10425401" cy="73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Streamlined Evaluation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35" name="Google Shape;2459;p13">
            <a:extLst>
              <a:ext uri="{FF2B5EF4-FFF2-40B4-BE49-F238E27FC236}">
                <a16:creationId xmlns:a16="http://schemas.microsoft.com/office/drawing/2014/main" id="{6C165919-9788-DE92-50D2-CA3E974CD6D3}"/>
              </a:ext>
            </a:extLst>
          </p:cNvPr>
          <p:cNvSpPr/>
          <p:nvPr/>
        </p:nvSpPr>
        <p:spPr>
          <a:xfrm>
            <a:off x="15798425" y="6405077"/>
            <a:ext cx="1772857" cy="8046720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21</a:t>
            </a:r>
          </a:p>
        </p:txBody>
      </p:sp>
      <p:sp>
        <p:nvSpPr>
          <p:cNvPr id="36" name="Google Shape;2462;p13">
            <a:extLst>
              <a:ext uri="{FF2B5EF4-FFF2-40B4-BE49-F238E27FC236}">
                <a16:creationId xmlns:a16="http://schemas.microsoft.com/office/drawing/2014/main" id="{052CA4AF-15A7-12FA-8015-325FD4511F32}"/>
              </a:ext>
            </a:extLst>
          </p:cNvPr>
          <p:cNvSpPr txBox="1"/>
          <p:nvPr/>
        </p:nvSpPr>
        <p:spPr>
          <a:xfrm>
            <a:off x="19294937" y="14662296"/>
            <a:ext cx="4315221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NeMo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 Evaluator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37" name="Google Shape;2465;p13">
            <a:extLst>
              <a:ext uri="{FF2B5EF4-FFF2-40B4-BE49-F238E27FC236}">
                <a16:creationId xmlns:a16="http://schemas.microsoft.com/office/drawing/2014/main" id="{077ABBD2-7DA6-8909-C424-193754D4DAF9}"/>
              </a:ext>
            </a:extLst>
          </p:cNvPr>
          <p:cNvCxnSpPr>
            <a:cxnSpLocks/>
          </p:cNvCxnSpPr>
          <p:nvPr/>
        </p:nvCxnSpPr>
        <p:spPr>
          <a:xfrm>
            <a:off x="15376049" y="14628531"/>
            <a:ext cx="7798443" cy="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" name="Google Shape;2467;p13">
            <a:extLst>
              <a:ext uri="{FF2B5EF4-FFF2-40B4-BE49-F238E27FC236}">
                <a16:creationId xmlns:a16="http://schemas.microsoft.com/office/drawing/2014/main" id="{C04F2B19-9AED-25E8-75E2-0B402E2412F0}"/>
              </a:ext>
            </a:extLst>
          </p:cNvPr>
          <p:cNvSpPr/>
          <p:nvPr/>
        </p:nvSpPr>
        <p:spPr>
          <a:xfrm>
            <a:off x="20321289" y="12536297"/>
            <a:ext cx="1755923" cy="1911095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5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9ABFB0A-887B-021B-2BBD-13C7FCB7FC7F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17571282" y="6451842"/>
            <a:ext cx="3627969" cy="6084455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2472;p13">
            <a:extLst>
              <a:ext uri="{FF2B5EF4-FFF2-40B4-BE49-F238E27FC236}">
                <a16:creationId xmlns:a16="http://schemas.microsoft.com/office/drawing/2014/main" id="{950DF495-4C10-90B0-4DE8-67AD4077B970}"/>
              </a:ext>
            </a:extLst>
          </p:cNvPr>
          <p:cNvSpPr txBox="1"/>
          <p:nvPr/>
        </p:nvSpPr>
        <p:spPr>
          <a:xfrm>
            <a:off x="14095794" y="16554562"/>
            <a:ext cx="10366687" cy="22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The benchmark represents the number of steps for end-to-end evaluation of a customization job with </a:t>
            </a:r>
            <a:r>
              <a:rPr kumimoji="0" lang="en-US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NeMo</a:t>
            </a: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Arial"/>
              </a:rPr>
              <a:t> microservices and a leading open-source alternative library.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A315BB-D07D-2CBF-7E40-8B944F5FD5B5}"/>
              </a:ext>
            </a:extLst>
          </p:cNvPr>
          <p:cNvCxnSpPr>
            <a:cxnSpLocks/>
          </p:cNvCxnSpPr>
          <p:nvPr/>
        </p:nvCxnSpPr>
        <p:spPr>
          <a:xfrm>
            <a:off x="14058007" y="16040416"/>
            <a:ext cx="10404474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Google Shape;2462;p13">
            <a:extLst>
              <a:ext uri="{FF2B5EF4-FFF2-40B4-BE49-F238E27FC236}">
                <a16:creationId xmlns:a16="http://schemas.microsoft.com/office/drawing/2014/main" id="{8BF59B5E-00C1-6C94-A71A-CF4406A994B7}"/>
              </a:ext>
            </a:extLst>
          </p:cNvPr>
          <p:cNvSpPr txBox="1"/>
          <p:nvPr/>
        </p:nvSpPr>
        <p:spPr>
          <a:xfrm>
            <a:off x="14931061" y="14662296"/>
            <a:ext cx="3720084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OSS Libraries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43" name="Google Shape;2465;p13">
            <a:extLst>
              <a:ext uri="{FF2B5EF4-FFF2-40B4-BE49-F238E27FC236}">
                <a16:creationId xmlns:a16="http://schemas.microsoft.com/office/drawing/2014/main" id="{BE91451E-D285-034E-C8A2-FDDDF2E15BA3}"/>
              </a:ext>
            </a:extLst>
          </p:cNvPr>
          <p:cNvCxnSpPr>
            <a:cxnSpLocks/>
          </p:cNvCxnSpPr>
          <p:nvPr/>
        </p:nvCxnSpPr>
        <p:spPr>
          <a:xfrm flipV="1">
            <a:off x="15376049" y="6298353"/>
            <a:ext cx="0" cy="8338025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" name="Google Shape;2462;p13">
            <a:extLst>
              <a:ext uri="{FF2B5EF4-FFF2-40B4-BE49-F238E27FC236}">
                <a16:creationId xmlns:a16="http://schemas.microsoft.com/office/drawing/2014/main" id="{9F9B90DF-F262-E718-59CA-167259744460}"/>
              </a:ext>
            </a:extLst>
          </p:cNvPr>
          <p:cNvSpPr txBox="1"/>
          <p:nvPr/>
        </p:nvSpPr>
        <p:spPr>
          <a:xfrm rot="16200000">
            <a:off x="10742195" y="10059674"/>
            <a:ext cx="8231302" cy="92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# of Steps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65" name="Google Shape;2465;p13">
            <a:extLst>
              <a:ext uri="{FF2B5EF4-FFF2-40B4-BE49-F238E27FC236}">
                <a16:creationId xmlns:a16="http://schemas.microsoft.com/office/drawing/2014/main" id="{8B43C7DF-FC1B-7EC5-58C1-2DEE82A2C7EE}"/>
              </a:ext>
            </a:extLst>
          </p:cNvPr>
          <p:cNvCxnSpPr>
            <a:cxnSpLocks/>
          </p:cNvCxnSpPr>
          <p:nvPr/>
        </p:nvCxnSpPr>
        <p:spPr>
          <a:xfrm>
            <a:off x="26701937" y="14679622"/>
            <a:ext cx="7798443" cy="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" name="Google Shape;2459;p13">
            <a:extLst>
              <a:ext uri="{FF2B5EF4-FFF2-40B4-BE49-F238E27FC236}">
                <a16:creationId xmlns:a16="http://schemas.microsoft.com/office/drawing/2014/main" id="{A80B3D68-8E03-5DDE-3A01-B1C8296330F6}"/>
              </a:ext>
            </a:extLst>
          </p:cNvPr>
          <p:cNvSpPr/>
          <p:nvPr/>
        </p:nvSpPr>
        <p:spPr>
          <a:xfrm>
            <a:off x="27126715" y="6458217"/>
            <a:ext cx="1772857" cy="8048554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rPr>
              <a:t>45</a:t>
            </a:r>
            <a:endParaRPr kumimoji="0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0" name="Google Shape;2461;p13">
            <a:extLst>
              <a:ext uri="{FF2B5EF4-FFF2-40B4-BE49-F238E27FC236}">
                <a16:creationId xmlns:a16="http://schemas.microsoft.com/office/drawing/2014/main" id="{E220771F-A4F3-3973-6EBE-7550124A795F}"/>
              </a:ext>
            </a:extLst>
          </p:cNvPr>
          <p:cNvSpPr txBox="1"/>
          <p:nvPr/>
        </p:nvSpPr>
        <p:spPr>
          <a:xfrm>
            <a:off x="27512707" y="14588952"/>
            <a:ext cx="1069931" cy="108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1</a:t>
            </a:r>
            <a:endParaRPr kumimoji="0" lang="en-US" sz="4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34" name="Google Shape;2467;p13">
            <a:extLst>
              <a:ext uri="{FF2B5EF4-FFF2-40B4-BE49-F238E27FC236}">
                <a16:creationId xmlns:a16="http://schemas.microsoft.com/office/drawing/2014/main" id="{0CF04DAC-720F-1B63-6306-18C5E80448BE}"/>
              </a:ext>
            </a:extLst>
          </p:cNvPr>
          <p:cNvSpPr/>
          <p:nvPr/>
        </p:nvSpPr>
        <p:spPr>
          <a:xfrm>
            <a:off x="31545656" y="12988536"/>
            <a:ext cx="1739240" cy="1517904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Arial"/>
              </a:rPr>
              <a:t>8.5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2469;p13">
            <a:extLst>
              <a:ext uri="{FF2B5EF4-FFF2-40B4-BE49-F238E27FC236}">
                <a16:creationId xmlns:a16="http://schemas.microsoft.com/office/drawing/2014/main" id="{693E4172-56ED-0C2E-0838-BBD1952EECCA}"/>
              </a:ext>
            </a:extLst>
          </p:cNvPr>
          <p:cNvSpPr txBox="1"/>
          <p:nvPr/>
        </p:nvSpPr>
        <p:spPr>
          <a:xfrm>
            <a:off x="31861934" y="14571241"/>
            <a:ext cx="1069931" cy="108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8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47" name="Google Shape;2471;p13">
            <a:extLst>
              <a:ext uri="{FF2B5EF4-FFF2-40B4-BE49-F238E27FC236}">
                <a16:creationId xmlns:a16="http://schemas.microsoft.com/office/drawing/2014/main" id="{29710B01-1FF0-2799-CAD6-B42A34E0D227}"/>
              </a:ext>
            </a:extLst>
          </p:cNvPr>
          <p:cNvSpPr txBox="1"/>
          <p:nvPr/>
        </p:nvSpPr>
        <p:spPr>
          <a:xfrm>
            <a:off x="27553010" y="15378622"/>
            <a:ext cx="5274690" cy="477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A100 GPUs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8" name="Google Shape;2439;p13">
            <a:extLst>
              <a:ext uri="{FF2B5EF4-FFF2-40B4-BE49-F238E27FC236}">
                <a16:creationId xmlns:a16="http://schemas.microsoft.com/office/drawing/2014/main" id="{C8282156-65A0-D4AF-5A48-CE825F5EC1A4}"/>
              </a:ext>
            </a:extLst>
          </p:cNvPr>
          <p:cNvSpPr/>
          <p:nvPr/>
        </p:nvSpPr>
        <p:spPr>
          <a:xfrm>
            <a:off x="25407455" y="5225146"/>
            <a:ext cx="9927570" cy="1358430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455;p13">
            <a:extLst>
              <a:ext uri="{FF2B5EF4-FFF2-40B4-BE49-F238E27FC236}">
                <a16:creationId xmlns:a16="http://schemas.microsoft.com/office/drawing/2014/main" id="{14F7728E-BCA3-947F-AC04-FA45BA848E75}"/>
              </a:ext>
            </a:extLst>
          </p:cNvPr>
          <p:cNvSpPr txBox="1"/>
          <p:nvPr/>
        </p:nvSpPr>
        <p:spPr>
          <a:xfrm>
            <a:off x="25360291" y="4194088"/>
            <a:ext cx="997473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Scale LLM-as-a-Judge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/>
              <a:cs typeface="Arial"/>
              <a:sym typeface="Arial"/>
            </a:endParaRPr>
          </a:p>
        </p:txBody>
      </p:sp>
      <p:sp>
        <p:nvSpPr>
          <p:cNvPr id="50" name="Google Shape;2457;p13">
            <a:extLst>
              <a:ext uri="{FF2B5EF4-FFF2-40B4-BE49-F238E27FC236}">
                <a16:creationId xmlns:a16="http://schemas.microsoft.com/office/drawing/2014/main" id="{0A025D66-75EB-EEC7-83BD-FE86385F9627}"/>
              </a:ext>
            </a:extLst>
          </p:cNvPr>
          <p:cNvSpPr txBox="1"/>
          <p:nvPr/>
        </p:nvSpPr>
        <p:spPr>
          <a:xfrm>
            <a:off x="25449590" y="16550868"/>
            <a:ext cx="9885436" cy="225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Evaluation time using LLM-as-a-Judge with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NeMo</a:t>
            </a: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cs typeface="NVIDIA Sans"/>
                <a:sym typeface="NVIDIA Sans"/>
              </a:rPr>
              <a:t> Evaluator and NVIDIA NIM Operator</a:t>
            </a: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cs typeface="NVIDIA Sans"/>
              <a:sym typeface="Arial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2094637-B6B2-9DF6-D92D-EE097AE828F6}"/>
              </a:ext>
            </a:extLst>
          </p:cNvPr>
          <p:cNvCxnSpPr>
            <a:cxnSpLocks/>
          </p:cNvCxnSpPr>
          <p:nvPr/>
        </p:nvCxnSpPr>
        <p:spPr>
          <a:xfrm>
            <a:off x="25404940" y="16040303"/>
            <a:ext cx="988543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oogle Shape;2465;p13">
            <a:extLst>
              <a:ext uri="{FF2B5EF4-FFF2-40B4-BE49-F238E27FC236}">
                <a16:creationId xmlns:a16="http://schemas.microsoft.com/office/drawing/2014/main" id="{2753331D-8BE2-4707-E458-5BEB6B11DE52}"/>
              </a:ext>
            </a:extLst>
          </p:cNvPr>
          <p:cNvCxnSpPr>
            <a:cxnSpLocks/>
          </p:cNvCxnSpPr>
          <p:nvPr/>
        </p:nvCxnSpPr>
        <p:spPr>
          <a:xfrm flipV="1">
            <a:off x="26703927" y="6362325"/>
            <a:ext cx="0" cy="8317297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Google Shape;2462;p13">
            <a:extLst>
              <a:ext uri="{FF2B5EF4-FFF2-40B4-BE49-F238E27FC236}">
                <a16:creationId xmlns:a16="http://schemas.microsoft.com/office/drawing/2014/main" id="{8A9521F1-28FA-8A65-77C5-BDA70B6E56EA}"/>
              </a:ext>
            </a:extLst>
          </p:cNvPr>
          <p:cNvSpPr txBox="1"/>
          <p:nvPr/>
        </p:nvSpPr>
        <p:spPr>
          <a:xfrm rot="16200000">
            <a:off x="22204387" y="10050891"/>
            <a:ext cx="8196802" cy="10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900" tIns="22900" rIns="22900" bIns="22900" anchor="ctr" anchorCtr="0">
            <a:noAutofit/>
          </a:bodyPr>
          <a:lstStyle/>
          <a:p>
            <a:pPr marL="1016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Evaluation Time (mins)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4D4A8AE-BAA8-FEC2-ADF3-49C1746E7BDD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28899572" y="6458214"/>
            <a:ext cx="3515704" cy="6530322"/>
          </a:xfrm>
          <a:prstGeom prst="straightConnector1">
            <a:avLst/>
          </a:prstGeom>
          <a:ln w="635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5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C153-0F1B-857E-899C-4406E168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655F-AD8A-B203-BC07-D438B5ED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6DFEE-21CE-DCFD-DA62-3A5ECCB92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487168"/>
            <a:ext cx="36576000" cy="1407600"/>
          </a:xfrm>
        </p:spPr>
        <p:txBody>
          <a:bodyPr/>
          <a:lstStyle/>
          <a:p>
            <a:r>
              <a:rPr lang="en-US"/>
              <a:t>Evaluate whether agents are using the correct tools and generating accurate responses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ACBB1-30FE-AE7B-68AC-D3F8FE365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49" y="3804747"/>
            <a:ext cx="25905280" cy="1676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0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C931-D16B-09E1-2373-204B9E12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04C9-9BFD-E024-0098-3239DA23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0948D-7487-0DAA-1201-E1F22BAF0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15200"/>
            <a:ext cx="36576000" cy="1407600"/>
          </a:xfrm>
        </p:spPr>
        <p:txBody>
          <a:bodyPr/>
          <a:lstStyle/>
          <a:p>
            <a:r>
              <a:rPr lang="en-US"/>
              <a:t>Evaluate embedding models, re-ranking models and end-to-end retrieval pipelines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89885-93C8-8E76-60F3-2874C8345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240" y="3388758"/>
            <a:ext cx="24711519" cy="1654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3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8285-1E3A-FB44-B815-131D9592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8167-D1A4-85D0-E40E-14C604AB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Model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2E23B-A4BC-91A7-621E-CCBB9AF61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487168"/>
            <a:ext cx="36576000" cy="1407600"/>
          </a:xfrm>
        </p:spPr>
        <p:txBody>
          <a:bodyPr/>
          <a:lstStyle/>
          <a:p>
            <a:r>
              <a:rPr lang="en-US"/>
              <a:t>Evaluate whether custom models are accurate for various use cases and if there is any regression from base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2DB0E-9F22-4057-BAC3-AB8AD525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112" y="5002368"/>
            <a:ext cx="28491888" cy="1303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8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4CB8-9436-9ACA-3BB0-763D6459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772D-59E6-5A19-1066-86E7E78C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NeMo</a:t>
            </a:r>
            <a:r>
              <a:rPr lang="en-US"/>
              <a:t> Evaluator Supports Both Online and Offline Evaluations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97B04-23B1-710B-2D82-7540B4C77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487168"/>
            <a:ext cx="36576000" cy="1407600"/>
          </a:xfrm>
        </p:spPr>
        <p:txBody>
          <a:bodyPr/>
          <a:lstStyle/>
          <a:p>
            <a:r>
              <a:rPr lang="en-US"/>
              <a:t> Comprehensive Suite of Evaluation Types</a:t>
            </a:r>
          </a:p>
        </p:txBody>
      </p:sp>
      <p:sp>
        <p:nvSpPr>
          <p:cNvPr id="9" name="Google Shape;2428;p12">
            <a:extLst>
              <a:ext uri="{FF2B5EF4-FFF2-40B4-BE49-F238E27FC236}">
                <a16:creationId xmlns:a16="http://schemas.microsoft.com/office/drawing/2014/main" id="{4A4E948E-0C56-2E22-F8FE-B53DB4B208B0}"/>
              </a:ext>
            </a:extLst>
          </p:cNvPr>
          <p:cNvSpPr txBox="1"/>
          <p:nvPr/>
        </p:nvSpPr>
        <p:spPr>
          <a:xfrm>
            <a:off x="19879734" y="13740975"/>
            <a:ext cx="11414712" cy="340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60+ academic benchmarks through LM Evaluation Harness</a:t>
            </a: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10+ code generation tasks through </a:t>
            </a:r>
            <a:r>
              <a:rPr kumimoji="0" lang="en-US" sz="4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BigCode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 Evaluation Harness</a:t>
            </a:r>
          </a:p>
          <a:p>
            <a:pPr marL="951230" marR="0" lvl="1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10" name="Google Shape;2429;p12">
            <a:extLst>
              <a:ext uri="{FF2B5EF4-FFF2-40B4-BE49-F238E27FC236}">
                <a16:creationId xmlns:a16="http://schemas.microsoft.com/office/drawing/2014/main" id="{94134998-133D-39D5-7CC6-1D55BB2FF714}"/>
              </a:ext>
            </a:extLst>
          </p:cNvPr>
          <p:cNvSpPr/>
          <p:nvPr/>
        </p:nvSpPr>
        <p:spPr>
          <a:xfrm>
            <a:off x="19879736" y="13077420"/>
            <a:ext cx="11414710" cy="417478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430;p12">
            <a:extLst>
              <a:ext uri="{FF2B5EF4-FFF2-40B4-BE49-F238E27FC236}">
                <a16:creationId xmlns:a16="http://schemas.microsoft.com/office/drawing/2014/main" id="{E2C555F5-561B-BF3B-DFCA-4F9992EDEB78}"/>
              </a:ext>
            </a:extLst>
          </p:cNvPr>
          <p:cNvSpPr txBox="1"/>
          <p:nvPr/>
        </p:nvSpPr>
        <p:spPr>
          <a:xfrm>
            <a:off x="19879734" y="11746714"/>
            <a:ext cx="1141471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</a:rPr>
              <a:t>Academic Benchmarks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2428;p12">
            <a:extLst>
              <a:ext uri="{FF2B5EF4-FFF2-40B4-BE49-F238E27FC236}">
                <a16:creationId xmlns:a16="http://schemas.microsoft.com/office/drawing/2014/main" id="{5BE85AAE-7F33-18EF-C685-B5353959BC15}"/>
              </a:ext>
            </a:extLst>
          </p:cNvPr>
          <p:cNvSpPr txBox="1"/>
          <p:nvPr/>
        </p:nvSpPr>
        <p:spPr>
          <a:xfrm>
            <a:off x="19879734" y="6331638"/>
            <a:ext cx="11414712" cy="340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Evaluate a model on custom datasets</a:t>
            </a: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Compares the LLM generated response with a ground truth response</a:t>
            </a: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F1, BLEU, ROUGE, 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15" name="Google Shape;2429;p12">
            <a:extLst>
              <a:ext uri="{FF2B5EF4-FFF2-40B4-BE49-F238E27FC236}">
                <a16:creationId xmlns:a16="http://schemas.microsoft.com/office/drawing/2014/main" id="{31587BAD-5439-DE20-1A4B-5AB78CD29E9C}"/>
              </a:ext>
            </a:extLst>
          </p:cNvPr>
          <p:cNvSpPr/>
          <p:nvPr/>
        </p:nvSpPr>
        <p:spPr>
          <a:xfrm>
            <a:off x="19879736" y="6112220"/>
            <a:ext cx="11414710" cy="417478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430;p12">
            <a:extLst>
              <a:ext uri="{FF2B5EF4-FFF2-40B4-BE49-F238E27FC236}">
                <a16:creationId xmlns:a16="http://schemas.microsoft.com/office/drawing/2014/main" id="{DAD0B422-C0CD-D26E-6CC2-5DD855F60D0F}"/>
              </a:ext>
            </a:extLst>
          </p:cNvPr>
          <p:cNvSpPr txBox="1"/>
          <p:nvPr/>
        </p:nvSpPr>
        <p:spPr>
          <a:xfrm>
            <a:off x="19879734" y="4781514"/>
            <a:ext cx="1141471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</a:rPr>
              <a:t>Similarity Metrics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F0330B-6114-0C76-593D-77793B7314B6}"/>
              </a:ext>
            </a:extLst>
          </p:cNvPr>
          <p:cNvGrpSpPr/>
          <p:nvPr/>
        </p:nvGrpSpPr>
        <p:grpSpPr>
          <a:xfrm>
            <a:off x="6570956" y="4781514"/>
            <a:ext cx="11414712" cy="5505486"/>
            <a:chOff x="4979222" y="5002368"/>
            <a:chExt cx="11414712" cy="5505486"/>
          </a:xfrm>
        </p:grpSpPr>
        <p:sp>
          <p:nvSpPr>
            <p:cNvPr id="17" name="Google Shape;2429;p12">
              <a:extLst>
                <a:ext uri="{FF2B5EF4-FFF2-40B4-BE49-F238E27FC236}">
                  <a16:creationId xmlns:a16="http://schemas.microsoft.com/office/drawing/2014/main" id="{F1DF0742-C175-5648-AE47-9F350DE452E3}"/>
                </a:ext>
              </a:extLst>
            </p:cNvPr>
            <p:cNvSpPr/>
            <p:nvPr/>
          </p:nvSpPr>
          <p:spPr>
            <a:xfrm>
              <a:off x="4979224" y="6333074"/>
              <a:ext cx="11414710" cy="417478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700" rIns="91400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4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430;p12">
              <a:extLst>
                <a:ext uri="{FF2B5EF4-FFF2-40B4-BE49-F238E27FC236}">
                  <a16:creationId xmlns:a16="http://schemas.microsoft.com/office/drawing/2014/main" id="{6DEB6863-1374-7C34-8D74-414B69519A03}"/>
                </a:ext>
              </a:extLst>
            </p:cNvPr>
            <p:cNvSpPr txBox="1"/>
            <p:nvPr/>
          </p:nvSpPr>
          <p:spPr>
            <a:xfrm>
              <a:off x="4979222" y="5002368"/>
              <a:ext cx="11414710" cy="1061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00" tIns="274300" rIns="91425" bIns="4570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NVIDIA Sans Medium"/>
                  <a:ea typeface="NVIDIA Sans Medium"/>
                  <a:cs typeface="NVIDIA Sans Medium"/>
                  <a:sym typeface="NVIDIA Sans Medium"/>
                </a:rPr>
                <a:t>LLM-as-a-Judge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2428;p12">
            <a:extLst>
              <a:ext uri="{FF2B5EF4-FFF2-40B4-BE49-F238E27FC236}">
                <a16:creationId xmlns:a16="http://schemas.microsoft.com/office/drawing/2014/main" id="{5174549A-7D42-29FE-AE26-9304B336837C}"/>
              </a:ext>
            </a:extLst>
          </p:cNvPr>
          <p:cNvSpPr txBox="1"/>
          <p:nvPr/>
        </p:nvSpPr>
        <p:spPr>
          <a:xfrm>
            <a:off x="6570954" y="6499164"/>
            <a:ext cx="11414712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Supports OpenAI API compatible Judge LLM</a:t>
            </a: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Standard MT-Bench data or custom data</a:t>
            </a:r>
          </a:p>
        </p:txBody>
      </p:sp>
      <p:sp>
        <p:nvSpPr>
          <p:cNvPr id="24" name="Google Shape;2429;p12">
            <a:extLst>
              <a:ext uri="{FF2B5EF4-FFF2-40B4-BE49-F238E27FC236}">
                <a16:creationId xmlns:a16="http://schemas.microsoft.com/office/drawing/2014/main" id="{8CC3A994-AB6F-F6A9-2D95-2E2949B63351}"/>
              </a:ext>
            </a:extLst>
          </p:cNvPr>
          <p:cNvSpPr/>
          <p:nvPr/>
        </p:nvSpPr>
        <p:spPr>
          <a:xfrm>
            <a:off x="6570956" y="13077420"/>
            <a:ext cx="11414710" cy="417478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428;p12">
            <a:extLst>
              <a:ext uri="{FF2B5EF4-FFF2-40B4-BE49-F238E27FC236}">
                <a16:creationId xmlns:a16="http://schemas.microsoft.com/office/drawing/2014/main" id="{F85632F3-ADA9-E128-FDDC-C4DC49A11A53}"/>
              </a:ext>
            </a:extLst>
          </p:cNvPr>
          <p:cNvSpPr txBox="1"/>
          <p:nvPr/>
        </p:nvSpPr>
        <p:spPr>
          <a:xfrm>
            <a:off x="6570954" y="13737104"/>
            <a:ext cx="11414712" cy="278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Supports standard academic datasets and custom datasets</a:t>
            </a:r>
          </a:p>
          <a:p>
            <a:pPr marL="951230" marR="0" lvl="0" indent="-9512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Wingdings" pitchFamily="2" charset="2"/>
              <a:buChar char="Ø"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Metrics include recall,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ndcg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, faithfulness,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VIDIA Sans"/>
                <a:ea typeface="NVIDIA Sans"/>
                <a:cs typeface="NVIDIA Sans"/>
                <a:sym typeface="NVIDIA Sans"/>
              </a:rPr>
              <a:t>answer_relevancy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VIDIA Sans"/>
              <a:ea typeface="NVIDIA Sans"/>
              <a:cs typeface="NVIDIA Sans"/>
              <a:sym typeface="Arial"/>
            </a:endParaRPr>
          </a:p>
        </p:txBody>
      </p:sp>
      <p:sp>
        <p:nvSpPr>
          <p:cNvPr id="25" name="Google Shape;2430;p12">
            <a:extLst>
              <a:ext uri="{FF2B5EF4-FFF2-40B4-BE49-F238E27FC236}">
                <a16:creationId xmlns:a16="http://schemas.microsoft.com/office/drawing/2014/main" id="{D6EFCAAA-8E22-6AA0-EF48-54FE1407DFE8}"/>
              </a:ext>
            </a:extLst>
          </p:cNvPr>
          <p:cNvSpPr txBox="1"/>
          <p:nvPr/>
        </p:nvSpPr>
        <p:spPr>
          <a:xfrm>
            <a:off x="6570956" y="11746714"/>
            <a:ext cx="1141471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2743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 Medium"/>
                <a:ea typeface="NVIDIA Sans Medium"/>
                <a:cs typeface="NVIDIA Sans Medium"/>
                <a:sym typeface="NVIDIA Sans Medium"/>
              </a:rPr>
              <a:t>Retrieval and RAG Metrics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38898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Evaluator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Four pieces — pick one of each per eval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l-in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31520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640080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Runners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7863840"/>
            <a:ext cx="113385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Invoke the model under test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(NIM, vLLM, OpenAI, HF endpoint)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0" y="585216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280" y="731520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677120" y="640080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008564"/>
                </a:solidFill>
                <a:latin typeface="NVIDIA Sans Medium"/>
              </a:rPr>
              <a:t>Judges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0" y="7863840"/>
            <a:ext cx="113385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Score the output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(LLM-as-judge, rubric, exact, similarity)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243584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ocu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3898880"/>
            <a:ext cx="2560320" cy="2560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1298448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5D1682"/>
                </a:solidFill>
                <a:latin typeface="NVIDIA Sans Medium"/>
              </a:rPr>
              <a:t>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4447520"/>
            <a:ext cx="113385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The questions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(MMLU, HumanEval, custom JSONL)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653760" y="12435840"/>
            <a:ext cx="16093440" cy="6035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24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80" y="13898880"/>
            <a:ext cx="2560320" cy="2560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677120" y="1298448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5E5E5E"/>
                </a:solidFill>
                <a:latin typeface="NVIDIA Sans Medium"/>
              </a:rP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0" y="14447520"/>
            <a:ext cx="11338560" cy="36576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Aggregated scores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(W&amp;B, MLflow, JSON, dashboard)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856740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Runner → Judge → Dataset → Report  (composable, swap each piece independently)</a:t>
            </a:r>
          </a:p>
        </p:txBody>
      </p:sp>
    </p:spTree>
    <p:extLst>
      <p:ext uri="{BB962C8B-B14F-4D97-AF65-F5344CB8AC3E}">
        <p14:creationId xmlns:p14="http://schemas.microsoft.com/office/powerpoint/2010/main" val="230165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Eval Mode 1 — Academic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Generalisation sanity-check, not your final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When to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822960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76B900"/>
                </a:solidFill>
                <a:latin typeface="NVIDIA Sans Medium"/>
              </a:rPr>
              <a:t>✓  Regression: did CPT break general capability?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969264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76B900"/>
                </a:solidFill>
                <a:latin typeface="NVIDIA Sans Medium"/>
              </a:rPr>
              <a:t>✓  Cross-vendor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115568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76B900"/>
                </a:solidFill>
                <a:latin typeface="NVIDIA Sans Medium"/>
              </a:rPr>
              <a:t>✓  Reporting in papers / customer decks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84480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890C58"/>
                </a:solidFill>
                <a:latin typeface="NVIDIA Sans Medium"/>
              </a:rPr>
              <a:t>When NOT to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0"/>
            <a:ext cx="14630400" cy="124358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✗  Your task is domain-specific (SAR, AML)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873984"/>
            <a:ext cx="14630400" cy="124358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✗  You care about format / 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117568"/>
            <a:ext cx="14630400" cy="124358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✗  You're tuning for a specific tool-use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19520" y="5852160"/>
            <a:ext cx="1572768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75104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Bundled with Evaluator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0" y="8412480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MMLU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0" y="8412480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57-subject multiple 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0" y="9802368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GSM8K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0" y="9802368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Math word problems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0" y="11192256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HumanEval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0" y="11192256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Python code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51040" y="12582144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BBH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0" y="12582144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Big-Bench Hard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51040" y="13972032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MT-Bench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0" y="13972032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Multi-turn dialogue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751040" y="15361920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ARC-C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0" y="15361920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Grade-school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0" y="16751808"/>
            <a:ext cx="475488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HellaSwag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0" y="16751808"/>
            <a:ext cx="9875520" cy="1316736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Commonsense completion</a:t>
            </a:r>
          </a:p>
        </p:txBody>
      </p:sp>
    </p:spTree>
    <p:extLst>
      <p:ext uri="{BB962C8B-B14F-4D97-AF65-F5344CB8AC3E}">
        <p14:creationId xmlns:p14="http://schemas.microsoft.com/office/powerpoint/2010/main" val="390199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Eval Mode 2 — Task-Specific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Custom rubrics for the metric that actually matters for your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463040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28016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What you 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2801600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1. A scoring rubric (typed criteria)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2. A JSONL dataset of expected I/O pairs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3. (Optional) reference answers</a:t>
            </a:r>
          </a:p>
          <a:p>
            <a:pPr algn="l"/>
            <a:endParaRPr sz="4000" b="0" i="0">
              <a:solidFill>
                <a:srgbClr val="000000"/>
              </a:solidFill>
              <a:latin typeface="NVIDIA Sans"/>
            </a:endParaRP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Evaluator gives you: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· Per-criterion scores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· Per-record explanations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· Aggregate dashboards</a:t>
            </a:r>
          </a:p>
          <a:p>
            <a:pPr algn="l"/>
            <a:endParaRPr sz="4000" b="0" i="0">
              <a:solidFill>
                <a:srgbClr val="000000"/>
              </a:solidFill>
              <a:latin typeface="NVIDIA Sans"/>
            </a:endParaRP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Best for: regulated, format-strict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domains (AML, healthcare, legal)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39360" y="5852160"/>
            <a:ext cx="1682496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70880" y="6510528"/>
            <a:ext cx="153619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AML SAR Rubric (excerpt)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0" y="8229600"/>
            <a:ext cx="15361920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{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"criteria": [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{ "name": "grounded",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"desc": "Every tx index cited is real",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"weight": 0.30 },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{ "name": "statute_correct",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"desc": "Cites the right 31 U.S.C. §",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"weight": 0.25 },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{ "name": "length_band",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"desc": "Narrative 250–800 chars",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"weight": 0.20 },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{ "name": "regulator_tone",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"desc": "Qualified language only",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"weight": 0.25 }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]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5697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Eval Mode 3 — LLM-as-Judge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Powerful, scalable — but treat it like a calibrated instrument, not an 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828800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68249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6824960" cy="51206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Pairwise (A vs B) or scalar (score 1-10)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Judge model is usually large + general (GPT-4, Nemotron-340B)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Evaluator parallelises across NIM endpoints (this is where it gets fast)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Scale to 100K+ comparisons in hours, not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081760"/>
            <a:ext cx="16824960" cy="4023360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905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4447520"/>
            <a:ext cx="1536192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1" i="0">
                <a:solidFill>
                  <a:srgbClr val="B36500"/>
                </a:solidFill>
                <a:latin typeface="NVIDIA Sans Medium"/>
              </a:rPr>
              <a:t>⚠ Calibration pitfalls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727680"/>
            <a:ext cx="15727680" cy="23774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B36500"/>
                </a:solidFill>
                <a:latin typeface="NVIDIA Sans"/>
              </a:rPr>
              <a:t>• Position bias (A always wins) → randomise order</a:t>
            </a:r>
          </a:p>
          <a:p>
            <a:pPr algn="l"/>
            <a:r>
              <a:rPr sz="3600" b="0" i="0">
                <a:solidFill>
                  <a:srgbClr val="B36500"/>
                </a:solidFill>
                <a:latin typeface="NVIDIA Sans"/>
              </a:rPr>
              <a:t>• Verbosity bias (longer answer wins) → constrain length</a:t>
            </a:r>
          </a:p>
          <a:p>
            <a:pPr algn="l"/>
            <a:r>
              <a:rPr sz="3600" b="0" i="0">
                <a:solidFill>
                  <a:srgbClr val="B36500"/>
                </a:solidFill>
                <a:latin typeface="NVIDIA Sans"/>
              </a:rPr>
              <a:t>• Self-preference (judge favours similar style) → use diff family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48320" y="5852160"/>
            <a:ext cx="1389888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579840" y="6510528"/>
            <a:ext cx="124358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Why NeMo 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9840" y="8412480"/>
            <a:ext cx="12435840" cy="2926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400" b="1" i="0">
                <a:solidFill>
                  <a:srgbClr val="76B900"/>
                </a:solidFill>
                <a:latin typeface="NVIDIA Sans Medium"/>
              </a:rPr>
              <a:t>8.5×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0" y="11338560"/>
            <a:ext cx="124358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400" b="0" i="0">
                <a:solidFill>
                  <a:srgbClr val="5E5E5E"/>
                </a:solidFill>
                <a:latin typeface="NVIDIA Sans"/>
              </a:rPr>
              <a:t>faster LLM-as-judge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0" y="12984480"/>
            <a:ext cx="12435840" cy="51206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1">
                <a:solidFill>
                  <a:srgbClr val="5E5E5E"/>
                </a:solidFill>
                <a:latin typeface="NVIDIA Sans"/>
              </a:rPr>
              <a:t>vs. OSS libraries (21 min → 5 min, 8 A100s).</a:t>
            </a:r>
          </a:p>
          <a:p>
            <a:pPr algn="ctr"/>
            <a:endParaRPr sz="3600" b="0" i="1">
              <a:solidFill>
                <a:srgbClr val="5E5E5E"/>
              </a:solidFill>
              <a:latin typeface="NVIDIA Sans"/>
            </a:endParaRPr>
          </a:p>
          <a:p>
            <a:pPr algn="ctr"/>
            <a:r>
              <a:rPr sz="3600" b="0" i="1">
                <a:solidFill>
                  <a:srgbClr val="5E5E5E"/>
                </a:solidFill>
                <a:latin typeface="NVIDIA Sans"/>
              </a:rPr>
              <a:t>Source: NVIDIA benchmark with NIM Operator parallelisation.</a:t>
            </a:r>
          </a:p>
        </p:txBody>
      </p:sp>
    </p:spTree>
    <p:extLst>
      <p:ext uri="{BB962C8B-B14F-4D97-AF65-F5344CB8AC3E}">
        <p14:creationId xmlns:p14="http://schemas.microsoft.com/office/powerpoint/2010/main" val="151515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NeMo Evaluator — One Tool, Two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Python SDK for local; microservice for K8s &amp; CI/CD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676656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766560"/>
            <a:ext cx="10972800" cy="2560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6400" b="1" i="0">
                <a:solidFill>
                  <a:srgbClr val="76B900"/>
                </a:solidFill>
                <a:latin typeface="NVIDIA Sans Medium"/>
              </a:rPr>
              <a:t>Evaluator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0241280"/>
            <a:ext cx="14630400" cy="7315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pip install nemo-evaluator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Python-native; runs in notebooks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Choose runner, judge, dataset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Direct W&amp;B / MLflow integration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Best for: research, iteration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0" y="5852160"/>
            <a:ext cx="1609344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oud-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280" y="6766560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042880" y="6766560"/>
            <a:ext cx="10972800" cy="2560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6400" b="1" i="0">
                <a:solidFill>
                  <a:srgbClr val="008564"/>
                </a:solidFill>
                <a:latin typeface="NVIDIA Sans Medium"/>
              </a:rPr>
              <a:t>Evaluator Microservice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0" y="10241280"/>
            <a:ext cx="14630400" cy="731520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REST API; K8s-native deployment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Parallel jobs across NIM endpoints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CI/CD-driven evaluation gates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Part of NeMo Microservices stack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Best for: production,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828800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Same evaluation logic. Pick the surface that matches your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Evaluator measures the lift.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Demo next — three-way bake-off: base vs CPT-only vs SFT-final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1_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4C7E1E-6C20-440E-941A-535F1A24C014}">
  <ds:schemaRefs>
    <ds:schemaRef ds:uri="f65afe6d-7162-4df4-ae98-80745cab72d4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2a5b1eea-32a8-4673-8d38-de3226caeee3"/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1903</TotalTime>
  <Words>1967</Words>
  <Application>Microsoft Macintosh PowerPoint</Application>
  <PresentationFormat>Custom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Consolas</vt:lpstr>
      <vt:lpstr>NVIDIA Sans</vt:lpstr>
      <vt:lpstr>NVIDIA Sans Light</vt:lpstr>
      <vt:lpstr>NVIDIA Sans Medium</vt:lpstr>
      <vt:lpstr>Roboto Mono</vt:lpstr>
      <vt:lpstr>Trebuchet MS</vt:lpstr>
      <vt:lpstr>Wingdings</vt:lpstr>
      <vt:lpstr>Title Only</vt:lpstr>
      <vt:lpstr>1_Title Only</vt:lpstr>
      <vt:lpstr>NeMo Evaluator</vt:lpstr>
      <vt:lpstr>PowerPoint Presentation</vt:lpstr>
      <vt:lpstr>Agentic AI Development is Becoming Increasingly Evaluation-Driven</vt:lpstr>
      <vt:lpstr>Accelerate Agentic AI Evaluation with NeMo Evaluator</vt:lpstr>
      <vt:lpstr>Agentic Evaluation</vt:lpstr>
      <vt:lpstr>RAG Evaluation</vt:lpstr>
      <vt:lpstr>Custom Model Evaluation</vt:lpstr>
      <vt:lpstr>NeMo Evaluator Supports Both Online and Offline Evaluations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Swaminathan B S</cp:lastModifiedBy>
  <cp:revision>17</cp:revision>
  <dcterms:created xsi:type="dcterms:W3CDTF">2023-07-05T16:37:04Z</dcterms:created>
  <dcterms:modified xsi:type="dcterms:W3CDTF">2026-06-01T14:07:35Z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